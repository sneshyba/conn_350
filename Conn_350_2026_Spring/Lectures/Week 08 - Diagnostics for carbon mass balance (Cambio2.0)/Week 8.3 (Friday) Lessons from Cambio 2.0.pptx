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006" r:id="rId2"/>
    <p:sldId id="2038" r:id="rId3"/>
    <p:sldId id="2015" r:id="rId4"/>
    <p:sldId id="2020" r:id="rId5"/>
    <p:sldId id="2041" r:id="rId6"/>
    <p:sldId id="2000" r:id="rId7"/>
    <p:sldId id="2004" r:id="rId8"/>
    <p:sldId id="2005" r:id="rId9"/>
    <p:sldId id="259" r:id="rId10"/>
    <p:sldId id="2042" r:id="rId11"/>
    <p:sldId id="19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76"/>
  </p:normalViewPr>
  <p:slideViewPr>
    <p:cSldViewPr snapToGrid="0" showGuides="1">
      <p:cViewPr>
        <p:scale>
          <a:sx n="111" d="100"/>
          <a:sy n="111" d="100"/>
        </p:scale>
        <p:origin x="53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09AE5-CC78-854A-B0FD-9222285B9799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46035-70D6-0E47-80A6-BAA08FE31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87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50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296403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0753-4009-5500-A440-323603A82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16CC8-1E88-D0CF-0CCF-D7E7FA688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46128-1610-6161-E170-F210E957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D7D0A-9DAF-8171-1D17-E5A2F5DA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D7C19-E955-1C59-0834-C1C0CF5E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25AD-53A7-78A4-33B5-FCCE26FAC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DB80B-7F05-3FCE-CED5-18B18FE4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5FAE3-E4A5-E2A9-DBFF-AEE45BB0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39F7C-938D-463D-3B89-2CD2F9CC8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36E31-BAE8-4BEA-0A58-9B9CF29D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2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A8085-2A09-E36B-ED4A-B6E78524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63EF8-9704-67FB-5BCC-0BF4A3DA8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D5B9-775C-5ADD-B133-ACBC3C68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B7290-A70A-1C2D-5A6F-F96700EF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73D9A-C644-787C-9BEF-9C731829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95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E6FE-D52A-C583-CE5A-82B33474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DEFBF-304C-0DF1-BF4D-3314E484E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A24D4-A94C-CAFF-9DFD-14729802F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CFE7C-873D-B0E9-121C-CC5E1275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21715-0DB1-207D-A559-050491D0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02DAD-E96C-9826-16A8-9C416EE0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6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F3C0-985D-EC2B-C8AB-BF66BB3F7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F56EC-9FAC-67BE-DC74-18306D772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2D57F-1DD6-236F-5C8B-ECC18F337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23ADC-BE55-51DC-ED22-2BC4F9756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6830C2-AAE2-3638-073F-6301B5C78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DEF1B3-216B-0CED-DB46-17DC87FF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1D3A4A-E68E-0100-F3CE-C6857F9B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00B09-D20C-A714-8D25-90E98978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D86A-BD2E-9176-8D68-8880D62BB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9CC7F-9AF4-0F52-C479-CE6338CF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17E78-97A6-7F02-1506-3185FE4C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CD485-D183-E6C8-AC56-18339D3F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5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84838-C7F1-4FA4-30BF-D4C31CED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8DD06-4B3B-B8E3-CA0B-9E63FF54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6AB73-3A47-F670-888B-B8A04826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3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80EA-4D79-B0E3-0577-B889D395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16920-C8F7-51D6-A660-9A6A5D937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EF483-9538-7353-296F-6D21EAD27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F014C-50EB-4D0F-28AC-658B3783B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DAF53-D450-8AE4-65FC-9CFE2EE1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8E718-5C46-6C38-9E0E-142A504DA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84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0E399-EBC3-18AE-E9EB-C52C12D4F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D31A4-6E31-D301-24FF-FEE8A5418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C4EC7-6644-57E6-9572-5E1BC5C37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69FF1-568A-B31F-DD79-F33E58F8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2110A-4E28-B679-78CF-AB8D2C53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03F11-87E9-363F-7036-B2D57783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4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7E7E-F01B-9080-ECE7-BDEB5F29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E4D2E-77A8-F258-4BCE-67A58876F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FF32F-4CB9-0620-8187-DCFDC8CE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2A258-DF2F-77B7-05F9-81CF00E4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17CB6-49B7-179F-AD5F-863D3888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7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9F57C-63C8-81DE-5ADE-D1233131E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DDCAF-19F8-B70D-415C-5F55E0B3E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0DB3-2BB8-4BE2-7C6C-E7927A22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55DC-CBFB-D07B-F8EF-0103D88E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DEF1E-219A-885E-31D1-06B2C625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43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13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E8EE1B-B8CB-4C92-CC3E-8BD79BB5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21483-C812-05A6-87D7-2690568A3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EF52D-128A-970C-4DBF-D74858E40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E584D-7FED-BD4A-BB6D-CF311F2A8BA5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5D964-0963-0BF1-E4CE-53AA8FE08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4ECB6-6651-38B7-9A2F-E55AFB339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2E58D-6D03-FD47-BC1D-43DB2BE78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1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7" Type="http://schemas.openxmlformats.org/officeDocument/2006/relationships/image" Target="../media/image20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you wrote functions in Python, with benchmarking (or </a:t>
            </a:r>
            <a:r>
              <a:rPr lang="en-US" sz="2400" b="1" i="1" dirty="0"/>
              <a:t>unit testing</a:t>
            </a:r>
            <a:r>
              <a:rPr lang="en-US" sz="2400" b="1" dirty="0"/>
              <a:t>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8095DD-7FBB-3DE4-693F-31003A07A07C}"/>
              </a:ext>
            </a:extLst>
          </p:cNvPr>
          <p:cNvGrpSpPr/>
          <p:nvPr/>
        </p:nvGrpSpPr>
        <p:grpSpPr>
          <a:xfrm>
            <a:off x="8705479" y="914400"/>
            <a:ext cx="3486521" cy="4507408"/>
            <a:chOff x="8705479" y="914400"/>
            <a:chExt cx="3486521" cy="450740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37B4942-434A-DB35-CE02-A150EC79E3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05479" y="968018"/>
              <a:ext cx="3486521" cy="4453790"/>
              <a:chOff x="8148669" y="336048"/>
              <a:chExt cx="4580405" cy="5851153"/>
            </a:xfrm>
          </p:grpSpPr>
          <p:pic>
            <p:nvPicPr>
              <p:cNvPr id="11" name="Picture 10" descr="MuliMIX Electric Apple Grinder (0.8 Ton)">
                <a:extLst>
                  <a:ext uri="{FF2B5EF4-FFF2-40B4-BE49-F238E27FC236}">
                    <a16:creationId xmlns:a16="http://schemas.microsoft.com/office/drawing/2014/main" id="{4FDCF1B7-9119-5036-79A5-904FD67416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669" y="1634796"/>
                <a:ext cx="3588407" cy="35884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7D838A-A45A-4D0F-3D87-D736A39037E2}"/>
                  </a:ext>
                </a:extLst>
              </p:cNvPr>
              <p:cNvSpPr txBox="1"/>
              <p:nvPr/>
            </p:nvSpPr>
            <p:spPr>
              <a:xfrm>
                <a:off x="8396727" y="336048"/>
                <a:ext cx="4332347" cy="109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C_atm</a:t>
                </a:r>
                <a:r>
                  <a:rPr lang="en-US" sz="2400" dirty="0"/>
                  <a:t>, alpha, and </a:t>
                </a:r>
                <a:r>
                  <a:rPr lang="en-US" sz="2400" dirty="0" err="1"/>
                  <a:t>ClimateParams</a:t>
                </a:r>
                <a:r>
                  <a:rPr lang="en-US" sz="2400" dirty="0"/>
                  <a:t> go in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BAA8-5424-842E-EBB6-359126E4F4AA}"/>
                  </a:ext>
                </a:extLst>
              </p:cNvPr>
              <p:cNvSpPr txBox="1"/>
              <p:nvPr/>
            </p:nvSpPr>
            <p:spPr>
              <a:xfrm>
                <a:off x="8597756" y="5095481"/>
                <a:ext cx="3139320" cy="109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T_anomaly</a:t>
                </a:r>
                <a:r>
                  <a:rPr lang="en-US" sz="2400" dirty="0"/>
                  <a:t> comes out</a:t>
                </a:r>
              </a:p>
            </p:txBody>
          </p:sp>
        </p:grp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77988C7-CEA4-0F2B-02D8-ED0A67658B06}"/>
                </a:ext>
              </a:extLst>
            </p:cNvPr>
            <p:cNvSpPr/>
            <p:nvPr/>
          </p:nvSpPr>
          <p:spPr>
            <a:xfrm>
              <a:off x="8854540" y="914400"/>
              <a:ext cx="3098921" cy="4507408"/>
            </a:xfrm>
            <a:prstGeom prst="frame">
              <a:avLst>
                <a:gd name="adj1" fmla="val 9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6491CCE-011A-1594-8894-1AB62B490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55" y="593939"/>
            <a:ext cx="7361966" cy="34627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830235-B0BC-A98F-3888-EF9E52F75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95" y="4394041"/>
            <a:ext cx="8141596" cy="21438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4760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also introduced the idea of </a:t>
            </a:r>
            <a:r>
              <a:rPr lang="en-US" sz="2400" b="1" i="1" dirty="0"/>
              <a:t>refactoring</a:t>
            </a:r>
            <a:endParaRPr lang="en-US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180E7B-485B-A21E-0A86-D78AA71F8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35" y="777240"/>
            <a:ext cx="10462130" cy="56464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23377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F7BB53-63CC-83FD-12D7-B83E45BA8279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Part of that refactoring involved writing </a:t>
            </a:r>
            <a:r>
              <a:rPr lang="en-US" sz="2400" b="1" i="1" dirty="0"/>
              <a:t>propagators</a:t>
            </a:r>
            <a:r>
              <a:rPr lang="en-US" sz="2400" b="1" dirty="0"/>
              <a:t> for Cambio 1.0 and Cambio 2.0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6B8BB-E1A9-C903-6929-0AF7AEF5B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27" y="1769541"/>
            <a:ext cx="11170736" cy="8083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1655E09-6EA3-A2B8-543E-6DA4DDB0CDB4}"/>
              </a:ext>
            </a:extLst>
          </p:cNvPr>
          <p:cNvGrpSpPr>
            <a:grpSpLocks noChangeAspect="1"/>
          </p:cNvGrpSpPr>
          <p:nvPr/>
        </p:nvGrpSpPr>
        <p:grpSpPr>
          <a:xfrm>
            <a:off x="5977356" y="3521684"/>
            <a:ext cx="3930573" cy="2936548"/>
            <a:chOff x="2181912" y="1509043"/>
            <a:chExt cx="7004002" cy="523272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FC157E4-93C6-ACA0-E57F-12862C7B8F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81912" y="1509043"/>
              <a:ext cx="7004002" cy="5232720"/>
              <a:chOff x="2181912" y="1927225"/>
              <a:chExt cx="5773367" cy="4313307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739207B0-2083-07EE-17E5-8BA1671C0F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1912" y="1927225"/>
                <a:ext cx="5773367" cy="4313307"/>
              </a:xfrm>
              <a:prstGeom prst="rect">
                <a:avLst/>
              </a:prstGeom>
            </p:spPr>
          </p:pic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446CB8D-5830-A74A-60B3-3FB9D91997D0}"/>
                  </a:ext>
                </a:extLst>
              </p:cNvPr>
              <p:cNvSpPr/>
              <p:nvPr/>
            </p:nvSpPr>
            <p:spPr>
              <a:xfrm>
                <a:off x="2829755" y="4477541"/>
                <a:ext cx="160020" cy="160020"/>
              </a:xfrm>
              <a:prstGeom prst="ellipse">
                <a:avLst/>
              </a:prstGeom>
              <a:solidFill>
                <a:schemeClr val="tx1">
                  <a:alpha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1CC38FB-8BBD-12B9-B812-F40403BDA92A}"/>
                  </a:ext>
                </a:extLst>
              </p:cNvPr>
              <p:cNvSpPr/>
              <p:nvPr/>
            </p:nvSpPr>
            <p:spPr>
              <a:xfrm>
                <a:off x="2841070" y="5492118"/>
                <a:ext cx="160020" cy="160020"/>
              </a:xfrm>
              <a:prstGeom prst="ellipse">
                <a:avLst/>
              </a:prstGeom>
              <a:solidFill>
                <a:schemeClr val="accent1">
                  <a:alpha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529248B-2FCD-8C5B-F282-09893D0F11E6}"/>
                  </a:ext>
                </a:extLst>
              </p:cNvPr>
              <p:cNvSpPr/>
              <p:nvPr/>
            </p:nvSpPr>
            <p:spPr>
              <a:xfrm>
                <a:off x="3016446" y="4450312"/>
                <a:ext cx="160020" cy="16002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49CA3A9-8FCC-ADB1-BAB7-FAAA7B220B84}"/>
                  </a:ext>
                </a:extLst>
              </p:cNvPr>
              <p:cNvSpPr/>
              <p:nvPr/>
            </p:nvSpPr>
            <p:spPr>
              <a:xfrm>
                <a:off x="3072806" y="5472394"/>
                <a:ext cx="160020" cy="160020"/>
              </a:xfrm>
              <a:prstGeom prst="ellipse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4BD94641-EA8D-8B5F-B5BC-45BD7823B880}"/>
                </a:ext>
              </a:extLst>
            </p:cNvPr>
            <p:cNvSpPr/>
            <p:nvPr/>
          </p:nvSpPr>
          <p:spPr>
            <a:xfrm>
              <a:off x="3117240" y="5558497"/>
              <a:ext cx="201835" cy="203222"/>
            </a:xfrm>
            <a:prstGeom prst="rightArrow">
              <a:avLst/>
            </a:prstGeom>
            <a:solidFill>
              <a:srgbClr val="0070C0">
                <a:alpha val="678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0A495C02-F51A-3E75-F80F-9B9FDD4AD4EF}"/>
                </a:ext>
              </a:extLst>
            </p:cNvPr>
            <p:cNvSpPr/>
            <p:nvPr/>
          </p:nvSpPr>
          <p:spPr>
            <a:xfrm rot="21156139">
              <a:off x="3087197" y="4322368"/>
              <a:ext cx="201835" cy="203222"/>
            </a:xfrm>
            <a:prstGeom prst="rightArrow">
              <a:avLst/>
            </a:prstGeom>
            <a:solidFill>
              <a:srgbClr val="0070C0">
                <a:alpha val="6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419E33C-AF9D-8EB9-D529-F126A6919C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7292"/>
          <a:stretch/>
        </p:blipFill>
        <p:spPr>
          <a:xfrm>
            <a:off x="265527" y="771392"/>
            <a:ext cx="11216187" cy="7730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CEFD72E-E0AC-3F51-909B-BD0BA3301E01}"/>
              </a:ext>
            </a:extLst>
          </p:cNvPr>
          <p:cNvGrpSpPr>
            <a:grpSpLocks noChangeAspect="1"/>
          </p:cNvGrpSpPr>
          <p:nvPr/>
        </p:nvGrpSpPr>
        <p:grpSpPr>
          <a:xfrm>
            <a:off x="1248576" y="2959701"/>
            <a:ext cx="2622760" cy="3480018"/>
            <a:chOff x="7185378" y="2074568"/>
            <a:chExt cx="3317387" cy="440168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3B310D-98E0-988C-DCFF-4E6DB7536002}"/>
                </a:ext>
              </a:extLst>
            </p:cNvPr>
            <p:cNvGrpSpPr/>
            <p:nvPr/>
          </p:nvGrpSpPr>
          <p:grpSpPr>
            <a:xfrm>
              <a:off x="7185378" y="2767750"/>
              <a:ext cx="3079044" cy="3708503"/>
              <a:chOff x="8465538" y="2720623"/>
              <a:chExt cx="3079044" cy="3708503"/>
            </a:xfrm>
          </p:grpSpPr>
          <p:pic>
            <p:nvPicPr>
              <p:cNvPr id="14" name="Picture 2" descr="MuliMIX Electric Apple Grinder (0.8 Ton)">
                <a:extLst>
                  <a:ext uri="{FF2B5EF4-FFF2-40B4-BE49-F238E27FC236}">
                    <a16:creationId xmlns:a16="http://schemas.microsoft.com/office/drawing/2014/main" id="{A75D2735-82EF-7B26-D184-561A67ABC9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65538" y="2720623"/>
                <a:ext cx="3079044" cy="307904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4E7758E-6E04-96D2-DF6C-87BA1CCE0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79231" y="6058442"/>
                <a:ext cx="2116491" cy="370684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6B7E4EF-00CB-438A-79B7-6F5E429F88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38041" r="39847" b="76982"/>
            <a:stretch/>
          </p:blipFill>
          <p:spPr>
            <a:xfrm>
              <a:off x="7185378" y="2074568"/>
              <a:ext cx="3317387" cy="41617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16" name="Arc 15">
            <a:extLst>
              <a:ext uri="{FF2B5EF4-FFF2-40B4-BE49-F238E27FC236}">
                <a16:creationId xmlns:a16="http://schemas.microsoft.com/office/drawing/2014/main" id="{4D91F429-8056-4DE6-039A-8147B1067D84}"/>
              </a:ext>
            </a:extLst>
          </p:cNvPr>
          <p:cNvSpPr/>
          <p:nvPr/>
        </p:nvSpPr>
        <p:spPr>
          <a:xfrm rot="236296">
            <a:off x="2576571" y="3286619"/>
            <a:ext cx="2072790" cy="2792149"/>
          </a:xfrm>
          <a:prstGeom prst="arc">
            <a:avLst>
              <a:gd name="adj1" fmla="val 17053223"/>
              <a:gd name="adj2" fmla="val 4570562"/>
            </a:avLst>
          </a:prstGeom>
          <a:ln w="127000">
            <a:solidFill>
              <a:schemeClr val="accent1">
                <a:alpha val="53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35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F7BB53-63CC-83FD-12D7-B83E45BA8279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Refactoring let us take advantage </a:t>
            </a:r>
            <a:r>
              <a:rPr lang="en-US" sz="2400" b="1" i="1" dirty="0"/>
              <a:t>of </a:t>
            </a:r>
            <a:r>
              <a:rPr lang="en-US" sz="2400" b="1" i="1" dirty="0" err="1"/>
              <a:t>cl.run_Cambio</a:t>
            </a:r>
            <a:r>
              <a:rPr lang="en-US" sz="2400" b="1" i="1" dirty="0"/>
              <a:t> </a:t>
            </a:r>
            <a:r>
              <a:rPr lang="en-US" sz="2400" b="1" dirty="0"/>
              <a:t>to integrate over time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C9E360-D992-0D38-3679-06DCC28C4DC8}"/>
              </a:ext>
            </a:extLst>
          </p:cNvPr>
          <p:cNvGrpSpPr/>
          <p:nvPr/>
        </p:nvGrpSpPr>
        <p:grpSpPr>
          <a:xfrm>
            <a:off x="372458" y="1811520"/>
            <a:ext cx="11018388" cy="1512528"/>
            <a:chOff x="308290" y="3717870"/>
            <a:chExt cx="11018388" cy="151252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AE4709-3628-1179-7E13-6E73532790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5584"/>
            <a:stretch/>
          </p:blipFill>
          <p:spPr>
            <a:xfrm>
              <a:off x="308290" y="3728889"/>
              <a:ext cx="2322615" cy="78778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B985BE9-DF2E-A102-9C7E-6180546F1EFF}"/>
                </a:ext>
              </a:extLst>
            </p:cNvPr>
            <p:cNvGrpSpPr/>
            <p:nvPr/>
          </p:nvGrpSpPr>
          <p:grpSpPr>
            <a:xfrm>
              <a:off x="1950065" y="3956292"/>
              <a:ext cx="2636294" cy="787782"/>
              <a:chOff x="2460871" y="3728889"/>
              <a:chExt cx="2636294" cy="787782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2ABC4D9-6C76-D467-7388-2D9584BE63E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30" name="Right Arrow 29">
                <a:extLst>
                  <a:ext uri="{FF2B5EF4-FFF2-40B4-BE49-F238E27FC236}">
                    <a16:creationId xmlns:a16="http://schemas.microsoft.com/office/drawing/2014/main" id="{8DE9D0F4-9C6C-1740-FF95-CF8FDC230FFF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8F26B59-5F9C-F715-59B6-02CD266C55E6}"/>
                </a:ext>
              </a:extLst>
            </p:cNvPr>
            <p:cNvGrpSpPr/>
            <p:nvPr/>
          </p:nvGrpSpPr>
          <p:grpSpPr>
            <a:xfrm>
              <a:off x="3425051" y="4307001"/>
              <a:ext cx="2636294" cy="787782"/>
              <a:chOff x="2460871" y="3728889"/>
              <a:chExt cx="2636294" cy="787782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D5A63476-CB52-93D6-CE7D-6D28B0DF8C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8" name="Right Arrow 27">
                <a:extLst>
                  <a:ext uri="{FF2B5EF4-FFF2-40B4-BE49-F238E27FC236}">
                    <a16:creationId xmlns:a16="http://schemas.microsoft.com/office/drawing/2014/main" id="{509C73E8-C568-EA65-04AB-18700053B0BD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6F56568-0968-D830-1DE8-DB5446EFD0B1}"/>
                </a:ext>
              </a:extLst>
            </p:cNvPr>
            <p:cNvGrpSpPr/>
            <p:nvPr/>
          </p:nvGrpSpPr>
          <p:grpSpPr>
            <a:xfrm>
              <a:off x="5016589" y="4111492"/>
              <a:ext cx="2636294" cy="787782"/>
              <a:chOff x="2460871" y="3728889"/>
              <a:chExt cx="2636294" cy="787782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1D8F49A-258B-4FBD-3B71-D0D1C979DA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6" name="Right Arrow 25">
                <a:extLst>
                  <a:ext uri="{FF2B5EF4-FFF2-40B4-BE49-F238E27FC236}">
                    <a16:creationId xmlns:a16="http://schemas.microsoft.com/office/drawing/2014/main" id="{B6E3121B-620D-E67B-22BE-E2ACCA0C312F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8E922C5-D57E-F5C7-99C0-A64BE61B96B2}"/>
                </a:ext>
              </a:extLst>
            </p:cNvPr>
            <p:cNvGrpSpPr/>
            <p:nvPr/>
          </p:nvGrpSpPr>
          <p:grpSpPr>
            <a:xfrm>
              <a:off x="6295947" y="3717870"/>
              <a:ext cx="2636294" cy="787782"/>
              <a:chOff x="2460871" y="3728889"/>
              <a:chExt cx="2636294" cy="787782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2943EEF-1D0C-5A6A-B199-86CC1C638D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4" name="Right Arrow 23">
                <a:extLst>
                  <a:ext uri="{FF2B5EF4-FFF2-40B4-BE49-F238E27FC236}">
                    <a16:creationId xmlns:a16="http://schemas.microsoft.com/office/drawing/2014/main" id="{6EA4871F-C70E-BA56-354A-7505E5A6AA77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4B42A3B-40EA-ED16-19DD-485C318E24DC}"/>
                </a:ext>
              </a:extLst>
            </p:cNvPr>
            <p:cNvGrpSpPr/>
            <p:nvPr/>
          </p:nvGrpSpPr>
          <p:grpSpPr>
            <a:xfrm>
              <a:off x="7421623" y="4030478"/>
              <a:ext cx="2636294" cy="787782"/>
              <a:chOff x="2460871" y="3728889"/>
              <a:chExt cx="2636294" cy="787782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EA13697-2F5D-C6AD-C805-5E17A715C6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2" name="Right Arrow 21">
                <a:extLst>
                  <a:ext uri="{FF2B5EF4-FFF2-40B4-BE49-F238E27FC236}">
                    <a16:creationId xmlns:a16="http://schemas.microsoft.com/office/drawing/2014/main" id="{50BE32FF-A251-EDC3-F90A-03044FB26171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8AD0324-D3FB-E587-A1E5-B1202C8B03FC}"/>
                </a:ext>
              </a:extLst>
            </p:cNvPr>
            <p:cNvGrpSpPr/>
            <p:nvPr/>
          </p:nvGrpSpPr>
          <p:grpSpPr>
            <a:xfrm>
              <a:off x="8690384" y="4442616"/>
              <a:ext cx="2636294" cy="787782"/>
              <a:chOff x="2460871" y="3728889"/>
              <a:chExt cx="2636294" cy="787782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CCCE6AC-FDBA-583C-9F2F-6353D2C983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8DBAE56D-EB8A-8A51-2AA8-EE76284A9D0E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C757660-808A-EFE4-F15B-3AC62520010B}"/>
              </a:ext>
            </a:extLst>
          </p:cNvPr>
          <p:cNvGrpSpPr/>
          <p:nvPr/>
        </p:nvGrpSpPr>
        <p:grpSpPr>
          <a:xfrm>
            <a:off x="372458" y="534036"/>
            <a:ext cx="11286343" cy="701562"/>
            <a:chOff x="372458" y="1355838"/>
            <a:chExt cx="11286343" cy="7015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0E622DE-AD56-7ED1-506F-E5F4E8145D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-261" r="28686" b="72393"/>
            <a:stretch/>
          </p:blipFill>
          <p:spPr>
            <a:xfrm>
              <a:off x="372458" y="1355838"/>
              <a:ext cx="11286343" cy="70156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6FBE3E2-B487-FA20-AE4C-8B8CD9462188}"/>
                </a:ext>
              </a:extLst>
            </p:cNvPr>
            <p:cNvSpPr/>
            <p:nvPr/>
          </p:nvSpPr>
          <p:spPr>
            <a:xfrm>
              <a:off x="4949045" y="1703070"/>
              <a:ext cx="2756431" cy="321937"/>
            </a:xfrm>
            <a:prstGeom prst="rect">
              <a:avLst/>
            </a:prstGeom>
            <a:solidFill>
              <a:schemeClr val="accent2">
                <a:alpha val="3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A245C9-122C-846C-0107-2FCCB0FD8145}"/>
                </a:ext>
              </a:extLst>
            </p:cNvPr>
            <p:cNvSpPr/>
            <p:nvPr/>
          </p:nvSpPr>
          <p:spPr>
            <a:xfrm>
              <a:off x="7900055" y="1694974"/>
              <a:ext cx="1880553" cy="321937"/>
            </a:xfrm>
            <a:prstGeom prst="rect">
              <a:avLst/>
            </a:prstGeom>
            <a:solidFill>
              <a:schemeClr val="accent2">
                <a:alpha val="3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1D1AD5-0759-9088-4DCA-8157B91A1D7A}"/>
                </a:ext>
              </a:extLst>
            </p:cNvPr>
            <p:cNvSpPr/>
            <p:nvPr/>
          </p:nvSpPr>
          <p:spPr>
            <a:xfrm>
              <a:off x="9975188" y="1683962"/>
              <a:ext cx="673522" cy="321937"/>
            </a:xfrm>
            <a:prstGeom prst="rect">
              <a:avLst/>
            </a:prstGeom>
            <a:solidFill>
              <a:schemeClr val="accent2">
                <a:alpha val="3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473C69-DA20-5B5E-905B-4BD0472732ED}"/>
                </a:ext>
              </a:extLst>
            </p:cNvPr>
            <p:cNvSpPr/>
            <p:nvPr/>
          </p:nvSpPr>
          <p:spPr>
            <a:xfrm>
              <a:off x="10878015" y="1683961"/>
              <a:ext cx="465176" cy="321937"/>
            </a:xfrm>
            <a:prstGeom prst="rect">
              <a:avLst/>
            </a:prstGeom>
            <a:solidFill>
              <a:schemeClr val="accent2">
                <a:alpha val="3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539711-848C-7920-3E96-1F21FA1E93D5}"/>
              </a:ext>
            </a:extLst>
          </p:cNvPr>
          <p:cNvGrpSpPr>
            <a:grpSpLocks noChangeAspect="1"/>
          </p:cNvGrpSpPr>
          <p:nvPr/>
        </p:nvGrpSpPr>
        <p:grpSpPr>
          <a:xfrm>
            <a:off x="5977356" y="3521684"/>
            <a:ext cx="3930573" cy="2936548"/>
            <a:chOff x="2181912" y="1927225"/>
            <a:chExt cx="5773367" cy="4313307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A05D1A4-80F6-59C3-9C06-A2DF29117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1912" y="1927225"/>
              <a:ext cx="5773367" cy="4313307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18B4E0E-88E7-EF35-46A3-0FC7B5D87A98}"/>
                </a:ext>
              </a:extLst>
            </p:cNvPr>
            <p:cNvSpPr/>
            <p:nvPr/>
          </p:nvSpPr>
          <p:spPr>
            <a:xfrm>
              <a:off x="2829755" y="4477541"/>
              <a:ext cx="160020" cy="160020"/>
            </a:xfrm>
            <a:prstGeom prst="ellipse">
              <a:avLst/>
            </a:prstGeom>
            <a:solidFill>
              <a:schemeClr val="tx1"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57878E8-29D8-2B8E-7CDF-EE40840683DE}"/>
                </a:ext>
              </a:extLst>
            </p:cNvPr>
            <p:cNvSpPr/>
            <p:nvPr/>
          </p:nvSpPr>
          <p:spPr>
            <a:xfrm>
              <a:off x="2841070" y="5492118"/>
              <a:ext cx="160020" cy="16002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A4108CC-B720-C1F9-DF3E-7DA0EC82FE5D}"/>
                </a:ext>
              </a:extLst>
            </p:cNvPr>
            <p:cNvSpPr/>
            <p:nvPr/>
          </p:nvSpPr>
          <p:spPr>
            <a:xfrm>
              <a:off x="7368782" y="2631179"/>
              <a:ext cx="160019" cy="1600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4B5B711-233B-9349-AE28-ED66EEDB25A6}"/>
                </a:ext>
              </a:extLst>
            </p:cNvPr>
            <p:cNvSpPr/>
            <p:nvPr/>
          </p:nvSpPr>
          <p:spPr>
            <a:xfrm>
              <a:off x="7425142" y="4231298"/>
              <a:ext cx="160019" cy="16001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ight Arrow 48">
            <a:extLst>
              <a:ext uri="{FF2B5EF4-FFF2-40B4-BE49-F238E27FC236}">
                <a16:creationId xmlns:a16="http://schemas.microsoft.com/office/drawing/2014/main" id="{DD69222A-F08E-9788-373D-086941271A43}"/>
              </a:ext>
            </a:extLst>
          </p:cNvPr>
          <p:cNvSpPr/>
          <p:nvPr/>
        </p:nvSpPr>
        <p:spPr>
          <a:xfrm>
            <a:off x="372458" y="1365813"/>
            <a:ext cx="10970733" cy="456726"/>
          </a:xfrm>
          <a:prstGeom prst="rightArrow">
            <a:avLst/>
          </a:prstGeom>
          <a:solidFill>
            <a:schemeClr val="accent2">
              <a:alpha val="5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DCB6AAEE-CE31-848A-A5BC-F0E93E1377B1}"/>
              </a:ext>
            </a:extLst>
          </p:cNvPr>
          <p:cNvSpPr/>
          <p:nvPr/>
        </p:nvSpPr>
        <p:spPr>
          <a:xfrm>
            <a:off x="6426118" y="6398501"/>
            <a:ext cx="3229831" cy="275662"/>
          </a:xfrm>
          <a:prstGeom prst="rightArrow">
            <a:avLst/>
          </a:prstGeom>
          <a:solidFill>
            <a:schemeClr val="accent2">
              <a:alpha val="5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7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F7BB53-63CC-83FD-12D7-B83E45BA8279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Refactoring also allowed us to take advantage of new code to plot the results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C9E360-D992-0D38-3679-06DCC28C4DC8}"/>
              </a:ext>
            </a:extLst>
          </p:cNvPr>
          <p:cNvGrpSpPr/>
          <p:nvPr/>
        </p:nvGrpSpPr>
        <p:grpSpPr>
          <a:xfrm>
            <a:off x="372458" y="1811520"/>
            <a:ext cx="11018388" cy="1512528"/>
            <a:chOff x="308290" y="3717870"/>
            <a:chExt cx="11018388" cy="151252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AE4709-3628-1179-7E13-6E73532790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5584"/>
            <a:stretch/>
          </p:blipFill>
          <p:spPr>
            <a:xfrm>
              <a:off x="308290" y="3728889"/>
              <a:ext cx="2322615" cy="78778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B985BE9-DF2E-A102-9C7E-6180546F1EFF}"/>
                </a:ext>
              </a:extLst>
            </p:cNvPr>
            <p:cNvGrpSpPr/>
            <p:nvPr/>
          </p:nvGrpSpPr>
          <p:grpSpPr>
            <a:xfrm>
              <a:off x="1950065" y="3956292"/>
              <a:ext cx="2636294" cy="787782"/>
              <a:chOff x="2460871" y="3728889"/>
              <a:chExt cx="2636294" cy="787782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2ABC4D9-6C76-D467-7388-2D9584BE63E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30" name="Right Arrow 29">
                <a:extLst>
                  <a:ext uri="{FF2B5EF4-FFF2-40B4-BE49-F238E27FC236}">
                    <a16:creationId xmlns:a16="http://schemas.microsoft.com/office/drawing/2014/main" id="{8DE9D0F4-9C6C-1740-FF95-CF8FDC230FFF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8F26B59-5F9C-F715-59B6-02CD266C55E6}"/>
                </a:ext>
              </a:extLst>
            </p:cNvPr>
            <p:cNvGrpSpPr/>
            <p:nvPr/>
          </p:nvGrpSpPr>
          <p:grpSpPr>
            <a:xfrm>
              <a:off x="3425051" y="4307001"/>
              <a:ext cx="2636294" cy="787782"/>
              <a:chOff x="2460871" y="3728889"/>
              <a:chExt cx="2636294" cy="787782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D5A63476-CB52-93D6-CE7D-6D28B0DF8C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8" name="Right Arrow 27">
                <a:extLst>
                  <a:ext uri="{FF2B5EF4-FFF2-40B4-BE49-F238E27FC236}">
                    <a16:creationId xmlns:a16="http://schemas.microsoft.com/office/drawing/2014/main" id="{509C73E8-C568-EA65-04AB-18700053B0BD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6F56568-0968-D830-1DE8-DB5446EFD0B1}"/>
                </a:ext>
              </a:extLst>
            </p:cNvPr>
            <p:cNvGrpSpPr/>
            <p:nvPr/>
          </p:nvGrpSpPr>
          <p:grpSpPr>
            <a:xfrm>
              <a:off x="5016589" y="4111492"/>
              <a:ext cx="2636294" cy="787782"/>
              <a:chOff x="2460871" y="3728889"/>
              <a:chExt cx="2636294" cy="787782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1D8F49A-258B-4FBD-3B71-D0D1C979DA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6" name="Right Arrow 25">
                <a:extLst>
                  <a:ext uri="{FF2B5EF4-FFF2-40B4-BE49-F238E27FC236}">
                    <a16:creationId xmlns:a16="http://schemas.microsoft.com/office/drawing/2014/main" id="{B6E3121B-620D-E67B-22BE-E2ACCA0C312F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8E922C5-D57E-F5C7-99C0-A64BE61B96B2}"/>
                </a:ext>
              </a:extLst>
            </p:cNvPr>
            <p:cNvGrpSpPr/>
            <p:nvPr/>
          </p:nvGrpSpPr>
          <p:grpSpPr>
            <a:xfrm>
              <a:off x="6295947" y="3717870"/>
              <a:ext cx="2636294" cy="787782"/>
              <a:chOff x="2460871" y="3728889"/>
              <a:chExt cx="2636294" cy="787782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2943EEF-1D0C-5A6A-B199-86CC1C638D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4" name="Right Arrow 23">
                <a:extLst>
                  <a:ext uri="{FF2B5EF4-FFF2-40B4-BE49-F238E27FC236}">
                    <a16:creationId xmlns:a16="http://schemas.microsoft.com/office/drawing/2014/main" id="{6EA4871F-C70E-BA56-354A-7505E5A6AA77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4B42A3B-40EA-ED16-19DD-485C318E24DC}"/>
                </a:ext>
              </a:extLst>
            </p:cNvPr>
            <p:cNvGrpSpPr/>
            <p:nvPr/>
          </p:nvGrpSpPr>
          <p:grpSpPr>
            <a:xfrm>
              <a:off x="7421623" y="4030478"/>
              <a:ext cx="2636294" cy="787782"/>
              <a:chOff x="2460871" y="3728889"/>
              <a:chExt cx="2636294" cy="787782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EA13697-2F5D-C6AD-C805-5E17A715C6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2" name="Right Arrow 21">
                <a:extLst>
                  <a:ext uri="{FF2B5EF4-FFF2-40B4-BE49-F238E27FC236}">
                    <a16:creationId xmlns:a16="http://schemas.microsoft.com/office/drawing/2014/main" id="{50BE32FF-A251-EDC3-F90A-03044FB26171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8AD0324-D3FB-E587-A1E5-B1202C8B03FC}"/>
                </a:ext>
              </a:extLst>
            </p:cNvPr>
            <p:cNvGrpSpPr/>
            <p:nvPr/>
          </p:nvGrpSpPr>
          <p:grpSpPr>
            <a:xfrm>
              <a:off x="8690384" y="4442616"/>
              <a:ext cx="2636294" cy="787782"/>
              <a:chOff x="2460871" y="3728889"/>
              <a:chExt cx="2636294" cy="787782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CCCE6AC-FDBA-583C-9F2F-6353D2C983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b="55584"/>
              <a:stretch/>
            </p:blipFill>
            <p:spPr>
              <a:xfrm>
                <a:off x="2774550" y="3728889"/>
                <a:ext cx="2322615" cy="7877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sp>
            <p:nvSpPr>
              <p:cNvPr id="20" name="Right Arrow 19">
                <a:extLst>
                  <a:ext uri="{FF2B5EF4-FFF2-40B4-BE49-F238E27FC236}">
                    <a16:creationId xmlns:a16="http://schemas.microsoft.com/office/drawing/2014/main" id="{8DBAE56D-EB8A-8A51-2AA8-EE76284A9D0E}"/>
                  </a:ext>
                </a:extLst>
              </p:cNvPr>
              <p:cNvSpPr/>
              <p:nvPr/>
            </p:nvSpPr>
            <p:spPr>
              <a:xfrm>
                <a:off x="2460871" y="3934847"/>
                <a:ext cx="483714" cy="388620"/>
              </a:xfrm>
              <a:prstGeom prst="rightArrow">
                <a:avLst/>
              </a:prstGeom>
              <a:solidFill>
                <a:schemeClr val="accent1">
                  <a:alpha val="5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C757660-808A-EFE4-F15B-3AC62520010B}"/>
              </a:ext>
            </a:extLst>
          </p:cNvPr>
          <p:cNvGrpSpPr/>
          <p:nvPr/>
        </p:nvGrpSpPr>
        <p:grpSpPr>
          <a:xfrm>
            <a:off x="372458" y="534036"/>
            <a:ext cx="11286343" cy="701562"/>
            <a:chOff x="372458" y="1355838"/>
            <a:chExt cx="11286343" cy="70156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0E622DE-AD56-7ED1-506F-E5F4E8145D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-261" r="28686" b="72393"/>
            <a:stretch/>
          </p:blipFill>
          <p:spPr>
            <a:xfrm>
              <a:off x="372458" y="1355838"/>
              <a:ext cx="11286343" cy="70156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6FBE3E2-B487-FA20-AE4C-8B8CD9462188}"/>
                </a:ext>
              </a:extLst>
            </p:cNvPr>
            <p:cNvSpPr/>
            <p:nvPr/>
          </p:nvSpPr>
          <p:spPr>
            <a:xfrm>
              <a:off x="4949045" y="1703070"/>
              <a:ext cx="2756431" cy="321937"/>
            </a:xfrm>
            <a:prstGeom prst="rect">
              <a:avLst/>
            </a:prstGeom>
            <a:solidFill>
              <a:schemeClr val="accent2">
                <a:alpha val="3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A245C9-122C-846C-0107-2FCCB0FD8145}"/>
                </a:ext>
              </a:extLst>
            </p:cNvPr>
            <p:cNvSpPr/>
            <p:nvPr/>
          </p:nvSpPr>
          <p:spPr>
            <a:xfrm>
              <a:off x="7900055" y="1694974"/>
              <a:ext cx="1880553" cy="321937"/>
            </a:xfrm>
            <a:prstGeom prst="rect">
              <a:avLst/>
            </a:prstGeom>
            <a:solidFill>
              <a:schemeClr val="accent2">
                <a:alpha val="3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1D1AD5-0759-9088-4DCA-8157B91A1D7A}"/>
                </a:ext>
              </a:extLst>
            </p:cNvPr>
            <p:cNvSpPr/>
            <p:nvPr/>
          </p:nvSpPr>
          <p:spPr>
            <a:xfrm>
              <a:off x="9975188" y="1683962"/>
              <a:ext cx="673522" cy="321937"/>
            </a:xfrm>
            <a:prstGeom prst="rect">
              <a:avLst/>
            </a:prstGeom>
            <a:solidFill>
              <a:schemeClr val="accent2">
                <a:alpha val="3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473C69-DA20-5B5E-905B-4BD0472732ED}"/>
                </a:ext>
              </a:extLst>
            </p:cNvPr>
            <p:cNvSpPr/>
            <p:nvPr/>
          </p:nvSpPr>
          <p:spPr>
            <a:xfrm>
              <a:off x="10878015" y="1683961"/>
              <a:ext cx="465176" cy="321937"/>
            </a:xfrm>
            <a:prstGeom prst="rect">
              <a:avLst/>
            </a:prstGeom>
            <a:solidFill>
              <a:schemeClr val="accent2">
                <a:alpha val="3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539711-848C-7920-3E96-1F21FA1E93D5}"/>
              </a:ext>
            </a:extLst>
          </p:cNvPr>
          <p:cNvGrpSpPr>
            <a:grpSpLocks noChangeAspect="1"/>
          </p:cNvGrpSpPr>
          <p:nvPr/>
        </p:nvGrpSpPr>
        <p:grpSpPr>
          <a:xfrm>
            <a:off x="5977356" y="3521684"/>
            <a:ext cx="3930573" cy="2936548"/>
            <a:chOff x="2181912" y="1927225"/>
            <a:chExt cx="5773367" cy="4313307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A05D1A4-80F6-59C3-9C06-A2DF29117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1912" y="1927225"/>
              <a:ext cx="5773367" cy="4313307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18B4E0E-88E7-EF35-46A3-0FC7B5D87A98}"/>
                </a:ext>
              </a:extLst>
            </p:cNvPr>
            <p:cNvSpPr/>
            <p:nvPr/>
          </p:nvSpPr>
          <p:spPr>
            <a:xfrm>
              <a:off x="2829755" y="4477541"/>
              <a:ext cx="160020" cy="160020"/>
            </a:xfrm>
            <a:prstGeom prst="ellipse">
              <a:avLst/>
            </a:prstGeom>
            <a:solidFill>
              <a:schemeClr val="tx1"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57878E8-29D8-2B8E-7CDF-EE40840683DE}"/>
                </a:ext>
              </a:extLst>
            </p:cNvPr>
            <p:cNvSpPr/>
            <p:nvPr/>
          </p:nvSpPr>
          <p:spPr>
            <a:xfrm>
              <a:off x="2841070" y="5492118"/>
              <a:ext cx="160020" cy="16002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A4108CC-B720-C1F9-DF3E-7DA0EC82FE5D}"/>
                </a:ext>
              </a:extLst>
            </p:cNvPr>
            <p:cNvSpPr/>
            <p:nvPr/>
          </p:nvSpPr>
          <p:spPr>
            <a:xfrm>
              <a:off x="7368782" y="2631179"/>
              <a:ext cx="160019" cy="1600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4B5B711-233B-9349-AE28-ED66EEDB25A6}"/>
                </a:ext>
              </a:extLst>
            </p:cNvPr>
            <p:cNvSpPr/>
            <p:nvPr/>
          </p:nvSpPr>
          <p:spPr>
            <a:xfrm>
              <a:off x="7425142" y="4231298"/>
              <a:ext cx="160019" cy="16001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ight Arrow 48">
            <a:extLst>
              <a:ext uri="{FF2B5EF4-FFF2-40B4-BE49-F238E27FC236}">
                <a16:creationId xmlns:a16="http://schemas.microsoft.com/office/drawing/2014/main" id="{DD69222A-F08E-9788-373D-086941271A43}"/>
              </a:ext>
            </a:extLst>
          </p:cNvPr>
          <p:cNvSpPr/>
          <p:nvPr/>
        </p:nvSpPr>
        <p:spPr>
          <a:xfrm>
            <a:off x="372458" y="1365813"/>
            <a:ext cx="10970733" cy="456726"/>
          </a:xfrm>
          <a:prstGeom prst="rightArrow">
            <a:avLst/>
          </a:prstGeom>
          <a:solidFill>
            <a:schemeClr val="accent2">
              <a:alpha val="5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DCB6AAEE-CE31-848A-A5BC-F0E93E1377B1}"/>
              </a:ext>
            </a:extLst>
          </p:cNvPr>
          <p:cNvSpPr/>
          <p:nvPr/>
        </p:nvSpPr>
        <p:spPr>
          <a:xfrm>
            <a:off x="6426118" y="6398501"/>
            <a:ext cx="3229831" cy="275662"/>
          </a:xfrm>
          <a:prstGeom prst="rightArrow">
            <a:avLst/>
          </a:prstGeom>
          <a:solidFill>
            <a:schemeClr val="accent2">
              <a:alpha val="5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6C35C8-D0FB-DC67-7290-FC103051DF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369"/>
          <a:stretch/>
        </p:blipFill>
        <p:spPr>
          <a:xfrm>
            <a:off x="157636" y="5540121"/>
            <a:ext cx="10171399" cy="109422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5239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5FA501-585D-ED60-7FE6-F3C502CE10D6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Our refactor also involved some new science: the </a:t>
            </a:r>
            <a:r>
              <a:rPr lang="en-US" sz="2400" b="1" i="1" dirty="0" err="1"/>
              <a:t>van’t</a:t>
            </a:r>
            <a:r>
              <a:rPr lang="en-US" sz="2400" b="1" i="1" dirty="0"/>
              <a:t> Hoff effect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57A5E-AAD4-8F8F-13CA-9F19B95AAF30}"/>
              </a:ext>
            </a:extLst>
          </p:cNvPr>
          <p:cNvSpPr txBox="1"/>
          <p:nvPr/>
        </p:nvSpPr>
        <p:spPr>
          <a:xfrm>
            <a:off x="657743" y="1456744"/>
            <a:ext cx="5140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the </a:t>
            </a:r>
            <a:r>
              <a:rPr lang="en-US" sz="2400" b="1" dirty="0"/>
              <a:t>Henry effect</a:t>
            </a:r>
            <a:r>
              <a:rPr lang="en-US" sz="2400" dirty="0"/>
              <a:t>, whereby  gases are less soluble in warmer oceans.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9A5E5C-5FE2-308C-12FC-537726018494}"/>
              </a:ext>
            </a:extLst>
          </p:cNvPr>
          <p:cNvGrpSpPr>
            <a:grpSpLocks noChangeAspect="1"/>
          </p:cNvGrpSpPr>
          <p:nvPr/>
        </p:nvGrpSpPr>
        <p:grpSpPr>
          <a:xfrm>
            <a:off x="122128" y="2484118"/>
            <a:ext cx="6384174" cy="4256116"/>
            <a:chOff x="279002" y="814200"/>
            <a:chExt cx="7739820" cy="5159880"/>
          </a:xfrm>
        </p:grpSpPr>
        <p:pic>
          <p:nvPicPr>
            <p:cNvPr id="3" name="Picture 2" descr="Draft diagram of the carbon cycle.">
              <a:extLst>
                <a:ext uri="{FF2B5EF4-FFF2-40B4-BE49-F238E27FC236}">
                  <a16:creationId xmlns:a16="http://schemas.microsoft.com/office/drawing/2014/main" id="{9F2083BC-7B8A-5D0F-5257-C6CF1E81B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002" y="814200"/>
              <a:ext cx="7739820" cy="5159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FE66E050-A33E-09BC-B7FA-4F155836106F}"/>
                </a:ext>
              </a:extLst>
            </p:cNvPr>
            <p:cNvSpPr/>
            <p:nvPr/>
          </p:nvSpPr>
          <p:spPr>
            <a:xfrm>
              <a:off x="6509084" y="2123364"/>
              <a:ext cx="733926" cy="415302"/>
            </a:xfrm>
            <a:prstGeom prst="fram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9E46A8-9E8E-B820-D569-328222DBA9A0}"/>
                  </a:ext>
                </a:extLst>
              </p:cNvPr>
              <p:cNvSpPr txBox="1"/>
              <p:nvPr/>
            </p:nvSpPr>
            <p:spPr>
              <a:xfrm>
                <a:off x="282216" y="975687"/>
                <a:ext cx="6384174" cy="49084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𝑜𝑐𝑒𝑎𝑛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𝑜𝑎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×(1+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𝑎𝑛𝑜𝑚𝑎𝑙𝑦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)[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𝑜𝑐𝑒𝑎𝑛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9E46A8-9E8E-B820-D569-328222DBA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6" y="975687"/>
                <a:ext cx="6384174" cy="490840"/>
              </a:xfrm>
              <a:prstGeom prst="rect">
                <a:avLst/>
              </a:prstGeom>
              <a:blipFill>
                <a:blip r:embed="rId4"/>
                <a:stretch>
                  <a:fillRect r="-198" b="-731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E9A834A-C7DE-E9A1-C16D-B3E40D683C38}"/>
              </a:ext>
            </a:extLst>
          </p:cNvPr>
          <p:cNvGrpSpPr/>
          <p:nvPr/>
        </p:nvGrpSpPr>
        <p:grpSpPr>
          <a:xfrm>
            <a:off x="7213213" y="3122582"/>
            <a:ext cx="4553560" cy="3715492"/>
            <a:chOff x="7345217" y="2261748"/>
            <a:chExt cx="4553560" cy="3715492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B832081A-61B2-55B7-34FD-130559961F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46"/>
            <a:stretch/>
          </p:blipFill>
          <p:spPr bwMode="auto">
            <a:xfrm>
              <a:off x="7345217" y="2261748"/>
              <a:ext cx="4553560" cy="3224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C0C6B0E-2D43-AE8E-F3DC-033AD57BA845}"/>
                    </a:ext>
                  </a:extLst>
                </p:cNvPr>
                <p:cNvSpPr txBox="1"/>
                <p:nvPr/>
              </p:nvSpPr>
              <p:spPr>
                <a:xfrm>
                  <a:off x="8089900" y="2712889"/>
                  <a:ext cx="18619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𝑜𝑐𝑒𝑎𝑛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𝑎𝑡𝑚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C0C6B0E-2D43-AE8E-F3DC-033AD57BA8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9900" y="2712889"/>
                  <a:ext cx="186199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25F4B45-C4E4-2424-B1A6-5001F1727B0D}"/>
                    </a:ext>
                  </a:extLst>
                </p:cNvPr>
                <p:cNvSpPr txBox="1"/>
                <p:nvPr/>
              </p:nvSpPr>
              <p:spPr>
                <a:xfrm>
                  <a:off x="8826500" y="5486400"/>
                  <a:ext cx="1861992" cy="4908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𝑎𝑛𝑜𝑚𝑎𝑙𝑦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25F4B45-C4E4-2424-B1A6-5001F1727B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6500" y="5486400"/>
                  <a:ext cx="1861992" cy="490840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FA10CA0-61EC-B8A4-7A99-3773D0756D9F}"/>
              </a:ext>
            </a:extLst>
          </p:cNvPr>
          <p:cNvGrpSpPr>
            <a:grpSpLocks noChangeAspect="1"/>
          </p:cNvGrpSpPr>
          <p:nvPr/>
        </p:nvGrpSpPr>
        <p:grpSpPr>
          <a:xfrm>
            <a:off x="7625035" y="912628"/>
            <a:ext cx="3614814" cy="2493914"/>
            <a:chOff x="371474" y="1402078"/>
            <a:chExt cx="6400801" cy="42605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7D2EB0-6CC9-C5B4-4FB6-A490C7D1D58B}"/>
                </a:ext>
              </a:extLst>
            </p:cNvPr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566C3237-1B00-8C0B-A298-1CC37D206C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Up Arrow 11">
                <a:extLst>
                  <a:ext uri="{FF2B5EF4-FFF2-40B4-BE49-F238E27FC236}">
                    <a16:creationId xmlns:a16="http://schemas.microsoft.com/office/drawing/2014/main" id="{97601EAD-2B01-62CE-0D98-53783A5390C6}"/>
                  </a:ext>
                </a:extLst>
              </p:cNvPr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Up Arrow 12">
                <a:extLst>
                  <a:ext uri="{FF2B5EF4-FFF2-40B4-BE49-F238E27FC236}">
                    <a16:creationId xmlns:a16="http://schemas.microsoft.com/office/drawing/2014/main" id="{4B9272BA-22F4-FA26-9828-1487AC033E2C}"/>
                  </a:ext>
                </a:extLst>
              </p:cNvPr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607DC5E-5DBF-AF6A-58E7-608CB643DD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6097" t="56698" r="35555" b="33092"/>
            <a:stretch/>
          </p:blipFill>
          <p:spPr>
            <a:xfrm>
              <a:off x="2085971" y="1510572"/>
              <a:ext cx="1762124" cy="5607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1B2A7F-A92C-64FA-822A-75CC9D2A649A}"/>
                </a:ext>
              </a:extLst>
            </p:cNvPr>
            <p:cNvSpPr txBox="1"/>
            <p:nvPr/>
          </p:nvSpPr>
          <p:spPr>
            <a:xfrm>
              <a:off x="1204911" y="3929063"/>
              <a:ext cx="1762123" cy="126702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Cold ocean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C9BECF-7730-5F05-03DE-F298B8E56ED1}"/>
                </a:ext>
              </a:extLst>
            </p:cNvPr>
            <p:cNvSpPr txBox="1"/>
            <p:nvPr/>
          </p:nvSpPr>
          <p:spPr>
            <a:xfrm>
              <a:off x="3509323" y="4085465"/>
              <a:ext cx="2125350" cy="126702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Warm ocean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991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0" y="-333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Lessons from Cambio 2.0: as several of you noted, the temperature impact is not great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392B2B-D2A3-490F-54D2-7F252D74B2E7}"/>
                  </a:ext>
                </a:extLst>
              </p:cNvPr>
              <p:cNvSpPr txBox="1"/>
              <p:nvPr/>
            </p:nvSpPr>
            <p:spPr>
              <a:xfrm>
                <a:off x="1032082" y="5138228"/>
                <a:ext cx="6087104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Cambio 2.0’s peak temperature seems to be about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0.1 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400" dirty="0"/>
                  <a:t> higher than Cambio 1.0.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392B2B-D2A3-490F-54D2-7F252D74B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082" y="5138228"/>
                <a:ext cx="6087104" cy="830997"/>
              </a:xfrm>
              <a:prstGeom prst="rect">
                <a:avLst/>
              </a:prstGeom>
              <a:blipFill>
                <a:blip r:embed="rId2"/>
                <a:stretch>
                  <a:fillRect l="-1452" t="-5970" b="-149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5CA7D1D-5D8D-F982-F96E-0FA18AAE753D}"/>
              </a:ext>
            </a:extLst>
          </p:cNvPr>
          <p:cNvGrpSpPr>
            <a:grpSpLocks noChangeAspect="1"/>
          </p:cNvGrpSpPr>
          <p:nvPr/>
        </p:nvGrpSpPr>
        <p:grpSpPr>
          <a:xfrm>
            <a:off x="413306" y="530996"/>
            <a:ext cx="10945154" cy="4266508"/>
            <a:chOff x="413305" y="1586376"/>
            <a:chExt cx="7491333" cy="292018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207E073-5AA9-B43E-8E08-C6BD1D8FC5F1}"/>
                </a:ext>
              </a:extLst>
            </p:cNvPr>
            <p:cNvSpPr txBox="1"/>
            <p:nvPr/>
          </p:nvSpPr>
          <p:spPr>
            <a:xfrm>
              <a:off x="4613161" y="1586376"/>
              <a:ext cx="2628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Cambio 2.0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A1F81B8-86B5-9BD9-F00B-787040837680}"/>
                </a:ext>
              </a:extLst>
            </p:cNvPr>
            <p:cNvSpPr txBox="1"/>
            <p:nvPr/>
          </p:nvSpPr>
          <p:spPr>
            <a:xfrm>
              <a:off x="1177468" y="1609634"/>
              <a:ext cx="2628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Cambio 1.0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CAC512A-92DE-0519-BB17-92F416BEC53B}"/>
                </a:ext>
              </a:extLst>
            </p:cNvPr>
            <p:cNvGrpSpPr/>
            <p:nvPr/>
          </p:nvGrpSpPr>
          <p:grpSpPr>
            <a:xfrm>
              <a:off x="413305" y="1957332"/>
              <a:ext cx="7491333" cy="2549225"/>
              <a:chOff x="413305" y="1957332"/>
              <a:chExt cx="7491333" cy="2549225"/>
            </a:xfrm>
          </p:grpSpPr>
          <p:pic>
            <p:nvPicPr>
              <p:cNvPr id="25" name="Picture 32">
                <a:extLst>
                  <a:ext uri="{FF2B5EF4-FFF2-40B4-BE49-F238E27FC236}">
                    <a16:creationId xmlns:a16="http://schemas.microsoft.com/office/drawing/2014/main" id="{E61B775C-2219-06F3-1993-7C52AFA85C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400"/>
              <a:stretch/>
            </p:blipFill>
            <p:spPr bwMode="auto">
              <a:xfrm>
                <a:off x="413305" y="2032082"/>
                <a:ext cx="3715812" cy="24683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4">
                <a:extLst>
                  <a:ext uri="{FF2B5EF4-FFF2-40B4-BE49-F238E27FC236}">
                    <a16:creationId xmlns:a16="http://schemas.microsoft.com/office/drawing/2014/main" id="{A601703A-8C31-E6A4-C41E-CE8C9BB626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642"/>
              <a:stretch/>
            </p:blipFill>
            <p:spPr bwMode="auto">
              <a:xfrm>
                <a:off x="4056519" y="1957332"/>
                <a:ext cx="3848119" cy="2549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A23D56BA-4331-C525-2883-1F1C57E0BC41}"/>
                  </a:ext>
                </a:extLst>
              </p:cNvPr>
              <p:cNvCxnSpPr/>
              <p:nvPr/>
            </p:nvCxnSpPr>
            <p:spPr>
              <a:xfrm>
                <a:off x="2674620" y="2130815"/>
                <a:ext cx="4184641" cy="0"/>
              </a:xfrm>
              <a:prstGeom prst="line">
                <a:avLst/>
              </a:prstGeom>
              <a:ln w="38100">
                <a:solidFill>
                  <a:srgbClr val="FF0000">
                    <a:alpha val="40000"/>
                  </a:srgb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6338E8C-B0DE-4CBC-9214-FDCA4E49FA06}"/>
              </a:ext>
            </a:extLst>
          </p:cNvPr>
          <p:cNvGrpSpPr>
            <a:grpSpLocks noChangeAspect="1"/>
          </p:cNvGrpSpPr>
          <p:nvPr/>
        </p:nvGrpSpPr>
        <p:grpSpPr>
          <a:xfrm>
            <a:off x="8652510" y="4731936"/>
            <a:ext cx="2607927" cy="1799248"/>
            <a:chOff x="371474" y="1402078"/>
            <a:chExt cx="6400801" cy="42605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C6F4F74-DEAE-C9FC-2590-89A321F7017F}"/>
                </a:ext>
              </a:extLst>
            </p:cNvPr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24" name="Picture 2">
                <a:extLst>
                  <a:ext uri="{FF2B5EF4-FFF2-40B4-BE49-F238E27FC236}">
                    <a16:creationId xmlns:a16="http://schemas.microsoft.com/office/drawing/2014/main" id="{956F954B-6976-8835-0DA0-14C1FC962D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Up Arrow 25">
                <a:extLst>
                  <a:ext uri="{FF2B5EF4-FFF2-40B4-BE49-F238E27FC236}">
                    <a16:creationId xmlns:a16="http://schemas.microsoft.com/office/drawing/2014/main" id="{2691E337-D419-F5F3-B346-5BA4CB63F613}"/>
                  </a:ext>
                </a:extLst>
              </p:cNvPr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Up Arrow 27">
                <a:extLst>
                  <a:ext uri="{FF2B5EF4-FFF2-40B4-BE49-F238E27FC236}">
                    <a16:creationId xmlns:a16="http://schemas.microsoft.com/office/drawing/2014/main" id="{A6B46E8F-783C-1E0D-BFE2-12C27ED99062}"/>
                  </a:ext>
                </a:extLst>
              </p:cNvPr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AE755D3-07CB-45CC-3DCC-7930E7478E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46097" t="56698" r="35555" b="33092"/>
            <a:stretch/>
          </p:blipFill>
          <p:spPr>
            <a:xfrm>
              <a:off x="2085971" y="1510572"/>
              <a:ext cx="1762124" cy="5607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D085E2-F4FE-788E-3BA6-7BADF2DB9C6B}"/>
                </a:ext>
              </a:extLst>
            </p:cNvPr>
            <p:cNvSpPr txBox="1"/>
            <p:nvPr/>
          </p:nvSpPr>
          <p:spPr>
            <a:xfrm>
              <a:off x="1204909" y="3929063"/>
              <a:ext cx="2304411" cy="15435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 ocean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03554D-70ED-517C-B943-159C03E84B44}"/>
                </a:ext>
              </a:extLst>
            </p:cNvPr>
            <p:cNvSpPr txBox="1"/>
            <p:nvPr/>
          </p:nvSpPr>
          <p:spPr>
            <a:xfrm>
              <a:off x="3509322" y="4085465"/>
              <a:ext cx="2125351" cy="15435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 ocean</a:t>
              </a:r>
            </a:p>
          </p:txBody>
        </p:sp>
      </p:grpSp>
      <p:pic>
        <p:nvPicPr>
          <p:cNvPr id="1026" name="Picture 2" descr="Smiley Face Emoji Symbol Icon Isolated Vector Stock Vector - Illustration of cheerful, friendly ...">
            <a:extLst>
              <a:ext uri="{FF2B5EF4-FFF2-40B4-BE49-F238E27FC236}">
                <a16:creationId xmlns:a16="http://schemas.microsoft.com/office/drawing/2014/main" id="{28110C85-E8E3-3D4D-BC59-43043E66A7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68"/>
          <a:stretch/>
        </p:blipFill>
        <p:spPr bwMode="auto">
          <a:xfrm>
            <a:off x="10796935" y="732254"/>
            <a:ext cx="1153430" cy="109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91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0" y="-3338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… partly because negative feedbacks helped compensate for one another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7DDDF2-C8FD-4731-76A5-BEF79DDAE4DD}"/>
              </a:ext>
            </a:extLst>
          </p:cNvPr>
          <p:cNvGrpSpPr/>
          <p:nvPr/>
        </p:nvGrpSpPr>
        <p:grpSpPr>
          <a:xfrm>
            <a:off x="413307" y="531990"/>
            <a:ext cx="10655030" cy="4218369"/>
            <a:chOff x="413307" y="932040"/>
            <a:chExt cx="10655030" cy="421836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0B2E3F6-EE1E-6D58-3F50-26516CA4A6D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3307" y="1419560"/>
              <a:ext cx="10655030" cy="3730849"/>
              <a:chOff x="413307" y="1430990"/>
              <a:chExt cx="7084208" cy="2480529"/>
            </a:xfrm>
          </p:grpSpPr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5FC99025-DCAF-DD9B-EEAB-737159B8E3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0961"/>
              <a:stretch/>
            </p:blipFill>
            <p:spPr bwMode="auto">
              <a:xfrm>
                <a:off x="3781700" y="1430990"/>
                <a:ext cx="3715815" cy="24805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28">
                <a:extLst>
                  <a:ext uri="{FF2B5EF4-FFF2-40B4-BE49-F238E27FC236}">
                    <a16:creationId xmlns:a16="http://schemas.microsoft.com/office/drawing/2014/main" id="{239781EA-5996-E882-5DFB-C7DF32DBC5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279"/>
              <a:stretch/>
            </p:blipFill>
            <p:spPr bwMode="auto">
              <a:xfrm>
                <a:off x="413307" y="1443214"/>
                <a:ext cx="3656848" cy="24324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207E073-5AA9-B43E-8E08-C6BD1D8FC5F1}"/>
                </a:ext>
              </a:extLst>
            </p:cNvPr>
            <p:cNvSpPr txBox="1"/>
            <p:nvPr/>
          </p:nvSpPr>
          <p:spPr>
            <a:xfrm>
              <a:off x="7153804" y="932040"/>
              <a:ext cx="2628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Cambio 2.0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A1F81B8-86B5-9BD9-F00B-787040837680}"/>
                </a:ext>
              </a:extLst>
            </p:cNvPr>
            <p:cNvSpPr txBox="1"/>
            <p:nvPr/>
          </p:nvSpPr>
          <p:spPr>
            <a:xfrm>
              <a:off x="2135838" y="967088"/>
              <a:ext cx="26289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Cambio 1.0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183CF48-25AB-93AF-A38E-1772A7656412}"/>
              </a:ext>
            </a:extLst>
          </p:cNvPr>
          <p:cNvGrpSpPr>
            <a:grpSpLocks noChangeAspect="1"/>
          </p:cNvGrpSpPr>
          <p:nvPr/>
        </p:nvGrpSpPr>
        <p:grpSpPr>
          <a:xfrm>
            <a:off x="8652510" y="4731936"/>
            <a:ext cx="2607927" cy="1799248"/>
            <a:chOff x="371474" y="1402078"/>
            <a:chExt cx="6400801" cy="42605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4C6AC2B-E678-6592-1C4E-2532AA4E5987}"/>
                </a:ext>
              </a:extLst>
            </p:cNvPr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E70097EA-7C0B-03C0-4F46-690640D299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Up Arrow 21">
                <a:extLst>
                  <a:ext uri="{FF2B5EF4-FFF2-40B4-BE49-F238E27FC236}">
                    <a16:creationId xmlns:a16="http://schemas.microsoft.com/office/drawing/2014/main" id="{701EB18E-C9BE-DBA0-7ED5-4CAA63E3934E}"/>
                  </a:ext>
                </a:extLst>
              </p:cNvPr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Up Arrow 23">
                <a:extLst>
                  <a:ext uri="{FF2B5EF4-FFF2-40B4-BE49-F238E27FC236}">
                    <a16:creationId xmlns:a16="http://schemas.microsoft.com/office/drawing/2014/main" id="{CBC3E251-C825-04E3-3688-A6DAA8CCB385}"/>
                  </a:ext>
                </a:extLst>
              </p:cNvPr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4FC3025-C189-9FD5-6BFE-394717B22A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6097" t="56698" r="35555" b="33092"/>
            <a:stretch/>
          </p:blipFill>
          <p:spPr>
            <a:xfrm>
              <a:off x="2085971" y="1510572"/>
              <a:ext cx="1762124" cy="5607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76740C-257A-8AD0-6418-186ECFFB5F9E}"/>
                </a:ext>
              </a:extLst>
            </p:cNvPr>
            <p:cNvSpPr txBox="1"/>
            <p:nvPr/>
          </p:nvSpPr>
          <p:spPr>
            <a:xfrm>
              <a:off x="1204909" y="3929063"/>
              <a:ext cx="2304411" cy="15435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 ocean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0D6C45-74AE-D18C-A1A6-A7B6DC96E911}"/>
                </a:ext>
              </a:extLst>
            </p:cNvPr>
            <p:cNvSpPr txBox="1"/>
            <p:nvPr/>
          </p:nvSpPr>
          <p:spPr>
            <a:xfrm>
              <a:off x="3509322" y="4085465"/>
              <a:ext cx="2125351" cy="15435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 ocean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E5A449-85A2-8512-70EA-734B1713794A}"/>
              </a:ext>
            </a:extLst>
          </p:cNvPr>
          <p:cNvCxnSpPr/>
          <p:nvPr/>
        </p:nvCxnSpPr>
        <p:spPr>
          <a:xfrm>
            <a:off x="3614313" y="3715314"/>
            <a:ext cx="6113937" cy="0"/>
          </a:xfrm>
          <a:prstGeom prst="line">
            <a:avLst/>
          </a:prstGeom>
          <a:ln w="38100">
            <a:solidFill>
              <a:schemeClr val="accent1">
                <a:alpha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E3C98C2-5129-0FB1-0FC8-CA74FFC71069}"/>
              </a:ext>
            </a:extLst>
          </p:cNvPr>
          <p:cNvCxnSpPr/>
          <p:nvPr/>
        </p:nvCxnSpPr>
        <p:spPr>
          <a:xfrm>
            <a:off x="3720993" y="4096314"/>
            <a:ext cx="6113937" cy="0"/>
          </a:xfrm>
          <a:prstGeom prst="line">
            <a:avLst/>
          </a:prstGeom>
          <a:ln w="38100">
            <a:solidFill>
              <a:srgbClr val="C0000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Emojis De Whatsapp Babeando">
            <a:extLst>
              <a:ext uri="{FF2B5EF4-FFF2-40B4-BE49-F238E27FC236}">
                <a16:creationId xmlns:a16="http://schemas.microsoft.com/office/drawing/2014/main" id="{ACBB11C2-66E8-7517-3E38-A54BF86D9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806" y="797870"/>
            <a:ext cx="977887" cy="10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/>
        </p:nvSpPr>
        <p:spPr>
          <a:xfrm>
            <a:off x="1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We even anticipated that compensating mechanism qualitatively, with a feedback diagram</a:t>
            </a:r>
            <a:endParaRPr lang="en-US" sz="2400" dirty="0"/>
          </a:p>
        </p:txBody>
      </p:sp>
      <p:grpSp>
        <p:nvGrpSpPr>
          <p:cNvPr id="145" name="Google Shape;145;p4"/>
          <p:cNvGrpSpPr/>
          <p:nvPr/>
        </p:nvGrpSpPr>
        <p:grpSpPr>
          <a:xfrm>
            <a:off x="8480007" y="3984481"/>
            <a:ext cx="3014970" cy="2080073"/>
            <a:chOff x="371474" y="1402078"/>
            <a:chExt cx="6400801" cy="4260533"/>
          </a:xfrm>
        </p:grpSpPr>
        <p:grpSp>
          <p:nvGrpSpPr>
            <p:cNvPr id="146" name="Google Shape;146;p4"/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47" name="Google Shape;147;p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148" name="Google Shape;148;p4"/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4"/>
            <p:cNvSpPr txBox="1"/>
            <p:nvPr/>
          </p:nvSpPr>
          <p:spPr>
            <a:xfrm>
              <a:off x="664840" y="3929063"/>
              <a:ext cx="2302195" cy="1702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Cold ocean</a:t>
              </a:r>
              <a:endParaRPr/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3509323" y="4085465"/>
              <a:ext cx="2125350" cy="1267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Warm ocean</a:t>
              </a:r>
              <a:endParaRPr/>
            </a:p>
          </p:txBody>
        </p:sp>
      </p:grpSp>
      <p:sp>
        <p:nvSpPr>
          <p:cNvPr id="152" name="Google Shape;152;p4"/>
          <p:cNvSpPr txBox="1"/>
          <p:nvPr/>
        </p:nvSpPr>
        <p:spPr>
          <a:xfrm>
            <a:off x="9353079" y="2307638"/>
            <a:ext cx="992459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53" name="Google Shape;153;p4"/>
          <p:cNvGrpSpPr/>
          <p:nvPr/>
        </p:nvGrpSpPr>
        <p:grpSpPr>
          <a:xfrm>
            <a:off x="8480007" y="1282023"/>
            <a:ext cx="3014970" cy="2161398"/>
            <a:chOff x="8491466" y="2307638"/>
            <a:chExt cx="3014970" cy="2161398"/>
          </a:xfrm>
        </p:grpSpPr>
        <p:grpSp>
          <p:nvGrpSpPr>
            <p:cNvPr id="154" name="Google Shape;154;p4"/>
            <p:cNvGrpSpPr/>
            <p:nvPr/>
          </p:nvGrpSpPr>
          <p:grpSpPr>
            <a:xfrm>
              <a:off x="8491466" y="2388963"/>
              <a:ext cx="3014970" cy="2080073"/>
              <a:chOff x="371474" y="1402078"/>
              <a:chExt cx="6400801" cy="4260533"/>
            </a:xfrm>
          </p:grpSpPr>
          <p:grpSp>
            <p:nvGrpSpPr>
              <p:cNvPr id="155" name="Google Shape;155;p4"/>
              <p:cNvGrpSpPr/>
              <p:nvPr/>
            </p:nvGrpSpPr>
            <p:grpSpPr>
              <a:xfrm>
                <a:off x="371474" y="1402078"/>
                <a:ext cx="6400801" cy="4260533"/>
                <a:chOff x="2771774" y="2230753"/>
                <a:chExt cx="6400801" cy="4260533"/>
              </a:xfrm>
            </p:grpSpPr>
            <p:pic>
              <p:nvPicPr>
                <p:cNvPr id="156" name="Google Shape;156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771774" y="2230753"/>
                  <a:ext cx="6400801" cy="4260533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pic>
            <p:sp>
              <p:nvSpPr>
                <p:cNvPr id="157" name="Google Shape;157;p4"/>
                <p:cNvSpPr/>
                <p:nvPr/>
              </p:nvSpPr>
              <p:spPr>
                <a:xfrm>
                  <a:off x="6443662" y="3348039"/>
                  <a:ext cx="528637" cy="1081089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4"/>
                <p:cNvSpPr/>
                <p:nvPr/>
              </p:nvSpPr>
              <p:spPr>
                <a:xfrm>
                  <a:off x="4343400" y="3095625"/>
                  <a:ext cx="528637" cy="1081088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9" name="Google Shape;159;p4"/>
              <p:cNvSpPr txBox="1"/>
              <p:nvPr/>
            </p:nvSpPr>
            <p:spPr>
              <a:xfrm>
                <a:off x="664840" y="3929063"/>
                <a:ext cx="2302195" cy="1702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Cold ocean</a:t>
                </a:r>
                <a:endParaRPr/>
              </a:p>
            </p:txBody>
          </p:sp>
          <p:sp>
            <p:nvSpPr>
              <p:cNvPr id="160" name="Google Shape;160;p4"/>
              <p:cNvSpPr txBox="1"/>
              <p:nvPr/>
            </p:nvSpPr>
            <p:spPr>
              <a:xfrm>
                <a:off x="3509323" y="4085465"/>
                <a:ext cx="2125350" cy="1267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Warm ocean</a:t>
                </a:r>
                <a:endParaRPr/>
              </a:p>
            </p:txBody>
          </p:sp>
        </p:grpSp>
        <p:sp>
          <p:nvSpPr>
            <p:cNvPr id="161" name="Google Shape;161;p4"/>
            <p:cNvSpPr txBox="1"/>
            <p:nvPr/>
          </p:nvSpPr>
          <p:spPr>
            <a:xfrm>
              <a:off x="9353079" y="2307638"/>
              <a:ext cx="992459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62" name="Google Shape;162;p4"/>
          <p:cNvSpPr txBox="1"/>
          <p:nvPr/>
        </p:nvSpPr>
        <p:spPr>
          <a:xfrm>
            <a:off x="292380" y="631433"/>
            <a:ext cx="7047571" cy="230832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441" t="-218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1162" y="2894706"/>
            <a:ext cx="3843087" cy="3029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/>
        </p:nvSpPr>
        <p:spPr>
          <a:xfrm>
            <a:off x="1" y="0"/>
            <a:ext cx="12192000" cy="461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We even anticipated that compensating mechanism qualitatively, with a feedback diagram</a:t>
            </a:r>
            <a:endParaRPr dirty="0"/>
          </a:p>
        </p:txBody>
      </p:sp>
      <p:grpSp>
        <p:nvGrpSpPr>
          <p:cNvPr id="145" name="Google Shape;145;p4"/>
          <p:cNvGrpSpPr/>
          <p:nvPr/>
        </p:nvGrpSpPr>
        <p:grpSpPr>
          <a:xfrm>
            <a:off x="8480007" y="3984481"/>
            <a:ext cx="3014970" cy="2080073"/>
            <a:chOff x="371474" y="1402078"/>
            <a:chExt cx="6400801" cy="4260533"/>
          </a:xfrm>
        </p:grpSpPr>
        <p:grpSp>
          <p:nvGrpSpPr>
            <p:cNvPr id="146" name="Google Shape;146;p4"/>
            <p:cNvGrpSpPr/>
            <p:nvPr/>
          </p:nvGrpSpPr>
          <p:grpSpPr>
            <a:xfrm>
              <a:off x="371474" y="1402078"/>
              <a:ext cx="6400801" cy="4260533"/>
              <a:chOff x="2771774" y="2230753"/>
              <a:chExt cx="6400801" cy="4260533"/>
            </a:xfrm>
          </p:grpSpPr>
          <p:pic>
            <p:nvPicPr>
              <p:cNvPr id="147" name="Google Shape;147;p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771774" y="2230753"/>
                <a:ext cx="6400801" cy="4260533"/>
              </a:xfrm>
              <a:prstGeom prst="rect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148" name="Google Shape;148;p4"/>
              <p:cNvSpPr/>
              <p:nvPr/>
            </p:nvSpPr>
            <p:spPr>
              <a:xfrm>
                <a:off x="6443663" y="2386013"/>
                <a:ext cx="528637" cy="2043113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4343400" y="3095625"/>
                <a:ext cx="528637" cy="1081088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127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4"/>
            <p:cNvSpPr txBox="1"/>
            <p:nvPr/>
          </p:nvSpPr>
          <p:spPr>
            <a:xfrm>
              <a:off x="664840" y="3929063"/>
              <a:ext cx="2302195" cy="1702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Cold ocean</a:t>
              </a:r>
              <a:endParaRPr/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3509323" y="4085465"/>
              <a:ext cx="2125350" cy="1267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Warm ocean</a:t>
              </a:r>
              <a:endParaRPr/>
            </a:p>
          </p:txBody>
        </p:sp>
      </p:grpSp>
      <p:sp>
        <p:nvSpPr>
          <p:cNvPr id="152" name="Google Shape;152;p4"/>
          <p:cNvSpPr txBox="1"/>
          <p:nvPr/>
        </p:nvSpPr>
        <p:spPr>
          <a:xfrm>
            <a:off x="9353079" y="2307638"/>
            <a:ext cx="992459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53" name="Google Shape;153;p4"/>
          <p:cNvGrpSpPr/>
          <p:nvPr/>
        </p:nvGrpSpPr>
        <p:grpSpPr>
          <a:xfrm>
            <a:off x="8480007" y="1282023"/>
            <a:ext cx="3014970" cy="2161398"/>
            <a:chOff x="8491466" y="2307638"/>
            <a:chExt cx="3014970" cy="2161398"/>
          </a:xfrm>
        </p:grpSpPr>
        <p:grpSp>
          <p:nvGrpSpPr>
            <p:cNvPr id="154" name="Google Shape;154;p4"/>
            <p:cNvGrpSpPr/>
            <p:nvPr/>
          </p:nvGrpSpPr>
          <p:grpSpPr>
            <a:xfrm>
              <a:off x="8491466" y="2388963"/>
              <a:ext cx="3014970" cy="2080073"/>
              <a:chOff x="371474" y="1402078"/>
              <a:chExt cx="6400801" cy="4260533"/>
            </a:xfrm>
          </p:grpSpPr>
          <p:grpSp>
            <p:nvGrpSpPr>
              <p:cNvPr id="155" name="Google Shape;155;p4"/>
              <p:cNvGrpSpPr/>
              <p:nvPr/>
            </p:nvGrpSpPr>
            <p:grpSpPr>
              <a:xfrm>
                <a:off x="371474" y="1402078"/>
                <a:ext cx="6400801" cy="4260533"/>
                <a:chOff x="2771774" y="2230753"/>
                <a:chExt cx="6400801" cy="4260533"/>
              </a:xfrm>
            </p:grpSpPr>
            <p:pic>
              <p:nvPicPr>
                <p:cNvPr id="156" name="Google Shape;156;p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2771774" y="2230753"/>
                  <a:ext cx="6400801" cy="4260533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pic>
            <p:sp>
              <p:nvSpPr>
                <p:cNvPr id="157" name="Google Shape;157;p4"/>
                <p:cNvSpPr/>
                <p:nvPr/>
              </p:nvSpPr>
              <p:spPr>
                <a:xfrm>
                  <a:off x="6443662" y="3348039"/>
                  <a:ext cx="528637" cy="1081089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4"/>
                <p:cNvSpPr/>
                <p:nvPr/>
              </p:nvSpPr>
              <p:spPr>
                <a:xfrm>
                  <a:off x="4343400" y="3095625"/>
                  <a:ext cx="528637" cy="1081088"/>
                </a:xfrm>
                <a:prstGeom prst="upArrow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 w="127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9" name="Google Shape;159;p4"/>
              <p:cNvSpPr txBox="1"/>
              <p:nvPr/>
            </p:nvSpPr>
            <p:spPr>
              <a:xfrm>
                <a:off x="664840" y="3929063"/>
                <a:ext cx="2302195" cy="17020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Cold ocean</a:t>
                </a:r>
                <a:endParaRPr/>
              </a:p>
            </p:txBody>
          </p:sp>
          <p:sp>
            <p:nvSpPr>
              <p:cNvPr id="160" name="Google Shape;160;p4"/>
              <p:cNvSpPr txBox="1"/>
              <p:nvPr/>
            </p:nvSpPr>
            <p:spPr>
              <a:xfrm>
                <a:off x="3509323" y="4085465"/>
                <a:ext cx="2125350" cy="1267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Warm ocean</a:t>
                </a:r>
                <a:endParaRPr/>
              </a:p>
            </p:txBody>
          </p:sp>
        </p:grpSp>
        <p:sp>
          <p:nvSpPr>
            <p:cNvPr id="161" name="Google Shape;161;p4"/>
            <p:cNvSpPr txBox="1"/>
            <p:nvPr/>
          </p:nvSpPr>
          <p:spPr>
            <a:xfrm>
              <a:off x="9353079" y="2307638"/>
              <a:ext cx="992459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sp>
        <p:nvSpPr>
          <p:cNvPr id="162" name="Google Shape;162;p4"/>
          <p:cNvSpPr txBox="1"/>
          <p:nvPr/>
        </p:nvSpPr>
        <p:spPr>
          <a:xfrm>
            <a:off x="292380" y="631433"/>
            <a:ext cx="7047571" cy="230832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441" t="-218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45A18-BC79-35CD-83E7-0E3B42F5892F}"/>
              </a:ext>
            </a:extLst>
          </p:cNvPr>
          <p:cNvSpPr txBox="1"/>
          <p:nvPr/>
        </p:nvSpPr>
        <p:spPr>
          <a:xfrm>
            <a:off x="4938895" y="3199651"/>
            <a:ext cx="3308115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 small plug for us in this course: Imagine a course without Cambio … qualitative predictions like this would be all you could get!</a:t>
            </a:r>
          </a:p>
        </p:txBody>
      </p:sp>
      <p:pic>
        <p:nvPicPr>
          <p:cNvPr id="3" name="Google Shape;163;p4">
            <a:extLst>
              <a:ext uri="{FF2B5EF4-FFF2-40B4-BE49-F238E27FC236}">
                <a16:creationId xmlns:a16="http://schemas.microsoft.com/office/drawing/2014/main" id="{49A193CE-78E6-24B6-E1D5-1D1138F5740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1162" y="2894706"/>
            <a:ext cx="3843087" cy="30296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8214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Meanwhile, let’s finish these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EFF49-B189-605C-5C0B-0555B6708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49" y="543915"/>
            <a:ext cx="6589541" cy="19008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BED742-018F-1E77-2681-A38BFF364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916" y="2524317"/>
            <a:ext cx="7641576" cy="41736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062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5359</TotalTime>
  <Words>278</Words>
  <Application>Microsoft Macintosh PowerPoint</Application>
  <PresentationFormat>Widescreen</PresentationFormat>
  <Paragraphs>44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73</cp:revision>
  <dcterms:created xsi:type="dcterms:W3CDTF">2023-10-27T13:32:49Z</dcterms:created>
  <dcterms:modified xsi:type="dcterms:W3CDTF">2026-03-13T15:22:04Z</dcterms:modified>
</cp:coreProperties>
</file>