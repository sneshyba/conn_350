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embeddedFontLst>
    <p:embeddedFont>
      <p:font typeface="Calibri" panose="020F0502020204030204" pitchFamily="34" charset="0"/>
      <p:regular r:id="rId17"/>
      <p:bold r:id="rId18"/>
      <p:italic r:id="rId19"/>
      <p:boldItalic r:id="rId20"/>
    </p:embeddedFont>
    <p:embeddedFont>
      <p:font typeface="Roboto" panose="02000000000000000000" pitchFamily="2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5" roundtripDataSignature="AMtx7mgHpe8014Gvap6BvAKv1+/0sq3NG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59"/>
  </p:normalViewPr>
  <p:slideViewPr>
    <p:cSldViewPr snapToGrid="0">
      <p:cViewPr varScale="1">
        <p:scale>
          <a:sx n="106" d="100"/>
          <a:sy n="106" d="100"/>
        </p:scale>
        <p:origin x="69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i="1">
                <a:solidFill>
                  <a:srgbClr val="33333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DC</a:t>
            </a:r>
            <a:r>
              <a:rPr lang="en-US" sz="1350">
                <a:solidFill>
                  <a:srgbClr val="33333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is a positive constant that determines how Henry’s law equilibrium changes with temperature</a:t>
            </a:r>
            <a:endParaRPr/>
          </a:p>
        </p:txBody>
      </p:sp>
      <p:sp>
        <p:nvSpPr>
          <p:cNvPr id="212" name="Google Shape;21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" name="Google Shape;31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6" name="Google Shape;346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Predict the temperature if CO2 continues to rise. If we reduce CO2 emissions to zero.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6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6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9"/>
          <p:cNvSpPr txBox="1">
            <a:spLocks noGrp="1"/>
          </p:cNvSpPr>
          <p:nvPr>
            <p:ph type="title"/>
          </p:nvPr>
        </p:nvSpPr>
        <p:spPr>
          <a:xfrm>
            <a:off x="415600" y="546667"/>
            <a:ext cx="11360800" cy="8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9"/>
          <p:cNvSpPr txBox="1">
            <a:spLocks noGrp="1"/>
          </p:cNvSpPr>
          <p:nvPr>
            <p:ph type="body" idx="1"/>
          </p:nvPr>
        </p:nvSpPr>
        <p:spPr>
          <a:xfrm>
            <a:off x="415600" y="1639833"/>
            <a:ext cx="11360800" cy="44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4" name="Google Shape;34;p19"/>
          <p:cNvSpPr txBox="1">
            <a:spLocks noGrp="1"/>
          </p:cNvSpPr>
          <p:nvPr>
            <p:ph type="sldNum" idx="12"/>
          </p:nvPr>
        </p:nvSpPr>
        <p:spPr>
          <a:xfrm>
            <a:off x="11280575" y="6201587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0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20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8" name="Google Shape;38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1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2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22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1" name="Google Shape;51;p22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22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3" name="Google Shape;53;p22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5" name="Google Shape;65;p2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6" name="Google Shape;6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2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3" name="Google Shape;7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9" name="Google Shape;79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2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jp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5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5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png"/><Relationship Id="rId5" Type="http://schemas.openxmlformats.org/officeDocument/2006/relationships/image" Target="../media/image20.jp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1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0.jp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0.jpg"/><Relationship Id="rId9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"/>
          <p:cNvSpPr txBox="1"/>
          <p:nvPr/>
        </p:nvSpPr>
        <p:spPr>
          <a:xfrm>
            <a:off x="0" y="-11575"/>
            <a:ext cx="12192000" cy="86485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832" t="-4348" b="-14493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93" name="Google Shape;93;p1"/>
          <p:cNvSpPr txBox="1"/>
          <p:nvPr/>
        </p:nvSpPr>
        <p:spPr>
          <a:xfrm>
            <a:off x="122127" y="1068533"/>
            <a:ext cx="6615341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dependence, whereby  gases are less soluble in warmer oceans, is also called </a:t>
            </a: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Henry’s feedback 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 (more correctly) </a:t>
            </a:r>
            <a:r>
              <a:rPr lang="en-US" sz="24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van’t</a:t>
            </a: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Hoff effect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dirty="0"/>
          </a:p>
        </p:txBody>
      </p:sp>
      <p:grpSp>
        <p:nvGrpSpPr>
          <p:cNvPr id="94" name="Google Shape;94;p1"/>
          <p:cNvGrpSpPr/>
          <p:nvPr/>
        </p:nvGrpSpPr>
        <p:grpSpPr>
          <a:xfrm>
            <a:off x="122128" y="2484118"/>
            <a:ext cx="6384174" cy="4256116"/>
            <a:chOff x="279002" y="814200"/>
            <a:chExt cx="7739820" cy="5159880"/>
          </a:xfrm>
        </p:grpSpPr>
        <p:pic>
          <p:nvPicPr>
            <p:cNvPr id="95" name="Google Shape;95;p1" descr="Draft diagram of the carbon cycle.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79002" y="814200"/>
              <a:ext cx="7739820" cy="51598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6" name="Google Shape;96;p1"/>
            <p:cNvSpPr/>
            <p:nvPr/>
          </p:nvSpPr>
          <p:spPr>
            <a:xfrm>
              <a:off x="6509084" y="2123364"/>
              <a:ext cx="733926" cy="415302"/>
            </a:xfrm>
            <a:prstGeom prst="frame">
              <a:avLst>
                <a:gd name="adj1" fmla="val 12500"/>
              </a:avLst>
            </a:prstGeom>
            <a:solidFill>
              <a:schemeClr val="accent1"/>
            </a:solidFill>
            <a:ln w="12700" cap="flat" cmpd="sng">
              <a:solidFill>
                <a:srgbClr val="1C305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7" name="Google Shape;97;p1"/>
          <p:cNvGrpSpPr/>
          <p:nvPr/>
        </p:nvGrpSpPr>
        <p:grpSpPr>
          <a:xfrm>
            <a:off x="7213213" y="3122582"/>
            <a:ext cx="4553560" cy="3715492"/>
            <a:chOff x="7345217" y="2261748"/>
            <a:chExt cx="4553560" cy="3715492"/>
          </a:xfrm>
        </p:grpSpPr>
        <p:pic>
          <p:nvPicPr>
            <p:cNvPr id="98" name="Google Shape;98;p1"/>
            <p:cNvPicPr preferRelativeResize="0"/>
            <p:nvPr/>
          </p:nvPicPr>
          <p:blipFill rotWithShape="1">
            <a:blip r:embed="rId5">
              <a:alphaModFix/>
            </a:blip>
            <a:srcRect b="5546"/>
            <a:stretch/>
          </p:blipFill>
          <p:spPr>
            <a:xfrm>
              <a:off x="7345217" y="2261748"/>
              <a:ext cx="4553560" cy="322465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" name="Google Shape;99;p1"/>
            <p:cNvSpPr txBox="1"/>
            <p:nvPr/>
          </p:nvSpPr>
          <p:spPr>
            <a:xfrm>
              <a:off x="8826500" y="5486400"/>
              <a:ext cx="1861992" cy="49084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-10000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100" name="Google Shape;100;p1"/>
          <p:cNvGrpSpPr/>
          <p:nvPr/>
        </p:nvGrpSpPr>
        <p:grpSpPr>
          <a:xfrm>
            <a:off x="7625035" y="912628"/>
            <a:ext cx="3614814" cy="2493914"/>
            <a:chOff x="371474" y="1402078"/>
            <a:chExt cx="6400801" cy="4260533"/>
          </a:xfrm>
        </p:grpSpPr>
        <p:grpSp>
          <p:nvGrpSpPr>
            <p:cNvPr id="101" name="Google Shape;101;p1"/>
            <p:cNvGrpSpPr/>
            <p:nvPr/>
          </p:nvGrpSpPr>
          <p:grpSpPr>
            <a:xfrm>
              <a:off x="371474" y="1402078"/>
              <a:ext cx="6400801" cy="4260533"/>
              <a:chOff x="2771774" y="2230753"/>
              <a:chExt cx="6400801" cy="4260533"/>
            </a:xfrm>
          </p:grpSpPr>
          <p:pic>
            <p:nvPicPr>
              <p:cNvPr id="102" name="Google Shape;102;p1"/>
              <p:cNvPicPr preferRelativeResize="0"/>
              <p:nvPr/>
            </p:nvPicPr>
            <p:blipFill rotWithShape="1">
              <a:blip r:embed="rId7">
                <a:alphaModFix/>
              </a:blip>
              <a:srcRect/>
              <a:stretch/>
            </p:blipFill>
            <p:spPr>
              <a:xfrm>
                <a:off x="2771774" y="2230753"/>
                <a:ext cx="6400801" cy="4260533"/>
              </a:xfrm>
              <a:prstGeom prst="rect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pic>
          <p:sp>
            <p:nvSpPr>
              <p:cNvPr id="103" name="Google Shape;103;p1"/>
              <p:cNvSpPr/>
              <p:nvPr/>
            </p:nvSpPr>
            <p:spPr>
              <a:xfrm>
                <a:off x="6443663" y="2386013"/>
                <a:ext cx="528637" cy="2043113"/>
              </a:xfrm>
              <a:prstGeom prst="upArrow">
                <a:avLst>
                  <a:gd name="adj1" fmla="val 50000"/>
                  <a:gd name="adj2" fmla="val 50000"/>
                </a:avLst>
              </a:prstGeom>
              <a:solidFill>
                <a:schemeClr val="accent2"/>
              </a:solidFill>
              <a:ln w="12700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" name="Google Shape;104;p1"/>
              <p:cNvSpPr/>
              <p:nvPr/>
            </p:nvSpPr>
            <p:spPr>
              <a:xfrm>
                <a:off x="4343400" y="3095625"/>
                <a:ext cx="528637" cy="1081088"/>
              </a:xfrm>
              <a:prstGeom prst="upArrow">
                <a:avLst>
                  <a:gd name="adj1" fmla="val 50000"/>
                  <a:gd name="adj2" fmla="val 50000"/>
                </a:avLst>
              </a:prstGeom>
              <a:solidFill>
                <a:schemeClr val="accent2"/>
              </a:solidFill>
              <a:ln w="12700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05" name="Google Shape;105;p1"/>
            <p:cNvSpPr txBox="1"/>
            <p:nvPr/>
          </p:nvSpPr>
          <p:spPr>
            <a:xfrm>
              <a:off x="1204911" y="3929063"/>
              <a:ext cx="1762123" cy="126702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Cold ocean</a:t>
              </a:r>
              <a:endParaRPr/>
            </a:p>
          </p:txBody>
        </p:sp>
        <p:sp>
          <p:nvSpPr>
            <p:cNvPr id="106" name="Google Shape;106;p1"/>
            <p:cNvSpPr txBox="1"/>
            <p:nvPr/>
          </p:nvSpPr>
          <p:spPr>
            <a:xfrm>
              <a:off x="3509323" y="4085465"/>
              <a:ext cx="2125350" cy="126702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Warm ocean</a:t>
              </a:r>
              <a:endParaRPr/>
            </a:p>
          </p:txBody>
        </p:sp>
      </p:grpSp>
      <p:sp>
        <p:nvSpPr>
          <p:cNvPr id="107" name="Google Shape;107;p1"/>
          <p:cNvSpPr txBox="1"/>
          <p:nvPr/>
        </p:nvSpPr>
        <p:spPr>
          <a:xfrm>
            <a:off x="7751484" y="3814935"/>
            <a:ext cx="906394" cy="461665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08" name="Google Shape;108;p1"/>
          <p:cNvSpPr txBox="1"/>
          <p:nvPr/>
        </p:nvSpPr>
        <p:spPr>
          <a:xfrm>
            <a:off x="8736793" y="5334087"/>
            <a:ext cx="3088174" cy="461665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t="-8108" b="-29730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09" name="Google Shape;109;p1"/>
          <p:cNvSpPr txBox="1"/>
          <p:nvPr/>
        </p:nvSpPr>
        <p:spPr>
          <a:xfrm>
            <a:off x="8811145" y="913944"/>
            <a:ext cx="992459" cy="461665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"/>
          <p:cNvSpPr txBox="1"/>
          <p:nvPr/>
        </p:nvSpPr>
        <p:spPr>
          <a:xfrm>
            <a:off x="1" y="0"/>
            <a:ext cx="12192000" cy="4616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Here are our old (Cambio 1.0) equations of motion</a:t>
            </a:r>
            <a:endParaRPr/>
          </a:p>
        </p:txBody>
      </p:sp>
      <p:pic>
        <p:nvPicPr>
          <p:cNvPr id="115" name="Google Shape;115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01225" y="1830768"/>
            <a:ext cx="4290060" cy="32879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6" name="Google Shape;116;p2"/>
          <p:cNvGrpSpPr/>
          <p:nvPr/>
        </p:nvGrpSpPr>
        <p:grpSpPr>
          <a:xfrm>
            <a:off x="8491466" y="2307638"/>
            <a:ext cx="3014970" cy="2161398"/>
            <a:chOff x="8491466" y="2307638"/>
            <a:chExt cx="3014970" cy="2161398"/>
          </a:xfrm>
        </p:grpSpPr>
        <p:grpSp>
          <p:nvGrpSpPr>
            <p:cNvPr id="117" name="Google Shape;117;p2"/>
            <p:cNvGrpSpPr/>
            <p:nvPr/>
          </p:nvGrpSpPr>
          <p:grpSpPr>
            <a:xfrm>
              <a:off x="8491466" y="2388963"/>
              <a:ext cx="3014970" cy="2080073"/>
              <a:chOff x="371474" y="1402078"/>
              <a:chExt cx="6400801" cy="4260533"/>
            </a:xfrm>
          </p:grpSpPr>
          <p:grpSp>
            <p:nvGrpSpPr>
              <p:cNvPr id="118" name="Google Shape;118;p2"/>
              <p:cNvGrpSpPr/>
              <p:nvPr/>
            </p:nvGrpSpPr>
            <p:grpSpPr>
              <a:xfrm>
                <a:off x="371474" y="1402078"/>
                <a:ext cx="6400801" cy="4260533"/>
                <a:chOff x="2771774" y="2230753"/>
                <a:chExt cx="6400801" cy="4260533"/>
              </a:xfrm>
            </p:grpSpPr>
            <p:pic>
              <p:nvPicPr>
                <p:cNvPr id="119" name="Google Shape;119;p2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/>
                <a:stretch/>
              </p:blipFill>
              <p:spPr>
                <a:xfrm>
                  <a:off x="2771774" y="2230753"/>
                  <a:ext cx="6400801" cy="4260533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pic>
            <p:sp>
              <p:nvSpPr>
                <p:cNvPr id="120" name="Google Shape;120;p2"/>
                <p:cNvSpPr/>
                <p:nvPr/>
              </p:nvSpPr>
              <p:spPr>
                <a:xfrm>
                  <a:off x="6443662" y="3348039"/>
                  <a:ext cx="528637" cy="1081089"/>
                </a:xfrm>
                <a:prstGeom prst="upArrow">
                  <a:avLst>
                    <a:gd name="adj1" fmla="val 50000"/>
                    <a:gd name="adj2" fmla="val 50000"/>
                  </a:avLst>
                </a:prstGeom>
                <a:solidFill>
                  <a:schemeClr val="accent2"/>
                </a:solidFill>
                <a:ln w="12700" cap="flat" cmpd="sng">
                  <a:solidFill>
                    <a:schemeClr val="accent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1" name="Google Shape;121;p2"/>
                <p:cNvSpPr/>
                <p:nvPr/>
              </p:nvSpPr>
              <p:spPr>
                <a:xfrm>
                  <a:off x="4343400" y="3095625"/>
                  <a:ext cx="528637" cy="1081088"/>
                </a:xfrm>
                <a:prstGeom prst="upArrow">
                  <a:avLst>
                    <a:gd name="adj1" fmla="val 50000"/>
                    <a:gd name="adj2" fmla="val 50000"/>
                  </a:avLst>
                </a:prstGeom>
                <a:solidFill>
                  <a:schemeClr val="accent2"/>
                </a:solidFill>
                <a:ln w="12700" cap="flat" cmpd="sng">
                  <a:solidFill>
                    <a:schemeClr val="accent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22" name="Google Shape;122;p2"/>
              <p:cNvSpPr txBox="1"/>
              <p:nvPr/>
            </p:nvSpPr>
            <p:spPr>
              <a:xfrm>
                <a:off x="664840" y="3929063"/>
                <a:ext cx="2302195" cy="17020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Cold ocean</a:t>
                </a:r>
                <a:endParaRPr/>
              </a:p>
            </p:txBody>
          </p:sp>
          <p:sp>
            <p:nvSpPr>
              <p:cNvPr id="123" name="Google Shape;123;p2"/>
              <p:cNvSpPr txBox="1"/>
              <p:nvPr/>
            </p:nvSpPr>
            <p:spPr>
              <a:xfrm>
                <a:off x="3509323" y="4085465"/>
                <a:ext cx="2125350" cy="126702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Warm ocean</a:t>
                </a:r>
                <a:endParaRPr/>
              </a:p>
            </p:txBody>
          </p:sp>
        </p:grpSp>
        <p:sp>
          <p:nvSpPr>
            <p:cNvPr id="124" name="Google Shape;124;p2"/>
            <p:cNvSpPr txBox="1"/>
            <p:nvPr/>
          </p:nvSpPr>
          <p:spPr>
            <a:xfrm>
              <a:off x="9353079" y="2307638"/>
              <a:ext cx="992459" cy="461665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"/>
          <p:cNvSpPr txBox="1"/>
          <p:nvPr/>
        </p:nvSpPr>
        <p:spPr>
          <a:xfrm>
            <a:off x="1" y="0"/>
            <a:ext cx="12192000" cy="4616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here are our new (Cambio 2.0) equations of motion</a:t>
            </a:r>
            <a:endParaRPr/>
          </a:p>
        </p:txBody>
      </p:sp>
      <p:pic>
        <p:nvPicPr>
          <p:cNvPr id="130" name="Google Shape;130;p3"/>
          <p:cNvPicPr preferRelativeResize="0"/>
          <p:nvPr/>
        </p:nvPicPr>
        <p:blipFill rotWithShape="1">
          <a:blip r:embed="rId3">
            <a:alphaModFix/>
          </a:blip>
          <a:srcRect l="22952" t="48335" r="19884"/>
          <a:stretch/>
        </p:blipFill>
        <p:spPr>
          <a:xfrm>
            <a:off x="555411" y="1041022"/>
            <a:ext cx="6313381" cy="311651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1" name="Google Shape;131;p3"/>
          <p:cNvGrpSpPr/>
          <p:nvPr/>
        </p:nvGrpSpPr>
        <p:grpSpPr>
          <a:xfrm>
            <a:off x="8491466" y="2388963"/>
            <a:ext cx="3014970" cy="2080073"/>
            <a:chOff x="371474" y="1402078"/>
            <a:chExt cx="6400801" cy="4260533"/>
          </a:xfrm>
        </p:grpSpPr>
        <p:grpSp>
          <p:nvGrpSpPr>
            <p:cNvPr id="132" name="Google Shape;132;p3"/>
            <p:cNvGrpSpPr/>
            <p:nvPr/>
          </p:nvGrpSpPr>
          <p:grpSpPr>
            <a:xfrm>
              <a:off x="371474" y="1402078"/>
              <a:ext cx="6400801" cy="4260533"/>
              <a:chOff x="2771774" y="2230753"/>
              <a:chExt cx="6400801" cy="4260533"/>
            </a:xfrm>
          </p:grpSpPr>
          <p:pic>
            <p:nvPicPr>
              <p:cNvPr id="133" name="Google Shape;133;p3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2771774" y="2230753"/>
                <a:ext cx="6400801" cy="4260533"/>
              </a:xfrm>
              <a:prstGeom prst="rect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pic>
          <p:sp>
            <p:nvSpPr>
              <p:cNvPr id="134" name="Google Shape;134;p3"/>
              <p:cNvSpPr/>
              <p:nvPr/>
            </p:nvSpPr>
            <p:spPr>
              <a:xfrm>
                <a:off x="6443663" y="2386013"/>
                <a:ext cx="528637" cy="2043113"/>
              </a:xfrm>
              <a:prstGeom prst="upArrow">
                <a:avLst>
                  <a:gd name="adj1" fmla="val 50000"/>
                  <a:gd name="adj2" fmla="val 50000"/>
                </a:avLst>
              </a:prstGeom>
              <a:solidFill>
                <a:schemeClr val="accent2"/>
              </a:solidFill>
              <a:ln w="12700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" name="Google Shape;135;p3"/>
              <p:cNvSpPr/>
              <p:nvPr/>
            </p:nvSpPr>
            <p:spPr>
              <a:xfrm>
                <a:off x="4343400" y="3095625"/>
                <a:ext cx="528637" cy="1081088"/>
              </a:xfrm>
              <a:prstGeom prst="upArrow">
                <a:avLst>
                  <a:gd name="adj1" fmla="val 50000"/>
                  <a:gd name="adj2" fmla="val 50000"/>
                </a:avLst>
              </a:prstGeom>
              <a:solidFill>
                <a:schemeClr val="accent2"/>
              </a:solidFill>
              <a:ln w="12700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6" name="Google Shape;136;p3"/>
            <p:cNvSpPr txBox="1"/>
            <p:nvPr/>
          </p:nvSpPr>
          <p:spPr>
            <a:xfrm>
              <a:off x="664840" y="3929063"/>
              <a:ext cx="2302195" cy="17020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Cold ocean</a:t>
              </a:r>
              <a:endParaRPr/>
            </a:p>
          </p:txBody>
        </p:sp>
        <p:sp>
          <p:nvSpPr>
            <p:cNvPr id="137" name="Google Shape;137;p3"/>
            <p:cNvSpPr txBox="1"/>
            <p:nvPr/>
          </p:nvSpPr>
          <p:spPr>
            <a:xfrm>
              <a:off x="3509323" y="4085465"/>
              <a:ext cx="2125350" cy="126702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Warm ocean</a:t>
              </a:r>
              <a:endParaRPr/>
            </a:p>
          </p:txBody>
        </p:sp>
      </p:grpSp>
      <p:sp>
        <p:nvSpPr>
          <p:cNvPr id="138" name="Google Shape;138;p3"/>
          <p:cNvSpPr txBox="1"/>
          <p:nvPr/>
        </p:nvSpPr>
        <p:spPr>
          <a:xfrm>
            <a:off x="9353079" y="2307638"/>
            <a:ext cx="992459" cy="461665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39" name="Google Shape;139;p3"/>
          <p:cNvSpPr txBox="1"/>
          <p:nvPr/>
        </p:nvSpPr>
        <p:spPr>
          <a:xfrm>
            <a:off x="730550" y="4469025"/>
            <a:ext cx="5963100" cy="1925700"/>
          </a:xfrm>
          <a:prstGeom prst="rect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doing so, </a:t>
            </a:r>
            <a:r>
              <a:rPr lang="en-US" sz="2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en-US" sz="2800" b="1" i="1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anomaly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transitions from a </a:t>
            </a:r>
            <a:r>
              <a:rPr lang="en-US" sz="2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diagnostic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variable (strictly a result) to a </a:t>
            </a:r>
            <a:r>
              <a:rPr lang="en-US" sz="2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prognostic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variable (still a result, but now also a changer of future outcomes)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4"/>
          <p:cNvSpPr txBox="1"/>
          <p:nvPr/>
        </p:nvSpPr>
        <p:spPr>
          <a:xfrm>
            <a:off x="1" y="0"/>
            <a:ext cx="12192000" cy="4616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about a little brainstorming …</a:t>
            </a:r>
            <a:endParaRPr/>
          </a:p>
        </p:txBody>
      </p:sp>
      <p:grpSp>
        <p:nvGrpSpPr>
          <p:cNvPr id="145" name="Google Shape;145;p4"/>
          <p:cNvGrpSpPr/>
          <p:nvPr/>
        </p:nvGrpSpPr>
        <p:grpSpPr>
          <a:xfrm>
            <a:off x="8480007" y="3984481"/>
            <a:ext cx="3014970" cy="2080073"/>
            <a:chOff x="371474" y="1402078"/>
            <a:chExt cx="6400801" cy="4260533"/>
          </a:xfrm>
        </p:grpSpPr>
        <p:grpSp>
          <p:nvGrpSpPr>
            <p:cNvPr id="146" name="Google Shape;146;p4"/>
            <p:cNvGrpSpPr/>
            <p:nvPr/>
          </p:nvGrpSpPr>
          <p:grpSpPr>
            <a:xfrm>
              <a:off x="371474" y="1402078"/>
              <a:ext cx="6400801" cy="4260533"/>
              <a:chOff x="2771774" y="2230753"/>
              <a:chExt cx="6400801" cy="4260533"/>
            </a:xfrm>
          </p:grpSpPr>
          <p:pic>
            <p:nvPicPr>
              <p:cNvPr id="147" name="Google Shape;147;p4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2771774" y="2230753"/>
                <a:ext cx="6400801" cy="4260533"/>
              </a:xfrm>
              <a:prstGeom prst="rect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pic>
          <p:sp>
            <p:nvSpPr>
              <p:cNvPr id="148" name="Google Shape;148;p4"/>
              <p:cNvSpPr/>
              <p:nvPr/>
            </p:nvSpPr>
            <p:spPr>
              <a:xfrm>
                <a:off x="6443663" y="2386013"/>
                <a:ext cx="528637" cy="2043113"/>
              </a:xfrm>
              <a:prstGeom prst="upArrow">
                <a:avLst>
                  <a:gd name="adj1" fmla="val 50000"/>
                  <a:gd name="adj2" fmla="val 50000"/>
                </a:avLst>
              </a:prstGeom>
              <a:solidFill>
                <a:schemeClr val="accent2"/>
              </a:solidFill>
              <a:ln w="12700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" name="Google Shape;149;p4"/>
              <p:cNvSpPr/>
              <p:nvPr/>
            </p:nvSpPr>
            <p:spPr>
              <a:xfrm>
                <a:off x="4343400" y="3095625"/>
                <a:ext cx="528637" cy="1081088"/>
              </a:xfrm>
              <a:prstGeom prst="upArrow">
                <a:avLst>
                  <a:gd name="adj1" fmla="val 50000"/>
                  <a:gd name="adj2" fmla="val 50000"/>
                </a:avLst>
              </a:prstGeom>
              <a:solidFill>
                <a:schemeClr val="accent2"/>
              </a:solidFill>
              <a:ln w="12700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50" name="Google Shape;150;p4"/>
            <p:cNvSpPr txBox="1"/>
            <p:nvPr/>
          </p:nvSpPr>
          <p:spPr>
            <a:xfrm>
              <a:off x="664840" y="3929063"/>
              <a:ext cx="2302195" cy="17020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Cold ocean</a:t>
              </a:r>
              <a:endParaRPr/>
            </a:p>
          </p:txBody>
        </p:sp>
        <p:sp>
          <p:nvSpPr>
            <p:cNvPr id="151" name="Google Shape;151;p4"/>
            <p:cNvSpPr txBox="1"/>
            <p:nvPr/>
          </p:nvSpPr>
          <p:spPr>
            <a:xfrm>
              <a:off x="3509323" y="4085465"/>
              <a:ext cx="2125350" cy="126702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Warm ocean</a:t>
              </a:r>
              <a:endParaRPr/>
            </a:p>
          </p:txBody>
        </p:sp>
      </p:grpSp>
      <p:sp>
        <p:nvSpPr>
          <p:cNvPr id="152" name="Google Shape;152;p4"/>
          <p:cNvSpPr txBox="1"/>
          <p:nvPr/>
        </p:nvSpPr>
        <p:spPr>
          <a:xfrm>
            <a:off x="9353079" y="2307638"/>
            <a:ext cx="992459" cy="46166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grpSp>
        <p:nvGrpSpPr>
          <p:cNvPr id="153" name="Google Shape;153;p4"/>
          <p:cNvGrpSpPr/>
          <p:nvPr/>
        </p:nvGrpSpPr>
        <p:grpSpPr>
          <a:xfrm>
            <a:off x="8480007" y="1282023"/>
            <a:ext cx="3014970" cy="2161398"/>
            <a:chOff x="8491466" y="2307638"/>
            <a:chExt cx="3014970" cy="2161398"/>
          </a:xfrm>
        </p:grpSpPr>
        <p:grpSp>
          <p:nvGrpSpPr>
            <p:cNvPr id="154" name="Google Shape;154;p4"/>
            <p:cNvGrpSpPr/>
            <p:nvPr/>
          </p:nvGrpSpPr>
          <p:grpSpPr>
            <a:xfrm>
              <a:off x="8491466" y="2388963"/>
              <a:ext cx="3014970" cy="2080073"/>
              <a:chOff x="371474" y="1402078"/>
              <a:chExt cx="6400801" cy="4260533"/>
            </a:xfrm>
          </p:grpSpPr>
          <p:grpSp>
            <p:nvGrpSpPr>
              <p:cNvPr id="155" name="Google Shape;155;p4"/>
              <p:cNvGrpSpPr/>
              <p:nvPr/>
            </p:nvGrpSpPr>
            <p:grpSpPr>
              <a:xfrm>
                <a:off x="371474" y="1402078"/>
                <a:ext cx="6400801" cy="4260533"/>
                <a:chOff x="2771774" y="2230753"/>
                <a:chExt cx="6400801" cy="4260533"/>
              </a:xfrm>
            </p:grpSpPr>
            <p:pic>
              <p:nvPicPr>
                <p:cNvPr id="156" name="Google Shape;156;p4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/>
                <a:stretch/>
              </p:blipFill>
              <p:spPr>
                <a:xfrm>
                  <a:off x="2771774" y="2230753"/>
                  <a:ext cx="6400801" cy="4260533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pic>
            <p:sp>
              <p:nvSpPr>
                <p:cNvPr id="157" name="Google Shape;157;p4"/>
                <p:cNvSpPr/>
                <p:nvPr/>
              </p:nvSpPr>
              <p:spPr>
                <a:xfrm>
                  <a:off x="6443662" y="3348039"/>
                  <a:ext cx="528637" cy="1081089"/>
                </a:xfrm>
                <a:prstGeom prst="upArrow">
                  <a:avLst>
                    <a:gd name="adj1" fmla="val 50000"/>
                    <a:gd name="adj2" fmla="val 50000"/>
                  </a:avLst>
                </a:prstGeom>
                <a:solidFill>
                  <a:schemeClr val="accent2"/>
                </a:solidFill>
                <a:ln w="12700" cap="flat" cmpd="sng">
                  <a:solidFill>
                    <a:schemeClr val="accent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8" name="Google Shape;158;p4"/>
                <p:cNvSpPr/>
                <p:nvPr/>
              </p:nvSpPr>
              <p:spPr>
                <a:xfrm>
                  <a:off x="4343400" y="3095625"/>
                  <a:ext cx="528637" cy="1081088"/>
                </a:xfrm>
                <a:prstGeom prst="upArrow">
                  <a:avLst>
                    <a:gd name="adj1" fmla="val 50000"/>
                    <a:gd name="adj2" fmla="val 50000"/>
                  </a:avLst>
                </a:prstGeom>
                <a:solidFill>
                  <a:schemeClr val="accent2"/>
                </a:solidFill>
                <a:ln w="12700" cap="flat" cmpd="sng">
                  <a:solidFill>
                    <a:schemeClr val="accent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59" name="Google Shape;159;p4"/>
              <p:cNvSpPr txBox="1"/>
              <p:nvPr/>
            </p:nvSpPr>
            <p:spPr>
              <a:xfrm>
                <a:off x="664840" y="3929063"/>
                <a:ext cx="2302195" cy="17020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Cold ocean</a:t>
                </a:r>
                <a:endParaRPr/>
              </a:p>
            </p:txBody>
          </p:sp>
          <p:sp>
            <p:nvSpPr>
              <p:cNvPr id="160" name="Google Shape;160;p4"/>
              <p:cNvSpPr txBox="1"/>
              <p:nvPr/>
            </p:nvSpPr>
            <p:spPr>
              <a:xfrm>
                <a:off x="3509323" y="4085465"/>
                <a:ext cx="2125350" cy="126702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Warm ocean</a:t>
                </a:r>
                <a:endParaRPr/>
              </a:p>
            </p:txBody>
          </p:sp>
        </p:grpSp>
        <p:sp>
          <p:nvSpPr>
            <p:cNvPr id="161" name="Google Shape;161;p4"/>
            <p:cNvSpPr txBox="1"/>
            <p:nvPr/>
          </p:nvSpPr>
          <p:spPr>
            <a:xfrm>
              <a:off x="9353079" y="2307638"/>
              <a:ext cx="992459" cy="461665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sp>
        <p:nvSpPr>
          <p:cNvPr id="162" name="Google Shape;162;p4"/>
          <p:cNvSpPr txBox="1"/>
          <p:nvPr/>
        </p:nvSpPr>
        <p:spPr>
          <a:xfrm>
            <a:off x="292380" y="631433"/>
            <a:ext cx="7047571" cy="2308324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l="-1441" t="-2186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pic>
        <p:nvPicPr>
          <p:cNvPr id="163" name="Google Shape;163;p4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98361" y="2769311"/>
            <a:ext cx="4813408" cy="3730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5"/>
          <p:cNvSpPr txBox="1"/>
          <p:nvPr/>
        </p:nvSpPr>
        <p:spPr>
          <a:xfrm>
            <a:off x="1" y="0"/>
            <a:ext cx="12192000" cy="4616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Cambio 2.0 will also be a </a:t>
            </a:r>
            <a:r>
              <a:rPr lang="en-US" sz="2400" b="1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refactoring</a:t>
            </a: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of Cambio 1.0</a:t>
            </a:r>
            <a:endParaRPr/>
          </a:p>
        </p:txBody>
      </p:sp>
      <p:pic>
        <p:nvPicPr>
          <p:cNvPr id="169" name="Google Shape;169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4935" y="777240"/>
            <a:ext cx="10462130" cy="5646419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6"/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have a new function, “CreateClimateState”, that creates a pre-industrial climate state</a:t>
            </a:r>
            <a:endParaRPr/>
          </a:p>
        </p:txBody>
      </p:sp>
      <p:pic>
        <p:nvPicPr>
          <p:cNvPr id="175" name="Google Shape;175;p6"/>
          <p:cNvPicPr preferRelativeResize="0"/>
          <p:nvPr/>
        </p:nvPicPr>
        <p:blipFill rotWithShape="1">
          <a:blip r:embed="rId3">
            <a:alphaModFix/>
          </a:blip>
          <a:srcRect t="35201" b="46823"/>
          <a:stretch/>
        </p:blipFill>
        <p:spPr>
          <a:xfrm>
            <a:off x="228600" y="1273196"/>
            <a:ext cx="7581900" cy="7114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86102" y="2425771"/>
            <a:ext cx="5086350" cy="381942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77" name="Google Shape;177;p6"/>
          <p:cNvSpPr txBox="1"/>
          <p:nvPr/>
        </p:nvSpPr>
        <p:spPr>
          <a:xfrm>
            <a:off x="8835390" y="3612731"/>
            <a:ext cx="2766060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climate state is actually a </a:t>
            </a: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Python dictionary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178" name="Google Shape;178;p6"/>
          <p:cNvSpPr/>
          <p:nvPr/>
        </p:nvSpPr>
        <p:spPr>
          <a:xfrm>
            <a:off x="8298180" y="2628900"/>
            <a:ext cx="297180" cy="3303270"/>
          </a:xfrm>
          <a:prstGeom prst="rightBrace">
            <a:avLst>
              <a:gd name="adj1" fmla="val 8333"/>
              <a:gd name="adj2" fmla="val 50000"/>
            </a:avLst>
          </a:prstGeom>
          <a:noFill/>
          <a:ln w="254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6"/>
          <p:cNvSpPr/>
          <p:nvPr/>
        </p:nvSpPr>
        <p:spPr>
          <a:xfrm rot="10327742">
            <a:off x="2507961" y="322713"/>
            <a:ext cx="664783" cy="3742921"/>
          </a:xfrm>
          <a:prstGeom prst="arc">
            <a:avLst>
              <a:gd name="adj1" fmla="val 16200000"/>
              <a:gd name="adj2" fmla="val 3112556"/>
            </a:avLst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stealth" w="med" len="med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7"/>
          <p:cNvSpPr txBox="1"/>
          <p:nvPr/>
        </p:nvSpPr>
        <p:spPr>
          <a:xfrm>
            <a:off x="0" y="0"/>
            <a:ext cx="12191999" cy="83099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832" t="-6061" b="-15152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85" name="Google Shape;185;p7"/>
          <p:cNvSpPr txBox="1"/>
          <p:nvPr/>
        </p:nvSpPr>
        <p:spPr>
          <a:xfrm>
            <a:off x="8044859" y="3387009"/>
            <a:ext cx="414714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Climate state 0.667 years later</a:t>
            </a:r>
            <a:endParaRPr/>
          </a:p>
        </p:txBody>
      </p:sp>
      <p:sp>
        <p:nvSpPr>
          <p:cNvPr id="186" name="Google Shape;186;p7"/>
          <p:cNvSpPr txBox="1"/>
          <p:nvPr/>
        </p:nvSpPr>
        <p:spPr>
          <a:xfrm>
            <a:off x="0" y="1083155"/>
            <a:ext cx="383853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Previous climate state</a:t>
            </a:r>
            <a:endParaRPr/>
          </a:p>
        </p:txBody>
      </p:sp>
      <p:pic>
        <p:nvPicPr>
          <p:cNvPr id="187" name="Google Shape;187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25505" y="3843861"/>
            <a:ext cx="3342301" cy="1947202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88" name="Google Shape;188;p7" descr="MuliMIX Electric Apple Grinder (0.8 Ton)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055452" y="2172711"/>
            <a:ext cx="3342301" cy="3342301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89" name="Google Shape;189;p7"/>
          <p:cNvSpPr/>
          <p:nvPr/>
        </p:nvSpPr>
        <p:spPr>
          <a:xfrm rot="5142555" flipH="1">
            <a:off x="2742992" y="363186"/>
            <a:ext cx="1424926" cy="3962199"/>
          </a:xfrm>
          <a:prstGeom prst="arc">
            <a:avLst>
              <a:gd name="adj1" fmla="val 16406320"/>
              <a:gd name="adj2" fmla="val 21264315"/>
            </a:avLst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stealth" w="med" len="med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0" name="Google Shape;190;p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03513" y="1544820"/>
            <a:ext cx="2855177" cy="2143997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91" name="Google Shape;191;p7"/>
          <p:cNvSpPr/>
          <p:nvPr/>
        </p:nvSpPr>
        <p:spPr>
          <a:xfrm rot="5400000" flipH="1">
            <a:off x="6335344" y="2594766"/>
            <a:ext cx="511894" cy="4740724"/>
          </a:xfrm>
          <a:prstGeom prst="arc">
            <a:avLst>
              <a:gd name="adj1" fmla="val 16659888"/>
              <a:gd name="adj2" fmla="val 1430114"/>
            </a:avLst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stealth" w="med" len="med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7"/>
          <p:cNvSpPr txBox="1"/>
          <p:nvPr/>
        </p:nvSpPr>
        <p:spPr>
          <a:xfrm>
            <a:off x="7015113" y="2385985"/>
            <a:ext cx="1946540" cy="461665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“Propagator”</a:t>
            </a:r>
            <a:endParaRPr/>
          </a:p>
        </p:txBody>
      </p:sp>
      <p:sp>
        <p:nvSpPr>
          <p:cNvPr id="193" name="Google Shape;193;p7"/>
          <p:cNvSpPr/>
          <p:nvPr/>
        </p:nvSpPr>
        <p:spPr>
          <a:xfrm rot="236296">
            <a:off x="5847401" y="2539165"/>
            <a:ext cx="1055660" cy="1971378"/>
          </a:xfrm>
          <a:prstGeom prst="arc">
            <a:avLst>
              <a:gd name="adj1" fmla="val 17053223"/>
              <a:gd name="adj2" fmla="val 4834497"/>
            </a:avLst>
          </a:prstGeom>
          <a:noFill/>
          <a:ln w="127000" cap="flat" cmpd="sng">
            <a:solidFill>
              <a:schemeClr val="accent1">
                <a:alpha val="58823"/>
              </a:schemeClr>
            </a:solidFill>
            <a:prstDash val="solid"/>
            <a:miter lim="800000"/>
            <a:headEnd type="none" w="sm" len="sm"/>
            <a:tailEnd type="triangle" w="med" len="med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9199" y="618249"/>
            <a:ext cx="9247967" cy="5015845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8"/>
          <p:cNvSpPr txBox="1"/>
          <p:nvPr/>
        </p:nvSpPr>
        <p:spPr>
          <a:xfrm>
            <a:off x="646527" y="5634094"/>
            <a:ext cx="218802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/>
          </a:p>
        </p:txBody>
      </p:sp>
      <p:grpSp>
        <p:nvGrpSpPr>
          <p:cNvPr id="200" name="Google Shape;200;p8"/>
          <p:cNvGrpSpPr/>
          <p:nvPr/>
        </p:nvGrpSpPr>
        <p:grpSpPr>
          <a:xfrm>
            <a:off x="7966710" y="1761965"/>
            <a:ext cx="3265546" cy="4332901"/>
            <a:chOff x="7185378" y="2074568"/>
            <a:chExt cx="3317387" cy="4401685"/>
          </a:xfrm>
        </p:grpSpPr>
        <p:grpSp>
          <p:nvGrpSpPr>
            <p:cNvPr id="201" name="Google Shape;201;p8"/>
            <p:cNvGrpSpPr/>
            <p:nvPr/>
          </p:nvGrpSpPr>
          <p:grpSpPr>
            <a:xfrm>
              <a:off x="7185378" y="2767750"/>
              <a:ext cx="3079044" cy="3708503"/>
              <a:chOff x="8465538" y="2720623"/>
              <a:chExt cx="3079044" cy="3708503"/>
            </a:xfrm>
          </p:grpSpPr>
          <p:pic>
            <p:nvPicPr>
              <p:cNvPr id="202" name="Google Shape;202;p8" descr="MuliMIX Electric Apple Grinder (0.8 Ton)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8465538" y="2720623"/>
                <a:ext cx="3079044" cy="3079044"/>
              </a:xfrm>
              <a:prstGeom prst="rect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pic>
          <p:pic>
            <p:nvPicPr>
              <p:cNvPr id="203" name="Google Shape;203;p8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9179231" y="6058442"/>
                <a:ext cx="2116491" cy="370684"/>
              </a:xfrm>
              <a:prstGeom prst="rect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pic>
        </p:grpSp>
        <p:pic>
          <p:nvPicPr>
            <p:cNvPr id="204" name="Google Shape;204;p8"/>
            <p:cNvPicPr preferRelativeResize="0"/>
            <p:nvPr/>
          </p:nvPicPr>
          <p:blipFill rotWithShape="1">
            <a:blip r:embed="rId6">
              <a:alphaModFix/>
            </a:blip>
            <a:srcRect l="38041" r="39847" b="76982"/>
            <a:stretch/>
          </p:blipFill>
          <p:spPr>
            <a:xfrm>
              <a:off x="7185378" y="2074568"/>
              <a:ext cx="3317387" cy="416178"/>
            </a:xfrm>
            <a:prstGeom prst="rect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pic>
      </p:grpSp>
      <p:sp>
        <p:nvSpPr>
          <p:cNvPr id="205" name="Google Shape;205;p8"/>
          <p:cNvSpPr/>
          <p:nvPr/>
        </p:nvSpPr>
        <p:spPr>
          <a:xfrm rot="236296">
            <a:off x="8659136" y="2560826"/>
            <a:ext cx="1962259" cy="2014747"/>
          </a:xfrm>
          <a:prstGeom prst="arc">
            <a:avLst>
              <a:gd name="adj1" fmla="val 17053223"/>
              <a:gd name="adj2" fmla="val 4570562"/>
            </a:avLst>
          </a:prstGeom>
          <a:noFill/>
          <a:ln w="127000" cap="flat" cmpd="sng">
            <a:solidFill>
              <a:schemeClr val="accent1">
                <a:alpha val="52941"/>
              </a:schemeClr>
            </a:solidFill>
            <a:prstDash val="solid"/>
            <a:miter lim="800000"/>
            <a:headEnd type="none" w="sm" len="sm"/>
            <a:tailEnd type="triangle" w="med" len="med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6" name="Google Shape;206;p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9199" y="6094866"/>
            <a:ext cx="4199370" cy="637404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8"/>
          <p:cNvSpPr txBox="1"/>
          <p:nvPr/>
        </p:nvSpPr>
        <p:spPr>
          <a:xfrm>
            <a:off x="9710958" y="3471939"/>
            <a:ext cx="240556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PropagateCS_Cambio1</a:t>
            </a:r>
            <a:endParaRPr/>
          </a:p>
        </p:txBody>
      </p:sp>
      <p:sp>
        <p:nvSpPr>
          <p:cNvPr id="208" name="Google Shape;208;p8"/>
          <p:cNvSpPr txBox="1"/>
          <p:nvPr/>
        </p:nvSpPr>
        <p:spPr>
          <a:xfrm>
            <a:off x="0" y="0"/>
            <a:ext cx="12191999" cy="4616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Your job will be to turn PropagateCS_Cambio1 which has this for Eq. 3  …</a:t>
            </a:r>
            <a:endParaRPr/>
          </a:p>
        </p:txBody>
      </p:sp>
      <p:pic>
        <p:nvPicPr>
          <p:cNvPr id="209" name="Google Shape;209;p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10283" y="2212734"/>
            <a:ext cx="3064791" cy="999095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9199" y="618249"/>
            <a:ext cx="9247967" cy="5015845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9"/>
          <p:cNvSpPr txBox="1"/>
          <p:nvPr/>
        </p:nvSpPr>
        <p:spPr>
          <a:xfrm>
            <a:off x="646527" y="5634094"/>
            <a:ext cx="218802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/>
          </a:p>
        </p:txBody>
      </p:sp>
      <p:grpSp>
        <p:nvGrpSpPr>
          <p:cNvPr id="216" name="Google Shape;216;p9"/>
          <p:cNvGrpSpPr/>
          <p:nvPr/>
        </p:nvGrpSpPr>
        <p:grpSpPr>
          <a:xfrm>
            <a:off x="7966710" y="1761965"/>
            <a:ext cx="3265546" cy="4332901"/>
            <a:chOff x="7185378" y="2074568"/>
            <a:chExt cx="3317387" cy="4401685"/>
          </a:xfrm>
        </p:grpSpPr>
        <p:grpSp>
          <p:nvGrpSpPr>
            <p:cNvPr id="217" name="Google Shape;217;p9"/>
            <p:cNvGrpSpPr/>
            <p:nvPr/>
          </p:nvGrpSpPr>
          <p:grpSpPr>
            <a:xfrm>
              <a:off x="7185378" y="2767750"/>
              <a:ext cx="3079044" cy="3708503"/>
              <a:chOff x="8465538" y="2720623"/>
              <a:chExt cx="3079044" cy="3708503"/>
            </a:xfrm>
          </p:grpSpPr>
          <p:pic>
            <p:nvPicPr>
              <p:cNvPr id="218" name="Google Shape;218;p9" descr="MuliMIX Electric Apple Grinder (0.8 Ton)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8465538" y="2720623"/>
                <a:ext cx="3079044" cy="3079044"/>
              </a:xfrm>
              <a:prstGeom prst="rect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pic>
          <p:pic>
            <p:nvPicPr>
              <p:cNvPr id="219" name="Google Shape;219;p9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9179231" y="6058442"/>
                <a:ext cx="2116491" cy="370684"/>
              </a:xfrm>
              <a:prstGeom prst="rect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pic>
        </p:grpSp>
        <p:pic>
          <p:nvPicPr>
            <p:cNvPr id="220" name="Google Shape;220;p9"/>
            <p:cNvPicPr preferRelativeResize="0"/>
            <p:nvPr/>
          </p:nvPicPr>
          <p:blipFill rotWithShape="1">
            <a:blip r:embed="rId6">
              <a:alphaModFix/>
            </a:blip>
            <a:srcRect l="38041" r="39847" b="76982"/>
            <a:stretch/>
          </p:blipFill>
          <p:spPr>
            <a:xfrm>
              <a:off x="7185378" y="2074568"/>
              <a:ext cx="3317387" cy="416178"/>
            </a:xfrm>
            <a:prstGeom prst="rect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pic>
      </p:grpSp>
      <p:sp>
        <p:nvSpPr>
          <p:cNvPr id="221" name="Google Shape;221;p9"/>
          <p:cNvSpPr/>
          <p:nvPr/>
        </p:nvSpPr>
        <p:spPr>
          <a:xfrm rot="236296">
            <a:off x="8659136" y="2560826"/>
            <a:ext cx="1962259" cy="2014747"/>
          </a:xfrm>
          <a:prstGeom prst="arc">
            <a:avLst>
              <a:gd name="adj1" fmla="val 17053223"/>
              <a:gd name="adj2" fmla="val 4570562"/>
            </a:avLst>
          </a:prstGeom>
          <a:noFill/>
          <a:ln w="127000" cap="flat" cmpd="sng">
            <a:solidFill>
              <a:schemeClr val="accent1">
                <a:alpha val="52941"/>
              </a:schemeClr>
            </a:solidFill>
            <a:prstDash val="solid"/>
            <a:miter lim="800000"/>
            <a:headEnd type="none" w="sm" len="sm"/>
            <a:tailEnd type="triangle" w="med" len="med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2" name="Google Shape;222;p9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9199" y="6094866"/>
            <a:ext cx="4199370" cy="637404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9"/>
          <p:cNvSpPr txBox="1"/>
          <p:nvPr/>
        </p:nvSpPr>
        <p:spPr>
          <a:xfrm>
            <a:off x="9710958" y="3471939"/>
            <a:ext cx="240556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PropagateCS_Cambio2</a:t>
            </a:r>
            <a:endParaRPr/>
          </a:p>
        </p:txBody>
      </p:sp>
      <p:sp>
        <p:nvSpPr>
          <p:cNvPr id="224" name="Google Shape;224;p9"/>
          <p:cNvSpPr txBox="1"/>
          <p:nvPr/>
        </p:nvSpPr>
        <p:spPr>
          <a:xfrm>
            <a:off x="0" y="0"/>
            <a:ext cx="12191999" cy="4616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 into PropagateCS_Cambio2, which has this for Eq. 3</a:t>
            </a:r>
            <a:endParaRPr/>
          </a:p>
        </p:txBody>
      </p:sp>
      <p:pic>
        <p:nvPicPr>
          <p:cNvPr id="225" name="Google Shape;225;p9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9177" y="631743"/>
            <a:ext cx="2000420" cy="2158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9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54801" y="2258676"/>
            <a:ext cx="6920913" cy="850283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0"/>
          <p:cNvSpPr txBox="1"/>
          <p:nvPr/>
        </p:nvSpPr>
        <p:spPr>
          <a:xfrm>
            <a:off x="0" y="0"/>
            <a:ext cx="12191999" cy="4616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Wouldn’t it also be great to have a function that does this over and over again?   </a:t>
            </a:r>
            <a:endParaRPr/>
          </a:p>
        </p:txBody>
      </p:sp>
      <p:grpSp>
        <p:nvGrpSpPr>
          <p:cNvPr id="232" name="Google Shape;232;p10"/>
          <p:cNvGrpSpPr/>
          <p:nvPr/>
        </p:nvGrpSpPr>
        <p:grpSpPr>
          <a:xfrm>
            <a:off x="372458" y="1247389"/>
            <a:ext cx="11018388" cy="1512528"/>
            <a:chOff x="308290" y="3717870"/>
            <a:chExt cx="11018388" cy="1512528"/>
          </a:xfrm>
        </p:grpSpPr>
        <p:pic>
          <p:nvPicPr>
            <p:cNvPr id="233" name="Google Shape;233;p10"/>
            <p:cNvPicPr preferRelativeResize="0"/>
            <p:nvPr/>
          </p:nvPicPr>
          <p:blipFill rotWithShape="1">
            <a:blip r:embed="rId3">
              <a:alphaModFix/>
            </a:blip>
            <a:srcRect b="55584"/>
            <a:stretch/>
          </p:blipFill>
          <p:spPr>
            <a:xfrm>
              <a:off x="308290" y="3728889"/>
              <a:ext cx="2322615" cy="787782"/>
            </a:xfrm>
            <a:prstGeom prst="rect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pic>
        <p:grpSp>
          <p:nvGrpSpPr>
            <p:cNvPr id="234" name="Google Shape;234;p10"/>
            <p:cNvGrpSpPr/>
            <p:nvPr/>
          </p:nvGrpSpPr>
          <p:grpSpPr>
            <a:xfrm>
              <a:off x="1950065" y="3956292"/>
              <a:ext cx="2636294" cy="787782"/>
              <a:chOff x="2460871" y="3728889"/>
              <a:chExt cx="2636294" cy="787782"/>
            </a:xfrm>
          </p:grpSpPr>
          <p:pic>
            <p:nvPicPr>
              <p:cNvPr id="235" name="Google Shape;235;p10"/>
              <p:cNvPicPr preferRelativeResize="0"/>
              <p:nvPr/>
            </p:nvPicPr>
            <p:blipFill rotWithShape="1">
              <a:blip r:embed="rId3">
                <a:alphaModFix/>
              </a:blip>
              <a:srcRect b="55584"/>
              <a:stretch/>
            </p:blipFill>
            <p:spPr>
              <a:xfrm>
                <a:off x="2774550" y="3728889"/>
                <a:ext cx="2322615" cy="787782"/>
              </a:xfrm>
              <a:prstGeom prst="rect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pic>
          <p:sp>
            <p:nvSpPr>
              <p:cNvPr id="236" name="Google Shape;236;p10"/>
              <p:cNvSpPr/>
              <p:nvPr/>
            </p:nvSpPr>
            <p:spPr>
              <a:xfrm>
                <a:off x="2460871" y="3934847"/>
                <a:ext cx="483714" cy="388620"/>
              </a:xfrm>
              <a:prstGeom prst="rightArrow">
                <a:avLst>
                  <a:gd name="adj1" fmla="val 50000"/>
                  <a:gd name="adj2" fmla="val 50000"/>
                </a:avLst>
              </a:prstGeom>
              <a:solidFill>
                <a:schemeClr val="accent1">
                  <a:alpha val="54117"/>
                </a:schemeClr>
              </a:solidFill>
              <a:ln w="12700" cap="flat" cmpd="sng">
                <a:solidFill>
                  <a:srgbClr val="1C305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7" name="Google Shape;237;p10"/>
            <p:cNvGrpSpPr/>
            <p:nvPr/>
          </p:nvGrpSpPr>
          <p:grpSpPr>
            <a:xfrm>
              <a:off x="3425051" y="4307001"/>
              <a:ext cx="2636294" cy="787782"/>
              <a:chOff x="2460871" y="3728889"/>
              <a:chExt cx="2636294" cy="787782"/>
            </a:xfrm>
          </p:grpSpPr>
          <p:pic>
            <p:nvPicPr>
              <p:cNvPr id="238" name="Google Shape;238;p10"/>
              <p:cNvPicPr preferRelativeResize="0"/>
              <p:nvPr/>
            </p:nvPicPr>
            <p:blipFill rotWithShape="1">
              <a:blip r:embed="rId3">
                <a:alphaModFix/>
              </a:blip>
              <a:srcRect b="55584"/>
              <a:stretch/>
            </p:blipFill>
            <p:spPr>
              <a:xfrm>
                <a:off x="2774550" y="3728889"/>
                <a:ext cx="2322615" cy="787782"/>
              </a:xfrm>
              <a:prstGeom prst="rect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pic>
          <p:sp>
            <p:nvSpPr>
              <p:cNvPr id="239" name="Google Shape;239;p10"/>
              <p:cNvSpPr/>
              <p:nvPr/>
            </p:nvSpPr>
            <p:spPr>
              <a:xfrm>
                <a:off x="2460871" y="3934847"/>
                <a:ext cx="483714" cy="388620"/>
              </a:xfrm>
              <a:prstGeom prst="rightArrow">
                <a:avLst>
                  <a:gd name="adj1" fmla="val 50000"/>
                  <a:gd name="adj2" fmla="val 50000"/>
                </a:avLst>
              </a:prstGeom>
              <a:solidFill>
                <a:schemeClr val="accent1">
                  <a:alpha val="54117"/>
                </a:schemeClr>
              </a:solidFill>
              <a:ln w="12700" cap="flat" cmpd="sng">
                <a:solidFill>
                  <a:srgbClr val="1C305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40" name="Google Shape;240;p10"/>
            <p:cNvGrpSpPr/>
            <p:nvPr/>
          </p:nvGrpSpPr>
          <p:grpSpPr>
            <a:xfrm>
              <a:off x="5016589" y="4111492"/>
              <a:ext cx="2636294" cy="787782"/>
              <a:chOff x="2460871" y="3728889"/>
              <a:chExt cx="2636294" cy="787782"/>
            </a:xfrm>
          </p:grpSpPr>
          <p:pic>
            <p:nvPicPr>
              <p:cNvPr id="241" name="Google Shape;241;p10"/>
              <p:cNvPicPr preferRelativeResize="0"/>
              <p:nvPr/>
            </p:nvPicPr>
            <p:blipFill rotWithShape="1">
              <a:blip r:embed="rId3">
                <a:alphaModFix/>
              </a:blip>
              <a:srcRect b="55584"/>
              <a:stretch/>
            </p:blipFill>
            <p:spPr>
              <a:xfrm>
                <a:off x="2774550" y="3728889"/>
                <a:ext cx="2322615" cy="787782"/>
              </a:xfrm>
              <a:prstGeom prst="rect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pic>
          <p:sp>
            <p:nvSpPr>
              <p:cNvPr id="242" name="Google Shape;242;p10"/>
              <p:cNvSpPr/>
              <p:nvPr/>
            </p:nvSpPr>
            <p:spPr>
              <a:xfrm>
                <a:off x="2460871" y="3934847"/>
                <a:ext cx="483714" cy="388620"/>
              </a:xfrm>
              <a:prstGeom prst="rightArrow">
                <a:avLst>
                  <a:gd name="adj1" fmla="val 50000"/>
                  <a:gd name="adj2" fmla="val 50000"/>
                </a:avLst>
              </a:prstGeom>
              <a:solidFill>
                <a:schemeClr val="accent1">
                  <a:alpha val="54117"/>
                </a:schemeClr>
              </a:solidFill>
              <a:ln w="12700" cap="flat" cmpd="sng">
                <a:solidFill>
                  <a:srgbClr val="1C305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43" name="Google Shape;243;p10"/>
            <p:cNvGrpSpPr/>
            <p:nvPr/>
          </p:nvGrpSpPr>
          <p:grpSpPr>
            <a:xfrm>
              <a:off x="6295947" y="3717870"/>
              <a:ext cx="2636294" cy="787782"/>
              <a:chOff x="2460871" y="3728889"/>
              <a:chExt cx="2636294" cy="787782"/>
            </a:xfrm>
          </p:grpSpPr>
          <p:pic>
            <p:nvPicPr>
              <p:cNvPr id="244" name="Google Shape;244;p10"/>
              <p:cNvPicPr preferRelativeResize="0"/>
              <p:nvPr/>
            </p:nvPicPr>
            <p:blipFill rotWithShape="1">
              <a:blip r:embed="rId3">
                <a:alphaModFix/>
              </a:blip>
              <a:srcRect b="55584"/>
              <a:stretch/>
            </p:blipFill>
            <p:spPr>
              <a:xfrm>
                <a:off x="2774550" y="3728889"/>
                <a:ext cx="2322615" cy="787782"/>
              </a:xfrm>
              <a:prstGeom prst="rect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pic>
          <p:sp>
            <p:nvSpPr>
              <p:cNvPr id="245" name="Google Shape;245;p10"/>
              <p:cNvSpPr/>
              <p:nvPr/>
            </p:nvSpPr>
            <p:spPr>
              <a:xfrm>
                <a:off x="2460871" y="3934847"/>
                <a:ext cx="483714" cy="388620"/>
              </a:xfrm>
              <a:prstGeom prst="rightArrow">
                <a:avLst>
                  <a:gd name="adj1" fmla="val 50000"/>
                  <a:gd name="adj2" fmla="val 50000"/>
                </a:avLst>
              </a:prstGeom>
              <a:solidFill>
                <a:schemeClr val="accent1">
                  <a:alpha val="54117"/>
                </a:schemeClr>
              </a:solidFill>
              <a:ln w="12700" cap="flat" cmpd="sng">
                <a:solidFill>
                  <a:srgbClr val="1C305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46" name="Google Shape;246;p10"/>
            <p:cNvGrpSpPr/>
            <p:nvPr/>
          </p:nvGrpSpPr>
          <p:grpSpPr>
            <a:xfrm>
              <a:off x="7421623" y="4030478"/>
              <a:ext cx="2636294" cy="787782"/>
              <a:chOff x="2460871" y="3728889"/>
              <a:chExt cx="2636294" cy="787782"/>
            </a:xfrm>
          </p:grpSpPr>
          <p:pic>
            <p:nvPicPr>
              <p:cNvPr id="247" name="Google Shape;247;p10"/>
              <p:cNvPicPr preferRelativeResize="0"/>
              <p:nvPr/>
            </p:nvPicPr>
            <p:blipFill rotWithShape="1">
              <a:blip r:embed="rId3">
                <a:alphaModFix/>
              </a:blip>
              <a:srcRect b="55584"/>
              <a:stretch/>
            </p:blipFill>
            <p:spPr>
              <a:xfrm>
                <a:off x="2774550" y="3728889"/>
                <a:ext cx="2322615" cy="787782"/>
              </a:xfrm>
              <a:prstGeom prst="rect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pic>
          <p:sp>
            <p:nvSpPr>
              <p:cNvPr id="248" name="Google Shape;248;p10"/>
              <p:cNvSpPr/>
              <p:nvPr/>
            </p:nvSpPr>
            <p:spPr>
              <a:xfrm>
                <a:off x="2460871" y="3934847"/>
                <a:ext cx="483714" cy="388620"/>
              </a:xfrm>
              <a:prstGeom prst="rightArrow">
                <a:avLst>
                  <a:gd name="adj1" fmla="val 50000"/>
                  <a:gd name="adj2" fmla="val 50000"/>
                </a:avLst>
              </a:prstGeom>
              <a:solidFill>
                <a:schemeClr val="accent1">
                  <a:alpha val="54117"/>
                </a:schemeClr>
              </a:solidFill>
              <a:ln w="12700" cap="flat" cmpd="sng">
                <a:solidFill>
                  <a:srgbClr val="1C305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49" name="Google Shape;249;p10"/>
            <p:cNvGrpSpPr/>
            <p:nvPr/>
          </p:nvGrpSpPr>
          <p:grpSpPr>
            <a:xfrm>
              <a:off x="8690384" y="4442616"/>
              <a:ext cx="2636294" cy="787782"/>
              <a:chOff x="2460871" y="3728889"/>
              <a:chExt cx="2636294" cy="787782"/>
            </a:xfrm>
          </p:grpSpPr>
          <p:pic>
            <p:nvPicPr>
              <p:cNvPr id="250" name="Google Shape;250;p10"/>
              <p:cNvPicPr preferRelativeResize="0"/>
              <p:nvPr/>
            </p:nvPicPr>
            <p:blipFill rotWithShape="1">
              <a:blip r:embed="rId3">
                <a:alphaModFix/>
              </a:blip>
              <a:srcRect b="55584"/>
              <a:stretch/>
            </p:blipFill>
            <p:spPr>
              <a:xfrm>
                <a:off x="2774550" y="3728889"/>
                <a:ext cx="2322615" cy="787782"/>
              </a:xfrm>
              <a:prstGeom prst="rect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pic>
          <p:sp>
            <p:nvSpPr>
              <p:cNvPr id="251" name="Google Shape;251;p10"/>
              <p:cNvSpPr/>
              <p:nvPr/>
            </p:nvSpPr>
            <p:spPr>
              <a:xfrm>
                <a:off x="2460871" y="3934847"/>
                <a:ext cx="483714" cy="388620"/>
              </a:xfrm>
              <a:prstGeom prst="rightArrow">
                <a:avLst>
                  <a:gd name="adj1" fmla="val 50000"/>
                  <a:gd name="adj2" fmla="val 50000"/>
                </a:avLst>
              </a:prstGeom>
              <a:solidFill>
                <a:schemeClr val="accent1">
                  <a:alpha val="54117"/>
                </a:schemeClr>
              </a:solidFill>
              <a:ln w="12700" cap="flat" cmpd="sng">
                <a:solidFill>
                  <a:srgbClr val="1C305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52" name="Google Shape;252;p10"/>
          <p:cNvSpPr txBox="1"/>
          <p:nvPr/>
        </p:nvSpPr>
        <p:spPr>
          <a:xfrm>
            <a:off x="3489219" y="3125383"/>
            <a:ext cx="498909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Python </a:t>
            </a: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list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of climate states</a:t>
            </a:r>
            <a:endParaRPr/>
          </a:p>
        </p:txBody>
      </p:sp>
      <p:sp>
        <p:nvSpPr>
          <p:cNvPr id="253" name="Google Shape;253;p10"/>
          <p:cNvSpPr/>
          <p:nvPr/>
        </p:nvSpPr>
        <p:spPr>
          <a:xfrm rot="5400000">
            <a:off x="5732035" y="-2461597"/>
            <a:ext cx="299233" cy="11018388"/>
          </a:xfrm>
          <a:prstGeom prst="rightBrace">
            <a:avLst>
              <a:gd name="adj1" fmla="val 8333"/>
              <a:gd name="adj2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1"/>
          <p:cNvSpPr txBox="1"/>
          <p:nvPr/>
        </p:nvSpPr>
        <p:spPr>
          <a:xfrm>
            <a:off x="0" y="0"/>
            <a:ext cx="12191999" cy="4616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Wouldn’t it also be great to have a function that does this over and over again?   </a:t>
            </a:r>
            <a:endParaRPr/>
          </a:p>
        </p:txBody>
      </p:sp>
      <p:grpSp>
        <p:nvGrpSpPr>
          <p:cNvPr id="259" name="Google Shape;259;p11"/>
          <p:cNvGrpSpPr/>
          <p:nvPr/>
        </p:nvGrpSpPr>
        <p:grpSpPr>
          <a:xfrm>
            <a:off x="372458" y="1247389"/>
            <a:ext cx="11018388" cy="1512528"/>
            <a:chOff x="308290" y="3717870"/>
            <a:chExt cx="11018388" cy="1512528"/>
          </a:xfrm>
        </p:grpSpPr>
        <p:pic>
          <p:nvPicPr>
            <p:cNvPr id="260" name="Google Shape;260;p11"/>
            <p:cNvPicPr preferRelativeResize="0"/>
            <p:nvPr/>
          </p:nvPicPr>
          <p:blipFill rotWithShape="1">
            <a:blip r:embed="rId3">
              <a:alphaModFix/>
            </a:blip>
            <a:srcRect b="55584"/>
            <a:stretch/>
          </p:blipFill>
          <p:spPr>
            <a:xfrm>
              <a:off x="308290" y="3728889"/>
              <a:ext cx="2322615" cy="787782"/>
            </a:xfrm>
            <a:prstGeom prst="rect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pic>
        <p:grpSp>
          <p:nvGrpSpPr>
            <p:cNvPr id="261" name="Google Shape;261;p11"/>
            <p:cNvGrpSpPr/>
            <p:nvPr/>
          </p:nvGrpSpPr>
          <p:grpSpPr>
            <a:xfrm>
              <a:off x="1950065" y="3956292"/>
              <a:ext cx="2636294" cy="787782"/>
              <a:chOff x="2460871" y="3728889"/>
              <a:chExt cx="2636294" cy="787782"/>
            </a:xfrm>
          </p:grpSpPr>
          <p:pic>
            <p:nvPicPr>
              <p:cNvPr id="262" name="Google Shape;262;p11"/>
              <p:cNvPicPr preferRelativeResize="0"/>
              <p:nvPr/>
            </p:nvPicPr>
            <p:blipFill rotWithShape="1">
              <a:blip r:embed="rId3">
                <a:alphaModFix/>
              </a:blip>
              <a:srcRect b="55584"/>
              <a:stretch/>
            </p:blipFill>
            <p:spPr>
              <a:xfrm>
                <a:off x="2774550" y="3728889"/>
                <a:ext cx="2322615" cy="787782"/>
              </a:xfrm>
              <a:prstGeom prst="rect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pic>
          <p:sp>
            <p:nvSpPr>
              <p:cNvPr id="263" name="Google Shape;263;p11"/>
              <p:cNvSpPr/>
              <p:nvPr/>
            </p:nvSpPr>
            <p:spPr>
              <a:xfrm>
                <a:off x="2460871" y="3934847"/>
                <a:ext cx="483714" cy="388620"/>
              </a:xfrm>
              <a:prstGeom prst="rightArrow">
                <a:avLst>
                  <a:gd name="adj1" fmla="val 50000"/>
                  <a:gd name="adj2" fmla="val 50000"/>
                </a:avLst>
              </a:prstGeom>
              <a:solidFill>
                <a:schemeClr val="accent1">
                  <a:alpha val="54117"/>
                </a:schemeClr>
              </a:solidFill>
              <a:ln w="12700" cap="flat" cmpd="sng">
                <a:solidFill>
                  <a:srgbClr val="1C305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64" name="Google Shape;264;p11"/>
            <p:cNvGrpSpPr/>
            <p:nvPr/>
          </p:nvGrpSpPr>
          <p:grpSpPr>
            <a:xfrm>
              <a:off x="3425051" y="4307001"/>
              <a:ext cx="2636294" cy="787782"/>
              <a:chOff x="2460871" y="3728889"/>
              <a:chExt cx="2636294" cy="787782"/>
            </a:xfrm>
          </p:grpSpPr>
          <p:pic>
            <p:nvPicPr>
              <p:cNvPr id="265" name="Google Shape;265;p11"/>
              <p:cNvPicPr preferRelativeResize="0"/>
              <p:nvPr/>
            </p:nvPicPr>
            <p:blipFill rotWithShape="1">
              <a:blip r:embed="rId3">
                <a:alphaModFix/>
              </a:blip>
              <a:srcRect b="55584"/>
              <a:stretch/>
            </p:blipFill>
            <p:spPr>
              <a:xfrm>
                <a:off x="2774550" y="3728889"/>
                <a:ext cx="2322615" cy="787782"/>
              </a:xfrm>
              <a:prstGeom prst="rect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pic>
          <p:sp>
            <p:nvSpPr>
              <p:cNvPr id="266" name="Google Shape;266;p11"/>
              <p:cNvSpPr/>
              <p:nvPr/>
            </p:nvSpPr>
            <p:spPr>
              <a:xfrm>
                <a:off x="2460871" y="3934847"/>
                <a:ext cx="483714" cy="388620"/>
              </a:xfrm>
              <a:prstGeom prst="rightArrow">
                <a:avLst>
                  <a:gd name="adj1" fmla="val 50000"/>
                  <a:gd name="adj2" fmla="val 50000"/>
                </a:avLst>
              </a:prstGeom>
              <a:solidFill>
                <a:schemeClr val="accent1">
                  <a:alpha val="54117"/>
                </a:schemeClr>
              </a:solidFill>
              <a:ln w="12700" cap="flat" cmpd="sng">
                <a:solidFill>
                  <a:srgbClr val="1C305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67" name="Google Shape;267;p11"/>
            <p:cNvGrpSpPr/>
            <p:nvPr/>
          </p:nvGrpSpPr>
          <p:grpSpPr>
            <a:xfrm>
              <a:off x="5016589" y="4111492"/>
              <a:ext cx="2636294" cy="787782"/>
              <a:chOff x="2460871" y="3728889"/>
              <a:chExt cx="2636294" cy="787782"/>
            </a:xfrm>
          </p:grpSpPr>
          <p:pic>
            <p:nvPicPr>
              <p:cNvPr id="268" name="Google Shape;268;p11"/>
              <p:cNvPicPr preferRelativeResize="0"/>
              <p:nvPr/>
            </p:nvPicPr>
            <p:blipFill rotWithShape="1">
              <a:blip r:embed="rId3">
                <a:alphaModFix/>
              </a:blip>
              <a:srcRect b="55584"/>
              <a:stretch/>
            </p:blipFill>
            <p:spPr>
              <a:xfrm>
                <a:off x="2774550" y="3728889"/>
                <a:ext cx="2322615" cy="787782"/>
              </a:xfrm>
              <a:prstGeom prst="rect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pic>
          <p:sp>
            <p:nvSpPr>
              <p:cNvPr id="269" name="Google Shape;269;p11"/>
              <p:cNvSpPr/>
              <p:nvPr/>
            </p:nvSpPr>
            <p:spPr>
              <a:xfrm>
                <a:off x="2460871" y="3934847"/>
                <a:ext cx="483714" cy="388620"/>
              </a:xfrm>
              <a:prstGeom prst="rightArrow">
                <a:avLst>
                  <a:gd name="adj1" fmla="val 50000"/>
                  <a:gd name="adj2" fmla="val 50000"/>
                </a:avLst>
              </a:prstGeom>
              <a:solidFill>
                <a:schemeClr val="accent1">
                  <a:alpha val="54117"/>
                </a:schemeClr>
              </a:solidFill>
              <a:ln w="12700" cap="flat" cmpd="sng">
                <a:solidFill>
                  <a:srgbClr val="1C305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70" name="Google Shape;270;p11"/>
            <p:cNvGrpSpPr/>
            <p:nvPr/>
          </p:nvGrpSpPr>
          <p:grpSpPr>
            <a:xfrm>
              <a:off x="6295947" y="3717870"/>
              <a:ext cx="2636294" cy="787782"/>
              <a:chOff x="2460871" y="3728889"/>
              <a:chExt cx="2636294" cy="787782"/>
            </a:xfrm>
          </p:grpSpPr>
          <p:pic>
            <p:nvPicPr>
              <p:cNvPr id="271" name="Google Shape;271;p11"/>
              <p:cNvPicPr preferRelativeResize="0"/>
              <p:nvPr/>
            </p:nvPicPr>
            <p:blipFill rotWithShape="1">
              <a:blip r:embed="rId3">
                <a:alphaModFix/>
              </a:blip>
              <a:srcRect b="55584"/>
              <a:stretch/>
            </p:blipFill>
            <p:spPr>
              <a:xfrm>
                <a:off x="2774550" y="3728889"/>
                <a:ext cx="2322615" cy="787782"/>
              </a:xfrm>
              <a:prstGeom prst="rect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pic>
          <p:sp>
            <p:nvSpPr>
              <p:cNvPr id="272" name="Google Shape;272;p11"/>
              <p:cNvSpPr/>
              <p:nvPr/>
            </p:nvSpPr>
            <p:spPr>
              <a:xfrm>
                <a:off x="2460871" y="3934847"/>
                <a:ext cx="483714" cy="388620"/>
              </a:xfrm>
              <a:prstGeom prst="rightArrow">
                <a:avLst>
                  <a:gd name="adj1" fmla="val 50000"/>
                  <a:gd name="adj2" fmla="val 50000"/>
                </a:avLst>
              </a:prstGeom>
              <a:solidFill>
                <a:schemeClr val="accent1">
                  <a:alpha val="54117"/>
                </a:schemeClr>
              </a:solidFill>
              <a:ln w="12700" cap="flat" cmpd="sng">
                <a:solidFill>
                  <a:srgbClr val="1C305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73" name="Google Shape;273;p11"/>
            <p:cNvGrpSpPr/>
            <p:nvPr/>
          </p:nvGrpSpPr>
          <p:grpSpPr>
            <a:xfrm>
              <a:off x="7421623" y="4030478"/>
              <a:ext cx="2636294" cy="787782"/>
              <a:chOff x="2460871" y="3728889"/>
              <a:chExt cx="2636294" cy="787782"/>
            </a:xfrm>
          </p:grpSpPr>
          <p:pic>
            <p:nvPicPr>
              <p:cNvPr id="274" name="Google Shape;274;p11"/>
              <p:cNvPicPr preferRelativeResize="0"/>
              <p:nvPr/>
            </p:nvPicPr>
            <p:blipFill rotWithShape="1">
              <a:blip r:embed="rId3">
                <a:alphaModFix/>
              </a:blip>
              <a:srcRect b="55584"/>
              <a:stretch/>
            </p:blipFill>
            <p:spPr>
              <a:xfrm>
                <a:off x="2774550" y="3728889"/>
                <a:ext cx="2322615" cy="787782"/>
              </a:xfrm>
              <a:prstGeom prst="rect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pic>
          <p:sp>
            <p:nvSpPr>
              <p:cNvPr id="275" name="Google Shape;275;p11"/>
              <p:cNvSpPr/>
              <p:nvPr/>
            </p:nvSpPr>
            <p:spPr>
              <a:xfrm>
                <a:off x="2460871" y="3934847"/>
                <a:ext cx="483714" cy="388620"/>
              </a:xfrm>
              <a:prstGeom prst="rightArrow">
                <a:avLst>
                  <a:gd name="adj1" fmla="val 50000"/>
                  <a:gd name="adj2" fmla="val 50000"/>
                </a:avLst>
              </a:prstGeom>
              <a:solidFill>
                <a:schemeClr val="accent1">
                  <a:alpha val="54117"/>
                </a:schemeClr>
              </a:solidFill>
              <a:ln w="12700" cap="flat" cmpd="sng">
                <a:solidFill>
                  <a:srgbClr val="1C305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76" name="Google Shape;276;p11"/>
            <p:cNvGrpSpPr/>
            <p:nvPr/>
          </p:nvGrpSpPr>
          <p:grpSpPr>
            <a:xfrm>
              <a:off x="8690384" y="4442616"/>
              <a:ext cx="2636294" cy="787782"/>
              <a:chOff x="2460871" y="3728889"/>
              <a:chExt cx="2636294" cy="787782"/>
            </a:xfrm>
          </p:grpSpPr>
          <p:pic>
            <p:nvPicPr>
              <p:cNvPr id="277" name="Google Shape;277;p11"/>
              <p:cNvPicPr preferRelativeResize="0"/>
              <p:nvPr/>
            </p:nvPicPr>
            <p:blipFill rotWithShape="1">
              <a:blip r:embed="rId3">
                <a:alphaModFix/>
              </a:blip>
              <a:srcRect b="55584"/>
              <a:stretch/>
            </p:blipFill>
            <p:spPr>
              <a:xfrm>
                <a:off x="2774550" y="3728889"/>
                <a:ext cx="2322615" cy="787782"/>
              </a:xfrm>
              <a:prstGeom prst="rect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pic>
          <p:sp>
            <p:nvSpPr>
              <p:cNvPr id="278" name="Google Shape;278;p11"/>
              <p:cNvSpPr/>
              <p:nvPr/>
            </p:nvSpPr>
            <p:spPr>
              <a:xfrm>
                <a:off x="2460871" y="3934847"/>
                <a:ext cx="483714" cy="388620"/>
              </a:xfrm>
              <a:prstGeom prst="rightArrow">
                <a:avLst>
                  <a:gd name="adj1" fmla="val 50000"/>
                  <a:gd name="adj2" fmla="val 50000"/>
                </a:avLst>
              </a:prstGeom>
              <a:solidFill>
                <a:schemeClr val="accent1">
                  <a:alpha val="54117"/>
                </a:schemeClr>
              </a:solidFill>
              <a:ln w="12700" cap="flat" cmpd="sng">
                <a:solidFill>
                  <a:srgbClr val="1C305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79" name="Google Shape;279;p11"/>
          <p:cNvSpPr txBox="1"/>
          <p:nvPr/>
        </p:nvSpPr>
        <p:spPr>
          <a:xfrm>
            <a:off x="3489219" y="3125383"/>
            <a:ext cx="498909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Python </a:t>
            </a: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list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of climate states</a:t>
            </a:r>
            <a:endParaRPr/>
          </a:p>
        </p:txBody>
      </p:sp>
      <p:sp>
        <p:nvSpPr>
          <p:cNvPr id="280" name="Google Shape;280;p11"/>
          <p:cNvSpPr/>
          <p:nvPr/>
        </p:nvSpPr>
        <p:spPr>
          <a:xfrm rot="5400000">
            <a:off x="5732035" y="-2461597"/>
            <a:ext cx="299233" cy="11018388"/>
          </a:xfrm>
          <a:prstGeom prst="rightBrace">
            <a:avLst>
              <a:gd name="adj1" fmla="val 8333"/>
              <a:gd name="adj2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1" name="Google Shape;281;p11"/>
          <p:cNvPicPr preferRelativeResize="0"/>
          <p:nvPr/>
        </p:nvPicPr>
        <p:blipFill rotWithShape="1">
          <a:blip r:embed="rId4">
            <a:alphaModFix/>
          </a:blip>
          <a:srcRect b="73133"/>
          <a:stretch/>
        </p:blipFill>
        <p:spPr>
          <a:xfrm>
            <a:off x="379180" y="3757235"/>
            <a:ext cx="9613961" cy="521048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11"/>
          <p:cNvSpPr txBox="1"/>
          <p:nvPr/>
        </p:nvSpPr>
        <p:spPr>
          <a:xfrm>
            <a:off x="2497947" y="5060617"/>
            <a:ext cx="4568383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Notice that one of the </a:t>
            </a: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inputs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cl.run_Cambio is a propagator function!</a:t>
            </a:r>
            <a:endParaRPr/>
          </a:p>
        </p:txBody>
      </p:sp>
      <p:sp>
        <p:nvSpPr>
          <p:cNvPr id="283" name="Google Shape;283;p11"/>
          <p:cNvSpPr/>
          <p:nvPr/>
        </p:nvSpPr>
        <p:spPr>
          <a:xfrm>
            <a:off x="4483024" y="4376607"/>
            <a:ext cx="335005" cy="684010"/>
          </a:xfrm>
          <a:prstGeom prst="up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2"/>
          <p:cNvSpPr txBox="1"/>
          <p:nvPr/>
        </p:nvSpPr>
        <p:spPr>
          <a:xfrm>
            <a:off x="0" y="0"/>
            <a:ext cx="12191999" cy="4616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</a:t>
            </a: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graph the variables in that list?   </a:t>
            </a:r>
            <a:endParaRPr/>
          </a:p>
        </p:txBody>
      </p:sp>
      <p:grpSp>
        <p:nvGrpSpPr>
          <p:cNvPr id="289" name="Google Shape;289;p12"/>
          <p:cNvGrpSpPr/>
          <p:nvPr/>
        </p:nvGrpSpPr>
        <p:grpSpPr>
          <a:xfrm>
            <a:off x="372458" y="1247389"/>
            <a:ext cx="11018388" cy="1512528"/>
            <a:chOff x="308290" y="3717870"/>
            <a:chExt cx="11018388" cy="1512528"/>
          </a:xfrm>
        </p:grpSpPr>
        <p:pic>
          <p:nvPicPr>
            <p:cNvPr id="290" name="Google Shape;290;p12"/>
            <p:cNvPicPr preferRelativeResize="0"/>
            <p:nvPr/>
          </p:nvPicPr>
          <p:blipFill rotWithShape="1">
            <a:blip r:embed="rId3">
              <a:alphaModFix/>
            </a:blip>
            <a:srcRect b="55584"/>
            <a:stretch/>
          </p:blipFill>
          <p:spPr>
            <a:xfrm>
              <a:off x="308290" y="3728889"/>
              <a:ext cx="2322615" cy="787782"/>
            </a:xfrm>
            <a:prstGeom prst="rect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pic>
        <p:grpSp>
          <p:nvGrpSpPr>
            <p:cNvPr id="291" name="Google Shape;291;p12"/>
            <p:cNvGrpSpPr/>
            <p:nvPr/>
          </p:nvGrpSpPr>
          <p:grpSpPr>
            <a:xfrm>
              <a:off x="1950065" y="3956292"/>
              <a:ext cx="2636294" cy="787782"/>
              <a:chOff x="2460871" y="3728889"/>
              <a:chExt cx="2636294" cy="787782"/>
            </a:xfrm>
          </p:grpSpPr>
          <p:pic>
            <p:nvPicPr>
              <p:cNvPr id="292" name="Google Shape;292;p12"/>
              <p:cNvPicPr preferRelativeResize="0"/>
              <p:nvPr/>
            </p:nvPicPr>
            <p:blipFill rotWithShape="1">
              <a:blip r:embed="rId3">
                <a:alphaModFix/>
              </a:blip>
              <a:srcRect b="55584"/>
              <a:stretch/>
            </p:blipFill>
            <p:spPr>
              <a:xfrm>
                <a:off x="2774550" y="3728889"/>
                <a:ext cx="2322615" cy="787782"/>
              </a:xfrm>
              <a:prstGeom prst="rect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pic>
          <p:sp>
            <p:nvSpPr>
              <p:cNvPr id="293" name="Google Shape;293;p12"/>
              <p:cNvSpPr/>
              <p:nvPr/>
            </p:nvSpPr>
            <p:spPr>
              <a:xfrm>
                <a:off x="2460871" y="3934847"/>
                <a:ext cx="483714" cy="388620"/>
              </a:xfrm>
              <a:prstGeom prst="rightArrow">
                <a:avLst>
                  <a:gd name="adj1" fmla="val 50000"/>
                  <a:gd name="adj2" fmla="val 50000"/>
                </a:avLst>
              </a:prstGeom>
              <a:solidFill>
                <a:schemeClr val="accent1">
                  <a:alpha val="54117"/>
                </a:schemeClr>
              </a:solidFill>
              <a:ln w="12700" cap="flat" cmpd="sng">
                <a:solidFill>
                  <a:srgbClr val="1C305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94" name="Google Shape;294;p12"/>
            <p:cNvGrpSpPr/>
            <p:nvPr/>
          </p:nvGrpSpPr>
          <p:grpSpPr>
            <a:xfrm>
              <a:off x="3425051" y="4307001"/>
              <a:ext cx="2636294" cy="787782"/>
              <a:chOff x="2460871" y="3728889"/>
              <a:chExt cx="2636294" cy="787782"/>
            </a:xfrm>
          </p:grpSpPr>
          <p:pic>
            <p:nvPicPr>
              <p:cNvPr id="295" name="Google Shape;295;p12"/>
              <p:cNvPicPr preferRelativeResize="0"/>
              <p:nvPr/>
            </p:nvPicPr>
            <p:blipFill rotWithShape="1">
              <a:blip r:embed="rId3">
                <a:alphaModFix/>
              </a:blip>
              <a:srcRect b="55584"/>
              <a:stretch/>
            </p:blipFill>
            <p:spPr>
              <a:xfrm>
                <a:off x="2774550" y="3728889"/>
                <a:ext cx="2322615" cy="787782"/>
              </a:xfrm>
              <a:prstGeom prst="rect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pic>
          <p:sp>
            <p:nvSpPr>
              <p:cNvPr id="296" name="Google Shape;296;p12"/>
              <p:cNvSpPr/>
              <p:nvPr/>
            </p:nvSpPr>
            <p:spPr>
              <a:xfrm>
                <a:off x="2460871" y="3934847"/>
                <a:ext cx="483714" cy="388620"/>
              </a:xfrm>
              <a:prstGeom prst="rightArrow">
                <a:avLst>
                  <a:gd name="adj1" fmla="val 50000"/>
                  <a:gd name="adj2" fmla="val 50000"/>
                </a:avLst>
              </a:prstGeom>
              <a:solidFill>
                <a:schemeClr val="accent1">
                  <a:alpha val="54117"/>
                </a:schemeClr>
              </a:solidFill>
              <a:ln w="12700" cap="flat" cmpd="sng">
                <a:solidFill>
                  <a:srgbClr val="1C305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97" name="Google Shape;297;p12"/>
            <p:cNvGrpSpPr/>
            <p:nvPr/>
          </p:nvGrpSpPr>
          <p:grpSpPr>
            <a:xfrm>
              <a:off x="5016589" y="4111492"/>
              <a:ext cx="2636294" cy="787782"/>
              <a:chOff x="2460871" y="3728889"/>
              <a:chExt cx="2636294" cy="787782"/>
            </a:xfrm>
          </p:grpSpPr>
          <p:pic>
            <p:nvPicPr>
              <p:cNvPr id="298" name="Google Shape;298;p12"/>
              <p:cNvPicPr preferRelativeResize="0"/>
              <p:nvPr/>
            </p:nvPicPr>
            <p:blipFill rotWithShape="1">
              <a:blip r:embed="rId3">
                <a:alphaModFix/>
              </a:blip>
              <a:srcRect b="55584"/>
              <a:stretch/>
            </p:blipFill>
            <p:spPr>
              <a:xfrm>
                <a:off x="2774550" y="3728889"/>
                <a:ext cx="2322615" cy="787782"/>
              </a:xfrm>
              <a:prstGeom prst="rect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pic>
          <p:sp>
            <p:nvSpPr>
              <p:cNvPr id="299" name="Google Shape;299;p12"/>
              <p:cNvSpPr/>
              <p:nvPr/>
            </p:nvSpPr>
            <p:spPr>
              <a:xfrm>
                <a:off x="2460871" y="3934847"/>
                <a:ext cx="483714" cy="388620"/>
              </a:xfrm>
              <a:prstGeom prst="rightArrow">
                <a:avLst>
                  <a:gd name="adj1" fmla="val 50000"/>
                  <a:gd name="adj2" fmla="val 50000"/>
                </a:avLst>
              </a:prstGeom>
              <a:solidFill>
                <a:schemeClr val="accent1">
                  <a:alpha val="54117"/>
                </a:schemeClr>
              </a:solidFill>
              <a:ln w="12700" cap="flat" cmpd="sng">
                <a:solidFill>
                  <a:srgbClr val="1C305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00" name="Google Shape;300;p12"/>
            <p:cNvGrpSpPr/>
            <p:nvPr/>
          </p:nvGrpSpPr>
          <p:grpSpPr>
            <a:xfrm>
              <a:off x="6295947" y="3717870"/>
              <a:ext cx="2636294" cy="787782"/>
              <a:chOff x="2460871" y="3728889"/>
              <a:chExt cx="2636294" cy="787782"/>
            </a:xfrm>
          </p:grpSpPr>
          <p:pic>
            <p:nvPicPr>
              <p:cNvPr id="301" name="Google Shape;301;p12"/>
              <p:cNvPicPr preferRelativeResize="0"/>
              <p:nvPr/>
            </p:nvPicPr>
            <p:blipFill rotWithShape="1">
              <a:blip r:embed="rId3">
                <a:alphaModFix/>
              </a:blip>
              <a:srcRect b="55584"/>
              <a:stretch/>
            </p:blipFill>
            <p:spPr>
              <a:xfrm>
                <a:off x="2774550" y="3728889"/>
                <a:ext cx="2322615" cy="787782"/>
              </a:xfrm>
              <a:prstGeom prst="rect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pic>
          <p:sp>
            <p:nvSpPr>
              <p:cNvPr id="302" name="Google Shape;302;p12"/>
              <p:cNvSpPr/>
              <p:nvPr/>
            </p:nvSpPr>
            <p:spPr>
              <a:xfrm>
                <a:off x="2460871" y="3934847"/>
                <a:ext cx="483714" cy="388620"/>
              </a:xfrm>
              <a:prstGeom prst="rightArrow">
                <a:avLst>
                  <a:gd name="adj1" fmla="val 50000"/>
                  <a:gd name="adj2" fmla="val 50000"/>
                </a:avLst>
              </a:prstGeom>
              <a:solidFill>
                <a:schemeClr val="accent1">
                  <a:alpha val="54117"/>
                </a:schemeClr>
              </a:solidFill>
              <a:ln w="12700" cap="flat" cmpd="sng">
                <a:solidFill>
                  <a:srgbClr val="1C305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03" name="Google Shape;303;p12"/>
            <p:cNvGrpSpPr/>
            <p:nvPr/>
          </p:nvGrpSpPr>
          <p:grpSpPr>
            <a:xfrm>
              <a:off x="7421623" y="4030478"/>
              <a:ext cx="2636294" cy="787782"/>
              <a:chOff x="2460871" y="3728889"/>
              <a:chExt cx="2636294" cy="787782"/>
            </a:xfrm>
          </p:grpSpPr>
          <p:pic>
            <p:nvPicPr>
              <p:cNvPr id="304" name="Google Shape;304;p12"/>
              <p:cNvPicPr preferRelativeResize="0"/>
              <p:nvPr/>
            </p:nvPicPr>
            <p:blipFill rotWithShape="1">
              <a:blip r:embed="rId3">
                <a:alphaModFix/>
              </a:blip>
              <a:srcRect b="55584"/>
              <a:stretch/>
            </p:blipFill>
            <p:spPr>
              <a:xfrm>
                <a:off x="2774550" y="3728889"/>
                <a:ext cx="2322615" cy="787782"/>
              </a:xfrm>
              <a:prstGeom prst="rect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pic>
          <p:sp>
            <p:nvSpPr>
              <p:cNvPr id="305" name="Google Shape;305;p12"/>
              <p:cNvSpPr/>
              <p:nvPr/>
            </p:nvSpPr>
            <p:spPr>
              <a:xfrm>
                <a:off x="2460871" y="3934847"/>
                <a:ext cx="483714" cy="388620"/>
              </a:xfrm>
              <a:prstGeom prst="rightArrow">
                <a:avLst>
                  <a:gd name="adj1" fmla="val 50000"/>
                  <a:gd name="adj2" fmla="val 50000"/>
                </a:avLst>
              </a:prstGeom>
              <a:solidFill>
                <a:schemeClr val="accent1">
                  <a:alpha val="54117"/>
                </a:schemeClr>
              </a:solidFill>
              <a:ln w="12700" cap="flat" cmpd="sng">
                <a:solidFill>
                  <a:srgbClr val="1C305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06" name="Google Shape;306;p12"/>
            <p:cNvGrpSpPr/>
            <p:nvPr/>
          </p:nvGrpSpPr>
          <p:grpSpPr>
            <a:xfrm>
              <a:off x="8690384" y="4442616"/>
              <a:ext cx="2636294" cy="787782"/>
              <a:chOff x="2460871" y="3728889"/>
              <a:chExt cx="2636294" cy="787782"/>
            </a:xfrm>
          </p:grpSpPr>
          <p:pic>
            <p:nvPicPr>
              <p:cNvPr id="307" name="Google Shape;307;p12"/>
              <p:cNvPicPr preferRelativeResize="0"/>
              <p:nvPr/>
            </p:nvPicPr>
            <p:blipFill rotWithShape="1">
              <a:blip r:embed="rId3">
                <a:alphaModFix/>
              </a:blip>
              <a:srcRect b="55584"/>
              <a:stretch/>
            </p:blipFill>
            <p:spPr>
              <a:xfrm>
                <a:off x="2774550" y="3728889"/>
                <a:ext cx="2322615" cy="787782"/>
              </a:xfrm>
              <a:prstGeom prst="rect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pic>
          <p:sp>
            <p:nvSpPr>
              <p:cNvPr id="308" name="Google Shape;308;p12"/>
              <p:cNvSpPr/>
              <p:nvPr/>
            </p:nvSpPr>
            <p:spPr>
              <a:xfrm>
                <a:off x="2460871" y="3934847"/>
                <a:ext cx="483714" cy="388620"/>
              </a:xfrm>
              <a:prstGeom prst="rightArrow">
                <a:avLst>
                  <a:gd name="adj1" fmla="val 50000"/>
                  <a:gd name="adj2" fmla="val 50000"/>
                </a:avLst>
              </a:prstGeom>
              <a:solidFill>
                <a:schemeClr val="accent1">
                  <a:alpha val="54117"/>
                </a:schemeClr>
              </a:solidFill>
              <a:ln w="12700" cap="flat" cmpd="sng">
                <a:solidFill>
                  <a:srgbClr val="1C305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09" name="Google Shape;309;p12"/>
          <p:cNvSpPr txBox="1"/>
          <p:nvPr/>
        </p:nvSpPr>
        <p:spPr>
          <a:xfrm>
            <a:off x="3489219" y="3125383"/>
            <a:ext cx="498909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Python </a:t>
            </a: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list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of climate states</a:t>
            </a:r>
            <a:endParaRPr/>
          </a:p>
        </p:txBody>
      </p:sp>
      <p:sp>
        <p:nvSpPr>
          <p:cNvPr id="310" name="Google Shape;310;p12"/>
          <p:cNvSpPr/>
          <p:nvPr/>
        </p:nvSpPr>
        <p:spPr>
          <a:xfrm rot="5400000">
            <a:off x="5732035" y="-2461597"/>
            <a:ext cx="299233" cy="11018388"/>
          </a:xfrm>
          <a:prstGeom prst="rightBrace">
            <a:avLst>
              <a:gd name="adj1" fmla="val 8333"/>
              <a:gd name="adj2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1" name="Google Shape;311;p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79180" y="3757234"/>
            <a:ext cx="9613961" cy="193933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1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99469" y="4424418"/>
            <a:ext cx="3308351" cy="2272944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3"/>
          <p:cNvSpPr txBox="1"/>
          <p:nvPr/>
        </p:nvSpPr>
        <p:spPr>
          <a:xfrm>
            <a:off x="0" y="0"/>
            <a:ext cx="12191999" cy="4616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Once you’ve written PropagateCS_Cambio2, you can just plug it into cl.run_Cambio</a:t>
            </a:r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18" name="Google Shape;318;p13"/>
          <p:cNvGrpSpPr/>
          <p:nvPr/>
        </p:nvGrpSpPr>
        <p:grpSpPr>
          <a:xfrm>
            <a:off x="372458" y="1247389"/>
            <a:ext cx="11018388" cy="1512528"/>
            <a:chOff x="308290" y="3717870"/>
            <a:chExt cx="11018388" cy="1512528"/>
          </a:xfrm>
        </p:grpSpPr>
        <p:pic>
          <p:nvPicPr>
            <p:cNvPr id="319" name="Google Shape;319;p13"/>
            <p:cNvPicPr preferRelativeResize="0"/>
            <p:nvPr/>
          </p:nvPicPr>
          <p:blipFill rotWithShape="1">
            <a:blip r:embed="rId3">
              <a:alphaModFix/>
            </a:blip>
            <a:srcRect b="55584"/>
            <a:stretch/>
          </p:blipFill>
          <p:spPr>
            <a:xfrm>
              <a:off x="308290" y="3728889"/>
              <a:ext cx="2322615" cy="787782"/>
            </a:xfrm>
            <a:prstGeom prst="rect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pic>
        <p:grpSp>
          <p:nvGrpSpPr>
            <p:cNvPr id="320" name="Google Shape;320;p13"/>
            <p:cNvGrpSpPr/>
            <p:nvPr/>
          </p:nvGrpSpPr>
          <p:grpSpPr>
            <a:xfrm>
              <a:off x="1950065" y="3956292"/>
              <a:ext cx="2636294" cy="787782"/>
              <a:chOff x="2460871" y="3728889"/>
              <a:chExt cx="2636294" cy="787782"/>
            </a:xfrm>
          </p:grpSpPr>
          <p:pic>
            <p:nvPicPr>
              <p:cNvPr id="321" name="Google Shape;321;p13"/>
              <p:cNvPicPr preferRelativeResize="0"/>
              <p:nvPr/>
            </p:nvPicPr>
            <p:blipFill rotWithShape="1">
              <a:blip r:embed="rId3">
                <a:alphaModFix/>
              </a:blip>
              <a:srcRect b="55584"/>
              <a:stretch/>
            </p:blipFill>
            <p:spPr>
              <a:xfrm>
                <a:off x="2774550" y="3728889"/>
                <a:ext cx="2322615" cy="787782"/>
              </a:xfrm>
              <a:prstGeom prst="rect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pic>
          <p:sp>
            <p:nvSpPr>
              <p:cNvPr id="322" name="Google Shape;322;p13"/>
              <p:cNvSpPr/>
              <p:nvPr/>
            </p:nvSpPr>
            <p:spPr>
              <a:xfrm>
                <a:off x="2460871" y="3934847"/>
                <a:ext cx="483714" cy="388620"/>
              </a:xfrm>
              <a:prstGeom prst="rightArrow">
                <a:avLst>
                  <a:gd name="adj1" fmla="val 50000"/>
                  <a:gd name="adj2" fmla="val 50000"/>
                </a:avLst>
              </a:prstGeom>
              <a:solidFill>
                <a:schemeClr val="accent1">
                  <a:alpha val="54117"/>
                </a:schemeClr>
              </a:solidFill>
              <a:ln w="12700" cap="flat" cmpd="sng">
                <a:solidFill>
                  <a:srgbClr val="1C305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23" name="Google Shape;323;p13"/>
            <p:cNvGrpSpPr/>
            <p:nvPr/>
          </p:nvGrpSpPr>
          <p:grpSpPr>
            <a:xfrm>
              <a:off x="3425051" y="4307001"/>
              <a:ext cx="2636294" cy="787782"/>
              <a:chOff x="2460871" y="3728889"/>
              <a:chExt cx="2636294" cy="787782"/>
            </a:xfrm>
          </p:grpSpPr>
          <p:pic>
            <p:nvPicPr>
              <p:cNvPr id="324" name="Google Shape;324;p13"/>
              <p:cNvPicPr preferRelativeResize="0"/>
              <p:nvPr/>
            </p:nvPicPr>
            <p:blipFill rotWithShape="1">
              <a:blip r:embed="rId3">
                <a:alphaModFix/>
              </a:blip>
              <a:srcRect b="55584"/>
              <a:stretch/>
            </p:blipFill>
            <p:spPr>
              <a:xfrm>
                <a:off x="2774550" y="3728889"/>
                <a:ext cx="2322615" cy="787782"/>
              </a:xfrm>
              <a:prstGeom prst="rect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pic>
          <p:sp>
            <p:nvSpPr>
              <p:cNvPr id="325" name="Google Shape;325;p13"/>
              <p:cNvSpPr/>
              <p:nvPr/>
            </p:nvSpPr>
            <p:spPr>
              <a:xfrm>
                <a:off x="2460871" y="3934847"/>
                <a:ext cx="483714" cy="388620"/>
              </a:xfrm>
              <a:prstGeom prst="rightArrow">
                <a:avLst>
                  <a:gd name="adj1" fmla="val 50000"/>
                  <a:gd name="adj2" fmla="val 50000"/>
                </a:avLst>
              </a:prstGeom>
              <a:solidFill>
                <a:schemeClr val="accent1">
                  <a:alpha val="54117"/>
                </a:schemeClr>
              </a:solidFill>
              <a:ln w="12700" cap="flat" cmpd="sng">
                <a:solidFill>
                  <a:srgbClr val="1C305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26" name="Google Shape;326;p13"/>
            <p:cNvGrpSpPr/>
            <p:nvPr/>
          </p:nvGrpSpPr>
          <p:grpSpPr>
            <a:xfrm>
              <a:off x="5016589" y="4111492"/>
              <a:ext cx="2636294" cy="787782"/>
              <a:chOff x="2460871" y="3728889"/>
              <a:chExt cx="2636294" cy="787782"/>
            </a:xfrm>
          </p:grpSpPr>
          <p:pic>
            <p:nvPicPr>
              <p:cNvPr id="327" name="Google Shape;327;p13"/>
              <p:cNvPicPr preferRelativeResize="0"/>
              <p:nvPr/>
            </p:nvPicPr>
            <p:blipFill rotWithShape="1">
              <a:blip r:embed="rId3">
                <a:alphaModFix/>
              </a:blip>
              <a:srcRect b="55584"/>
              <a:stretch/>
            </p:blipFill>
            <p:spPr>
              <a:xfrm>
                <a:off x="2774550" y="3728889"/>
                <a:ext cx="2322615" cy="787782"/>
              </a:xfrm>
              <a:prstGeom prst="rect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pic>
          <p:sp>
            <p:nvSpPr>
              <p:cNvPr id="328" name="Google Shape;328;p13"/>
              <p:cNvSpPr/>
              <p:nvPr/>
            </p:nvSpPr>
            <p:spPr>
              <a:xfrm>
                <a:off x="2460871" y="3934847"/>
                <a:ext cx="483714" cy="388620"/>
              </a:xfrm>
              <a:prstGeom prst="rightArrow">
                <a:avLst>
                  <a:gd name="adj1" fmla="val 50000"/>
                  <a:gd name="adj2" fmla="val 50000"/>
                </a:avLst>
              </a:prstGeom>
              <a:solidFill>
                <a:schemeClr val="accent1">
                  <a:alpha val="54117"/>
                </a:schemeClr>
              </a:solidFill>
              <a:ln w="12700" cap="flat" cmpd="sng">
                <a:solidFill>
                  <a:srgbClr val="1C305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29" name="Google Shape;329;p13"/>
            <p:cNvGrpSpPr/>
            <p:nvPr/>
          </p:nvGrpSpPr>
          <p:grpSpPr>
            <a:xfrm>
              <a:off x="6295947" y="3717870"/>
              <a:ext cx="2636294" cy="787782"/>
              <a:chOff x="2460871" y="3728889"/>
              <a:chExt cx="2636294" cy="787782"/>
            </a:xfrm>
          </p:grpSpPr>
          <p:pic>
            <p:nvPicPr>
              <p:cNvPr id="330" name="Google Shape;330;p13"/>
              <p:cNvPicPr preferRelativeResize="0"/>
              <p:nvPr/>
            </p:nvPicPr>
            <p:blipFill rotWithShape="1">
              <a:blip r:embed="rId3">
                <a:alphaModFix/>
              </a:blip>
              <a:srcRect b="55584"/>
              <a:stretch/>
            </p:blipFill>
            <p:spPr>
              <a:xfrm>
                <a:off x="2774550" y="3728889"/>
                <a:ext cx="2322615" cy="787782"/>
              </a:xfrm>
              <a:prstGeom prst="rect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pic>
          <p:sp>
            <p:nvSpPr>
              <p:cNvPr id="331" name="Google Shape;331;p13"/>
              <p:cNvSpPr/>
              <p:nvPr/>
            </p:nvSpPr>
            <p:spPr>
              <a:xfrm>
                <a:off x="2460871" y="3934847"/>
                <a:ext cx="483714" cy="388620"/>
              </a:xfrm>
              <a:prstGeom prst="rightArrow">
                <a:avLst>
                  <a:gd name="adj1" fmla="val 50000"/>
                  <a:gd name="adj2" fmla="val 50000"/>
                </a:avLst>
              </a:prstGeom>
              <a:solidFill>
                <a:schemeClr val="accent1">
                  <a:alpha val="54117"/>
                </a:schemeClr>
              </a:solidFill>
              <a:ln w="12700" cap="flat" cmpd="sng">
                <a:solidFill>
                  <a:srgbClr val="1C305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32" name="Google Shape;332;p13"/>
            <p:cNvGrpSpPr/>
            <p:nvPr/>
          </p:nvGrpSpPr>
          <p:grpSpPr>
            <a:xfrm>
              <a:off x="7421623" y="4030478"/>
              <a:ext cx="2636294" cy="787782"/>
              <a:chOff x="2460871" y="3728889"/>
              <a:chExt cx="2636294" cy="787782"/>
            </a:xfrm>
          </p:grpSpPr>
          <p:pic>
            <p:nvPicPr>
              <p:cNvPr id="333" name="Google Shape;333;p13"/>
              <p:cNvPicPr preferRelativeResize="0"/>
              <p:nvPr/>
            </p:nvPicPr>
            <p:blipFill rotWithShape="1">
              <a:blip r:embed="rId3">
                <a:alphaModFix/>
              </a:blip>
              <a:srcRect b="55584"/>
              <a:stretch/>
            </p:blipFill>
            <p:spPr>
              <a:xfrm>
                <a:off x="2774550" y="3728889"/>
                <a:ext cx="2322615" cy="787782"/>
              </a:xfrm>
              <a:prstGeom prst="rect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pic>
          <p:sp>
            <p:nvSpPr>
              <p:cNvPr id="334" name="Google Shape;334;p13"/>
              <p:cNvSpPr/>
              <p:nvPr/>
            </p:nvSpPr>
            <p:spPr>
              <a:xfrm>
                <a:off x="2460871" y="3934847"/>
                <a:ext cx="483714" cy="388620"/>
              </a:xfrm>
              <a:prstGeom prst="rightArrow">
                <a:avLst>
                  <a:gd name="adj1" fmla="val 50000"/>
                  <a:gd name="adj2" fmla="val 50000"/>
                </a:avLst>
              </a:prstGeom>
              <a:solidFill>
                <a:schemeClr val="accent1">
                  <a:alpha val="54117"/>
                </a:schemeClr>
              </a:solidFill>
              <a:ln w="12700" cap="flat" cmpd="sng">
                <a:solidFill>
                  <a:srgbClr val="1C305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35" name="Google Shape;335;p13"/>
            <p:cNvGrpSpPr/>
            <p:nvPr/>
          </p:nvGrpSpPr>
          <p:grpSpPr>
            <a:xfrm>
              <a:off x="8690384" y="4442616"/>
              <a:ext cx="2636294" cy="787782"/>
              <a:chOff x="2460871" y="3728889"/>
              <a:chExt cx="2636294" cy="787782"/>
            </a:xfrm>
          </p:grpSpPr>
          <p:pic>
            <p:nvPicPr>
              <p:cNvPr id="336" name="Google Shape;336;p13"/>
              <p:cNvPicPr preferRelativeResize="0"/>
              <p:nvPr/>
            </p:nvPicPr>
            <p:blipFill rotWithShape="1">
              <a:blip r:embed="rId3">
                <a:alphaModFix/>
              </a:blip>
              <a:srcRect b="55584"/>
              <a:stretch/>
            </p:blipFill>
            <p:spPr>
              <a:xfrm>
                <a:off x="2774550" y="3728889"/>
                <a:ext cx="2322615" cy="787782"/>
              </a:xfrm>
              <a:prstGeom prst="rect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pic>
          <p:sp>
            <p:nvSpPr>
              <p:cNvPr id="337" name="Google Shape;337;p13"/>
              <p:cNvSpPr/>
              <p:nvPr/>
            </p:nvSpPr>
            <p:spPr>
              <a:xfrm>
                <a:off x="2460871" y="3934847"/>
                <a:ext cx="483714" cy="388620"/>
              </a:xfrm>
              <a:prstGeom prst="rightArrow">
                <a:avLst>
                  <a:gd name="adj1" fmla="val 50000"/>
                  <a:gd name="adj2" fmla="val 50000"/>
                </a:avLst>
              </a:prstGeom>
              <a:solidFill>
                <a:schemeClr val="accent1">
                  <a:alpha val="54117"/>
                </a:schemeClr>
              </a:solidFill>
              <a:ln w="12700" cap="flat" cmpd="sng">
                <a:solidFill>
                  <a:srgbClr val="1C305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38" name="Google Shape;338;p13"/>
          <p:cNvSpPr txBox="1"/>
          <p:nvPr/>
        </p:nvSpPr>
        <p:spPr>
          <a:xfrm>
            <a:off x="3489219" y="3125383"/>
            <a:ext cx="498909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Python </a:t>
            </a: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list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of climate states</a:t>
            </a:r>
            <a:endParaRPr/>
          </a:p>
        </p:txBody>
      </p:sp>
      <p:sp>
        <p:nvSpPr>
          <p:cNvPr id="339" name="Google Shape;339;p13"/>
          <p:cNvSpPr/>
          <p:nvPr/>
        </p:nvSpPr>
        <p:spPr>
          <a:xfrm rot="5400000">
            <a:off x="5732035" y="-2461597"/>
            <a:ext cx="299233" cy="11018388"/>
          </a:xfrm>
          <a:prstGeom prst="rightBrace">
            <a:avLst>
              <a:gd name="adj1" fmla="val 8333"/>
              <a:gd name="adj2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0" name="Google Shape;340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79180" y="3757234"/>
            <a:ext cx="9613961" cy="193933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p1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4298" y="4014386"/>
            <a:ext cx="7903157" cy="283839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1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69900" y="5405121"/>
            <a:ext cx="5759560" cy="2831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13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799518" y="4411396"/>
            <a:ext cx="3265960" cy="2247145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4"/>
          <p:cNvSpPr txBox="1"/>
          <p:nvPr/>
        </p:nvSpPr>
        <p:spPr>
          <a:xfrm>
            <a:off x="0" y="2677"/>
            <a:ext cx="12192000" cy="4616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OK, let’s get started</a:t>
            </a:r>
            <a:endParaRPr/>
          </a:p>
        </p:txBody>
      </p:sp>
      <p:grpSp>
        <p:nvGrpSpPr>
          <p:cNvPr id="349" name="Google Shape;349;p14"/>
          <p:cNvGrpSpPr/>
          <p:nvPr/>
        </p:nvGrpSpPr>
        <p:grpSpPr>
          <a:xfrm>
            <a:off x="8671239" y="1877848"/>
            <a:ext cx="2909737" cy="2095351"/>
            <a:chOff x="371474" y="1402078"/>
            <a:chExt cx="6400801" cy="4447044"/>
          </a:xfrm>
        </p:grpSpPr>
        <p:grpSp>
          <p:nvGrpSpPr>
            <p:cNvPr id="350" name="Google Shape;350;p14"/>
            <p:cNvGrpSpPr/>
            <p:nvPr/>
          </p:nvGrpSpPr>
          <p:grpSpPr>
            <a:xfrm>
              <a:off x="371474" y="1402078"/>
              <a:ext cx="6400801" cy="4260533"/>
              <a:chOff x="2771774" y="2230753"/>
              <a:chExt cx="6400801" cy="4260533"/>
            </a:xfrm>
          </p:grpSpPr>
          <p:pic>
            <p:nvPicPr>
              <p:cNvPr id="351" name="Google Shape;351;p14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2771774" y="2230753"/>
                <a:ext cx="6400801" cy="4260533"/>
              </a:xfrm>
              <a:prstGeom prst="rect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pic>
          <p:sp>
            <p:nvSpPr>
              <p:cNvPr id="352" name="Google Shape;352;p14"/>
              <p:cNvSpPr/>
              <p:nvPr/>
            </p:nvSpPr>
            <p:spPr>
              <a:xfrm>
                <a:off x="6443663" y="2386013"/>
                <a:ext cx="528637" cy="2043113"/>
              </a:xfrm>
              <a:prstGeom prst="upArrow">
                <a:avLst>
                  <a:gd name="adj1" fmla="val 50000"/>
                  <a:gd name="adj2" fmla="val 50000"/>
                </a:avLst>
              </a:prstGeom>
              <a:solidFill>
                <a:schemeClr val="accent2"/>
              </a:solidFill>
              <a:ln w="12700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3" name="Google Shape;353;p14"/>
              <p:cNvSpPr/>
              <p:nvPr/>
            </p:nvSpPr>
            <p:spPr>
              <a:xfrm>
                <a:off x="4343400" y="3095625"/>
                <a:ext cx="528637" cy="1081088"/>
              </a:xfrm>
              <a:prstGeom prst="upArrow">
                <a:avLst>
                  <a:gd name="adj1" fmla="val 50000"/>
                  <a:gd name="adj2" fmla="val 50000"/>
                </a:avLst>
              </a:prstGeom>
              <a:solidFill>
                <a:schemeClr val="accent2"/>
              </a:solidFill>
              <a:ln w="12700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54" name="Google Shape;354;p14"/>
            <p:cNvSpPr txBox="1"/>
            <p:nvPr/>
          </p:nvSpPr>
          <p:spPr>
            <a:xfrm>
              <a:off x="371474" y="3929064"/>
              <a:ext cx="2595561" cy="17636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Cold ocean</a:t>
              </a:r>
              <a:endParaRPr/>
            </a:p>
          </p:txBody>
        </p:sp>
        <p:sp>
          <p:nvSpPr>
            <p:cNvPr id="355" name="Google Shape;355;p14"/>
            <p:cNvSpPr txBox="1"/>
            <p:nvPr/>
          </p:nvSpPr>
          <p:spPr>
            <a:xfrm>
              <a:off x="3509322" y="4085465"/>
              <a:ext cx="2595559" cy="17636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Warm ocean</a:t>
              </a:r>
              <a:endParaRPr/>
            </a:p>
          </p:txBody>
        </p:sp>
      </p:grpSp>
      <p:pic>
        <p:nvPicPr>
          <p:cNvPr id="356" name="Google Shape;356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43314" y="4975287"/>
            <a:ext cx="8683465" cy="1569892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357" name="Google Shape;357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9097" y="564010"/>
            <a:ext cx="7772400" cy="4172039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58" name="Google Shape;358;p14"/>
          <p:cNvSpPr txBox="1"/>
          <p:nvPr/>
        </p:nvSpPr>
        <p:spPr>
          <a:xfrm>
            <a:off x="9560699" y="1805734"/>
            <a:ext cx="992459" cy="461665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343</Words>
  <Application>Microsoft Macintosh PowerPoint</Application>
  <PresentationFormat>Widescreen</PresentationFormat>
  <Paragraphs>53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Times New Roman</vt:lpstr>
      <vt:lpstr>Calibri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Steven</dc:creator>
  <cp:lastModifiedBy>Steven</cp:lastModifiedBy>
  <cp:revision>1</cp:revision>
  <dcterms:created xsi:type="dcterms:W3CDTF">2021-10-25T17:45:21Z</dcterms:created>
  <dcterms:modified xsi:type="dcterms:W3CDTF">2026-03-13T06:57:33Z</dcterms:modified>
</cp:coreProperties>
</file>