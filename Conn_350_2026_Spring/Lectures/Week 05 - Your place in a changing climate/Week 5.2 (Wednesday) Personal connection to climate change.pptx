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oboto"/>
      <p:regular r:id="rId21"/>
      <p:bold r:id="rId22"/>
      <p:italic r:id="rId23"/>
      <p:boldItalic r:id="rId24"/>
    </p:embeddedFont>
    <p:embeddedFont>
      <p:font typeface="Proxima Nova"/>
      <p:regular r:id="rId25"/>
      <p:bold r:id="rId26"/>
      <p:italic r:id="rId27"/>
      <p:boldItalic r:id="rId28"/>
    </p:embeddedFont>
    <p:embeddedFont>
      <p:font typeface="Montserrat"/>
      <p:regular r:id="rId29"/>
      <p:bold r:id="rId30"/>
      <p:italic r:id="rId31"/>
      <p:boldItalic r:id="rId32"/>
    </p:embeddedFont>
    <p:embeddedFont>
      <p:font typeface="Lato"/>
      <p:regular r:id="rId33"/>
      <p:bold r:id="rId34"/>
      <p:italic r:id="rId35"/>
      <p:boldItalic r:id="rId36"/>
    </p:embeddedFont>
    <p:embeddedFont>
      <p:font typeface="Montserrat Light"/>
      <p:regular r:id="rId37"/>
      <p:bold r:id="rId38"/>
      <p:italic r:id="rId39"/>
      <p:boldItalic r:id="rId40"/>
    </p:embeddedFont>
    <p:embeddedFont>
      <p:font typeface="Oswald"/>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Light-boldItalic.fntdata"/><Relationship Id="rId20" Type="http://schemas.openxmlformats.org/officeDocument/2006/relationships/slide" Target="slides/slide15.xml"/><Relationship Id="rId42" Type="http://schemas.openxmlformats.org/officeDocument/2006/relationships/font" Target="fonts/Oswald-bold.fntdata"/><Relationship Id="rId41" Type="http://schemas.openxmlformats.org/officeDocument/2006/relationships/font" Target="fonts/Oswald-regular.fntdata"/><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roximaNova-bold.fntdata"/><Relationship Id="rId25" Type="http://schemas.openxmlformats.org/officeDocument/2006/relationships/font" Target="fonts/ProximaNova-regular.fntdata"/><Relationship Id="rId28" Type="http://schemas.openxmlformats.org/officeDocument/2006/relationships/font" Target="fonts/ProximaNova-boldItalic.fntdata"/><Relationship Id="rId27" Type="http://schemas.openxmlformats.org/officeDocument/2006/relationships/font" Target="fonts/ProximaNova-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italic.fntdata"/><Relationship Id="rId30" Type="http://schemas.openxmlformats.org/officeDocument/2006/relationships/font" Target="fonts/Montserrat-bold.fntdata"/><Relationship Id="rId11" Type="http://schemas.openxmlformats.org/officeDocument/2006/relationships/slide" Target="slides/slide6.xml"/><Relationship Id="rId33" Type="http://schemas.openxmlformats.org/officeDocument/2006/relationships/font" Target="fonts/Lato-regular.fntdata"/><Relationship Id="rId10" Type="http://schemas.openxmlformats.org/officeDocument/2006/relationships/slide" Target="slides/slide5.xml"/><Relationship Id="rId32" Type="http://schemas.openxmlformats.org/officeDocument/2006/relationships/font" Target="fonts/Montserrat-boldItalic.fntdata"/><Relationship Id="rId13" Type="http://schemas.openxmlformats.org/officeDocument/2006/relationships/slide" Target="slides/slide8.xml"/><Relationship Id="rId35" Type="http://schemas.openxmlformats.org/officeDocument/2006/relationships/font" Target="fonts/Lato-italic.fntdata"/><Relationship Id="rId12" Type="http://schemas.openxmlformats.org/officeDocument/2006/relationships/slide" Target="slides/slide7.xml"/><Relationship Id="rId34" Type="http://schemas.openxmlformats.org/officeDocument/2006/relationships/font" Target="fonts/Lato-bold.fntdata"/><Relationship Id="rId15" Type="http://schemas.openxmlformats.org/officeDocument/2006/relationships/slide" Target="slides/slide10.xml"/><Relationship Id="rId37" Type="http://schemas.openxmlformats.org/officeDocument/2006/relationships/font" Target="fonts/MontserratLight-regular.fntdata"/><Relationship Id="rId14" Type="http://schemas.openxmlformats.org/officeDocument/2006/relationships/slide" Target="slides/slide9.xml"/><Relationship Id="rId36" Type="http://schemas.openxmlformats.org/officeDocument/2006/relationships/font" Target="fonts/Lato-boldItalic.fntdata"/><Relationship Id="rId17" Type="http://schemas.openxmlformats.org/officeDocument/2006/relationships/slide" Target="slides/slide12.xml"/><Relationship Id="rId39" Type="http://schemas.openxmlformats.org/officeDocument/2006/relationships/font" Target="fonts/MontserratLight-italic.fntdata"/><Relationship Id="rId16" Type="http://schemas.openxmlformats.org/officeDocument/2006/relationships/slide" Target="slides/slide11.xml"/><Relationship Id="rId38" Type="http://schemas.openxmlformats.org/officeDocument/2006/relationships/font" Target="fonts/MontserratLight-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c8151b87ea_0_3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g3c8151b87ea_0_3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All the baggage that we carry can affect how we think about and learn about climate science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c8151b87ea_0_3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g3c8151b87ea_0_3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Start with our personal story, cultures around the world have used stories for an exceptionally long time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
              <a:t>Elder Sam Demientieff is Athabascan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c8151b87ea_0_3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g3c8151b87ea_0_3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Kristin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c8151b87ea_0_3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g3c8151b87ea_0_3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In Spellman et al.’s study (friend and learning researchers), youth who participated in a citizen science berry project used storytelling to communicate the data they collected in their classes. Youth who participated in storytelling-based inquiry had both higher science self-efficacy (ability and confidence to perform tasks related to science) and stewardship self-efficacy (ability and confidence to take on stewardship roles and actions)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
              <a:t>Half of the students (from youth to college) just did the science (berry accounts) and learned about storytelling, collected data, and created stories. Participants were also more likely to see themselves as agent of change and as part of the climate system.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c8151b87ea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g3c8151b87e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244600" marR="1244600" rtl="0" algn="l">
              <a:lnSpc>
                <a:spcPct val="115000"/>
              </a:lnSpc>
              <a:spcBef>
                <a:spcPts val="1500"/>
              </a:spcBef>
              <a:spcAft>
                <a:spcPts val="0"/>
              </a:spcAft>
              <a:buClr>
                <a:schemeClr val="dk1"/>
              </a:buClr>
              <a:buSzPts val="1100"/>
              <a:buFont typeface="Arial"/>
              <a:buNone/>
            </a:pPr>
            <a:r>
              <a:rPr lang="en" sz="1350">
                <a:solidFill>
                  <a:srgbClr val="333333"/>
                </a:solidFill>
                <a:highlight>
                  <a:srgbClr val="FFFFFF"/>
                </a:highlight>
                <a:latin typeface="Roboto"/>
                <a:ea typeface="Roboto"/>
                <a:cs typeface="Roboto"/>
                <a:sym typeface="Roboto"/>
              </a:rPr>
              <a:t>In Every Chair, A Leader</a:t>
            </a:r>
            <a:br>
              <a:rPr lang="en" sz="1350">
                <a:solidFill>
                  <a:srgbClr val="333333"/>
                </a:solidFill>
                <a:highlight>
                  <a:srgbClr val="FFFFFF"/>
                </a:highlight>
                <a:latin typeface="Roboto"/>
                <a:ea typeface="Roboto"/>
                <a:cs typeface="Roboto"/>
                <a:sym typeface="Roboto"/>
              </a:rPr>
            </a:br>
            <a:r>
              <a:rPr lang="en" sz="1350">
                <a:solidFill>
                  <a:srgbClr val="333333"/>
                </a:solidFill>
                <a:highlight>
                  <a:srgbClr val="FFFFFF"/>
                </a:highlight>
                <a:latin typeface="Roboto"/>
                <a:ea typeface="Roboto"/>
                <a:cs typeface="Roboto"/>
                <a:sym typeface="Roboto"/>
              </a:rPr>
              <a:t>Each person engaging in this conversation has a unique and valuable experience that is their truth.</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 sz="1350">
                <a:solidFill>
                  <a:srgbClr val="333333"/>
                </a:solidFill>
                <a:highlight>
                  <a:srgbClr val="FFFFFF"/>
                </a:highlight>
                <a:latin typeface="Roboto"/>
                <a:ea typeface="Roboto"/>
                <a:cs typeface="Roboto"/>
                <a:sym typeface="Roboto"/>
              </a:rPr>
              <a:t>Speak with Care for Others</a:t>
            </a:r>
            <a:br>
              <a:rPr lang="en" sz="1350">
                <a:solidFill>
                  <a:srgbClr val="333333"/>
                </a:solidFill>
                <a:highlight>
                  <a:srgbClr val="FFFFFF"/>
                </a:highlight>
                <a:latin typeface="Roboto"/>
                <a:ea typeface="Roboto"/>
                <a:cs typeface="Roboto"/>
                <a:sym typeface="Roboto"/>
              </a:rPr>
            </a:br>
            <a:r>
              <a:rPr lang="en" sz="1350">
                <a:solidFill>
                  <a:srgbClr val="333333"/>
                </a:solidFill>
                <a:highlight>
                  <a:srgbClr val="FFFFFF"/>
                </a:highlight>
                <a:latin typeface="Roboto"/>
                <a:ea typeface="Roboto"/>
                <a:cs typeface="Roboto"/>
                <a:sym typeface="Roboto"/>
              </a:rPr>
              <a:t>We each hold the responsibility to choose our words and questions carefully with the intent to learn.</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 sz="1350">
                <a:solidFill>
                  <a:srgbClr val="333333"/>
                </a:solidFill>
                <a:highlight>
                  <a:srgbClr val="FFFFFF"/>
                </a:highlight>
                <a:latin typeface="Roboto"/>
                <a:ea typeface="Roboto"/>
                <a:cs typeface="Roboto"/>
                <a:sym typeface="Roboto"/>
              </a:rPr>
              <a:t>Value Each Others Time</a:t>
            </a:r>
            <a:br>
              <a:rPr lang="en" sz="1350">
                <a:solidFill>
                  <a:srgbClr val="333333"/>
                </a:solidFill>
                <a:highlight>
                  <a:srgbClr val="FFFFFF"/>
                </a:highlight>
                <a:latin typeface="Roboto"/>
                <a:ea typeface="Roboto"/>
                <a:cs typeface="Roboto"/>
                <a:sym typeface="Roboto"/>
              </a:rPr>
            </a:br>
            <a:r>
              <a:rPr lang="en" sz="1350">
                <a:solidFill>
                  <a:srgbClr val="333333"/>
                </a:solidFill>
                <a:highlight>
                  <a:srgbClr val="FFFFFF"/>
                </a:highlight>
                <a:latin typeface="Roboto"/>
                <a:ea typeface="Roboto"/>
                <a:cs typeface="Roboto"/>
                <a:sym typeface="Roboto"/>
              </a:rPr>
              <a:t>We all share the responsibility to ensure that everyone has an opportunity to speak and engage.</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 sz="1350">
                <a:solidFill>
                  <a:srgbClr val="333333"/>
                </a:solidFill>
                <a:highlight>
                  <a:srgbClr val="FFFFFF"/>
                </a:highlight>
                <a:latin typeface="Roboto"/>
                <a:ea typeface="Roboto"/>
                <a:cs typeface="Roboto"/>
                <a:sym typeface="Roboto"/>
              </a:rPr>
              <a:t>Listen Deeply</a:t>
            </a:r>
            <a:br>
              <a:rPr lang="en" sz="1350">
                <a:solidFill>
                  <a:srgbClr val="333333"/>
                </a:solidFill>
                <a:highlight>
                  <a:srgbClr val="FFFFFF"/>
                </a:highlight>
                <a:latin typeface="Roboto"/>
                <a:ea typeface="Roboto"/>
                <a:cs typeface="Roboto"/>
                <a:sym typeface="Roboto"/>
              </a:rPr>
            </a:br>
            <a:r>
              <a:rPr lang="en" sz="1350">
                <a:solidFill>
                  <a:srgbClr val="333333"/>
                </a:solidFill>
                <a:highlight>
                  <a:srgbClr val="FFFFFF"/>
                </a:highlight>
                <a:latin typeface="Roboto"/>
                <a:ea typeface="Roboto"/>
                <a:cs typeface="Roboto"/>
                <a:sym typeface="Roboto"/>
              </a:rPr>
              <a:t>This is a rare and valuable opportunity to connect with others through the sharing of life experience.</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 sz="1350">
                <a:solidFill>
                  <a:srgbClr val="333333"/>
                </a:solidFill>
                <a:highlight>
                  <a:srgbClr val="FFFFFF"/>
                </a:highlight>
                <a:latin typeface="Roboto"/>
                <a:ea typeface="Roboto"/>
                <a:cs typeface="Roboto"/>
                <a:sym typeface="Roboto"/>
              </a:rPr>
              <a:t>Safe Space for Meaningful Conversation</a:t>
            </a:r>
            <a:br>
              <a:rPr lang="en" sz="1350">
                <a:solidFill>
                  <a:srgbClr val="333333"/>
                </a:solidFill>
                <a:highlight>
                  <a:srgbClr val="FFFFFF"/>
                </a:highlight>
                <a:latin typeface="Roboto"/>
                <a:ea typeface="Roboto"/>
                <a:cs typeface="Roboto"/>
                <a:sym typeface="Roboto"/>
              </a:rPr>
            </a:br>
            <a:r>
              <a:rPr lang="en" sz="1350">
                <a:solidFill>
                  <a:srgbClr val="333333"/>
                </a:solidFill>
                <a:highlight>
                  <a:srgbClr val="FFFFFF"/>
                </a:highlight>
                <a:latin typeface="Roboto"/>
                <a:ea typeface="Roboto"/>
                <a:cs typeface="Roboto"/>
                <a:sym typeface="Roboto"/>
              </a:rPr>
              <a:t>All notes taken are non-attribution to ensure anonymity of all dialogue participants.</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 sz="1350">
                <a:solidFill>
                  <a:srgbClr val="333333"/>
                </a:solidFill>
                <a:highlight>
                  <a:srgbClr val="FFFFFF"/>
                </a:highlight>
                <a:latin typeface="Roboto"/>
                <a:ea typeface="Roboto"/>
                <a:cs typeface="Roboto"/>
                <a:sym typeface="Roboto"/>
              </a:rPr>
              <a:t>Our Value of Humor</a:t>
            </a:r>
            <a:br>
              <a:rPr lang="en" sz="1350">
                <a:solidFill>
                  <a:srgbClr val="333333"/>
                </a:solidFill>
                <a:highlight>
                  <a:srgbClr val="FFFFFF"/>
                </a:highlight>
                <a:latin typeface="Roboto"/>
                <a:ea typeface="Roboto"/>
                <a:cs typeface="Roboto"/>
                <a:sym typeface="Roboto"/>
              </a:rPr>
            </a:br>
            <a:r>
              <a:rPr lang="en" sz="1350">
                <a:solidFill>
                  <a:srgbClr val="333333"/>
                </a:solidFill>
                <a:highlight>
                  <a:srgbClr val="FFFFFF"/>
                </a:highlight>
                <a:latin typeface="Roboto"/>
                <a:ea typeface="Roboto"/>
                <a:cs typeface="Roboto"/>
                <a:sym typeface="Roboto"/>
              </a:rPr>
              <a:t>Laughing is also an important way to relate with one another.</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 sz="1350">
                <a:solidFill>
                  <a:srgbClr val="333333"/>
                </a:solidFill>
                <a:highlight>
                  <a:srgbClr val="FFFFFF"/>
                </a:highlight>
                <a:latin typeface="Roboto"/>
                <a:ea typeface="Roboto"/>
                <a:cs typeface="Roboto"/>
                <a:sym typeface="Roboto"/>
              </a:rPr>
              <a:t>Be Present and Engaged</a:t>
            </a:r>
            <a:br>
              <a:rPr lang="en" sz="1350">
                <a:solidFill>
                  <a:srgbClr val="333333"/>
                </a:solidFill>
                <a:highlight>
                  <a:srgbClr val="FFFFFF"/>
                </a:highlight>
                <a:latin typeface="Roboto"/>
                <a:ea typeface="Roboto"/>
                <a:cs typeface="Roboto"/>
                <a:sym typeface="Roboto"/>
              </a:rPr>
            </a:br>
            <a:r>
              <a:rPr lang="en" sz="1350">
                <a:solidFill>
                  <a:srgbClr val="333333"/>
                </a:solidFill>
                <a:highlight>
                  <a:srgbClr val="FFFFFF"/>
                </a:highlight>
                <a:latin typeface="Roboto"/>
                <a:ea typeface="Roboto"/>
                <a:cs typeface="Roboto"/>
                <a:sym typeface="Roboto"/>
              </a:rPr>
              <a:t>Cell phone ringers off, be mindful of being fully present and listening.</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 sz="1350">
                <a:solidFill>
                  <a:srgbClr val="333333"/>
                </a:solidFill>
                <a:highlight>
                  <a:srgbClr val="FFFFFF"/>
                </a:highlight>
                <a:latin typeface="Roboto"/>
                <a:ea typeface="Roboto"/>
                <a:cs typeface="Roboto"/>
                <a:sym typeface="Roboto"/>
              </a:rPr>
              <a:t>Take Care of Yourself, Take Care of Each Other</a:t>
            </a:r>
            <a:br>
              <a:rPr lang="en" sz="1350">
                <a:solidFill>
                  <a:srgbClr val="333333"/>
                </a:solidFill>
                <a:highlight>
                  <a:srgbClr val="FFFFFF"/>
                </a:highlight>
                <a:latin typeface="Roboto"/>
                <a:ea typeface="Roboto"/>
                <a:cs typeface="Roboto"/>
                <a:sym typeface="Roboto"/>
              </a:rPr>
            </a:br>
            <a:r>
              <a:rPr lang="en" sz="1350">
                <a:solidFill>
                  <a:srgbClr val="333333"/>
                </a:solidFill>
                <a:highlight>
                  <a:srgbClr val="FFFFFF"/>
                </a:highlight>
                <a:latin typeface="Roboto"/>
                <a:ea typeface="Roboto"/>
                <a:cs typeface="Roboto"/>
                <a:sym typeface="Roboto"/>
              </a:rPr>
              <a:t>Note restrooms, exits, other amenities. Ask that participants help one another when possible.</a:t>
            </a:r>
            <a:endParaRPr sz="1350">
              <a:solidFill>
                <a:srgbClr val="333333"/>
              </a:solidFill>
              <a:highlight>
                <a:srgbClr val="FFFFFF"/>
              </a:highlight>
              <a:latin typeface="Roboto"/>
              <a:ea typeface="Roboto"/>
              <a:cs typeface="Roboto"/>
              <a:sym typeface="Roboto"/>
            </a:endParaRPr>
          </a:p>
          <a:p>
            <a:pPr indent="0" lvl="0" marL="0" rtl="0" algn="l">
              <a:lnSpc>
                <a:spcPct val="100000"/>
              </a:lnSpc>
              <a:spcBef>
                <a:spcPts val="150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c8151b87ea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c8151b87ea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Katie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c8151b87ea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g3c8151b87ea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Sea ice minimum extent in 2020 compared to the historic 1981-2010 median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c8151b87e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3c8151b87ea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c8151b87e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3c8151b87ea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c8151b87ea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c8151b87ea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c8151b87ea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g3c8151b87ea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8151b87ea_0_20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3c8151b87ea_0_2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c8151b87ea_0_2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g3c8151b87ea_0_2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c90dddd39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c90dddd3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hyperlink" Target="https://www.google.com/url?q=https%3A%2F%2Fscience.nasa.gov%2Flearners&amp;sa=D&amp;sntz=1&amp;usg=AOvVaw3-kXBXwT0O1EAu-Sk4MbO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31000" y="1111950"/>
            <a:ext cx="8682000" cy="2919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Monday, we talked about the </a:t>
            </a:r>
            <a:r>
              <a:rPr b="1" lang="en"/>
              <a:t>inequality of climate change</a:t>
            </a:r>
            <a:r>
              <a:rPr lang="en"/>
              <a:t>, today, we explore our </a:t>
            </a:r>
            <a:r>
              <a:rPr b="1" lang="en"/>
              <a:t>personal </a:t>
            </a:r>
            <a:r>
              <a:rPr b="1" lang="en"/>
              <a:t>connection</a:t>
            </a:r>
            <a:r>
              <a:rPr b="1" lang="en"/>
              <a:t> to climate change</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a:t>Why start with personal connections?</a:t>
            </a:r>
            <a:endParaRPr/>
          </a:p>
        </p:txBody>
      </p:sp>
      <p:sp>
        <p:nvSpPr>
          <p:cNvPr id="60" name="Google Shape;60;p14"/>
          <p:cNvSpPr txBox="1"/>
          <p:nvPr>
            <p:ph idx="1" type="body"/>
          </p:nvPr>
        </p:nvSpPr>
        <p:spPr>
          <a:xfrm>
            <a:off x="855300" y="1430150"/>
            <a:ext cx="7465200" cy="3376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400"/>
              <a:buNone/>
            </a:pPr>
            <a:r>
              <a:rPr b="1" lang="en" sz="1900">
                <a:solidFill>
                  <a:srgbClr val="000000"/>
                </a:solidFill>
                <a:latin typeface="Montserrat"/>
                <a:ea typeface="Montserrat"/>
                <a:cs typeface="Montserrat"/>
                <a:sym typeface="Montserrat"/>
              </a:rPr>
              <a:t>From climate communication sciences:</a:t>
            </a:r>
            <a:endParaRPr sz="2300"/>
          </a:p>
          <a:p>
            <a:pPr indent="-387350" lvl="0" marL="457200" rtl="0" algn="l">
              <a:lnSpc>
                <a:spcPct val="100000"/>
              </a:lnSpc>
              <a:spcBef>
                <a:spcPts val="0"/>
              </a:spcBef>
              <a:spcAft>
                <a:spcPts val="0"/>
              </a:spcAft>
              <a:buSzPts val="2500"/>
              <a:buChar char="●"/>
            </a:pPr>
            <a:r>
              <a:rPr lang="en" sz="2500"/>
              <a:t>Many people do not talk to others about climate change for a variety of reasons</a:t>
            </a:r>
            <a:endParaRPr sz="2500"/>
          </a:p>
          <a:p>
            <a:pPr indent="-387350" lvl="1" marL="914400" rtl="0" algn="l">
              <a:lnSpc>
                <a:spcPct val="100000"/>
              </a:lnSpc>
              <a:spcBef>
                <a:spcPts val="0"/>
              </a:spcBef>
              <a:spcAft>
                <a:spcPts val="0"/>
              </a:spcAft>
              <a:buSzPts val="2500"/>
              <a:buChar char="○"/>
            </a:pPr>
            <a:r>
              <a:rPr lang="en" sz="2500"/>
              <a:t>Afraid to be in the minority opinion, creating conflict, lack confidence, etc.</a:t>
            </a:r>
            <a:endParaRPr sz="2500"/>
          </a:p>
          <a:p>
            <a:pPr indent="0" lvl="0" marL="0" rtl="0" algn="l">
              <a:lnSpc>
                <a:spcPct val="100000"/>
              </a:lnSpc>
              <a:spcBef>
                <a:spcPts val="600"/>
              </a:spcBef>
              <a:spcAft>
                <a:spcPts val="600"/>
              </a:spcAft>
              <a:buSzPts val="2400"/>
              <a:buNone/>
            </a:pPr>
            <a:r>
              <a:t/>
            </a:r>
            <a:endParaRPr sz="2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855300" y="836000"/>
            <a:ext cx="68658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a:t>Personal experiences are hard to deny and easy to talk about</a:t>
            </a:r>
            <a:endParaRPr/>
          </a:p>
        </p:txBody>
      </p:sp>
      <p:sp>
        <p:nvSpPr>
          <p:cNvPr id="66" name="Google Shape;66;p15"/>
          <p:cNvSpPr txBox="1"/>
          <p:nvPr>
            <p:ph idx="12" type="sldNum"/>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67" name="Google Shape;67;p15"/>
          <p:cNvSpPr txBox="1"/>
          <p:nvPr>
            <p:ph idx="1" type="body"/>
          </p:nvPr>
        </p:nvSpPr>
        <p:spPr>
          <a:xfrm>
            <a:off x="855300" y="1430150"/>
            <a:ext cx="4822200" cy="3033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400"/>
              <a:buNone/>
            </a:pPr>
            <a:r>
              <a:rPr b="1" lang="en" sz="1800">
                <a:solidFill>
                  <a:srgbClr val="000000"/>
                </a:solidFill>
                <a:latin typeface="Montserrat"/>
                <a:ea typeface="Montserrat"/>
                <a:cs typeface="Montserrat"/>
                <a:sym typeface="Montserrat"/>
              </a:rPr>
              <a:t>From climate communication sciences:</a:t>
            </a:r>
            <a:endParaRPr sz="2200"/>
          </a:p>
          <a:p>
            <a:pPr indent="-368300" lvl="0" marL="457200" rtl="0" algn="l">
              <a:lnSpc>
                <a:spcPct val="100000"/>
              </a:lnSpc>
              <a:spcBef>
                <a:spcPts val="0"/>
              </a:spcBef>
              <a:spcAft>
                <a:spcPts val="0"/>
              </a:spcAft>
              <a:buSzPts val="2200"/>
              <a:buChar char="●"/>
            </a:pPr>
            <a:r>
              <a:rPr lang="en" sz="2200"/>
              <a:t>You may not be a “climate expert” but you are the expert on yourself. Say what </a:t>
            </a:r>
            <a:r>
              <a:rPr lang="en" sz="2200" u="sng"/>
              <a:t>you</a:t>
            </a:r>
            <a:r>
              <a:rPr lang="en" sz="2200"/>
              <a:t> think and tell your story. </a:t>
            </a:r>
            <a:endParaRPr sz="2200"/>
          </a:p>
          <a:p>
            <a:pPr indent="-368300" lvl="0" marL="457200" rtl="0" algn="l">
              <a:lnSpc>
                <a:spcPct val="100000"/>
              </a:lnSpc>
              <a:spcBef>
                <a:spcPts val="600"/>
              </a:spcBef>
              <a:spcAft>
                <a:spcPts val="0"/>
              </a:spcAft>
              <a:buSzPts val="2200"/>
              <a:buChar char="●"/>
            </a:pPr>
            <a:r>
              <a:rPr lang="en" sz="2200"/>
              <a:t>Stories are a powerful means to connect with others on shared values and experiences.</a:t>
            </a:r>
            <a:endParaRPr sz="2200"/>
          </a:p>
        </p:txBody>
      </p:sp>
      <p:pic>
        <p:nvPicPr>
          <p:cNvPr id="68" name="Google Shape;68;p15"/>
          <p:cNvPicPr preferRelativeResize="0"/>
          <p:nvPr/>
        </p:nvPicPr>
        <p:blipFill rotWithShape="1">
          <a:blip r:embed="rId3">
            <a:alphaModFix/>
          </a:blip>
          <a:srcRect b="0" l="0" r="53678" t="0"/>
          <a:stretch/>
        </p:blipFill>
        <p:spPr>
          <a:xfrm>
            <a:off x="6339400" y="1290825"/>
            <a:ext cx="2194500" cy="2329149"/>
          </a:xfrm>
          <a:prstGeom prst="rect">
            <a:avLst/>
          </a:prstGeom>
          <a:noFill/>
          <a:ln>
            <a:noFill/>
          </a:ln>
        </p:spPr>
      </p:pic>
      <p:sp>
        <p:nvSpPr>
          <p:cNvPr id="69" name="Google Shape;69;p15"/>
          <p:cNvSpPr txBox="1"/>
          <p:nvPr/>
        </p:nvSpPr>
        <p:spPr>
          <a:xfrm>
            <a:off x="5793700" y="3678500"/>
            <a:ext cx="3053700" cy="11853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200"/>
              <a:buFont typeface="Arial"/>
              <a:buNone/>
            </a:pPr>
            <a:r>
              <a:rPr b="0" i="0" lang="en" sz="2200" u="none" cap="none" strike="noStrike">
                <a:solidFill>
                  <a:schemeClr val="dk1"/>
                </a:solidFill>
                <a:latin typeface="Montserrat Light"/>
                <a:ea typeface="Montserrat Light"/>
                <a:cs typeface="Montserrat Light"/>
                <a:sym typeface="Montserrat Light"/>
              </a:rPr>
              <a:t>“What you observe is truth.” </a:t>
            </a:r>
            <a:endParaRPr b="0" i="0" sz="2200" u="none" cap="none" strike="noStrike">
              <a:solidFill>
                <a:schemeClr val="dk1"/>
              </a:solidFill>
              <a:latin typeface="Montserrat Light"/>
              <a:ea typeface="Montserrat Light"/>
              <a:cs typeface="Montserrat Light"/>
              <a:sym typeface="Montserrat Light"/>
            </a:endParaRPr>
          </a:p>
          <a:p>
            <a:pPr indent="0" lvl="0" marL="457200" marR="0" rtl="0" algn="l">
              <a:lnSpc>
                <a:spcPct val="100000"/>
              </a:lnSpc>
              <a:spcBef>
                <a:spcPts val="600"/>
              </a:spcBef>
              <a:spcAft>
                <a:spcPts val="600"/>
              </a:spcAft>
              <a:buClr>
                <a:srgbClr val="000000"/>
              </a:buClr>
              <a:buSzPts val="1600"/>
              <a:buFont typeface="Arial"/>
              <a:buNone/>
            </a:pPr>
            <a:r>
              <a:rPr b="0" i="0" lang="en" sz="1600" u="none" cap="none" strike="noStrike">
                <a:solidFill>
                  <a:schemeClr val="dk1"/>
                </a:solidFill>
                <a:latin typeface="Montserrat Light"/>
                <a:ea typeface="Montserrat Light"/>
                <a:cs typeface="Montserrat Light"/>
                <a:sym typeface="Montserrat Light"/>
              </a:rPr>
              <a:t>-Elder Sam Demientieff</a:t>
            </a:r>
            <a:endParaRPr b="0" i="0" sz="800" u="none" cap="none" strike="noStrike">
              <a:solidFill>
                <a:srgbClr val="000000"/>
              </a:solidFill>
              <a:latin typeface="Montserrat Light"/>
              <a:ea typeface="Montserrat Light"/>
              <a:cs typeface="Montserrat Light"/>
              <a:sym typeface="Montserrat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2678900" y="209550"/>
            <a:ext cx="6042900" cy="6954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a:t>Why connect on experience?</a:t>
            </a:r>
            <a:endParaRPr/>
          </a:p>
        </p:txBody>
      </p:sp>
      <p:sp>
        <p:nvSpPr>
          <p:cNvPr id="75" name="Google Shape;75;p16"/>
          <p:cNvSpPr txBox="1"/>
          <p:nvPr>
            <p:ph idx="1" type="body"/>
          </p:nvPr>
        </p:nvSpPr>
        <p:spPr>
          <a:xfrm>
            <a:off x="2602375" y="1178925"/>
            <a:ext cx="6119400" cy="3285300"/>
          </a:xfrm>
          <a:prstGeom prst="rect">
            <a:avLst/>
          </a:prstGeom>
          <a:noFill/>
          <a:ln>
            <a:noFill/>
          </a:ln>
        </p:spPr>
        <p:txBody>
          <a:bodyPr anchorCtr="0" anchor="t" bIns="0" lIns="0" spcFirstLastPara="1" rIns="0" wrap="square" tIns="0">
            <a:noAutofit/>
          </a:bodyPr>
          <a:lstStyle/>
          <a:p>
            <a:pPr indent="-355600" lvl="0" marL="457200" rtl="0" algn="l">
              <a:lnSpc>
                <a:spcPct val="100000"/>
              </a:lnSpc>
              <a:spcBef>
                <a:spcPts val="0"/>
              </a:spcBef>
              <a:spcAft>
                <a:spcPts val="0"/>
              </a:spcAft>
              <a:buSzPts val="2000"/>
              <a:buChar char="●"/>
            </a:pPr>
            <a:r>
              <a:rPr lang="en" sz="2000"/>
              <a:t>Humans have a hard time perceiving and responding to slow moving, uncertain, and </a:t>
            </a:r>
            <a:r>
              <a:rPr lang="en" sz="2000">
                <a:solidFill>
                  <a:srgbClr val="000000"/>
                </a:solidFill>
              </a:rPr>
              <a:t>abstract</a:t>
            </a:r>
            <a:r>
              <a:rPr lang="en" sz="2000"/>
              <a:t> threats.</a:t>
            </a:r>
            <a:endParaRPr sz="2000"/>
          </a:p>
          <a:p>
            <a:pPr indent="-355600" lvl="0" marL="457200" rtl="0" algn="l">
              <a:lnSpc>
                <a:spcPct val="100000"/>
              </a:lnSpc>
              <a:spcBef>
                <a:spcPts val="600"/>
              </a:spcBef>
              <a:spcAft>
                <a:spcPts val="0"/>
              </a:spcAft>
              <a:buSzPts val="2000"/>
              <a:buChar char="●"/>
            </a:pPr>
            <a:r>
              <a:rPr lang="en" sz="2000"/>
              <a:t>Many people, perceive that climate change is distant and affects plants, animals, people in the future or in far off places. </a:t>
            </a:r>
            <a:endParaRPr sz="2000"/>
          </a:p>
          <a:p>
            <a:pPr indent="-355600" lvl="0" marL="457200" rtl="0" algn="l">
              <a:lnSpc>
                <a:spcPct val="100000"/>
              </a:lnSpc>
              <a:spcBef>
                <a:spcPts val="600"/>
              </a:spcBef>
              <a:spcAft>
                <a:spcPts val="0"/>
              </a:spcAft>
              <a:buSzPts val="2000"/>
              <a:buChar char="●"/>
            </a:pPr>
            <a:r>
              <a:rPr lang="en" sz="2000"/>
              <a:t>Connecting your experiences brings climate change to the </a:t>
            </a:r>
            <a:r>
              <a:rPr lang="en" sz="2000" u="sng"/>
              <a:t>here</a:t>
            </a:r>
            <a:r>
              <a:rPr lang="en" sz="2000"/>
              <a:t> and </a:t>
            </a:r>
            <a:r>
              <a:rPr lang="en" sz="2000" u="sng"/>
              <a:t>now</a:t>
            </a:r>
            <a:r>
              <a:rPr lang="en" sz="2000"/>
              <a:t> and </a:t>
            </a:r>
            <a:r>
              <a:rPr lang="en" sz="2000" u="sng"/>
              <a:t>us</a:t>
            </a:r>
            <a:r>
              <a:rPr lang="en" sz="2000"/>
              <a:t>.</a:t>
            </a:r>
            <a:endParaRPr sz="2000"/>
          </a:p>
          <a:p>
            <a:pPr indent="-355600" lvl="0" marL="457200" rtl="0" algn="l">
              <a:lnSpc>
                <a:spcPct val="100000"/>
              </a:lnSpc>
              <a:spcBef>
                <a:spcPts val="600"/>
              </a:spcBef>
              <a:spcAft>
                <a:spcPts val="600"/>
              </a:spcAft>
              <a:buSzPts val="2000"/>
              <a:buChar char="●"/>
            </a:pPr>
            <a:r>
              <a:rPr lang="en" sz="2000"/>
              <a:t>Family, community, and organizations that matter to us, can help to connect us to the time and geographic scale of climate change.</a:t>
            </a:r>
            <a:endParaRPr sz="2000"/>
          </a:p>
        </p:txBody>
      </p:sp>
      <p:pic>
        <p:nvPicPr>
          <p:cNvPr id="76" name="Google Shape;76;p16"/>
          <p:cNvPicPr preferRelativeResize="0"/>
          <p:nvPr/>
        </p:nvPicPr>
        <p:blipFill rotWithShape="1">
          <a:blip r:embed="rId3">
            <a:alphaModFix/>
          </a:blip>
          <a:srcRect b="0" l="22160" r="20461" t="0"/>
          <a:stretch/>
        </p:blipFill>
        <p:spPr>
          <a:xfrm>
            <a:off x="165075" y="209550"/>
            <a:ext cx="2162125" cy="2830150"/>
          </a:xfrm>
          <a:prstGeom prst="rect">
            <a:avLst/>
          </a:prstGeom>
          <a:noFill/>
          <a:ln>
            <a:noFill/>
          </a:ln>
        </p:spPr>
      </p:pic>
      <p:sp>
        <p:nvSpPr>
          <p:cNvPr id="77" name="Google Shape;77;p16"/>
          <p:cNvSpPr txBox="1"/>
          <p:nvPr/>
        </p:nvSpPr>
        <p:spPr>
          <a:xfrm>
            <a:off x="165075" y="3111975"/>
            <a:ext cx="2162100" cy="174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ato"/>
                <a:ea typeface="Lato"/>
                <a:cs typeface="Lato"/>
                <a:sym typeface="Lato"/>
              </a:rPr>
              <a:t>In general, humans are much better at perceiving and responding to threats like this!</a:t>
            </a:r>
            <a:endParaRPr b="1" i="0" sz="1800" u="none" cap="none" strike="noStrike">
              <a:solidFill>
                <a:schemeClr val="dk1"/>
              </a:solidFill>
              <a:latin typeface="Lato"/>
              <a:ea typeface="Lato"/>
              <a:cs typeface="Lato"/>
              <a:sym typeface="Lato"/>
            </a:endParaRPr>
          </a:p>
        </p:txBody>
      </p:sp>
      <p:sp>
        <p:nvSpPr>
          <p:cNvPr id="78" name="Google Shape;78;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766375" y="220650"/>
            <a:ext cx="74334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a:t>The power of stories</a:t>
            </a:r>
            <a:endParaRPr/>
          </a:p>
        </p:txBody>
      </p:sp>
      <p:sp>
        <p:nvSpPr>
          <p:cNvPr id="84" name="Google Shape;84;p17"/>
          <p:cNvSpPr txBox="1"/>
          <p:nvPr>
            <p:ph idx="12" type="sldNum"/>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85" name="Google Shape;85;p17"/>
          <p:cNvSpPr txBox="1"/>
          <p:nvPr>
            <p:ph idx="1" type="body"/>
          </p:nvPr>
        </p:nvSpPr>
        <p:spPr>
          <a:xfrm>
            <a:off x="766375" y="826400"/>
            <a:ext cx="7929900" cy="3033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400"/>
              <a:buNone/>
            </a:pPr>
            <a:r>
              <a:rPr b="1" lang="en" sz="1800">
                <a:solidFill>
                  <a:srgbClr val="000000"/>
                </a:solidFill>
                <a:latin typeface="Montserrat"/>
                <a:ea typeface="Montserrat"/>
                <a:cs typeface="Montserrat"/>
                <a:sym typeface="Montserrat"/>
              </a:rPr>
              <a:t>From climate education research:</a:t>
            </a:r>
            <a:endParaRPr sz="2200"/>
          </a:p>
          <a:p>
            <a:pPr indent="-368300" lvl="0" marL="457200" rtl="0" algn="l">
              <a:lnSpc>
                <a:spcPct val="100000"/>
              </a:lnSpc>
              <a:spcBef>
                <a:spcPts val="0"/>
              </a:spcBef>
              <a:spcAft>
                <a:spcPts val="0"/>
              </a:spcAft>
              <a:buSzPts val="2200"/>
              <a:buChar char="●"/>
            </a:pPr>
            <a:r>
              <a:rPr lang="en" sz="2200"/>
              <a:t>Stories paired with climate science enhance learning!</a:t>
            </a:r>
            <a:endParaRPr sz="2200"/>
          </a:p>
          <a:p>
            <a:pPr indent="-368300" lvl="0" marL="457200" rtl="0" algn="l">
              <a:lnSpc>
                <a:spcPct val="100000"/>
              </a:lnSpc>
              <a:spcBef>
                <a:spcPts val="0"/>
              </a:spcBef>
              <a:spcAft>
                <a:spcPts val="0"/>
              </a:spcAft>
              <a:buSzPts val="2200"/>
              <a:buChar char="●"/>
            </a:pPr>
            <a:r>
              <a:rPr lang="en" sz="2200"/>
              <a:t>Stories allow us to picture ourselves in the climate system as agents of change. </a:t>
            </a:r>
            <a:endParaRPr sz="2200"/>
          </a:p>
        </p:txBody>
      </p:sp>
      <p:pic>
        <p:nvPicPr>
          <p:cNvPr id="86" name="Google Shape;86;p17"/>
          <p:cNvPicPr preferRelativeResize="0"/>
          <p:nvPr/>
        </p:nvPicPr>
        <p:blipFill rotWithShape="1">
          <a:blip r:embed="rId3">
            <a:alphaModFix/>
          </a:blip>
          <a:srcRect b="12554" l="31844" r="987" t="16438"/>
          <a:stretch/>
        </p:blipFill>
        <p:spPr>
          <a:xfrm>
            <a:off x="261400" y="2177629"/>
            <a:ext cx="4042377" cy="2513045"/>
          </a:xfrm>
          <a:prstGeom prst="rect">
            <a:avLst/>
          </a:prstGeom>
          <a:noFill/>
          <a:ln>
            <a:noFill/>
          </a:ln>
        </p:spPr>
      </p:pic>
      <p:sp>
        <p:nvSpPr>
          <p:cNvPr id="87" name="Google Shape;87;p17"/>
          <p:cNvSpPr txBox="1"/>
          <p:nvPr/>
        </p:nvSpPr>
        <p:spPr>
          <a:xfrm>
            <a:off x="261400" y="4670076"/>
            <a:ext cx="66876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Montserrat Light"/>
                <a:ea typeface="Montserrat Light"/>
                <a:cs typeface="Montserrat Light"/>
                <a:sym typeface="Montserrat Light"/>
              </a:rPr>
              <a:t>Spellman et al. 2021 </a:t>
            </a:r>
            <a:r>
              <a:rPr b="0" i="1" lang="en" sz="1100" u="none" cap="none" strike="noStrike">
                <a:solidFill>
                  <a:srgbClr val="000000"/>
                </a:solidFill>
                <a:latin typeface="Montserrat Light"/>
                <a:ea typeface="Montserrat Light"/>
                <a:cs typeface="Montserrat Light"/>
                <a:sym typeface="Montserrat Light"/>
              </a:rPr>
              <a:t>Frontiers in Ecology and Evolution</a:t>
            </a:r>
            <a:endParaRPr b="0" i="1" sz="1100" u="none" cap="none" strike="noStrike">
              <a:solidFill>
                <a:srgbClr val="000000"/>
              </a:solidFill>
              <a:latin typeface="Montserrat Light"/>
              <a:ea typeface="Montserrat Light"/>
              <a:cs typeface="Montserrat Light"/>
              <a:sym typeface="Montserrat Light"/>
            </a:endParaRPr>
          </a:p>
        </p:txBody>
      </p:sp>
      <p:pic>
        <p:nvPicPr>
          <p:cNvPr id="88" name="Google Shape;88;p17"/>
          <p:cNvPicPr preferRelativeResize="0"/>
          <p:nvPr/>
        </p:nvPicPr>
        <p:blipFill rotWithShape="1">
          <a:blip r:embed="rId4">
            <a:alphaModFix/>
          </a:blip>
          <a:srcRect b="0" l="0" r="0" t="0"/>
          <a:stretch/>
        </p:blipFill>
        <p:spPr>
          <a:xfrm>
            <a:off x="4821936" y="2177627"/>
            <a:ext cx="4042375" cy="24924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855300" y="560736"/>
            <a:ext cx="74334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a:t>Dialogue Agreement</a:t>
            </a:r>
            <a:endParaRPr/>
          </a:p>
        </p:txBody>
      </p:sp>
      <p:sp>
        <p:nvSpPr>
          <p:cNvPr id="94" name="Google Shape;94;p18"/>
          <p:cNvSpPr txBox="1"/>
          <p:nvPr>
            <p:ph idx="1" type="body"/>
          </p:nvPr>
        </p:nvSpPr>
        <p:spPr>
          <a:xfrm>
            <a:off x="855300" y="1154883"/>
            <a:ext cx="7433400" cy="3033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400"/>
              <a:buNone/>
            </a:pPr>
            <a:r>
              <a:rPr lang="en" sz="2000"/>
              <a:t>In Every Chair, A Leader</a:t>
            </a:r>
            <a:endParaRPr sz="2000"/>
          </a:p>
          <a:p>
            <a:pPr indent="0" lvl="0" marL="0" rtl="0" algn="l">
              <a:lnSpc>
                <a:spcPct val="100000"/>
              </a:lnSpc>
              <a:spcBef>
                <a:spcPts val="0"/>
              </a:spcBef>
              <a:spcAft>
                <a:spcPts val="0"/>
              </a:spcAft>
              <a:buSzPts val="2400"/>
              <a:buNone/>
            </a:pPr>
            <a:r>
              <a:rPr lang="en" sz="2000"/>
              <a:t>Speak with Care for Others</a:t>
            </a:r>
            <a:endParaRPr sz="2000"/>
          </a:p>
          <a:p>
            <a:pPr indent="0" lvl="0" marL="0" rtl="0" algn="l">
              <a:lnSpc>
                <a:spcPct val="100000"/>
              </a:lnSpc>
              <a:spcBef>
                <a:spcPts val="0"/>
              </a:spcBef>
              <a:spcAft>
                <a:spcPts val="0"/>
              </a:spcAft>
              <a:buSzPts val="2400"/>
              <a:buNone/>
            </a:pPr>
            <a:r>
              <a:rPr lang="en" sz="2000"/>
              <a:t>Value Each Others Time </a:t>
            </a:r>
            <a:endParaRPr sz="2000"/>
          </a:p>
          <a:p>
            <a:pPr indent="0" lvl="0" marL="0" rtl="0" algn="l">
              <a:lnSpc>
                <a:spcPct val="100000"/>
              </a:lnSpc>
              <a:spcBef>
                <a:spcPts val="0"/>
              </a:spcBef>
              <a:spcAft>
                <a:spcPts val="0"/>
              </a:spcAft>
              <a:buSzPts val="2400"/>
              <a:buNone/>
            </a:pPr>
            <a:r>
              <a:rPr lang="en" sz="2000"/>
              <a:t>Listen Deeply</a:t>
            </a:r>
            <a:endParaRPr sz="2000"/>
          </a:p>
          <a:p>
            <a:pPr indent="0" lvl="0" marL="0" rtl="0" algn="l">
              <a:lnSpc>
                <a:spcPct val="100000"/>
              </a:lnSpc>
              <a:spcBef>
                <a:spcPts val="0"/>
              </a:spcBef>
              <a:spcAft>
                <a:spcPts val="0"/>
              </a:spcAft>
              <a:buSzPts val="2400"/>
              <a:buNone/>
            </a:pPr>
            <a:r>
              <a:rPr lang="en" sz="2000"/>
              <a:t>Safe Space for Meaningful Conversation</a:t>
            </a:r>
            <a:endParaRPr sz="2000"/>
          </a:p>
          <a:p>
            <a:pPr indent="0" lvl="0" marL="0" rtl="0" algn="l">
              <a:lnSpc>
                <a:spcPct val="100000"/>
              </a:lnSpc>
              <a:spcBef>
                <a:spcPts val="0"/>
              </a:spcBef>
              <a:spcAft>
                <a:spcPts val="0"/>
              </a:spcAft>
              <a:buSzPts val="2400"/>
              <a:buNone/>
            </a:pPr>
            <a:r>
              <a:rPr lang="en" sz="2000"/>
              <a:t>Our Value of humor</a:t>
            </a:r>
            <a:endParaRPr sz="2000"/>
          </a:p>
          <a:p>
            <a:pPr indent="0" lvl="0" marL="0" rtl="0" algn="l">
              <a:lnSpc>
                <a:spcPct val="100000"/>
              </a:lnSpc>
              <a:spcBef>
                <a:spcPts val="0"/>
              </a:spcBef>
              <a:spcAft>
                <a:spcPts val="0"/>
              </a:spcAft>
              <a:buSzPts val="2400"/>
              <a:buNone/>
            </a:pPr>
            <a:r>
              <a:rPr lang="en" sz="2000"/>
              <a:t>Be Present and Engaged</a:t>
            </a:r>
            <a:endParaRPr sz="2000"/>
          </a:p>
          <a:p>
            <a:pPr indent="0" lvl="0" marL="0" rtl="0" algn="l">
              <a:lnSpc>
                <a:spcPct val="100000"/>
              </a:lnSpc>
              <a:spcBef>
                <a:spcPts val="0"/>
              </a:spcBef>
              <a:spcAft>
                <a:spcPts val="0"/>
              </a:spcAft>
              <a:buSzPts val="2400"/>
              <a:buNone/>
            </a:pPr>
            <a:r>
              <a:rPr lang="en" sz="2000"/>
              <a:t>Take Care of Yourself, Take Care of Others</a:t>
            </a:r>
            <a:endParaRPr sz="2000"/>
          </a:p>
          <a:p>
            <a:pPr indent="0" lvl="0" marL="0" rtl="0" algn="l">
              <a:lnSpc>
                <a:spcPct val="100000"/>
              </a:lnSpc>
              <a:spcBef>
                <a:spcPts val="0"/>
              </a:spcBef>
              <a:spcAft>
                <a:spcPts val="0"/>
              </a:spcAft>
              <a:buSzPts val="2400"/>
              <a:buNone/>
            </a:pPr>
            <a:r>
              <a:rPr lang="en" sz="2000"/>
              <a:t>Allow Disagreements to Happen</a:t>
            </a:r>
            <a:endParaRPr sz="2000"/>
          </a:p>
          <a:p>
            <a:pPr indent="0" lvl="0" marL="0" rtl="0" algn="l">
              <a:lnSpc>
                <a:spcPct val="100000"/>
              </a:lnSpc>
              <a:spcBef>
                <a:spcPts val="0"/>
              </a:spcBef>
              <a:spcAft>
                <a:spcPts val="0"/>
              </a:spcAft>
              <a:buSzPts val="2400"/>
              <a:buNone/>
            </a:pPr>
            <a:r>
              <a:rPr lang="en" sz="2000"/>
              <a:t>Others?</a:t>
            </a:r>
            <a:endParaRPr/>
          </a:p>
          <a:p>
            <a:pPr indent="0" lvl="0" marL="0" rtl="0" algn="l">
              <a:lnSpc>
                <a:spcPct val="100000"/>
              </a:lnSpc>
              <a:spcBef>
                <a:spcPts val="0"/>
              </a:spcBef>
              <a:spcAft>
                <a:spcPts val="0"/>
              </a:spcAft>
              <a:buSzPts val="2400"/>
              <a:buNone/>
            </a:pPr>
            <a:r>
              <a:t/>
            </a:r>
            <a:endParaRPr/>
          </a:p>
          <a:p>
            <a:pPr indent="0" lvl="0" marL="0" rtl="0" algn="l">
              <a:lnSpc>
                <a:spcPct val="100000"/>
              </a:lnSpc>
              <a:spcBef>
                <a:spcPts val="0"/>
              </a:spcBef>
              <a:spcAft>
                <a:spcPts val="0"/>
              </a:spcAft>
              <a:buSzPts val="2400"/>
              <a:buNone/>
            </a:pPr>
            <a:r>
              <a:rPr lang="en" sz="1200"/>
              <a:t>Credit: First Alaskans Institute  </a:t>
            </a:r>
            <a:endParaRPr sz="1200"/>
          </a:p>
          <a:p>
            <a:pPr indent="0" lvl="0" marL="0" rtl="0" algn="l">
              <a:lnSpc>
                <a:spcPct val="100000"/>
              </a:lnSpc>
              <a:spcBef>
                <a:spcPts val="0"/>
              </a:spcBef>
              <a:spcAft>
                <a:spcPts val="0"/>
              </a:spcAft>
              <a:buSzPts val="24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p:nvPr/>
        </p:nvSpPr>
        <p:spPr>
          <a:xfrm>
            <a:off x="126250" y="0"/>
            <a:ext cx="3661200" cy="501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9"/>
          <p:cNvSpPr txBox="1"/>
          <p:nvPr>
            <p:ph type="title"/>
          </p:nvPr>
        </p:nvSpPr>
        <p:spPr>
          <a:xfrm>
            <a:off x="4085100" y="-116391"/>
            <a:ext cx="4747200" cy="34866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sz="4700"/>
              <a:t>Mapping a Personal Story of Climate Change</a:t>
            </a:r>
            <a:endParaRPr sz="4700"/>
          </a:p>
        </p:txBody>
      </p:sp>
      <p:pic>
        <p:nvPicPr>
          <p:cNvPr id="101" name="Google Shape;101;p19"/>
          <p:cNvPicPr preferRelativeResize="0"/>
          <p:nvPr/>
        </p:nvPicPr>
        <p:blipFill rotWithShape="1">
          <a:blip r:embed="rId3">
            <a:alphaModFix/>
          </a:blip>
          <a:srcRect b="0" l="0" r="0" t="0"/>
          <a:stretch/>
        </p:blipFill>
        <p:spPr>
          <a:xfrm>
            <a:off x="441000" y="226048"/>
            <a:ext cx="3097000" cy="2345700"/>
          </a:xfrm>
          <a:prstGeom prst="rect">
            <a:avLst/>
          </a:prstGeom>
          <a:noFill/>
          <a:ln>
            <a:noFill/>
          </a:ln>
        </p:spPr>
      </p:pic>
      <p:sp>
        <p:nvSpPr>
          <p:cNvPr id="102" name="Google Shape;102;p19"/>
          <p:cNvSpPr txBox="1"/>
          <p:nvPr/>
        </p:nvSpPr>
        <p:spPr>
          <a:xfrm>
            <a:off x="-211300" y="2285725"/>
            <a:ext cx="4401600" cy="3000000"/>
          </a:xfrm>
          <a:prstGeom prst="rect">
            <a:avLst/>
          </a:prstGeom>
          <a:noFill/>
          <a:ln>
            <a:noFill/>
          </a:ln>
        </p:spPr>
        <p:txBody>
          <a:bodyPr anchorCtr="0" anchor="ctr" bIns="91425" lIns="91425" spcFirstLastPara="1" rIns="91425" wrap="square" tIns="91425">
            <a:noAutofit/>
          </a:bodyPr>
          <a:lstStyle/>
          <a:p>
            <a:pPr indent="0" lvl="0" marL="622300" marR="622300" rtl="0" algn="ctr">
              <a:lnSpc>
                <a:spcPct val="100000"/>
              </a:lnSpc>
              <a:spcBef>
                <a:spcPts val="0"/>
              </a:spcBef>
              <a:spcAft>
                <a:spcPts val="0"/>
              </a:spcAft>
              <a:buClr>
                <a:srgbClr val="000000"/>
              </a:buClr>
              <a:buSzPts val="2900"/>
              <a:buFont typeface="Arial"/>
              <a:buNone/>
            </a:pPr>
            <a:r>
              <a:t/>
            </a:r>
            <a:endParaRPr b="0" i="0" sz="2900" u="none" cap="none" strike="noStrike">
              <a:solidFill>
                <a:srgbClr val="FFFFFF"/>
              </a:solidFill>
              <a:latin typeface="Oswald"/>
              <a:ea typeface="Oswald"/>
              <a:cs typeface="Oswald"/>
              <a:sym typeface="Oswald"/>
            </a:endParaRPr>
          </a:p>
          <a:p>
            <a:pPr indent="0" lvl="0" marL="622300" marR="622300" rtl="0" algn="l">
              <a:lnSpc>
                <a:spcPct val="100000"/>
              </a:lnSpc>
              <a:spcBef>
                <a:spcPts val="0"/>
              </a:spcBef>
              <a:spcAft>
                <a:spcPts val="0"/>
              </a:spcAft>
              <a:buClr>
                <a:srgbClr val="000000"/>
              </a:buClr>
              <a:buSzPts val="2300"/>
              <a:buFont typeface="Arial"/>
              <a:buNone/>
            </a:pPr>
            <a:r>
              <a:rPr b="0" i="0" lang="en" sz="2300" u="none" cap="none" strike="noStrike">
                <a:solidFill>
                  <a:srgbClr val="000000"/>
                </a:solidFill>
                <a:latin typeface="Proxima Nova"/>
                <a:ea typeface="Proxima Nova"/>
                <a:cs typeface="Proxima Nova"/>
                <a:sym typeface="Proxima Nova"/>
              </a:rPr>
              <a:t>ABOUT THIS ACTIVITY</a:t>
            </a:r>
            <a:endParaRPr b="0" i="0" sz="2300" u="none" cap="none" strike="noStrike">
              <a:solidFill>
                <a:srgbClr val="000000"/>
              </a:solidFill>
              <a:latin typeface="Proxima Nova"/>
              <a:ea typeface="Proxima Nova"/>
              <a:cs typeface="Proxima Nova"/>
              <a:sym typeface="Proxima Nova"/>
            </a:endParaRPr>
          </a:p>
          <a:p>
            <a:pPr indent="0" lvl="0" marL="622300" marR="622300" rtl="0" algn="l">
              <a:lnSpc>
                <a:spcPct val="100000"/>
              </a:lnSpc>
              <a:spcBef>
                <a:spcPts val="0"/>
              </a:spcBef>
              <a:spcAft>
                <a:spcPts val="0"/>
              </a:spcAft>
              <a:buClr>
                <a:srgbClr val="000000"/>
              </a:buClr>
              <a:buSzPts val="1300"/>
              <a:buFont typeface="Arial"/>
              <a:buNone/>
            </a:pPr>
            <a:r>
              <a:rPr b="1" i="0" lang="en" sz="1300" u="none" cap="none" strike="noStrike">
                <a:solidFill>
                  <a:srgbClr val="212121"/>
                </a:solidFill>
                <a:latin typeface="Proxima Nova"/>
                <a:ea typeface="Proxima Nova"/>
                <a:cs typeface="Proxima Nova"/>
                <a:sym typeface="Proxima Nova"/>
              </a:rPr>
              <a:t>ENDURING UNDERSTANDING:</a:t>
            </a:r>
            <a:r>
              <a:rPr b="0" i="0" lang="en" sz="1300" u="none" cap="none" strike="noStrike">
                <a:solidFill>
                  <a:srgbClr val="212121"/>
                </a:solidFill>
                <a:latin typeface="Proxima Nova"/>
                <a:ea typeface="Proxima Nova"/>
                <a:cs typeface="Proxima Nova"/>
                <a:sym typeface="Proxima Nova"/>
              </a:rPr>
              <a:t> </a:t>
            </a:r>
            <a:endParaRPr b="0" i="0" sz="1300" u="none" cap="none" strike="noStrike">
              <a:solidFill>
                <a:srgbClr val="212121"/>
              </a:solidFill>
              <a:latin typeface="Proxima Nova"/>
              <a:ea typeface="Proxima Nova"/>
              <a:cs typeface="Proxima Nova"/>
              <a:sym typeface="Proxima Nova"/>
            </a:endParaRPr>
          </a:p>
          <a:p>
            <a:pPr indent="-311150" lvl="0" marL="1079500" marR="622300" rtl="0" algn="l">
              <a:lnSpc>
                <a:spcPct val="100000"/>
              </a:lnSpc>
              <a:spcBef>
                <a:spcPts val="0"/>
              </a:spcBef>
              <a:spcAft>
                <a:spcPts val="0"/>
              </a:spcAft>
              <a:buClr>
                <a:srgbClr val="212121"/>
              </a:buClr>
              <a:buSzPts val="1300"/>
              <a:buFont typeface="Proxima Nova"/>
              <a:buChar char="■"/>
            </a:pPr>
            <a:r>
              <a:rPr b="0" i="0" lang="en" sz="1300" u="none" cap="none" strike="noStrike">
                <a:solidFill>
                  <a:srgbClr val="212121"/>
                </a:solidFill>
                <a:latin typeface="Proxima Nova"/>
                <a:ea typeface="Proxima Nova"/>
                <a:cs typeface="Proxima Nova"/>
                <a:sym typeface="Proxima Nova"/>
              </a:rPr>
              <a:t>Climate change influences our lives.</a:t>
            </a:r>
            <a:endParaRPr b="0" i="0" sz="1300" u="none" cap="none" strike="noStrike">
              <a:solidFill>
                <a:srgbClr val="212121"/>
              </a:solidFill>
              <a:latin typeface="Proxima Nova"/>
              <a:ea typeface="Proxima Nova"/>
              <a:cs typeface="Proxima Nova"/>
              <a:sym typeface="Proxima Nova"/>
            </a:endParaRPr>
          </a:p>
          <a:p>
            <a:pPr indent="0" lvl="0" marL="622300" marR="622300" rtl="0" algn="l">
              <a:lnSpc>
                <a:spcPct val="100000"/>
              </a:lnSpc>
              <a:spcBef>
                <a:spcPts val="0"/>
              </a:spcBef>
              <a:spcAft>
                <a:spcPts val="0"/>
              </a:spcAft>
              <a:buClr>
                <a:srgbClr val="000000"/>
              </a:buClr>
              <a:buSzPts val="1300"/>
              <a:buFont typeface="Arial"/>
              <a:buNone/>
            </a:pPr>
            <a:r>
              <a:rPr b="1" i="0" lang="en" sz="1300" u="none" cap="none" strike="noStrike">
                <a:solidFill>
                  <a:srgbClr val="212121"/>
                </a:solidFill>
                <a:latin typeface="Proxima Nova"/>
                <a:ea typeface="Proxima Nova"/>
                <a:cs typeface="Proxima Nova"/>
                <a:sym typeface="Proxima Nova"/>
              </a:rPr>
              <a:t>ESSENTIAL QUESTION:</a:t>
            </a:r>
            <a:endParaRPr b="1" i="0" sz="1300" u="none" cap="none" strike="noStrike">
              <a:solidFill>
                <a:srgbClr val="212121"/>
              </a:solidFill>
              <a:latin typeface="Proxima Nova"/>
              <a:ea typeface="Proxima Nova"/>
              <a:cs typeface="Proxima Nova"/>
              <a:sym typeface="Proxima Nova"/>
            </a:endParaRPr>
          </a:p>
          <a:p>
            <a:pPr indent="-311150" lvl="0" marL="1079500" marR="622300" rtl="0" algn="l">
              <a:lnSpc>
                <a:spcPct val="100000"/>
              </a:lnSpc>
              <a:spcBef>
                <a:spcPts val="0"/>
              </a:spcBef>
              <a:spcAft>
                <a:spcPts val="0"/>
              </a:spcAft>
              <a:buClr>
                <a:srgbClr val="212121"/>
              </a:buClr>
              <a:buSzPts val="1300"/>
              <a:buFont typeface="Proxima Nova"/>
              <a:buChar char="■"/>
            </a:pPr>
            <a:r>
              <a:rPr b="0" i="0" lang="en" sz="1300" u="none" cap="none" strike="noStrike">
                <a:solidFill>
                  <a:srgbClr val="212121"/>
                </a:solidFill>
                <a:latin typeface="Proxima Nova"/>
                <a:ea typeface="Proxima Nova"/>
                <a:cs typeface="Proxima Nova"/>
                <a:sym typeface="Proxima Nova"/>
              </a:rPr>
              <a:t>What changes have I observed in my own life that may be related to climate change?</a:t>
            </a:r>
            <a:endParaRPr b="0" i="0" sz="1300" u="none" cap="none" strike="noStrike">
              <a:solidFill>
                <a:srgbClr val="212121"/>
              </a:solidFill>
              <a:latin typeface="Proxima Nova"/>
              <a:ea typeface="Proxima Nova"/>
              <a:cs typeface="Proxima Nova"/>
              <a:sym typeface="Proxima Nova"/>
            </a:endParaRPr>
          </a:p>
          <a:p>
            <a:pPr indent="0" lvl="0" marL="0" marR="622300" rtl="0" algn="l">
              <a:lnSpc>
                <a:spcPct val="160000"/>
              </a:lnSpc>
              <a:spcBef>
                <a:spcPts val="1500"/>
              </a:spcBef>
              <a:spcAft>
                <a:spcPts val="0"/>
              </a:spcAft>
              <a:buClr>
                <a:srgbClr val="000000"/>
              </a:buClr>
              <a:buSzPts val="1300"/>
              <a:buFont typeface="Arial"/>
              <a:buNone/>
            </a:pPr>
            <a:r>
              <a:t/>
            </a:r>
            <a:endParaRPr b="0" i="0" sz="1300" u="none" cap="none" strike="noStrike">
              <a:solidFill>
                <a:srgbClr val="212121"/>
              </a:solidFill>
              <a:latin typeface="Proxima Nova"/>
              <a:ea typeface="Proxima Nova"/>
              <a:cs typeface="Proxima Nova"/>
              <a:sym typeface="Proxima Nova"/>
            </a:endParaRPr>
          </a:p>
        </p:txBody>
      </p:sp>
      <p:sp>
        <p:nvSpPr>
          <p:cNvPr id="103" name="Google Shape;103;p19"/>
          <p:cNvSpPr txBox="1"/>
          <p:nvPr/>
        </p:nvSpPr>
        <p:spPr>
          <a:xfrm>
            <a:off x="4085100" y="4088221"/>
            <a:ext cx="4953600" cy="248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800" u="none" cap="none" strike="noStrike">
                <a:solidFill>
                  <a:srgbClr val="212121"/>
                </a:solidFill>
                <a:latin typeface="Oswald"/>
                <a:ea typeface="Oswald"/>
                <a:cs typeface="Oswald"/>
                <a:sym typeface="Oswald"/>
              </a:rPr>
              <a:t>Lesson written by Dr. Katie Spellman, University of Alaska Fairbanks International Arctic Research Center, with input from Dr. Elena Sparrow and adapted from an activity first developed by Naomi O’Neal. Funding for development of the Arctic and Earth SIGNs project materials is provided by </a:t>
            </a:r>
            <a:r>
              <a:rPr b="1" i="0" lang="en" sz="800" u="none" cap="none" strike="noStrike">
                <a:solidFill>
                  <a:srgbClr val="212121"/>
                </a:solidFill>
                <a:latin typeface="Oswald"/>
                <a:ea typeface="Oswald"/>
                <a:cs typeface="Oswald"/>
                <a:sym typeface="Oswald"/>
              </a:rPr>
              <a:t>NASA under Award No. NNX16AC52A</a:t>
            </a:r>
            <a:r>
              <a:rPr b="0" i="0" lang="en" sz="800" u="none" cap="none" strike="noStrike">
                <a:solidFill>
                  <a:srgbClr val="212121"/>
                </a:solidFill>
                <a:latin typeface="Oswald"/>
                <a:ea typeface="Oswald"/>
                <a:cs typeface="Oswald"/>
                <a:sym typeface="Oswald"/>
              </a:rPr>
              <a:t>. Any opinions, findings and conclusions or recommendations expressed in this material are those of the authors and do not necessarily reflect the views of the National Aeronautics and Space Administration. It is one of the projects within the</a:t>
            </a:r>
            <a:r>
              <a:rPr b="0" i="0" lang="en" sz="800" u="sng" cap="none" strike="noStrike">
                <a:solidFill>
                  <a:srgbClr val="212121"/>
                </a:solidFill>
                <a:latin typeface="Oswald"/>
                <a:ea typeface="Oswald"/>
                <a:cs typeface="Oswald"/>
                <a:sym typeface="Oswald"/>
                <a:hlinkClick r:id="rId4">
                  <a:extLst>
                    <a:ext uri="{A12FA001-AC4F-418D-AE19-62706E023703}">
                      <ahyp:hlinkClr val="tx"/>
                    </a:ext>
                  </a:extLst>
                </a:hlinkClick>
              </a:rPr>
              <a:t> NASA Science Mission Directorate's Science Activation</a:t>
            </a:r>
            <a:r>
              <a:rPr b="0" i="0" lang="en" sz="800" u="none" cap="none" strike="noStrike">
                <a:solidFill>
                  <a:srgbClr val="212121"/>
                </a:solidFill>
                <a:latin typeface="Oswald"/>
                <a:ea typeface="Oswald"/>
                <a:cs typeface="Oswald"/>
                <a:sym typeface="Oswald"/>
              </a:rPr>
              <a:t> to further enable NASA science experts and content into the learning environment more effectively and efficiently with learners of all ages.</a:t>
            </a:r>
            <a:endParaRPr b="0" i="0" sz="6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2731200" y="391300"/>
            <a:ext cx="4747200" cy="5727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sz="3400"/>
              <a:t>Maps tell stories</a:t>
            </a:r>
            <a:endParaRPr sz="3400"/>
          </a:p>
        </p:txBody>
      </p:sp>
      <p:pic>
        <p:nvPicPr>
          <p:cNvPr id="109" name="Google Shape;109;p20"/>
          <p:cNvPicPr preferRelativeResize="0"/>
          <p:nvPr/>
        </p:nvPicPr>
        <p:blipFill rotWithShape="1">
          <a:blip r:embed="rId3">
            <a:alphaModFix/>
          </a:blip>
          <a:srcRect b="0" l="0" r="0" t="16199"/>
          <a:stretch/>
        </p:blipFill>
        <p:spPr>
          <a:xfrm>
            <a:off x="1566037" y="1120464"/>
            <a:ext cx="6488554" cy="3631737"/>
          </a:xfrm>
          <a:prstGeom prst="rect">
            <a:avLst/>
          </a:prstGeom>
          <a:noFill/>
          <a:ln>
            <a:noFill/>
          </a:ln>
        </p:spPr>
      </p:pic>
      <p:sp>
        <p:nvSpPr>
          <p:cNvPr id="110" name="Google Shape;110;p20"/>
          <p:cNvSpPr txBox="1"/>
          <p:nvPr/>
        </p:nvSpPr>
        <p:spPr>
          <a:xfrm>
            <a:off x="1566037" y="1120464"/>
            <a:ext cx="2444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200" u="none" cap="none" strike="noStrike">
                <a:solidFill>
                  <a:srgbClr val="E1C909"/>
                </a:solidFill>
                <a:latin typeface="Arial"/>
                <a:ea typeface="Arial"/>
                <a:cs typeface="Arial"/>
                <a:sym typeface="Arial"/>
              </a:rPr>
              <a:t>Source: NASA Earth Observatory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2731200" y="391300"/>
            <a:ext cx="4747200" cy="5727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sz="3400"/>
              <a:t>Maps tell stories</a:t>
            </a:r>
            <a:endParaRPr sz="3400"/>
          </a:p>
        </p:txBody>
      </p:sp>
      <p:pic>
        <p:nvPicPr>
          <p:cNvPr id="116" name="Google Shape;116;p21"/>
          <p:cNvPicPr preferRelativeResize="0"/>
          <p:nvPr/>
        </p:nvPicPr>
        <p:blipFill rotWithShape="1">
          <a:blip r:embed="rId3">
            <a:alphaModFix/>
          </a:blip>
          <a:srcRect b="0" l="0" r="0" t="0"/>
          <a:stretch/>
        </p:blipFill>
        <p:spPr>
          <a:xfrm>
            <a:off x="0" y="1337043"/>
            <a:ext cx="9144001" cy="344165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2731200" y="391300"/>
            <a:ext cx="4747200" cy="5727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sz="3400"/>
              <a:t>Maps tell stories</a:t>
            </a:r>
            <a:endParaRPr sz="3400"/>
          </a:p>
        </p:txBody>
      </p:sp>
      <p:pic>
        <p:nvPicPr>
          <p:cNvPr id="122" name="Google Shape;122;p22"/>
          <p:cNvPicPr preferRelativeResize="0"/>
          <p:nvPr/>
        </p:nvPicPr>
        <p:blipFill rotWithShape="1">
          <a:blip r:embed="rId3">
            <a:alphaModFix/>
          </a:blip>
          <a:srcRect b="0" l="0" r="0" t="0"/>
          <a:stretch/>
        </p:blipFill>
        <p:spPr>
          <a:xfrm>
            <a:off x="1570750" y="1094900"/>
            <a:ext cx="5730189" cy="38746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403600" y="344119"/>
            <a:ext cx="74334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a:t>Activity Instructions</a:t>
            </a:r>
            <a:endParaRPr/>
          </a:p>
        </p:txBody>
      </p:sp>
      <p:sp>
        <p:nvSpPr>
          <p:cNvPr id="128" name="Google Shape;128;p23"/>
          <p:cNvSpPr txBox="1"/>
          <p:nvPr>
            <p:ph idx="1" type="body"/>
          </p:nvPr>
        </p:nvSpPr>
        <p:spPr>
          <a:xfrm>
            <a:off x="452225" y="925575"/>
            <a:ext cx="4546500" cy="407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400"/>
              <a:buNone/>
            </a:pPr>
            <a:r>
              <a:rPr lang="en">
                <a:solidFill>
                  <a:srgbClr val="000000"/>
                </a:solidFill>
                <a:latin typeface="Calibri"/>
                <a:ea typeface="Calibri"/>
                <a:cs typeface="Calibri"/>
                <a:sym typeface="Calibri"/>
              </a:rPr>
              <a:t>1. On a piece of paper, sketch a map of a place you know really well. It could be anywhere that you have a strong connection with—your town, your house, your favorite beach, the loop you walk your dog on, the park you grew up playing in—someplace you know really well.</a:t>
            </a:r>
            <a:endParaRPr>
              <a:solidFill>
                <a:srgbClr val="000000"/>
              </a:solidFill>
              <a:latin typeface="Calibri"/>
              <a:ea typeface="Calibri"/>
              <a:cs typeface="Calibri"/>
              <a:sym typeface="Calibri"/>
            </a:endParaRPr>
          </a:p>
          <a:p>
            <a:pPr indent="0" lvl="0" marL="0" rtl="0" algn="l">
              <a:lnSpc>
                <a:spcPct val="115000"/>
              </a:lnSpc>
              <a:spcBef>
                <a:spcPts val="1000"/>
              </a:spcBef>
              <a:spcAft>
                <a:spcPts val="0"/>
              </a:spcAft>
              <a:buSzPts val="2400"/>
              <a:buNone/>
            </a:pPr>
            <a:r>
              <a:rPr lang="en">
                <a:solidFill>
                  <a:srgbClr val="000000"/>
                </a:solidFill>
                <a:latin typeface="Calibri"/>
                <a:ea typeface="Calibri"/>
                <a:cs typeface="Calibri"/>
                <a:sym typeface="Calibri"/>
              </a:rPr>
              <a:t>2. On the map, draw social and ecological changes that you have observed in that place that you think could be related to a changing climate. You can represent these in any way you want. </a:t>
            </a:r>
            <a:endParaRPr>
              <a:solidFill>
                <a:srgbClr val="000000"/>
              </a:solidFill>
              <a:latin typeface="Calibri"/>
              <a:ea typeface="Calibri"/>
              <a:cs typeface="Calibri"/>
              <a:sym typeface="Calibri"/>
            </a:endParaRPr>
          </a:p>
          <a:p>
            <a:pPr indent="0" lvl="0" marL="0" rtl="0" algn="l">
              <a:lnSpc>
                <a:spcPct val="115000"/>
              </a:lnSpc>
              <a:spcBef>
                <a:spcPts val="1000"/>
              </a:spcBef>
              <a:spcAft>
                <a:spcPts val="1000"/>
              </a:spcAft>
              <a:buSzPts val="2400"/>
              <a:buNone/>
            </a:pPr>
            <a:r>
              <a:rPr lang="en">
                <a:solidFill>
                  <a:srgbClr val="000000"/>
                </a:solidFill>
                <a:latin typeface="Calibri"/>
                <a:ea typeface="Calibri"/>
                <a:cs typeface="Calibri"/>
                <a:sym typeface="Calibri"/>
              </a:rPr>
              <a:t>3. You have 20 minutes to sketch your map.</a:t>
            </a:r>
            <a:r>
              <a:rPr lang="en" sz="1600">
                <a:solidFill>
                  <a:srgbClr val="000000"/>
                </a:solidFill>
                <a:latin typeface="Calibri"/>
                <a:ea typeface="Calibri"/>
                <a:cs typeface="Calibri"/>
                <a:sym typeface="Calibri"/>
              </a:rPr>
              <a:t> </a:t>
            </a:r>
            <a:endParaRPr sz="2200"/>
          </a:p>
        </p:txBody>
      </p:sp>
      <p:pic>
        <p:nvPicPr>
          <p:cNvPr id="129" name="Google Shape;129;p23"/>
          <p:cNvPicPr preferRelativeResize="0"/>
          <p:nvPr/>
        </p:nvPicPr>
        <p:blipFill rotWithShape="1">
          <a:blip r:embed="rId3">
            <a:alphaModFix/>
          </a:blip>
          <a:srcRect b="0" l="0" r="0" t="0"/>
          <a:stretch/>
        </p:blipFill>
        <p:spPr>
          <a:xfrm rot="-5400000">
            <a:off x="5619575" y="-289550"/>
            <a:ext cx="2375025" cy="3161625"/>
          </a:xfrm>
          <a:prstGeom prst="rect">
            <a:avLst/>
          </a:prstGeom>
          <a:noFill/>
          <a:ln>
            <a:noFill/>
          </a:ln>
        </p:spPr>
      </p:pic>
      <p:pic>
        <p:nvPicPr>
          <p:cNvPr id="130" name="Google Shape;130;p23"/>
          <p:cNvPicPr preferRelativeResize="0"/>
          <p:nvPr/>
        </p:nvPicPr>
        <p:blipFill rotWithShape="1">
          <a:blip r:embed="rId4">
            <a:alphaModFix/>
          </a:blip>
          <a:srcRect b="0" l="0" r="0" t="0"/>
          <a:stretch/>
        </p:blipFill>
        <p:spPr>
          <a:xfrm rot="-5400000">
            <a:off x="5601476" y="2223412"/>
            <a:ext cx="2411224" cy="31461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type="title"/>
          </p:nvPr>
        </p:nvSpPr>
        <p:spPr>
          <a:xfrm>
            <a:off x="311700" y="445025"/>
            <a:ext cx="8520600" cy="5727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a:t>Breakout Groups</a:t>
            </a:r>
            <a:endParaRPr/>
          </a:p>
        </p:txBody>
      </p:sp>
      <p:sp>
        <p:nvSpPr>
          <p:cNvPr id="136" name="Google Shape;136;p24"/>
          <p:cNvSpPr txBox="1"/>
          <p:nvPr>
            <p:ph idx="1" type="body"/>
          </p:nvPr>
        </p:nvSpPr>
        <p:spPr>
          <a:xfrm>
            <a:off x="855300" y="1430150"/>
            <a:ext cx="7433400" cy="3469200"/>
          </a:xfrm>
          <a:prstGeom prst="rect">
            <a:avLst/>
          </a:prstGeom>
          <a:noFill/>
          <a:ln>
            <a:noFill/>
          </a:ln>
        </p:spPr>
        <p:txBody>
          <a:bodyPr anchorCtr="0" anchor="t" bIns="0" lIns="0" spcFirstLastPara="1" rIns="0" wrap="square" tIns="0">
            <a:noAutofit/>
          </a:bodyPr>
          <a:lstStyle/>
          <a:p>
            <a:pPr indent="-406400" lvl="0" marL="457200" rtl="0" algn="l">
              <a:lnSpc>
                <a:spcPct val="100000"/>
              </a:lnSpc>
              <a:spcBef>
                <a:spcPts val="0"/>
              </a:spcBef>
              <a:spcAft>
                <a:spcPts val="0"/>
              </a:spcAft>
              <a:buSzPts val="2800"/>
              <a:buChar char="-"/>
            </a:pPr>
            <a:r>
              <a:rPr lang="en" sz="2200"/>
              <a:t>Share your map. Be mindful of time and no one person should share for longer than 3 minutes. </a:t>
            </a:r>
            <a:endParaRPr sz="2200"/>
          </a:p>
          <a:p>
            <a:pPr indent="-406400" lvl="0" marL="457200" rtl="0" algn="l">
              <a:lnSpc>
                <a:spcPct val="100000"/>
              </a:lnSpc>
              <a:spcBef>
                <a:spcPts val="0"/>
              </a:spcBef>
              <a:spcAft>
                <a:spcPts val="0"/>
              </a:spcAft>
              <a:buClr>
                <a:schemeClr val="dk1"/>
              </a:buClr>
              <a:buSzPts val="2800"/>
              <a:buChar char="-"/>
            </a:pPr>
            <a:r>
              <a:rPr lang="en" sz="2200"/>
              <a:t>Look for trends across the people in your breakout group. Were there similar topics that kept coming up? Similar emotions? Shared values? Be prepared to share the trends across the maps in a full class discussion. </a:t>
            </a:r>
            <a:r>
              <a:rPr lang="en" sz="2200">
                <a:solidFill>
                  <a:schemeClr val="dk1"/>
                </a:solidFill>
              </a:rPr>
              <a:t> </a:t>
            </a:r>
            <a:endParaRPr sz="22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311700" y="445025"/>
            <a:ext cx="8520600" cy="5727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a:t>Trends in our Observations</a:t>
            </a:r>
            <a:endParaRPr/>
          </a:p>
        </p:txBody>
      </p:sp>
      <p:sp>
        <p:nvSpPr>
          <p:cNvPr id="142" name="Google Shape;142;p25"/>
          <p:cNvSpPr txBox="1"/>
          <p:nvPr>
            <p:ph idx="1" type="body"/>
          </p:nvPr>
        </p:nvSpPr>
        <p:spPr>
          <a:xfrm>
            <a:off x="311700" y="1152475"/>
            <a:ext cx="8520600" cy="3416400"/>
          </a:xfrm>
          <a:prstGeom prst="rect">
            <a:avLst/>
          </a:prstGeom>
          <a:noFill/>
          <a:ln>
            <a:noFill/>
          </a:ln>
        </p:spPr>
        <p:txBody>
          <a:bodyPr anchorCtr="0" anchor="t" bIns="0" lIns="0" spcFirstLastPara="1" rIns="0" wrap="square" tIns="0">
            <a:noAutofit/>
          </a:bodyPr>
          <a:lstStyle/>
          <a:p>
            <a:pPr indent="-355600" lvl="0" marL="457200" rtl="0" algn="l">
              <a:lnSpc>
                <a:spcPct val="100000"/>
              </a:lnSpc>
              <a:spcBef>
                <a:spcPts val="0"/>
              </a:spcBef>
              <a:spcAft>
                <a:spcPts val="0"/>
              </a:spcAft>
              <a:buSzPts val="2000"/>
              <a:buChar char="●"/>
            </a:pPr>
            <a:r>
              <a:rPr lang="en" sz="2000"/>
              <a:t>O’ahu changes</a:t>
            </a:r>
            <a:endParaRPr sz="2000"/>
          </a:p>
          <a:p>
            <a:pPr indent="-355600" lvl="0" marL="457200" rtl="0" algn="l">
              <a:lnSpc>
                <a:spcPct val="100000"/>
              </a:lnSpc>
              <a:spcBef>
                <a:spcPts val="0"/>
              </a:spcBef>
              <a:spcAft>
                <a:spcPts val="0"/>
              </a:spcAft>
              <a:buSzPts val="2000"/>
              <a:buChar char="●"/>
            </a:pPr>
            <a:r>
              <a:rPr lang="en" sz="2000"/>
              <a:t>Sea level rise and ocean acidification</a:t>
            </a:r>
            <a:endParaRPr sz="2000"/>
          </a:p>
          <a:p>
            <a:pPr indent="-355600" lvl="0" marL="457200" rtl="0" algn="l">
              <a:lnSpc>
                <a:spcPct val="100000"/>
              </a:lnSpc>
              <a:spcBef>
                <a:spcPts val="0"/>
              </a:spcBef>
              <a:spcAft>
                <a:spcPts val="0"/>
              </a:spcAft>
              <a:buSzPts val="2000"/>
              <a:buChar char="●"/>
            </a:pPr>
            <a:r>
              <a:rPr lang="en" sz="2000"/>
              <a:t>Precipitation, frustration, sadness</a:t>
            </a:r>
            <a:endParaRPr sz="2000"/>
          </a:p>
          <a:p>
            <a:pPr indent="-355600" lvl="0" marL="457200" rtl="0" algn="l">
              <a:lnSpc>
                <a:spcPct val="100000"/>
              </a:lnSpc>
              <a:spcBef>
                <a:spcPts val="0"/>
              </a:spcBef>
              <a:spcAft>
                <a:spcPts val="0"/>
              </a:spcAft>
              <a:buSzPts val="2000"/>
              <a:buChar char="●"/>
            </a:pPr>
            <a:r>
              <a:rPr lang="en" sz="2000"/>
              <a:t>Water level, erosion</a:t>
            </a:r>
            <a:endParaRPr sz="2000"/>
          </a:p>
          <a:p>
            <a:pPr indent="-355600" lvl="0" marL="457200" rtl="0" algn="l">
              <a:lnSpc>
                <a:spcPct val="100000"/>
              </a:lnSpc>
              <a:spcBef>
                <a:spcPts val="0"/>
              </a:spcBef>
              <a:spcAft>
                <a:spcPts val="0"/>
              </a:spcAft>
              <a:buSzPts val="2000"/>
              <a:buChar char="●"/>
            </a:pPr>
            <a:r>
              <a:rPr lang="en" sz="2000"/>
              <a:t>Wildfires, smoke, lack of precipitation</a:t>
            </a:r>
            <a:endParaRPr sz="2000"/>
          </a:p>
          <a:p>
            <a:pPr indent="-355600" lvl="0" marL="457200" rtl="0" algn="l">
              <a:lnSpc>
                <a:spcPct val="100000"/>
              </a:lnSpc>
              <a:spcBef>
                <a:spcPts val="0"/>
              </a:spcBef>
              <a:spcAft>
                <a:spcPts val="0"/>
              </a:spcAft>
              <a:buSzPts val="2000"/>
              <a:buChar char="●"/>
            </a:pPr>
            <a:r>
              <a:rPr lang="en" sz="2000"/>
              <a:t>Loss of snow, excessive ice storms</a:t>
            </a:r>
            <a:endParaRPr sz="2000"/>
          </a:p>
          <a:p>
            <a:pPr indent="-355600" lvl="0" marL="457200" rtl="0" algn="l">
              <a:lnSpc>
                <a:spcPct val="100000"/>
              </a:lnSpc>
              <a:spcBef>
                <a:spcPts val="0"/>
              </a:spcBef>
              <a:spcAft>
                <a:spcPts val="0"/>
              </a:spcAft>
              <a:buSzPts val="2000"/>
              <a:buChar char="●"/>
            </a:pPr>
            <a:r>
              <a:rPr lang="en" sz="2000"/>
              <a:t>Changes in precipitation (more snow, less snow, all change)</a:t>
            </a:r>
            <a:endParaRPr sz="2000"/>
          </a:p>
          <a:p>
            <a:pPr indent="-355600" lvl="0" marL="457200" rtl="0" algn="l">
              <a:lnSpc>
                <a:spcPct val="100000"/>
              </a:lnSpc>
              <a:spcBef>
                <a:spcPts val="0"/>
              </a:spcBef>
              <a:spcAft>
                <a:spcPts val="0"/>
              </a:spcAft>
              <a:buSzPts val="2000"/>
              <a:buChar char="●"/>
            </a:pPr>
            <a:r>
              <a:rPr lang="en" sz="2000"/>
              <a:t>Water levels, erosion (beaches and trails)</a:t>
            </a:r>
            <a:endParaRPr sz="2000"/>
          </a:p>
          <a:p>
            <a:pPr indent="-355600" lvl="0" marL="457200" rtl="0" algn="l">
              <a:lnSpc>
                <a:spcPct val="100000"/>
              </a:lnSpc>
              <a:spcBef>
                <a:spcPts val="0"/>
              </a:spcBef>
              <a:spcAft>
                <a:spcPts val="0"/>
              </a:spcAft>
              <a:buSzPts val="2000"/>
              <a:buChar char="●"/>
            </a:pPr>
            <a:r>
              <a:rPr lang="en" sz="2000"/>
              <a:t>Temperature changes, water loss, more drastic changes</a:t>
            </a:r>
            <a:endParaRPr sz="2000"/>
          </a:p>
        </p:txBody>
      </p:sp>
      <p:sp>
        <p:nvSpPr>
          <p:cNvPr id="143" name="Google Shape;143;p25"/>
          <p:cNvSpPr txBox="1"/>
          <p:nvPr>
            <p:ph idx="12" type="sldNum"/>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ph idx="12" type="sldNum"/>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149" name="Google Shape;149;p26"/>
          <p:cNvPicPr preferRelativeResize="0"/>
          <p:nvPr/>
        </p:nvPicPr>
        <p:blipFill rotWithShape="1">
          <a:blip r:embed="rId3">
            <a:alphaModFix/>
          </a:blip>
          <a:srcRect b="0" l="0" r="0" t="0"/>
          <a:stretch/>
        </p:blipFill>
        <p:spPr>
          <a:xfrm>
            <a:off x="3141310" y="0"/>
            <a:ext cx="4891831" cy="5143501"/>
          </a:xfrm>
          <a:prstGeom prst="rect">
            <a:avLst/>
          </a:prstGeom>
          <a:noFill/>
          <a:ln>
            <a:noFill/>
          </a:ln>
        </p:spPr>
      </p:pic>
      <p:sp>
        <p:nvSpPr>
          <p:cNvPr id="150" name="Google Shape;150;p26"/>
          <p:cNvSpPr txBox="1"/>
          <p:nvPr>
            <p:ph type="title"/>
          </p:nvPr>
        </p:nvSpPr>
        <p:spPr>
          <a:xfrm>
            <a:off x="291150" y="836000"/>
            <a:ext cx="2850300" cy="7047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a:t>Observations</a:t>
            </a:r>
            <a:endParaRPr/>
          </a:p>
          <a:p>
            <a:pPr indent="0" lvl="0" marL="0" rtl="0" algn="l">
              <a:lnSpc>
                <a:spcPct val="90000"/>
              </a:lnSpc>
              <a:spcBef>
                <a:spcPts val="0"/>
              </a:spcBef>
              <a:spcAft>
                <a:spcPts val="0"/>
              </a:spcAft>
              <a:buSzPts val="3000"/>
              <a:buNone/>
            </a:pPr>
            <a:r>
              <a:rPr lang="en"/>
              <a:t>To Impact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ph type="ctrTitle"/>
          </p:nvPr>
        </p:nvSpPr>
        <p:spPr>
          <a:xfrm>
            <a:off x="231000" y="1111950"/>
            <a:ext cx="8682000" cy="2919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Friday, we will learn theory and skills around having </a:t>
            </a:r>
            <a:r>
              <a:rPr b="1" lang="en"/>
              <a:t>conversations about climate change</a:t>
            </a:r>
            <a:r>
              <a:rPr lang="en"/>
              <a:t>. Then, we will practice!</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