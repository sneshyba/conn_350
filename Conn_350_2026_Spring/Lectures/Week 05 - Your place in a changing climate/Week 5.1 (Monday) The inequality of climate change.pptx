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Montserrat"/>
      <p:regular r:id="rId39"/>
      <p:bold r:id="rId40"/>
      <p:italic r:id="rId41"/>
      <p:boldItalic r:id="rId42"/>
    </p:embeddedFont>
    <p:embeddedFont>
      <p:font typeface="Montserrat Medium"/>
      <p:regular r:id="rId43"/>
      <p:bold r:id="rId44"/>
      <p:italic r:id="rId45"/>
      <p:boldItalic r:id="rId46"/>
    </p:embeddedFont>
    <p:embeddedFont>
      <p:font typeface="Montserrat Light"/>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42" Type="http://schemas.openxmlformats.org/officeDocument/2006/relationships/font" Target="fonts/Montserrat-boldItalic.fntdata"/><Relationship Id="rId41" Type="http://schemas.openxmlformats.org/officeDocument/2006/relationships/font" Target="fonts/Montserrat-italic.fntdata"/><Relationship Id="rId44" Type="http://schemas.openxmlformats.org/officeDocument/2006/relationships/font" Target="fonts/MontserratMedium-bold.fntdata"/><Relationship Id="rId43" Type="http://schemas.openxmlformats.org/officeDocument/2006/relationships/font" Target="fonts/MontserratMedium-regular.fntdata"/><Relationship Id="rId46" Type="http://schemas.openxmlformats.org/officeDocument/2006/relationships/font" Target="fonts/MontserratMedium-boldItalic.fntdata"/><Relationship Id="rId45" Type="http://schemas.openxmlformats.org/officeDocument/2006/relationships/font" Target="fonts/Montserrat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Light-bold.fntdata"/><Relationship Id="rId47" Type="http://schemas.openxmlformats.org/officeDocument/2006/relationships/font" Target="fonts/MontserratLight-regular.fntdata"/><Relationship Id="rId49" Type="http://schemas.openxmlformats.org/officeDocument/2006/relationships/font" Target="fonts/MontserratLigh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Montserrat-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Montserrat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gupubs.onlinelibrary.wiley.com/doi/10.1002/2017GL076521" TargetMode="External"/><Relationship Id="rId3" Type="http://schemas.openxmlformats.org/officeDocument/2006/relationships/hyperlink" Target="https://agupubs.onlinelibrary.wiley.com/doi/10.1002/2017GL076521" TargetMode="External"/><Relationship Id="rId4" Type="http://schemas.openxmlformats.org/officeDocument/2006/relationships/hyperlink" Target="https://dx.doi.org/10.1088/1748-9326/aab827"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002/2016EF000485" TargetMode="External"/><Relationship Id="rId3" Type="http://schemas.openxmlformats.org/officeDocument/2006/relationships/hyperlink" Target="https://agupubs.onlinelibrary.wiley.com/doi/10.1002/2017GL076521" TargetMode="External"/><Relationship Id="rId4" Type="http://schemas.openxmlformats.org/officeDocument/2006/relationships/hyperlink" Target="https://agupubs.onlinelibrary.wiley.com/doi/10.1002/2017GL076521" TargetMode="External"/><Relationship Id="rId5" Type="http://schemas.openxmlformats.org/officeDocument/2006/relationships/hyperlink" Target="https://doi.org/10.1038/nclimate3322" TargetMode="External"/><Relationship Id="rId6" Type="http://schemas.openxmlformats.org/officeDocument/2006/relationships/hyperlink" Target="https://doi.org/10.1038/nclimate3322"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038/s41558-018-0124-y" TargetMode="External"/><Relationship Id="rId3" Type="http://schemas.openxmlformats.org/officeDocument/2006/relationships/hyperlink" Target="https://doi.org/10.1038/s41558-018-0124-y" TargetMode="External"/><Relationship Id="rId4" Type="http://schemas.openxmlformats.org/officeDocument/2006/relationships/hyperlink" Target="https://agupubs.onlinelibrary.wiley.com/doi/10.1002/2017GL076521" TargetMode="External"/><Relationship Id="rId11" Type="http://schemas.openxmlformats.org/officeDocument/2006/relationships/hyperlink" Target="https://www.si.edu/spotlight/buginfo/benefits" TargetMode="External"/><Relationship Id="rId10" Type="http://schemas.openxmlformats.org/officeDocument/2006/relationships/hyperlink" Target="https://www.si.edu/spotlight/buginfo/benefits" TargetMode="External"/><Relationship Id="rId9" Type="http://schemas.openxmlformats.org/officeDocument/2006/relationships/hyperlink" Target="https://www.nature.com/articles/s41467-018-06358-z" TargetMode="External"/><Relationship Id="rId5" Type="http://schemas.openxmlformats.org/officeDocument/2006/relationships/hyperlink" Target="https://agupubs.onlinelibrary.wiley.com/doi/10.1002/2017GL076521" TargetMode="External"/><Relationship Id="rId6" Type="http://schemas.openxmlformats.org/officeDocument/2006/relationships/hyperlink" Target="https://www.nature.com/articles/s41467-018-06358-z" TargetMode="External"/><Relationship Id="rId7" Type="http://schemas.openxmlformats.org/officeDocument/2006/relationships/hyperlink" Target="https://www.nature.com/articles/s41467-018-06358-z" TargetMode="External"/><Relationship Id="rId8" Type="http://schemas.openxmlformats.org/officeDocument/2006/relationships/hyperlink" Target="https://www.nature.com/articles/s41467-018-06358-z"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ee22a21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ee22a21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8311743a6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c8311743a6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8311743a6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8311743a6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8311743a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8311743a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c8311743a6_0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c8311743a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Recent warming trend is universal across the US. The temperature change in Washington is lowest in the US in the last 30 years. This is thought to be partially true. We were in a warm season 30 years ago (affecting data) and we have warming moderated by the Pacific Ocean and inland winds coming in from the ocean.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8311743a6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8311743a6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ee22a21a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ee22a21a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ee22a21a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ee22a21a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8311743a6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8311743a6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C = 95 F</a:t>
            </a:r>
            <a:endParaRPr/>
          </a:p>
          <a:p>
            <a:pPr indent="0" lvl="0" marL="0" rtl="0" algn="l">
              <a:spcBef>
                <a:spcPts val="0"/>
              </a:spcBef>
              <a:spcAft>
                <a:spcPts val="0"/>
              </a:spcAft>
              <a:buNone/>
            </a:pPr>
            <a:r>
              <a:rPr lang="en"/>
              <a:t>Jordan: Over a million </a:t>
            </a:r>
            <a:r>
              <a:rPr lang="en"/>
              <a:t>Syrian</a:t>
            </a:r>
            <a:r>
              <a:rPr lang="en"/>
              <a:t> refugees and over 2 million Palestinian Refugees (most refugees per capita anywhere)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857a7c7c9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c857a7c7c9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857a7c7c9_0_2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c857a7c7c9_0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Increase in temperature extremes: The overall message is that there is no single 1.5-degree world; many regions will experience much greater warming than 1.5 degrees. During the summer in mid-latitudes, increases of up to 3 degrees C in extreme temperature may occur, with the strongest warming happening in central and eastern North America, central and southern Europe, the Mediterranean, western and central Asia, and southern Africa. During the winter in high-latitudes, increases of up to 4.5 degrees C may occur.</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Coral bleaching: Many societies depend on coral reefs for fisheries and tourism. Reefs protect the shoreline from storm surge and erosion, among other benefits.</a:t>
            </a:r>
            <a:r>
              <a:rPr lang="en"/>
              <a:t>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Coral bleaching is the stress-induced expulsion of symbiotic algae (zooxanthellae) from coral tissue, causing the coral to lose its color and turn white. While the coral is not dead when bleached, it is under stress, more vulnerable to starvation and disease, and may die if stressful conditions, such as rising water temperatures due to climate change, persist.</a:t>
            </a:r>
            <a:endParaRPr/>
          </a:p>
          <a:p>
            <a:pPr indent="0" lvl="0" marL="0" rtl="0" algn="l">
              <a:lnSpc>
                <a:spcPct val="115000"/>
              </a:lnSpc>
              <a:spcBef>
                <a:spcPts val="0"/>
              </a:spcBef>
              <a:spcAft>
                <a:spcPts val="0"/>
              </a:spcAft>
              <a:buClr>
                <a:schemeClr val="dk1"/>
              </a:buClr>
              <a:buSzPts val="1100"/>
              <a:buFont typeface="Arial"/>
              <a:buNone/>
            </a:pPr>
            <a:r>
              <a:rPr lang="en"/>
              <a:t>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Severe heat waves: defined as having a Heat Wave Magnitude Index daily greater than 20. The Heat Wave Magnitude Index takes into account both heat wave duration and intensity</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Updated: September 2020</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Sources: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1. IPCC, 2018: Summary for Policymakers. In: </a:t>
            </a:r>
            <a:r>
              <a:rPr i="1" lang="en" sz="1200">
                <a:solidFill>
                  <a:schemeClr val="dk1"/>
                </a:solidFill>
                <a:latin typeface="Calibri"/>
                <a:ea typeface="Calibri"/>
                <a:cs typeface="Calibri"/>
                <a:sym typeface="Calibri"/>
              </a:rPr>
              <a:t>Global Warming of 1.5°C. An IPCC Special Report on the impacts of global warming of 1.5°C above pre-industrial levels and related global greenhouse gas emission pathways, in the context of strengthening the global response to the threat of climate change, sustainable development, and efforts to eradicate poverty </a:t>
            </a:r>
            <a:r>
              <a:rPr lang="en" sz="1200">
                <a:solidFill>
                  <a:schemeClr val="dk1"/>
                </a:solidFill>
                <a:latin typeface="Calibri"/>
                <a:ea typeface="Calibri"/>
                <a:cs typeface="Calibri"/>
                <a:sym typeface="Calibri"/>
              </a:rPr>
              <a:t>[Masson-Delmotte, V., P. Zhai, H.-O. Pörtner, D. Roberts, J. Skea, P.R. Shukla, A. Pirani, W. Moufouma-Okia, C. Péan, R. Pidcock, S. Connors, J.B.R. Matthews, Y. Chen, X. Zhou, M.I. Gomis, E. Lonnoy, T. Maycock, M. Tignor, and T. Waterfield (eds.)]. </a:t>
            </a:r>
            <a:r>
              <a:rPr i="1" lang="en" sz="1200">
                <a:solidFill>
                  <a:schemeClr val="dk1"/>
                </a:solidFill>
                <a:latin typeface="Calibri"/>
                <a:ea typeface="Calibri"/>
                <a:cs typeface="Calibri"/>
                <a:sym typeface="Calibri"/>
              </a:rPr>
              <a:t>World Meteorological Organization, Geneva, Switzerland, 32 pp.</a:t>
            </a:r>
            <a:endParaRPr i="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2. </a:t>
            </a:r>
            <a:r>
              <a:rPr lang="en" sz="1200">
                <a:solidFill>
                  <a:schemeClr val="dk1"/>
                </a:solidFill>
                <a:latin typeface="Calibri"/>
                <a:ea typeface="Calibri"/>
                <a:cs typeface="Calibri"/>
                <a:sym typeface="Calibri"/>
              </a:rPr>
              <a:t>Schleussner, C.-F., Lissner, T. K., Fischer, E. M., Wohland, J., Perrette, M., Golly, A., Rogelj, J., Childers, K., Schewe, J., Frieler, K., Mengel, M., Hare, W., and Schaeffer, M.: Differential climate impacts for policy-relevant limits to global warming: the case of 1.5 °C and 2 °C, Earth Syst. Dynam., 7, 327–351, https://doi.org/10.5194/esd-7-327-2016, 2016.</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3. </a:t>
            </a:r>
            <a:r>
              <a:rPr lang="en" sz="1200">
                <a:solidFill>
                  <a:schemeClr val="dk1"/>
                </a:solidFill>
                <a:latin typeface="Calibri"/>
                <a:ea typeface="Calibri"/>
                <a:cs typeface="Calibri"/>
                <a:sym typeface="Calibri"/>
              </a:rPr>
              <a:t>Naumann, G. et al. (2018) Global Changes in Drought Conditions Under Different Levels of Warming,</a:t>
            </a:r>
            <a:r>
              <a:rPr lang="en" sz="1200">
                <a:solidFill>
                  <a:schemeClr val="dk1"/>
                </a:solidFill>
                <a:uFill>
                  <a:noFill/>
                </a:uFill>
                <a:latin typeface="Calibri"/>
                <a:ea typeface="Calibri"/>
                <a:cs typeface="Calibri"/>
                <a:sym typeface="Calibri"/>
                <a:hlinkClick r:id="rId2">
                  <a:extLst>
                    <a:ext uri="{A12FA001-AC4F-418D-AE19-62706E023703}">
                      <ahyp:hlinkClr val="tx"/>
                    </a:ext>
                  </a:extLst>
                </a:hlinkClick>
              </a:rPr>
              <a:t> </a:t>
            </a:r>
            <a:r>
              <a:rPr lang="en" sz="1200" u="sng">
                <a:solidFill>
                  <a:schemeClr val="hlink"/>
                </a:solidFill>
                <a:latin typeface="Calibri"/>
                <a:ea typeface="Calibri"/>
                <a:cs typeface="Calibri"/>
                <a:sym typeface="Calibri"/>
                <a:hlinkClick r:id="rId3"/>
              </a:rPr>
              <a:t>Geophysical Research Letters</a:t>
            </a:r>
            <a:endParaRPr sz="1200" u="sng">
              <a:solidFill>
                <a:schemeClr val="hlink"/>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4. </a:t>
            </a:r>
            <a:r>
              <a:rPr lang="en" sz="1200">
                <a:solidFill>
                  <a:schemeClr val="dk1"/>
                </a:solidFill>
                <a:latin typeface="Calibri"/>
                <a:ea typeface="Calibri"/>
                <a:cs typeface="Calibri"/>
                <a:sym typeface="Calibri"/>
              </a:rPr>
              <a:t>Dosio, A., L. Mentaschi, E.M. Fischer, and K. Wyser, 2018: Extreme heat waves under 1.5°C and 2°C global warming. </a:t>
            </a:r>
            <a:r>
              <a:rPr i="1" lang="en" sz="1200">
                <a:solidFill>
                  <a:schemeClr val="dk1"/>
                </a:solidFill>
                <a:latin typeface="Calibri"/>
                <a:ea typeface="Calibri"/>
                <a:cs typeface="Calibri"/>
                <a:sym typeface="Calibri"/>
              </a:rPr>
              <a:t>Environmental Research Letters</a:t>
            </a:r>
            <a:r>
              <a:rPr lang="en" sz="1200">
                <a:solidFill>
                  <a:schemeClr val="dk1"/>
                </a:solidFill>
                <a:latin typeface="Calibri"/>
                <a:ea typeface="Calibri"/>
                <a:cs typeface="Calibri"/>
                <a:sym typeface="Calibri"/>
              </a:rPr>
              <a:t>, </a:t>
            </a:r>
            <a:r>
              <a:rPr b="1" lang="en" sz="1200">
                <a:solidFill>
                  <a:schemeClr val="dk1"/>
                </a:solidFill>
                <a:latin typeface="Calibri"/>
                <a:ea typeface="Calibri"/>
                <a:cs typeface="Calibri"/>
                <a:sym typeface="Calibri"/>
              </a:rPr>
              <a:t>13(5)</a:t>
            </a:r>
            <a:r>
              <a:rPr lang="en" sz="1200">
                <a:solidFill>
                  <a:schemeClr val="dk1"/>
                </a:solidFill>
                <a:latin typeface="Calibri"/>
                <a:ea typeface="Calibri"/>
                <a:cs typeface="Calibri"/>
                <a:sym typeface="Calibri"/>
              </a:rPr>
              <a:t>, 054006, doi:</a:t>
            </a:r>
            <a:r>
              <a:rPr lang="en" sz="1200" u="sng">
                <a:solidFill>
                  <a:schemeClr val="hlink"/>
                </a:solidFill>
                <a:latin typeface="Calibri"/>
                <a:ea typeface="Calibri"/>
                <a:cs typeface="Calibri"/>
                <a:sym typeface="Calibri"/>
                <a:hlinkClick r:id="rId4"/>
              </a:rPr>
              <a:t>10.1088/1748-9326/aab827</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857a7c7c9_0_30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c857a7c7c9_0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i="1" lang="en" sz="1200">
                <a:solidFill>
                  <a:schemeClr val="dk1"/>
                </a:solidFill>
                <a:latin typeface="Calibri"/>
                <a:ea typeface="Calibri"/>
                <a:cs typeface="Calibri"/>
                <a:sym typeface="Calibri"/>
              </a:rPr>
              <a:t>Notes:</a:t>
            </a:r>
            <a:endParaRPr i="1"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Lethal heat is based on the body’s inability to cool itself. This is based both on temperature AND humidity. Humidity controls the potential for energy loss through evaporation of sweat</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Flooding: This does not include impacts from flash floods, pluvial floods (when extreme rainfall means that the ground cannot absorb the water), and coastal floods.</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Coral bleaching: Many societies depend on coral reefs for fisheries and tourism. Reefs protect the shoreline from storm surge and erosion, among other benefits.</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Updated: September 2020</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Sourcess:</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1. Alfieri, L., Bisselink, B., Dottori, F., Naumann, G., de Roo, A., Salamon, P., Wyser, K. and Feyen, L. (2017), Global projections of river flood risk in a warmer world. Earth's Future, 5: 171-182. doi:</a:t>
            </a:r>
            <a:r>
              <a:rPr lang="en" sz="1200" u="sng">
                <a:solidFill>
                  <a:schemeClr val="hlink"/>
                </a:solidFill>
                <a:latin typeface="Calibri"/>
                <a:ea typeface="Calibri"/>
                <a:cs typeface="Calibri"/>
                <a:sym typeface="Calibri"/>
                <a:hlinkClick r:id="rId2"/>
              </a:rPr>
              <a:t>10.1002/2016EF000485</a:t>
            </a:r>
            <a:endParaRPr sz="1200" u="sng">
              <a:solidFill>
                <a:schemeClr val="hlink"/>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2. Schleussner, C.-F., Lissner, T. K., Fischer, E. M., Wohland, J., Perrette, M., Golly, A., Rogelj, J., Childers, K., Schewe, J., Frieler, K., Mengel, M., Hare, W., and Schaeffer, M.: Differential climate impacts for policy-relevant limits to global warming: the case of 1.5 °C and 2 °C, Earth Syst. Dynam., 7, 327–351, https://doi.org/10.5194/esd-7-327-2016, 2016.</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3. Naumann, G. et al. (2018) Global Changes in Drought Conditions Under Different Levels of Warming,</a:t>
            </a:r>
            <a:r>
              <a:rPr lang="en" sz="1200">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lang="en" sz="1200" u="sng">
                <a:solidFill>
                  <a:schemeClr val="hlink"/>
                </a:solidFill>
                <a:latin typeface="Calibri"/>
                <a:ea typeface="Calibri"/>
                <a:cs typeface="Calibri"/>
                <a:sym typeface="Calibri"/>
                <a:hlinkClick r:id="rId4"/>
              </a:rPr>
              <a:t>Geophysical Research Letters</a:t>
            </a:r>
            <a:endParaRPr sz="1200" u="sng">
              <a:solidFill>
                <a:schemeClr val="hlink"/>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4. Mora, C., Dousset, B., Caldwell, I. </a:t>
            </a:r>
            <a:r>
              <a:rPr i="1" lang="en" sz="1200">
                <a:solidFill>
                  <a:schemeClr val="dk1"/>
                </a:solidFill>
                <a:latin typeface="Calibri"/>
                <a:ea typeface="Calibri"/>
                <a:cs typeface="Calibri"/>
                <a:sym typeface="Calibri"/>
              </a:rPr>
              <a:t>et al.</a:t>
            </a:r>
            <a:r>
              <a:rPr lang="en" sz="1200">
                <a:solidFill>
                  <a:schemeClr val="dk1"/>
                </a:solidFill>
                <a:latin typeface="Calibri"/>
                <a:ea typeface="Calibri"/>
                <a:cs typeface="Calibri"/>
                <a:sym typeface="Calibri"/>
              </a:rPr>
              <a:t> Global risk of deadly heat. </a:t>
            </a:r>
            <a:r>
              <a:rPr i="1" lang="en" sz="1200">
                <a:solidFill>
                  <a:schemeClr val="dk1"/>
                </a:solidFill>
                <a:latin typeface="Calibri"/>
                <a:ea typeface="Calibri"/>
                <a:cs typeface="Calibri"/>
                <a:sym typeface="Calibri"/>
              </a:rPr>
              <a:t>Nature Clim Change</a:t>
            </a:r>
            <a:r>
              <a:rPr lang="en" sz="1200">
                <a:solidFill>
                  <a:schemeClr val="dk1"/>
                </a:solidFill>
                <a:latin typeface="Calibri"/>
                <a:ea typeface="Calibri"/>
                <a:cs typeface="Calibri"/>
                <a:sym typeface="Calibri"/>
              </a:rPr>
              <a:t> </a:t>
            </a:r>
            <a:r>
              <a:rPr b="1" lang="en" sz="1200">
                <a:solidFill>
                  <a:schemeClr val="dk1"/>
                </a:solidFill>
                <a:latin typeface="Calibri"/>
                <a:ea typeface="Calibri"/>
                <a:cs typeface="Calibri"/>
                <a:sym typeface="Calibri"/>
              </a:rPr>
              <a:t>7, </a:t>
            </a:r>
            <a:r>
              <a:rPr lang="en" sz="1200">
                <a:solidFill>
                  <a:schemeClr val="dk1"/>
                </a:solidFill>
                <a:latin typeface="Calibri"/>
                <a:ea typeface="Calibri"/>
                <a:cs typeface="Calibri"/>
                <a:sym typeface="Calibri"/>
              </a:rPr>
              <a:t>501–506 (2017).</a:t>
            </a:r>
            <a:r>
              <a:rPr lang="en" sz="1200">
                <a:solidFill>
                  <a:schemeClr val="dk1"/>
                </a:solidFill>
                <a:uFill>
                  <a:noFill/>
                </a:uFill>
                <a:latin typeface="Calibri"/>
                <a:ea typeface="Calibri"/>
                <a:cs typeface="Calibri"/>
                <a:sym typeface="Calibri"/>
                <a:hlinkClick r:id="rId5">
                  <a:extLst>
                    <a:ext uri="{A12FA001-AC4F-418D-AE19-62706E023703}">
                      <ahyp:hlinkClr val="tx"/>
                    </a:ext>
                  </a:extLst>
                </a:hlinkClick>
              </a:rPr>
              <a:t> </a:t>
            </a:r>
            <a:r>
              <a:rPr lang="en" sz="1200" u="sng">
                <a:solidFill>
                  <a:schemeClr val="hlink"/>
                </a:solidFill>
                <a:latin typeface="Calibri"/>
                <a:ea typeface="Calibri"/>
                <a:cs typeface="Calibri"/>
                <a:sym typeface="Calibri"/>
                <a:hlinkClick r:id="rId6"/>
              </a:rPr>
              <a:t>https://doi.org/10.1038/nclimate3322</a:t>
            </a:r>
            <a:endParaRPr sz="1200" u="sng">
              <a:solidFill>
                <a:schemeClr val="hlink"/>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857a7c7c9_0_3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c857a7c7c9_0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i="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Arctic sea ice: Melting of Arctic sea ice has a positive feedback effect on global warming, as ice and snow reflect energy from the sun back into space. Without sea ice, more of the energy is absorbed, contributing to further warming. A warming Arctic and lessening sea ice are linked to extreme weather effects in other parts of world, as a result of the global atmospheric circulation. For more on this topic, see https://www.carbonbrief.org/qa-how-is-arctic-warming-linked-to-polar-vortext-other-extreme-weather</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Insects: </a:t>
            </a:r>
            <a:r>
              <a:rPr lang="en" sz="1200">
                <a:solidFill>
                  <a:schemeClr val="dk1"/>
                </a:solidFill>
                <a:latin typeface="Calibri"/>
                <a:ea typeface="Calibri"/>
                <a:cs typeface="Calibri"/>
                <a:sym typeface="Calibri"/>
              </a:rPr>
              <a:t>Insects are important as pollinators, for nutrient cycling, and for breaking down waste, among other services. They are the major or sole food source for many amphibian, reptile, bird, and mammal species.</a:t>
            </a:r>
            <a:r>
              <a:rPr baseline="30000" lang="en" sz="2000">
                <a:solidFill>
                  <a:schemeClr val="dk1"/>
                </a:solidFill>
                <a:latin typeface="Calibri"/>
                <a:ea typeface="Calibri"/>
                <a:cs typeface="Calibri"/>
                <a:sym typeface="Calibri"/>
              </a:rPr>
              <a:t>5</a:t>
            </a:r>
            <a:endParaRPr baseline="30000" sz="20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Updated: September 2020</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Sourcess: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1. </a:t>
            </a:r>
            <a:r>
              <a:rPr lang="en" sz="1200">
                <a:solidFill>
                  <a:schemeClr val="dk1"/>
                </a:solidFill>
                <a:latin typeface="Calibri"/>
                <a:ea typeface="Calibri"/>
                <a:cs typeface="Calibri"/>
                <a:sym typeface="Calibri"/>
              </a:rPr>
              <a:t>Sigmond, M., Fyfe, J.C. &amp; Swart, N.C. Ice-free Arctic projections under the Paris Agreement. </a:t>
            </a:r>
            <a:r>
              <a:rPr i="1" lang="en" sz="1200">
                <a:solidFill>
                  <a:schemeClr val="dk1"/>
                </a:solidFill>
                <a:latin typeface="Calibri"/>
                <a:ea typeface="Calibri"/>
                <a:cs typeface="Calibri"/>
                <a:sym typeface="Calibri"/>
              </a:rPr>
              <a:t>Nature Clim Change</a:t>
            </a:r>
            <a:r>
              <a:rPr lang="en" sz="1200">
                <a:solidFill>
                  <a:schemeClr val="dk1"/>
                </a:solidFill>
                <a:latin typeface="Calibri"/>
                <a:ea typeface="Calibri"/>
                <a:cs typeface="Calibri"/>
                <a:sym typeface="Calibri"/>
              </a:rPr>
              <a:t> </a:t>
            </a:r>
            <a:r>
              <a:rPr b="1" lang="en" sz="1200">
                <a:solidFill>
                  <a:schemeClr val="dk1"/>
                </a:solidFill>
                <a:latin typeface="Calibri"/>
                <a:ea typeface="Calibri"/>
                <a:cs typeface="Calibri"/>
                <a:sym typeface="Calibri"/>
              </a:rPr>
              <a:t>8, </a:t>
            </a:r>
            <a:r>
              <a:rPr lang="en" sz="1200">
                <a:solidFill>
                  <a:schemeClr val="dk1"/>
                </a:solidFill>
                <a:latin typeface="Calibri"/>
                <a:ea typeface="Calibri"/>
                <a:cs typeface="Calibri"/>
                <a:sym typeface="Calibri"/>
              </a:rPr>
              <a:t>404–408 (2018).</a:t>
            </a:r>
            <a:r>
              <a:rPr lang="en" sz="1200">
                <a:solidFill>
                  <a:schemeClr val="dk1"/>
                </a:solidFill>
                <a:uFill>
                  <a:noFill/>
                </a:uFill>
                <a:latin typeface="Calibri"/>
                <a:ea typeface="Calibri"/>
                <a:cs typeface="Calibri"/>
                <a:sym typeface="Calibri"/>
                <a:hlinkClick r:id="rId2">
                  <a:extLst>
                    <a:ext uri="{A12FA001-AC4F-418D-AE19-62706E023703}">
                      <ahyp:hlinkClr val="tx"/>
                    </a:ext>
                  </a:extLst>
                </a:hlinkClick>
              </a:rPr>
              <a:t> </a:t>
            </a:r>
            <a:r>
              <a:rPr lang="en" sz="1200" u="sng">
                <a:solidFill>
                  <a:schemeClr val="hlink"/>
                </a:solidFill>
                <a:latin typeface="Calibri"/>
                <a:ea typeface="Calibri"/>
                <a:cs typeface="Calibri"/>
                <a:sym typeface="Calibri"/>
                <a:hlinkClick r:id="rId3"/>
              </a:rPr>
              <a:t>https://doi.org/10.1038/s41558-018-0124-y</a:t>
            </a:r>
            <a:endParaRPr sz="1200" u="sng">
              <a:solidFill>
                <a:schemeClr val="hlink"/>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2. </a:t>
            </a:r>
            <a:r>
              <a:rPr lang="en" sz="1200">
                <a:solidFill>
                  <a:schemeClr val="dk1"/>
                </a:solidFill>
                <a:latin typeface="Calibri"/>
                <a:ea typeface="Calibri"/>
                <a:cs typeface="Calibri"/>
                <a:sym typeface="Calibri"/>
              </a:rPr>
              <a:t>Warren, R., et al. "The projected effect on insects, vertebrates, and plants of limiting global warming to 1.5 C rather than 2 C." </a:t>
            </a:r>
            <a:r>
              <a:rPr i="1" lang="en" sz="1200">
                <a:solidFill>
                  <a:schemeClr val="dk1"/>
                </a:solidFill>
                <a:latin typeface="Calibri"/>
                <a:ea typeface="Calibri"/>
                <a:cs typeface="Calibri"/>
                <a:sym typeface="Calibri"/>
              </a:rPr>
              <a:t>Science</a:t>
            </a:r>
            <a:r>
              <a:rPr lang="en" sz="1200">
                <a:solidFill>
                  <a:schemeClr val="dk1"/>
                </a:solidFill>
                <a:latin typeface="Calibri"/>
                <a:ea typeface="Calibri"/>
                <a:cs typeface="Calibri"/>
                <a:sym typeface="Calibri"/>
              </a:rPr>
              <a:t> 360.6390 (2018): 791-79</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3. </a:t>
            </a:r>
            <a:r>
              <a:rPr lang="en" sz="1200">
                <a:solidFill>
                  <a:schemeClr val="dk1"/>
                </a:solidFill>
                <a:latin typeface="Calibri"/>
                <a:ea typeface="Calibri"/>
                <a:cs typeface="Calibri"/>
                <a:sym typeface="Calibri"/>
              </a:rPr>
              <a:t>Naumann, G. et al. (2018) Global Changes in Drought Conditions Under Different Levels of Warming,</a:t>
            </a:r>
            <a:r>
              <a:rPr lang="en" sz="1200">
                <a:solidFill>
                  <a:schemeClr val="dk1"/>
                </a:solidFill>
                <a:uFill>
                  <a:noFill/>
                </a:uFill>
                <a:latin typeface="Calibri"/>
                <a:ea typeface="Calibri"/>
                <a:cs typeface="Calibri"/>
                <a:sym typeface="Calibri"/>
                <a:hlinkClick r:id="rId4">
                  <a:extLst>
                    <a:ext uri="{A12FA001-AC4F-418D-AE19-62706E023703}">
                      <ahyp:hlinkClr val="tx"/>
                    </a:ext>
                  </a:extLst>
                </a:hlinkClick>
              </a:rPr>
              <a:t> </a:t>
            </a:r>
            <a:r>
              <a:rPr lang="en" sz="1200" u="sng">
                <a:solidFill>
                  <a:schemeClr val="hlink"/>
                </a:solidFill>
                <a:latin typeface="Calibri"/>
                <a:ea typeface="Calibri"/>
                <a:cs typeface="Calibri"/>
                <a:sym typeface="Calibri"/>
                <a:hlinkClick r:id="rId5"/>
              </a:rPr>
              <a:t>Geophysical Research Letters</a:t>
            </a:r>
            <a:endParaRPr sz="1200" u="sng">
              <a:solidFill>
                <a:schemeClr val="hlink"/>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4. Turco, M. et al. (2018) Exacerbated fires in Mediterranean Europe due to anthropogenic warming projected with nonstationary climate-fire models,</a:t>
            </a:r>
            <a:r>
              <a:rPr lang="en" sz="1200">
                <a:solidFill>
                  <a:schemeClr val="dk1"/>
                </a:solidFill>
                <a:uFill>
                  <a:noFill/>
                </a:uFill>
                <a:latin typeface="Calibri"/>
                <a:ea typeface="Calibri"/>
                <a:cs typeface="Calibri"/>
                <a:sym typeface="Calibri"/>
                <a:hlinkClick r:id="rId6">
                  <a:extLst>
                    <a:ext uri="{A12FA001-AC4F-418D-AE19-62706E023703}">
                      <ahyp:hlinkClr val="tx"/>
                    </a:ext>
                  </a:extLst>
                </a:hlinkClick>
              </a:rPr>
              <a:t> </a:t>
            </a:r>
            <a:r>
              <a:rPr lang="en" sz="1200" u="sng">
                <a:solidFill>
                  <a:schemeClr val="hlink"/>
                </a:solidFill>
                <a:latin typeface="Calibri"/>
                <a:ea typeface="Calibri"/>
                <a:cs typeface="Calibri"/>
                <a:sym typeface="Calibri"/>
                <a:hlinkClick r:id="rId7"/>
              </a:rPr>
              <a:t>Nature Communications</a:t>
            </a:r>
            <a:r>
              <a:rPr lang="en" sz="1200">
                <a:solidFill>
                  <a:schemeClr val="dk1"/>
                </a:solidFill>
                <a:latin typeface="Calibri"/>
                <a:ea typeface="Calibri"/>
                <a:cs typeface="Calibri"/>
                <a:sym typeface="Calibri"/>
              </a:rPr>
              <a:t>.</a:t>
            </a:r>
            <a:r>
              <a:rPr lang="en" sz="1200">
                <a:solidFill>
                  <a:schemeClr val="dk1"/>
                </a:solidFill>
                <a:uFill>
                  <a:noFill/>
                </a:uFill>
                <a:latin typeface="Calibri"/>
                <a:ea typeface="Calibri"/>
                <a:cs typeface="Calibri"/>
                <a:sym typeface="Calibri"/>
                <a:hlinkClick r:id="rId8">
                  <a:extLst>
                    <a:ext uri="{A12FA001-AC4F-418D-AE19-62706E023703}">
                      <ahyp:hlinkClr val="tx"/>
                    </a:ext>
                  </a:extLst>
                </a:hlinkClick>
              </a:rPr>
              <a:t> </a:t>
            </a:r>
            <a:r>
              <a:rPr lang="en" sz="1200" u="sng">
                <a:solidFill>
                  <a:schemeClr val="hlink"/>
                </a:solidFill>
                <a:latin typeface="Calibri"/>
                <a:ea typeface="Calibri"/>
                <a:cs typeface="Calibri"/>
                <a:sym typeface="Calibri"/>
                <a:hlinkClick r:id="rId9"/>
              </a:rPr>
              <a:t>https://www.nature.com/articles/s41467-018-06358-z</a:t>
            </a:r>
            <a:endParaRPr sz="1200" u="sng">
              <a:solidFill>
                <a:schemeClr val="hlink"/>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5.</a:t>
            </a:r>
            <a:r>
              <a:rPr lang="en" sz="1200">
                <a:solidFill>
                  <a:schemeClr val="dk1"/>
                </a:solidFill>
                <a:uFill>
                  <a:noFill/>
                </a:uFill>
                <a:latin typeface="Calibri"/>
                <a:ea typeface="Calibri"/>
                <a:cs typeface="Calibri"/>
                <a:sym typeface="Calibri"/>
                <a:hlinkClick r:id="rId10">
                  <a:extLst>
                    <a:ext uri="{A12FA001-AC4F-418D-AE19-62706E023703}">
                      <ahyp:hlinkClr val="tx"/>
                    </a:ext>
                  </a:extLst>
                </a:hlinkClick>
              </a:rPr>
              <a:t> </a:t>
            </a:r>
            <a:r>
              <a:rPr lang="en" sz="1200" u="sng">
                <a:solidFill>
                  <a:schemeClr val="hlink"/>
                </a:solidFill>
                <a:latin typeface="Calibri"/>
                <a:ea typeface="Calibri"/>
                <a:cs typeface="Calibri"/>
                <a:sym typeface="Calibri"/>
                <a:hlinkClick r:id="rId11"/>
              </a:rPr>
              <a:t>https://www.si.edu/spotlight/buginfo/benefits</a:t>
            </a:r>
            <a:endParaRPr sz="1200" u="sng">
              <a:solidFill>
                <a:schemeClr val="hlink"/>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Photos:</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Arctic: https://pixabay.com/images/id-1913559/</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Trees: https://pixabay.com/images/id-947331/</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Bee: https://pixabay.com/images/id-4243850/</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Wildfire: https://www.flickr.com/photos/slworking/29034137667</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857a7c7c9_0_3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3c857a7c7c9_0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c857a7c7c9_0_3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c857a7c7c9_0_3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https://www.nature.com/articles/d41586-020-00177-3</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857a7c7c9_0_3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c857a7c7c9_0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857a7c7c9_0_3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c857a7c7c9_0_3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857a7c7c9_0_3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c857a7c7c9_0_3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857a7c7c9_0_3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c857a7c7c9_0_3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857a7c7c9_0_3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c857a7c7c9_0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bee22a21a8_0_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bee22a21a8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c857a7c7c9_0_3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3c857a7c7c9_0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This value is still the case, so we have used up around 3 years along this path</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c857a7c7c9_0_3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3c857a7c7c9_0_3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Remaining known reserves that need to remain unextracted and unused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If we fully extract from currently operational wells, we will release 942 Gt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‘On the books’ meaning materials that companies and governments have already counted as part of their financial value which they expect to extract and profit from</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c857a7c7c9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c857a7c7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2AC3F3"/>
              </a:buClr>
              <a:buSzPts val="2400"/>
              <a:buFont typeface="Montserrat Light"/>
              <a:buChar char="●"/>
            </a:pPr>
            <a:r>
              <a:rPr lang="en" sz="2400">
                <a:solidFill>
                  <a:srgbClr val="1E2124"/>
                </a:solidFill>
                <a:latin typeface="Montserrat Light"/>
                <a:ea typeface="Montserrat Light"/>
                <a:cs typeface="Montserrat Light"/>
                <a:sym typeface="Montserrat Light"/>
              </a:rPr>
              <a:t>The world’s wealthiest 1% (63 million) are responsible for more than twice as much carbon pollution as the poorest 50% (3.1 billion).</a:t>
            </a:r>
            <a:endParaRPr sz="2400">
              <a:solidFill>
                <a:srgbClr val="1E2124"/>
              </a:solidFill>
              <a:latin typeface="Montserrat Light"/>
              <a:ea typeface="Montserrat Light"/>
              <a:cs typeface="Montserrat Light"/>
              <a:sym typeface="Montserrat Light"/>
            </a:endParaRPr>
          </a:p>
          <a:p>
            <a:pPr indent="-381000" lvl="0" marL="457200" rtl="0" algn="l">
              <a:spcBef>
                <a:spcPts val="0"/>
              </a:spcBef>
              <a:spcAft>
                <a:spcPts val="0"/>
              </a:spcAft>
              <a:buClr>
                <a:srgbClr val="2AC3F3"/>
              </a:buClr>
              <a:buSzPts val="2400"/>
              <a:buFont typeface="Montserrat Light"/>
              <a:buChar char="●"/>
            </a:pPr>
            <a:r>
              <a:rPr lang="en" sz="2400">
                <a:solidFill>
                  <a:srgbClr val="1E2124"/>
                </a:solidFill>
                <a:latin typeface="Montserrat Light"/>
                <a:ea typeface="Montserrat Light"/>
                <a:cs typeface="Montserrat Light"/>
                <a:sym typeface="Montserrat Light"/>
              </a:rPr>
              <a:t>The inequality is so great that the poorest 50% could increase their their emissions, and quality of life, and we could still stay within 1.5 - 2° global warming targets</a:t>
            </a:r>
            <a:endParaRPr sz="2400">
              <a:solidFill>
                <a:srgbClr val="1E2124"/>
              </a:solidFill>
              <a:latin typeface="Montserrat Light"/>
              <a:ea typeface="Montserrat Light"/>
              <a:cs typeface="Montserrat Light"/>
              <a:sym typeface="Montserrat Light"/>
            </a:endParaRPr>
          </a:p>
          <a:p>
            <a:pPr indent="-381000" lvl="0" marL="457200" rtl="0" algn="l">
              <a:spcBef>
                <a:spcPts val="0"/>
              </a:spcBef>
              <a:spcAft>
                <a:spcPts val="0"/>
              </a:spcAft>
              <a:buClr>
                <a:srgbClr val="2AC3F3"/>
              </a:buClr>
              <a:buSzPts val="2400"/>
              <a:buFont typeface="Montserrat Light"/>
              <a:buChar char="●"/>
            </a:pPr>
            <a:r>
              <a:rPr lang="en" sz="2400">
                <a:solidFill>
                  <a:srgbClr val="1E2124"/>
                </a:solidFill>
                <a:latin typeface="Montserrat Light"/>
                <a:ea typeface="Montserrat Light"/>
                <a:cs typeface="Montserrat Light"/>
                <a:sym typeface="Montserrat Light"/>
              </a:rPr>
              <a:t>Some people can (and must) do more than others.</a:t>
            </a:r>
            <a:endParaRPr sz="2400">
              <a:solidFill>
                <a:srgbClr val="1E2124"/>
              </a:solidFill>
              <a:latin typeface="Montserrat Light"/>
              <a:ea typeface="Montserrat Light"/>
              <a:cs typeface="Montserrat Light"/>
              <a:sym typeface="Montserrat Light"/>
            </a:endParaRPr>
          </a:p>
          <a:p>
            <a:pPr indent="0" lvl="0" marL="0" rtl="0" algn="l">
              <a:spcBef>
                <a:spcPts val="100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857a7c7c9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c857a7c7c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c8311743a6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c8311743a6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8311743a6_0_14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c8311743a6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8311743a6_0_14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c8311743a6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c8311743a6_0_1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3c8311743a6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c8311743a6_0_2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3c8311743a6_0_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c8311743a6_0_49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g3c8311743a6_0_4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c8311743a6_0_7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c8311743a6_0_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bg>
      <p:bgPr>
        <a:gradFill>
          <a:gsLst>
            <a:gs pos="0">
              <a:schemeClr val="accent2"/>
            </a:gs>
            <a:gs pos="100000">
              <a:schemeClr val="accent1"/>
            </a:gs>
          </a:gsLst>
          <a:path path="circle">
            <a:fillToRect b="0%" l="100%" r="0%" t="100%"/>
          </a:path>
          <a:tileRect b="-100%" l="0%" r="-100%" t="0%"/>
        </a:gradFill>
      </p:bgPr>
    </p:bg>
    <p:spTree>
      <p:nvGrpSpPr>
        <p:cNvPr id="56" name="Shape 56"/>
        <p:cNvGrpSpPr/>
        <p:nvPr/>
      </p:nvGrpSpPr>
      <p:grpSpPr>
        <a:xfrm>
          <a:off x="0" y="0"/>
          <a:ext cx="0" cy="0"/>
          <a:chOff x="0" y="0"/>
          <a:chExt cx="0" cy="0"/>
        </a:xfrm>
      </p:grpSpPr>
      <p:grpSp>
        <p:nvGrpSpPr>
          <p:cNvPr id="57" name="Google Shape;57;p14"/>
          <p:cNvGrpSpPr/>
          <p:nvPr/>
        </p:nvGrpSpPr>
        <p:grpSpPr>
          <a:xfrm>
            <a:off x="3078602" y="0"/>
            <a:ext cx="6065388" cy="5143642"/>
            <a:chOff x="2052402" y="0"/>
            <a:chExt cx="6065388" cy="5143642"/>
          </a:xfrm>
        </p:grpSpPr>
        <p:sp>
          <p:nvSpPr>
            <p:cNvPr id="58" name="Google Shape;58;p14"/>
            <p:cNvSpPr/>
            <p:nvPr/>
          </p:nvSpPr>
          <p:spPr>
            <a:xfrm>
              <a:off x="2052402" y="0"/>
              <a:ext cx="6065388" cy="5143500"/>
            </a:xfrm>
            <a:custGeom>
              <a:rect b="b" l="l" r="r" t="t"/>
              <a:pathLst>
                <a:path extrusionOk="0" h="6858000" w="8087184">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gradFill>
              <a:gsLst>
                <a:gs pos="0">
                  <a:srgbClr val="00D0FF">
                    <a:alpha val="10980"/>
                  </a:srgbClr>
                </a:gs>
                <a:gs pos="100000">
                  <a:srgbClr val="00D0FF">
                    <a:alpha val="10980"/>
                  </a:srgbClr>
                </a:gs>
              </a:gsLst>
              <a:path path="circle">
                <a:fillToRect b="0%" l="100%" r="0%" t="100%"/>
              </a:path>
              <a:tileRect b="-100%" l="0%" r="-100%" t="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9" name="Google Shape;59;p14"/>
            <p:cNvSpPr/>
            <p:nvPr/>
          </p:nvSpPr>
          <p:spPr>
            <a:xfrm>
              <a:off x="2052402" y="0"/>
              <a:ext cx="6065388" cy="5143642"/>
            </a:xfrm>
            <a:custGeom>
              <a:rect b="b" l="l" r="r" t="t"/>
              <a:pathLst>
                <a:path extrusionOk="0" h="6858190" w="8087184">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00D0FF">
                <a:alpha val="1098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 name="Google Shape;60;p14"/>
            <p:cNvSpPr/>
            <p:nvPr/>
          </p:nvSpPr>
          <p:spPr>
            <a:xfrm>
              <a:off x="2377837" y="210583"/>
              <a:ext cx="5576288" cy="4831090"/>
            </a:xfrm>
            <a:custGeom>
              <a:rect b="b" l="l" r="r" t="t"/>
              <a:pathLst>
                <a:path extrusionOk="0" h="6441453" w="7435051">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00D0FF">
                <a:alpha val="1098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61" name="Google Shape;61;p14"/>
          <p:cNvSpPr txBox="1"/>
          <p:nvPr>
            <p:ph type="ctrTitle"/>
          </p:nvPr>
        </p:nvSpPr>
        <p:spPr>
          <a:xfrm>
            <a:off x="685800" y="1771550"/>
            <a:ext cx="7772400" cy="16005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6000"/>
              <a:buNone/>
              <a:defRPr sz="6000">
                <a:solidFill>
                  <a:schemeClr val="lt1"/>
                </a:solidFill>
              </a:defRPr>
            </a:lvl1pPr>
            <a:lvl2pPr lvl="1" algn="l">
              <a:lnSpc>
                <a:spcPct val="90000"/>
              </a:lnSpc>
              <a:spcBef>
                <a:spcPts val="0"/>
              </a:spcBef>
              <a:spcAft>
                <a:spcPts val="0"/>
              </a:spcAft>
              <a:buClr>
                <a:schemeClr val="lt1"/>
              </a:buClr>
              <a:buSzPts val="6000"/>
              <a:buNone/>
              <a:defRPr sz="6000">
                <a:solidFill>
                  <a:schemeClr val="lt1"/>
                </a:solidFill>
              </a:defRPr>
            </a:lvl2pPr>
            <a:lvl3pPr lvl="2" algn="l">
              <a:lnSpc>
                <a:spcPct val="90000"/>
              </a:lnSpc>
              <a:spcBef>
                <a:spcPts val="0"/>
              </a:spcBef>
              <a:spcAft>
                <a:spcPts val="0"/>
              </a:spcAft>
              <a:buClr>
                <a:schemeClr val="lt1"/>
              </a:buClr>
              <a:buSzPts val="6000"/>
              <a:buNone/>
              <a:defRPr sz="6000">
                <a:solidFill>
                  <a:schemeClr val="lt1"/>
                </a:solidFill>
              </a:defRPr>
            </a:lvl3pPr>
            <a:lvl4pPr lvl="3" algn="l">
              <a:lnSpc>
                <a:spcPct val="90000"/>
              </a:lnSpc>
              <a:spcBef>
                <a:spcPts val="0"/>
              </a:spcBef>
              <a:spcAft>
                <a:spcPts val="0"/>
              </a:spcAft>
              <a:buClr>
                <a:schemeClr val="lt1"/>
              </a:buClr>
              <a:buSzPts val="6000"/>
              <a:buNone/>
              <a:defRPr sz="6000">
                <a:solidFill>
                  <a:schemeClr val="lt1"/>
                </a:solidFill>
              </a:defRPr>
            </a:lvl4pPr>
            <a:lvl5pPr lvl="4" algn="l">
              <a:lnSpc>
                <a:spcPct val="90000"/>
              </a:lnSpc>
              <a:spcBef>
                <a:spcPts val="0"/>
              </a:spcBef>
              <a:spcAft>
                <a:spcPts val="0"/>
              </a:spcAft>
              <a:buClr>
                <a:schemeClr val="lt1"/>
              </a:buClr>
              <a:buSzPts val="6000"/>
              <a:buNone/>
              <a:defRPr sz="6000">
                <a:solidFill>
                  <a:schemeClr val="lt1"/>
                </a:solidFill>
              </a:defRPr>
            </a:lvl5pPr>
            <a:lvl6pPr lvl="5" algn="l">
              <a:lnSpc>
                <a:spcPct val="90000"/>
              </a:lnSpc>
              <a:spcBef>
                <a:spcPts val="0"/>
              </a:spcBef>
              <a:spcAft>
                <a:spcPts val="0"/>
              </a:spcAft>
              <a:buClr>
                <a:schemeClr val="lt1"/>
              </a:buClr>
              <a:buSzPts val="6000"/>
              <a:buNone/>
              <a:defRPr sz="6000">
                <a:solidFill>
                  <a:schemeClr val="lt1"/>
                </a:solidFill>
              </a:defRPr>
            </a:lvl6pPr>
            <a:lvl7pPr lvl="6" algn="l">
              <a:lnSpc>
                <a:spcPct val="90000"/>
              </a:lnSpc>
              <a:spcBef>
                <a:spcPts val="0"/>
              </a:spcBef>
              <a:spcAft>
                <a:spcPts val="0"/>
              </a:spcAft>
              <a:buClr>
                <a:schemeClr val="lt1"/>
              </a:buClr>
              <a:buSzPts val="6000"/>
              <a:buNone/>
              <a:defRPr sz="6000">
                <a:solidFill>
                  <a:schemeClr val="lt1"/>
                </a:solidFill>
              </a:defRPr>
            </a:lvl7pPr>
            <a:lvl8pPr lvl="7" algn="l">
              <a:lnSpc>
                <a:spcPct val="90000"/>
              </a:lnSpc>
              <a:spcBef>
                <a:spcPts val="0"/>
              </a:spcBef>
              <a:spcAft>
                <a:spcPts val="0"/>
              </a:spcAft>
              <a:buClr>
                <a:schemeClr val="lt1"/>
              </a:buClr>
              <a:buSzPts val="6000"/>
              <a:buNone/>
              <a:defRPr sz="6000">
                <a:solidFill>
                  <a:schemeClr val="lt1"/>
                </a:solidFill>
              </a:defRPr>
            </a:lvl8pPr>
            <a:lvl9pPr lvl="8" algn="l">
              <a:lnSpc>
                <a:spcPct val="90000"/>
              </a:lnSpc>
              <a:spcBef>
                <a:spcPts val="0"/>
              </a:spcBef>
              <a:spcAft>
                <a:spcPts val="0"/>
              </a:spcAft>
              <a:buClr>
                <a:schemeClr val="lt1"/>
              </a:buClr>
              <a:buSzPts val="6000"/>
              <a:buNone/>
              <a:defRPr sz="60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bg>
      <p:bgPr>
        <a:gradFill>
          <a:gsLst>
            <a:gs pos="0">
              <a:schemeClr val="accent1"/>
            </a:gs>
            <a:gs pos="100000">
              <a:srgbClr val="D1F6FF"/>
            </a:gs>
          </a:gsLst>
          <a:path path="circle">
            <a:fillToRect b="0%" l="100%" r="0%" t="100%"/>
          </a:path>
          <a:tileRect b="-100%" l="0%" r="-100%" t="0%"/>
        </a:gradFill>
      </p:bgPr>
    </p:bg>
    <p:spTree>
      <p:nvGrpSpPr>
        <p:cNvPr id="62" name="Shape 62"/>
        <p:cNvGrpSpPr/>
        <p:nvPr/>
      </p:nvGrpSpPr>
      <p:grpSpPr>
        <a:xfrm>
          <a:off x="0" y="0"/>
          <a:ext cx="0" cy="0"/>
          <a:chOff x="0" y="0"/>
          <a:chExt cx="0" cy="0"/>
        </a:xfrm>
      </p:grpSpPr>
      <p:grpSp>
        <p:nvGrpSpPr>
          <p:cNvPr id="63" name="Google Shape;63;p15"/>
          <p:cNvGrpSpPr/>
          <p:nvPr/>
        </p:nvGrpSpPr>
        <p:grpSpPr>
          <a:xfrm>
            <a:off x="3078602" y="0"/>
            <a:ext cx="6065388" cy="5143642"/>
            <a:chOff x="2052402" y="0"/>
            <a:chExt cx="6065388" cy="5143642"/>
          </a:xfrm>
        </p:grpSpPr>
        <p:sp>
          <p:nvSpPr>
            <p:cNvPr id="64" name="Google Shape;64;p15"/>
            <p:cNvSpPr/>
            <p:nvPr/>
          </p:nvSpPr>
          <p:spPr>
            <a:xfrm>
              <a:off x="2052402" y="0"/>
              <a:ext cx="6065388" cy="5143500"/>
            </a:xfrm>
            <a:custGeom>
              <a:rect b="b" l="l" r="r" t="t"/>
              <a:pathLst>
                <a:path extrusionOk="0" h="6858000" w="8087184">
                  <a:moveTo>
                    <a:pt x="7505580" y="6858000"/>
                  </a:moveTo>
                  <a:lnTo>
                    <a:pt x="7696738" y="6858000"/>
                  </a:lnTo>
                  <a:cubicBezTo>
                    <a:pt x="7718274" y="6613807"/>
                    <a:pt x="7866550" y="6398978"/>
                    <a:pt x="8087184" y="6292327"/>
                  </a:cubicBezTo>
                  <a:lnTo>
                    <a:pt x="8087184" y="6085824"/>
                  </a:lnTo>
                  <a:cubicBezTo>
                    <a:pt x="7757916" y="6205690"/>
                    <a:pt x="7529976" y="6508299"/>
                    <a:pt x="7505580" y="6858000"/>
                  </a:cubicBezTo>
                  <a:close/>
                  <a:moveTo>
                    <a:pt x="7109988" y="6858000"/>
                  </a:moveTo>
                  <a:lnTo>
                    <a:pt x="7300574" y="6858000"/>
                  </a:lnTo>
                  <a:cubicBezTo>
                    <a:pt x="7326176" y="6394974"/>
                    <a:pt x="7641722" y="5998774"/>
                    <a:pt x="8087184" y="5870486"/>
                  </a:cubicBezTo>
                  <a:lnTo>
                    <a:pt x="8087184" y="5673454"/>
                  </a:lnTo>
                  <a:cubicBezTo>
                    <a:pt x="7534740" y="5807487"/>
                    <a:pt x="7136797" y="6289898"/>
                    <a:pt x="7109988" y="6858000"/>
                  </a:cubicBezTo>
                  <a:close/>
                  <a:moveTo>
                    <a:pt x="6319630" y="6858000"/>
                  </a:moveTo>
                  <a:lnTo>
                    <a:pt x="6510215" y="6858000"/>
                  </a:lnTo>
                  <a:cubicBezTo>
                    <a:pt x="6538485" y="5958928"/>
                    <a:pt x="7199691" y="5205998"/>
                    <a:pt x="8087184" y="5062145"/>
                  </a:cubicBezTo>
                  <a:lnTo>
                    <a:pt x="8087184" y="4869180"/>
                  </a:lnTo>
                  <a:cubicBezTo>
                    <a:pt x="7093725" y="5015188"/>
                    <a:pt x="6348402" y="5853783"/>
                    <a:pt x="6319630" y="6858000"/>
                  </a:cubicBezTo>
                  <a:close/>
                  <a:moveTo>
                    <a:pt x="6714777" y="6858000"/>
                  </a:moveTo>
                  <a:lnTo>
                    <a:pt x="6905363" y="6858000"/>
                  </a:lnTo>
                  <a:cubicBezTo>
                    <a:pt x="6932680" y="6177012"/>
                    <a:pt x="7419944" y="5602103"/>
                    <a:pt x="8086993" y="5463773"/>
                  </a:cubicBezTo>
                  <a:lnTo>
                    <a:pt x="8086993" y="5269538"/>
                  </a:lnTo>
                  <a:cubicBezTo>
                    <a:pt x="7313661" y="5411166"/>
                    <a:pt x="6742920" y="6071943"/>
                    <a:pt x="6714968" y="6858000"/>
                  </a:cubicBezTo>
                  <a:close/>
                  <a:moveTo>
                    <a:pt x="7902253" y="6858000"/>
                  </a:moveTo>
                  <a:lnTo>
                    <a:pt x="8087184" y="6858000"/>
                  </a:lnTo>
                  <a:lnTo>
                    <a:pt x="8087184" y="6532261"/>
                  </a:lnTo>
                  <a:cubicBezTo>
                    <a:pt x="7984903" y="6612091"/>
                    <a:pt x="7918389" y="6729230"/>
                    <a:pt x="7902253" y="6858000"/>
                  </a:cubicBezTo>
                  <a:close/>
                  <a:moveTo>
                    <a:pt x="1916910" y="2551824"/>
                  </a:moveTo>
                  <a:cubicBezTo>
                    <a:pt x="2641015" y="1478290"/>
                    <a:pt x="3620238" y="601442"/>
                    <a:pt x="4766674" y="0"/>
                  </a:cubicBezTo>
                  <a:lnTo>
                    <a:pt x="4372797" y="0"/>
                  </a:lnTo>
                  <a:cubicBezTo>
                    <a:pt x="4217787" y="90127"/>
                    <a:pt x="4065999" y="185317"/>
                    <a:pt x="3917425" y="285570"/>
                  </a:cubicBezTo>
                  <a:cubicBezTo>
                    <a:pt x="2632356" y="1153193"/>
                    <a:pt x="1626642" y="2375366"/>
                    <a:pt x="1022365" y="3803743"/>
                  </a:cubicBezTo>
                  <a:cubicBezTo>
                    <a:pt x="613622" y="4771490"/>
                    <a:pt x="402707" y="5798792"/>
                    <a:pt x="395021" y="6858000"/>
                  </a:cubicBezTo>
                  <a:lnTo>
                    <a:pt x="585606" y="6858000"/>
                  </a:lnTo>
                  <a:cubicBezTo>
                    <a:pt x="593293" y="5824406"/>
                    <a:pt x="799126" y="4822147"/>
                    <a:pt x="1197894" y="3877980"/>
                  </a:cubicBezTo>
                  <a:cubicBezTo>
                    <a:pt x="1394236" y="3413753"/>
                    <a:pt x="1635028" y="2969629"/>
                    <a:pt x="1916910" y="2551824"/>
                  </a:cubicBezTo>
                  <a:close/>
                  <a:moveTo>
                    <a:pt x="1589421" y="2330830"/>
                  </a:moveTo>
                  <a:cubicBezTo>
                    <a:pt x="2178972" y="1457633"/>
                    <a:pt x="2930502" y="705726"/>
                    <a:pt x="3803264" y="115868"/>
                  </a:cubicBezTo>
                  <a:cubicBezTo>
                    <a:pt x="3861583" y="76504"/>
                    <a:pt x="3920429" y="37881"/>
                    <a:pt x="3979810" y="0"/>
                  </a:cubicBezTo>
                  <a:lnTo>
                    <a:pt x="3635104" y="0"/>
                  </a:lnTo>
                  <a:cubicBezTo>
                    <a:pt x="2315489" y="907938"/>
                    <a:pt x="1282730" y="2174291"/>
                    <a:pt x="658473" y="3649867"/>
                  </a:cubicBezTo>
                  <a:cubicBezTo>
                    <a:pt x="229084" y="4666364"/>
                    <a:pt x="7814" y="5745720"/>
                    <a:pt x="0" y="6858000"/>
                  </a:cubicBezTo>
                  <a:lnTo>
                    <a:pt x="190586" y="6858000"/>
                  </a:lnTo>
                  <a:cubicBezTo>
                    <a:pt x="198336" y="5771144"/>
                    <a:pt x="414587" y="4716957"/>
                    <a:pt x="833939" y="3724104"/>
                  </a:cubicBezTo>
                  <a:cubicBezTo>
                    <a:pt x="1040191" y="3236353"/>
                    <a:pt x="1293200" y="2769749"/>
                    <a:pt x="1589421" y="2330830"/>
                  </a:cubicBezTo>
                  <a:close/>
                  <a:moveTo>
                    <a:pt x="2572017" y="2993622"/>
                  </a:moveTo>
                  <a:cubicBezTo>
                    <a:pt x="3332930" y="1865656"/>
                    <a:pt x="4404701" y="982881"/>
                    <a:pt x="5657281" y="452412"/>
                  </a:cubicBezTo>
                  <a:cubicBezTo>
                    <a:pt x="6154760" y="241841"/>
                    <a:pt x="6675072" y="90013"/>
                    <a:pt x="7207695" y="0"/>
                  </a:cubicBezTo>
                  <a:lnTo>
                    <a:pt x="6359208" y="0"/>
                  </a:lnTo>
                  <a:cubicBezTo>
                    <a:pt x="4284670" y="610249"/>
                    <a:pt x="2593089" y="2119237"/>
                    <a:pt x="1750212" y="4111495"/>
                  </a:cubicBezTo>
                  <a:cubicBezTo>
                    <a:pt x="1382635" y="4981807"/>
                    <a:pt x="1192558" y="5905571"/>
                    <a:pt x="1184807" y="6858000"/>
                  </a:cubicBezTo>
                  <a:lnTo>
                    <a:pt x="1375393" y="6858000"/>
                  </a:lnTo>
                  <a:cubicBezTo>
                    <a:pt x="1383080" y="5931185"/>
                    <a:pt x="1568075" y="5032463"/>
                    <a:pt x="1925741" y="4185732"/>
                  </a:cubicBezTo>
                  <a:cubicBezTo>
                    <a:pt x="2102147" y="3768398"/>
                    <a:pt x="2318583" y="3369160"/>
                    <a:pt x="2572017" y="2993622"/>
                  </a:cubicBezTo>
                  <a:close/>
                  <a:moveTo>
                    <a:pt x="2244464" y="2772819"/>
                  </a:moveTo>
                  <a:cubicBezTo>
                    <a:pt x="3048163" y="1581236"/>
                    <a:pt x="4180312" y="648682"/>
                    <a:pt x="5503478" y="88347"/>
                  </a:cubicBezTo>
                  <a:cubicBezTo>
                    <a:pt x="5576110" y="57669"/>
                    <a:pt x="5649085" y="28220"/>
                    <a:pt x="5722398" y="0"/>
                  </a:cubicBezTo>
                  <a:lnTo>
                    <a:pt x="5231195" y="0"/>
                  </a:lnTo>
                  <a:cubicBezTo>
                    <a:pt x="3500048" y="791829"/>
                    <a:pt x="2128257" y="2203840"/>
                    <a:pt x="1386320" y="3957619"/>
                  </a:cubicBezTo>
                  <a:cubicBezTo>
                    <a:pt x="998097" y="4876680"/>
                    <a:pt x="797664" y="5852181"/>
                    <a:pt x="789914" y="6858000"/>
                  </a:cubicBezTo>
                  <a:lnTo>
                    <a:pt x="980500" y="6858000"/>
                  </a:lnTo>
                  <a:cubicBezTo>
                    <a:pt x="988250" y="5877796"/>
                    <a:pt x="1183791" y="4927273"/>
                    <a:pt x="1561849" y="4031856"/>
                  </a:cubicBezTo>
                  <a:cubicBezTo>
                    <a:pt x="1748217" y="3591107"/>
                    <a:pt x="1976824" y="3169458"/>
                    <a:pt x="2244464" y="2772819"/>
                  </a:cubicBezTo>
                  <a:close/>
                  <a:moveTo>
                    <a:pt x="6645086" y="5174199"/>
                  </a:moveTo>
                  <a:cubicBezTo>
                    <a:pt x="6196994" y="5621603"/>
                    <a:pt x="5938846" y="6224801"/>
                    <a:pt x="5924482" y="6858000"/>
                  </a:cubicBezTo>
                  <a:lnTo>
                    <a:pt x="6115068" y="6858000"/>
                  </a:lnTo>
                  <a:cubicBezTo>
                    <a:pt x="6144113" y="5740903"/>
                    <a:pt x="6980009" y="4810427"/>
                    <a:pt x="8087184" y="4662805"/>
                  </a:cubicBezTo>
                  <a:lnTo>
                    <a:pt x="8087184" y="4470476"/>
                  </a:lnTo>
                  <a:cubicBezTo>
                    <a:pt x="7541283" y="4536958"/>
                    <a:pt x="7033500" y="4784755"/>
                    <a:pt x="6645086" y="5174199"/>
                  </a:cubicBezTo>
                  <a:close/>
                  <a:moveTo>
                    <a:pt x="5248665" y="3776858"/>
                  </a:moveTo>
                  <a:cubicBezTo>
                    <a:pt x="4429655" y="4594492"/>
                    <a:pt x="3963299" y="5700524"/>
                    <a:pt x="3949506" y="6858000"/>
                  </a:cubicBezTo>
                  <a:lnTo>
                    <a:pt x="4140092" y="6858000"/>
                  </a:lnTo>
                  <a:cubicBezTo>
                    <a:pt x="4168387" y="4649426"/>
                    <a:pt x="5884840" y="2831630"/>
                    <a:pt x="8087184" y="2677862"/>
                  </a:cubicBezTo>
                  <a:lnTo>
                    <a:pt x="8087184" y="2486740"/>
                  </a:lnTo>
                  <a:cubicBezTo>
                    <a:pt x="7015966" y="2558053"/>
                    <a:pt x="6007247" y="3016624"/>
                    <a:pt x="5248983" y="3776985"/>
                  </a:cubicBezTo>
                  <a:close/>
                  <a:moveTo>
                    <a:pt x="4410660" y="2938516"/>
                  </a:moveTo>
                  <a:cubicBezTo>
                    <a:pt x="3369116" y="3978263"/>
                    <a:pt x="2777913" y="5386016"/>
                    <a:pt x="2764635" y="6858000"/>
                  </a:cubicBezTo>
                  <a:lnTo>
                    <a:pt x="2955221" y="6858000"/>
                  </a:lnTo>
                  <a:cubicBezTo>
                    <a:pt x="2982996" y="3994566"/>
                    <a:pt x="5229175" y="1645170"/>
                    <a:pt x="8087184" y="1490201"/>
                  </a:cubicBezTo>
                  <a:lnTo>
                    <a:pt x="8087184" y="1299524"/>
                  </a:lnTo>
                  <a:cubicBezTo>
                    <a:pt x="6701118" y="1371556"/>
                    <a:pt x="5391045" y="1955579"/>
                    <a:pt x="4410660" y="2938516"/>
                  </a:cubicBezTo>
                  <a:close/>
                  <a:moveTo>
                    <a:pt x="4131135" y="2658858"/>
                  </a:moveTo>
                  <a:cubicBezTo>
                    <a:pt x="3581562" y="3207390"/>
                    <a:pt x="3143742" y="3857527"/>
                    <a:pt x="2842013" y="4573123"/>
                  </a:cubicBezTo>
                  <a:cubicBezTo>
                    <a:pt x="2536123" y="5297313"/>
                    <a:pt x="2377365" y="6065676"/>
                    <a:pt x="2369615" y="6858000"/>
                  </a:cubicBezTo>
                  <a:lnTo>
                    <a:pt x="2560201" y="6858000"/>
                  </a:lnTo>
                  <a:cubicBezTo>
                    <a:pt x="2567887" y="6091353"/>
                    <a:pt x="2721563" y="5347905"/>
                    <a:pt x="3017606" y="4647360"/>
                  </a:cubicBezTo>
                  <a:cubicBezTo>
                    <a:pt x="3885813" y="2587735"/>
                    <a:pt x="5855795" y="1207104"/>
                    <a:pt x="8087184" y="1094420"/>
                  </a:cubicBezTo>
                  <a:lnTo>
                    <a:pt x="8087184" y="903743"/>
                  </a:lnTo>
                  <a:cubicBezTo>
                    <a:pt x="6596296" y="976143"/>
                    <a:pt x="5185918" y="1602077"/>
                    <a:pt x="4131643" y="2659239"/>
                  </a:cubicBezTo>
                  <a:close/>
                  <a:moveTo>
                    <a:pt x="3851609" y="2379199"/>
                  </a:moveTo>
                  <a:cubicBezTo>
                    <a:pt x="3266022" y="2963794"/>
                    <a:pt x="2799525" y="3656649"/>
                    <a:pt x="2478058" y="4419247"/>
                  </a:cubicBezTo>
                  <a:cubicBezTo>
                    <a:pt x="2151585" y="5192123"/>
                    <a:pt x="1982535" y="6012350"/>
                    <a:pt x="1974721" y="6858000"/>
                  </a:cubicBezTo>
                  <a:lnTo>
                    <a:pt x="2165307" y="6858000"/>
                  </a:lnTo>
                  <a:cubicBezTo>
                    <a:pt x="2172994" y="6038091"/>
                    <a:pt x="2337152" y="5242779"/>
                    <a:pt x="2653651" y="4493611"/>
                  </a:cubicBezTo>
                  <a:cubicBezTo>
                    <a:pt x="3583550" y="2287642"/>
                    <a:pt x="5696853" y="811831"/>
                    <a:pt x="8087184" y="699147"/>
                  </a:cubicBezTo>
                  <a:lnTo>
                    <a:pt x="8087184" y="508471"/>
                  </a:lnTo>
                  <a:cubicBezTo>
                    <a:pt x="6491347" y="580803"/>
                    <a:pt x="4980435" y="1248328"/>
                    <a:pt x="3851990" y="2379580"/>
                  </a:cubicBezTo>
                  <a:close/>
                  <a:moveTo>
                    <a:pt x="6365561" y="4894350"/>
                  </a:moveTo>
                  <a:cubicBezTo>
                    <a:pt x="5843312" y="5415945"/>
                    <a:pt x="5543596" y="6119847"/>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689995" y="3217985"/>
                  </a:moveTo>
                  <a:cubicBezTo>
                    <a:pt x="3722659" y="4183711"/>
                    <a:pt x="3173060" y="5490862"/>
                    <a:pt x="3159529" y="6858000"/>
                  </a:cubicBezTo>
                  <a:lnTo>
                    <a:pt x="3350115" y="6858000"/>
                  </a:lnTo>
                  <a:cubicBezTo>
                    <a:pt x="3378080" y="4212840"/>
                    <a:pt x="5447656" y="2040614"/>
                    <a:pt x="8087184" y="1885982"/>
                  </a:cubicBezTo>
                  <a:lnTo>
                    <a:pt x="8087184" y="1694988"/>
                  </a:lnTo>
                  <a:cubicBezTo>
                    <a:pt x="6806004" y="1766892"/>
                    <a:pt x="5596357" y="2309182"/>
                    <a:pt x="4689995" y="3217985"/>
                  </a:cubicBezTo>
                  <a:close/>
                  <a:moveTo>
                    <a:pt x="5736946" y="640864"/>
                  </a:moveTo>
                  <a:cubicBezTo>
                    <a:pt x="4104688" y="1332467"/>
                    <a:pt x="2805440" y="2632335"/>
                    <a:pt x="2114167" y="4265371"/>
                  </a:cubicBezTo>
                  <a:cubicBezTo>
                    <a:pt x="1767110" y="5086996"/>
                    <a:pt x="1587515" y="5958960"/>
                    <a:pt x="1579828" y="6858000"/>
                  </a:cubicBezTo>
                  <a:lnTo>
                    <a:pt x="1770414" y="6858000"/>
                  </a:lnTo>
                  <a:cubicBezTo>
                    <a:pt x="1778101" y="5984575"/>
                    <a:pt x="1952613" y="5137589"/>
                    <a:pt x="2289696" y="4339608"/>
                  </a:cubicBezTo>
                  <a:cubicBezTo>
                    <a:pt x="3281262" y="1987231"/>
                    <a:pt x="5537892" y="416179"/>
                    <a:pt x="8087184" y="303430"/>
                  </a:cubicBezTo>
                  <a:lnTo>
                    <a:pt x="8087184" y="112753"/>
                  </a:lnTo>
                  <a:cubicBezTo>
                    <a:pt x="7278466" y="146573"/>
                    <a:pt x="6482453" y="325450"/>
                    <a:pt x="5736946" y="640864"/>
                  </a:cubicBezTo>
                  <a:close/>
                  <a:moveTo>
                    <a:pt x="4969330" y="3497453"/>
                  </a:moveTo>
                  <a:cubicBezTo>
                    <a:pt x="4076132" y="4389101"/>
                    <a:pt x="3568132" y="5595696"/>
                    <a:pt x="3554486" y="6858000"/>
                  </a:cubicBezTo>
                  <a:lnTo>
                    <a:pt x="3745072" y="6858000"/>
                  </a:lnTo>
                  <a:cubicBezTo>
                    <a:pt x="3773202" y="4431107"/>
                    <a:pt x="5666194" y="2436046"/>
                    <a:pt x="8087184" y="2281763"/>
                  </a:cubicBezTo>
                  <a:lnTo>
                    <a:pt x="8087184" y="2091086"/>
                  </a:lnTo>
                  <a:cubicBezTo>
                    <a:pt x="6910953" y="2162571"/>
                    <a:pt x="5801707" y="2662919"/>
                    <a:pt x="4969330" y="3497453"/>
                  </a:cubicBezTo>
                  <a:close/>
                  <a:moveTo>
                    <a:pt x="6086607" y="4615263"/>
                  </a:moveTo>
                  <a:cubicBezTo>
                    <a:pt x="5490118" y="5210739"/>
                    <a:pt x="5148633" y="6015070"/>
                    <a:pt x="5134441" y="6858000"/>
                  </a:cubicBezTo>
                  <a:lnTo>
                    <a:pt x="5325027" y="6858000"/>
                  </a:lnTo>
                  <a:cubicBezTo>
                    <a:pt x="5353570" y="5304190"/>
                    <a:pt x="6541217" y="4018292"/>
                    <a:pt x="8087184" y="3867302"/>
                  </a:cubicBezTo>
                  <a:lnTo>
                    <a:pt x="8087184" y="3675799"/>
                  </a:lnTo>
                  <a:cubicBezTo>
                    <a:pt x="7330940" y="3744977"/>
                    <a:pt x="6622978" y="4077447"/>
                    <a:pt x="6086607" y="4615263"/>
                  </a:cubicBezTo>
                  <a:close/>
                  <a:moveTo>
                    <a:pt x="5807081" y="4335604"/>
                  </a:moveTo>
                  <a:cubicBezTo>
                    <a:pt x="5136353" y="5005171"/>
                    <a:pt x="4753231" y="5910147"/>
                    <a:pt x="4739230" y="6858000"/>
                  </a:cubicBezTo>
                  <a:lnTo>
                    <a:pt x="4929815" y="6858000"/>
                  </a:lnTo>
                  <a:cubicBezTo>
                    <a:pt x="4958327" y="5085840"/>
                    <a:pt x="6322177" y="3622499"/>
                    <a:pt x="8087184" y="3470313"/>
                  </a:cubicBezTo>
                  <a:lnTo>
                    <a:pt x="8087184" y="3279192"/>
                  </a:lnTo>
                  <a:cubicBezTo>
                    <a:pt x="7225928" y="3349227"/>
                    <a:pt x="6417654" y="3723799"/>
                    <a:pt x="5807335" y="4335794"/>
                  </a:cubicBezTo>
                  <a:close/>
                  <a:moveTo>
                    <a:pt x="5527556" y="4055945"/>
                  </a:moveTo>
                  <a:cubicBezTo>
                    <a:pt x="4782753" y="4799672"/>
                    <a:pt x="4358160" y="5805294"/>
                    <a:pt x="4344463" y="6858000"/>
                  </a:cubicBezTo>
                  <a:lnTo>
                    <a:pt x="4535049" y="6858000"/>
                  </a:lnTo>
                  <a:cubicBezTo>
                    <a:pt x="4563415" y="4867661"/>
                    <a:pt x="6103486" y="3227074"/>
                    <a:pt x="8087184" y="3074024"/>
                  </a:cubicBezTo>
                  <a:lnTo>
                    <a:pt x="8087184" y="2882775"/>
                  </a:lnTo>
                  <a:cubicBezTo>
                    <a:pt x="7120852" y="2953516"/>
                    <a:pt x="6212355" y="3370126"/>
                    <a:pt x="5528000" y="4056326"/>
                  </a:cubicBezTo>
                  <a:close/>
                </a:path>
              </a:pathLst>
            </a:custGeom>
            <a:solidFill>
              <a:srgbClr val="005CC2">
                <a:alpha val="784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 name="Google Shape;65;p15"/>
            <p:cNvSpPr/>
            <p:nvPr/>
          </p:nvSpPr>
          <p:spPr>
            <a:xfrm>
              <a:off x="2052402" y="0"/>
              <a:ext cx="6065388" cy="5143642"/>
            </a:xfrm>
            <a:custGeom>
              <a:rect b="b" l="l" r="r" t="t"/>
              <a:pathLst>
                <a:path extrusionOk="0" h="6858190" w="8087184">
                  <a:moveTo>
                    <a:pt x="6366259" y="1870219"/>
                  </a:moveTo>
                  <a:cubicBezTo>
                    <a:pt x="6414478" y="1849137"/>
                    <a:pt x="6436522" y="1792932"/>
                    <a:pt x="6415430" y="1744684"/>
                  </a:cubicBezTo>
                  <a:cubicBezTo>
                    <a:pt x="6395292" y="1698629"/>
                    <a:pt x="6342913" y="1676110"/>
                    <a:pt x="6295679" y="1693208"/>
                  </a:cubicBezTo>
                  <a:cubicBezTo>
                    <a:pt x="4468935" y="2426156"/>
                    <a:pt x="3157737" y="4060756"/>
                    <a:pt x="2838011" y="6003706"/>
                  </a:cubicBezTo>
                  <a:cubicBezTo>
                    <a:pt x="2829536" y="6055671"/>
                    <a:pt x="2864769" y="6104675"/>
                    <a:pt x="2916716" y="6113154"/>
                  </a:cubicBezTo>
                  <a:cubicBezTo>
                    <a:pt x="2916716" y="6113154"/>
                    <a:pt x="2916723" y="6113154"/>
                    <a:pt x="2916723" y="6113154"/>
                  </a:cubicBezTo>
                  <a:cubicBezTo>
                    <a:pt x="2921824" y="6114012"/>
                    <a:pt x="2926989" y="6114438"/>
                    <a:pt x="2932160" y="6114425"/>
                  </a:cubicBezTo>
                  <a:cubicBezTo>
                    <a:pt x="2978841" y="6114381"/>
                    <a:pt x="3018616" y="6080504"/>
                    <a:pt x="3026119" y="6034405"/>
                  </a:cubicBezTo>
                  <a:cubicBezTo>
                    <a:pt x="3335065" y="4157486"/>
                    <a:pt x="4601646" y="2578418"/>
                    <a:pt x="6366259" y="1870219"/>
                  </a:cubicBezTo>
                  <a:close/>
                  <a:moveTo>
                    <a:pt x="2680460" y="5322927"/>
                  </a:moveTo>
                  <a:cubicBezTo>
                    <a:pt x="2629555" y="5309637"/>
                    <a:pt x="2577512" y="5340139"/>
                    <a:pt x="2564203" y="5391062"/>
                  </a:cubicBezTo>
                  <a:cubicBezTo>
                    <a:pt x="2439623" y="5870239"/>
                    <a:pt x="2374272" y="6362877"/>
                    <a:pt x="2369615" y="6858000"/>
                  </a:cubicBezTo>
                  <a:lnTo>
                    <a:pt x="2560201" y="6858000"/>
                  </a:lnTo>
                  <a:cubicBezTo>
                    <a:pt x="2564794" y="6379148"/>
                    <a:pt x="2628055" y="5902679"/>
                    <a:pt x="2748563" y="5439240"/>
                  </a:cubicBezTo>
                  <a:cubicBezTo>
                    <a:pt x="2761847" y="5388310"/>
                    <a:pt x="2731365" y="5336243"/>
                    <a:pt x="2680460" y="5322927"/>
                  </a:cubicBezTo>
                  <a:close/>
                  <a:moveTo>
                    <a:pt x="2239000" y="4214715"/>
                  </a:moveTo>
                  <a:cubicBezTo>
                    <a:pt x="2190503" y="4194261"/>
                    <a:pt x="2134617" y="4217016"/>
                    <a:pt x="2114179" y="4265537"/>
                  </a:cubicBezTo>
                  <a:cubicBezTo>
                    <a:pt x="2114173" y="4265543"/>
                    <a:pt x="2114173" y="4265556"/>
                    <a:pt x="2114167" y="4265562"/>
                  </a:cubicBezTo>
                  <a:cubicBezTo>
                    <a:pt x="1767110" y="5087187"/>
                    <a:pt x="1587515" y="5959151"/>
                    <a:pt x="1579828" y="6858191"/>
                  </a:cubicBezTo>
                  <a:lnTo>
                    <a:pt x="1770414" y="6858191"/>
                  </a:lnTo>
                  <a:cubicBezTo>
                    <a:pt x="1778101" y="5984765"/>
                    <a:pt x="1952613" y="5137780"/>
                    <a:pt x="2289696" y="4339799"/>
                  </a:cubicBezTo>
                  <a:cubicBezTo>
                    <a:pt x="2310254" y="4291329"/>
                    <a:pt x="2287638" y="4235359"/>
                    <a:pt x="2239191" y="4214797"/>
                  </a:cubicBezTo>
                  <a:cubicBezTo>
                    <a:pt x="2239127" y="4214766"/>
                    <a:pt x="2239064" y="4214740"/>
                    <a:pt x="2239000" y="4214715"/>
                  </a:cubicBezTo>
                  <a:close/>
                  <a:moveTo>
                    <a:pt x="2087612" y="6428088"/>
                  </a:moveTo>
                  <a:cubicBezTo>
                    <a:pt x="2035093" y="6424847"/>
                    <a:pt x="1989898" y="6464825"/>
                    <a:pt x="1986665" y="6517389"/>
                  </a:cubicBezTo>
                  <a:cubicBezTo>
                    <a:pt x="1979740" y="6630078"/>
                    <a:pt x="1975738" y="6744357"/>
                    <a:pt x="1974658" y="6858000"/>
                  </a:cubicBezTo>
                  <a:lnTo>
                    <a:pt x="2165244" y="6858000"/>
                  </a:lnTo>
                  <a:cubicBezTo>
                    <a:pt x="2166260" y="6748234"/>
                    <a:pt x="2170135" y="6637896"/>
                    <a:pt x="2176806" y="6529083"/>
                  </a:cubicBezTo>
                  <a:cubicBezTo>
                    <a:pt x="2180027" y="6476584"/>
                    <a:pt x="2140105" y="6431330"/>
                    <a:pt x="2087612" y="6428088"/>
                  </a:cubicBezTo>
                  <a:close/>
                  <a:moveTo>
                    <a:pt x="3486447" y="3682663"/>
                  </a:moveTo>
                  <a:cubicBezTo>
                    <a:pt x="3518040" y="3682689"/>
                    <a:pt x="3547593" y="3667047"/>
                    <a:pt x="3565349" y="3640906"/>
                  </a:cubicBezTo>
                  <a:cubicBezTo>
                    <a:pt x="3898042" y="3151394"/>
                    <a:pt x="4303100" y="2715260"/>
                    <a:pt x="4766674" y="2347419"/>
                  </a:cubicBezTo>
                  <a:cubicBezTo>
                    <a:pt x="4807898" y="2314686"/>
                    <a:pt x="4814797" y="2254712"/>
                    <a:pt x="4782080" y="2213469"/>
                  </a:cubicBezTo>
                  <a:cubicBezTo>
                    <a:pt x="4749362" y="2172225"/>
                    <a:pt x="4689417" y="2165323"/>
                    <a:pt x="4648193" y="2198056"/>
                  </a:cubicBezTo>
                  <a:cubicBezTo>
                    <a:pt x="4169519" y="2577934"/>
                    <a:pt x="3751284" y="3028338"/>
                    <a:pt x="3407798" y="3533872"/>
                  </a:cubicBezTo>
                  <a:cubicBezTo>
                    <a:pt x="3378188" y="3577397"/>
                    <a:pt x="3389451" y="3636704"/>
                    <a:pt x="3432956" y="3666329"/>
                  </a:cubicBezTo>
                  <a:cubicBezTo>
                    <a:pt x="3448730" y="3677071"/>
                    <a:pt x="3467363" y="3682829"/>
                    <a:pt x="3486447" y="3682854"/>
                  </a:cubicBezTo>
                  <a:close/>
                  <a:moveTo>
                    <a:pt x="5285003" y="4471365"/>
                  </a:moveTo>
                  <a:cubicBezTo>
                    <a:pt x="5242903" y="4439770"/>
                    <a:pt x="5183174" y="4448313"/>
                    <a:pt x="5151593" y="4490433"/>
                  </a:cubicBezTo>
                  <a:cubicBezTo>
                    <a:pt x="4638429" y="5174034"/>
                    <a:pt x="4355873" y="6003210"/>
                    <a:pt x="4344781" y="6858064"/>
                  </a:cubicBezTo>
                  <a:lnTo>
                    <a:pt x="4535367" y="6858064"/>
                  </a:lnTo>
                  <a:cubicBezTo>
                    <a:pt x="4546427" y="6044479"/>
                    <a:pt x="4815610" y="5255459"/>
                    <a:pt x="5304062" y="4604903"/>
                  </a:cubicBezTo>
                  <a:cubicBezTo>
                    <a:pt x="5335661" y="4562795"/>
                    <a:pt x="5327161" y="4503030"/>
                    <a:pt x="5285074" y="4471416"/>
                  </a:cubicBezTo>
                  <a:cubicBezTo>
                    <a:pt x="5285048" y="4471403"/>
                    <a:pt x="5285029" y="4471384"/>
                    <a:pt x="5285003" y="4471365"/>
                  </a:cubicBezTo>
                  <a:close/>
                  <a:moveTo>
                    <a:pt x="6701690" y="2808030"/>
                  </a:moveTo>
                  <a:cubicBezTo>
                    <a:pt x="5767433" y="3193508"/>
                    <a:pt x="4991743" y="3885022"/>
                    <a:pt x="4501697" y="4769266"/>
                  </a:cubicBezTo>
                  <a:cubicBezTo>
                    <a:pt x="4475720" y="4815060"/>
                    <a:pt x="4491773" y="4873248"/>
                    <a:pt x="4537546" y="4899237"/>
                  </a:cubicBezTo>
                  <a:cubicBezTo>
                    <a:pt x="4583318" y="4925227"/>
                    <a:pt x="4641478" y="4909165"/>
                    <a:pt x="4667455" y="4863371"/>
                  </a:cubicBezTo>
                  <a:cubicBezTo>
                    <a:pt x="4667792" y="4862767"/>
                    <a:pt x="4668129" y="4862164"/>
                    <a:pt x="4668459" y="4861553"/>
                  </a:cubicBezTo>
                  <a:cubicBezTo>
                    <a:pt x="5137446" y="4015222"/>
                    <a:pt x="5879860" y="3353378"/>
                    <a:pt x="6774050" y="2984470"/>
                  </a:cubicBezTo>
                  <a:cubicBezTo>
                    <a:pt x="6822775" y="2964480"/>
                    <a:pt x="6846027" y="2908777"/>
                    <a:pt x="6826079" y="2860053"/>
                  </a:cubicBezTo>
                  <a:cubicBezTo>
                    <a:pt x="6806067" y="2811329"/>
                    <a:pt x="6750416" y="2788041"/>
                    <a:pt x="6701690" y="2808030"/>
                  </a:cubicBezTo>
                  <a:close/>
                  <a:moveTo>
                    <a:pt x="4156864" y="5925783"/>
                  </a:moveTo>
                  <a:cubicBezTo>
                    <a:pt x="4105367" y="5914933"/>
                    <a:pt x="4054824" y="5947901"/>
                    <a:pt x="4043980" y="5999428"/>
                  </a:cubicBezTo>
                  <a:cubicBezTo>
                    <a:pt x="4043973" y="5999435"/>
                    <a:pt x="4043973" y="5999441"/>
                    <a:pt x="4043973" y="5999447"/>
                  </a:cubicBezTo>
                  <a:cubicBezTo>
                    <a:pt x="3984905" y="6281916"/>
                    <a:pt x="3953267" y="6569443"/>
                    <a:pt x="3949506" y="6858000"/>
                  </a:cubicBezTo>
                  <a:lnTo>
                    <a:pt x="4140092" y="6858000"/>
                  </a:lnTo>
                  <a:cubicBezTo>
                    <a:pt x="4143866" y="6582600"/>
                    <a:pt x="4174143" y="6308242"/>
                    <a:pt x="4230493" y="6038663"/>
                  </a:cubicBezTo>
                  <a:cubicBezTo>
                    <a:pt x="4241299" y="5987155"/>
                    <a:pt x="4208341" y="5936626"/>
                    <a:pt x="4156864" y="5925783"/>
                  </a:cubicBezTo>
                  <a:close/>
                  <a:moveTo>
                    <a:pt x="5530160" y="2764810"/>
                  </a:moveTo>
                  <a:cubicBezTo>
                    <a:pt x="5974498" y="2457948"/>
                    <a:pt x="6465491" y="2225005"/>
                    <a:pt x="6984202" y="2075006"/>
                  </a:cubicBezTo>
                  <a:cubicBezTo>
                    <a:pt x="7034770" y="2060368"/>
                    <a:pt x="7063867" y="2007494"/>
                    <a:pt x="7049255" y="1956914"/>
                  </a:cubicBezTo>
                  <a:cubicBezTo>
                    <a:pt x="7034643" y="1906333"/>
                    <a:pt x="6981788" y="1877192"/>
                    <a:pt x="6931219" y="1891829"/>
                  </a:cubicBezTo>
                  <a:cubicBezTo>
                    <a:pt x="4715915" y="2532477"/>
                    <a:pt x="3182876" y="4551024"/>
                    <a:pt x="3159529" y="6858000"/>
                  </a:cubicBezTo>
                  <a:lnTo>
                    <a:pt x="3350115" y="6858000"/>
                  </a:lnTo>
                  <a:cubicBezTo>
                    <a:pt x="3368665" y="5220209"/>
                    <a:pt x="4181729" y="3693627"/>
                    <a:pt x="5530160" y="2764810"/>
                  </a:cubicBezTo>
                  <a:close/>
                  <a:moveTo>
                    <a:pt x="3857517" y="1312554"/>
                  </a:moveTo>
                  <a:cubicBezTo>
                    <a:pt x="2821278" y="2150298"/>
                    <a:pt x="2037615" y="3259196"/>
                    <a:pt x="1593677" y="4515920"/>
                  </a:cubicBezTo>
                  <a:cubicBezTo>
                    <a:pt x="1576137" y="4565572"/>
                    <a:pt x="1602146" y="4620055"/>
                    <a:pt x="1651774" y="4637604"/>
                  </a:cubicBezTo>
                  <a:cubicBezTo>
                    <a:pt x="1701402" y="4655152"/>
                    <a:pt x="1755859" y="4629131"/>
                    <a:pt x="1773399" y="4579479"/>
                  </a:cubicBezTo>
                  <a:cubicBezTo>
                    <a:pt x="2205610" y="3355958"/>
                    <a:pt x="2968581" y="2276360"/>
                    <a:pt x="3977459" y="1460773"/>
                  </a:cubicBezTo>
                  <a:cubicBezTo>
                    <a:pt x="4018371" y="1427634"/>
                    <a:pt x="4024686" y="1367596"/>
                    <a:pt x="3991562" y="1326664"/>
                  </a:cubicBezTo>
                  <a:cubicBezTo>
                    <a:pt x="3958439" y="1285732"/>
                    <a:pt x="3898430" y="1279414"/>
                    <a:pt x="3857517" y="1312554"/>
                  </a:cubicBezTo>
                  <a:close/>
                  <a:moveTo>
                    <a:pt x="2248403" y="2598095"/>
                  </a:moveTo>
                  <a:cubicBezTo>
                    <a:pt x="2204981" y="2568350"/>
                    <a:pt x="2145683" y="2579447"/>
                    <a:pt x="2115945" y="2622883"/>
                  </a:cubicBezTo>
                  <a:cubicBezTo>
                    <a:pt x="1635860" y="3322742"/>
                    <a:pt x="1277191" y="4098599"/>
                    <a:pt x="1055019" y="4917803"/>
                  </a:cubicBezTo>
                  <a:cubicBezTo>
                    <a:pt x="1039321" y="4968059"/>
                    <a:pt x="1067311" y="5021531"/>
                    <a:pt x="1117543" y="5037242"/>
                  </a:cubicBezTo>
                  <a:cubicBezTo>
                    <a:pt x="1167775" y="5052948"/>
                    <a:pt x="1221222" y="5024944"/>
                    <a:pt x="1236926" y="4974688"/>
                  </a:cubicBezTo>
                  <a:cubicBezTo>
                    <a:pt x="1237638" y="4972400"/>
                    <a:pt x="1238267" y="4970093"/>
                    <a:pt x="1238807" y="4967760"/>
                  </a:cubicBezTo>
                  <a:cubicBezTo>
                    <a:pt x="1455452" y="4169149"/>
                    <a:pt x="1805119" y="3412786"/>
                    <a:pt x="2273115" y="2730488"/>
                  </a:cubicBezTo>
                  <a:cubicBezTo>
                    <a:pt x="2302770" y="2687090"/>
                    <a:pt x="2291716" y="2627860"/>
                    <a:pt x="2248403" y="2598095"/>
                  </a:cubicBezTo>
                  <a:close/>
                  <a:moveTo>
                    <a:pt x="3182082" y="972450"/>
                  </a:moveTo>
                  <a:cubicBezTo>
                    <a:pt x="3216304" y="1012264"/>
                    <a:pt x="3276263" y="1016897"/>
                    <a:pt x="3316190" y="982811"/>
                  </a:cubicBezTo>
                  <a:cubicBezTo>
                    <a:pt x="3760979" y="601738"/>
                    <a:pt x="4247290" y="272053"/>
                    <a:pt x="4765912" y="0"/>
                  </a:cubicBezTo>
                  <a:lnTo>
                    <a:pt x="4372035" y="0"/>
                  </a:lnTo>
                  <a:cubicBezTo>
                    <a:pt x="3954366" y="243105"/>
                    <a:pt x="3559574" y="523572"/>
                    <a:pt x="3192500" y="837960"/>
                  </a:cubicBezTo>
                  <a:cubicBezTo>
                    <a:pt x="3152503" y="872186"/>
                    <a:pt x="3147814" y="932364"/>
                    <a:pt x="3182024" y="972381"/>
                  </a:cubicBezTo>
                  <a:cubicBezTo>
                    <a:pt x="3182043" y="972406"/>
                    <a:pt x="3182062" y="972425"/>
                    <a:pt x="3182082" y="972450"/>
                  </a:cubicBezTo>
                  <a:close/>
                  <a:moveTo>
                    <a:pt x="4503476" y="959103"/>
                  </a:moveTo>
                  <a:cubicBezTo>
                    <a:pt x="4531669" y="1003556"/>
                    <a:pt x="4590541" y="1016732"/>
                    <a:pt x="4634980" y="988531"/>
                  </a:cubicBezTo>
                  <a:cubicBezTo>
                    <a:pt x="5419589" y="490690"/>
                    <a:pt x="6295666" y="154609"/>
                    <a:pt x="7211824" y="0"/>
                  </a:cubicBezTo>
                  <a:lnTo>
                    <a:pt x="6361749" y="0"/>
                  </a:lnTo>
                  <a:cubicBezTo>
                    <a:pt x="5716216" y="188538"/>
                    <a:pt x="5100440" y="467098"/>
                    <a:pt x="4532571" y="827473"/>
                  </a:cubicBezTo>
                  <a:cubicBezTo>
                    <a:pt x="4488140" y="855680"/>
                    <a:pt x="4474970" y="914580"/>
                    <a:pt x="4503158" y="959040"/>
                  </a:cubicBezTo>
                  <a:close/>
                  <a:moveTo>
                    <a:pt x="4619923" y="423048"/>
                  </a:moveTo>
                  <a:cubicBezTo>
                    <a:pt x="4645786" y="468905"/>
                    <a:pt x="4703908" y="485105"/>
                    <a:pt x="4749744" y="459231"/>
                  </a:cubicBezTo>
                  <a:cubicBezTo>
                    <a:pt x="4749756" y="459225"/>
                    <a:pt x="4749763" y="459218"/>
                    <a:pt x="4749775" y="459213"/>
                  </a:cubicBezTo>
                  <a:cubicBezTo>
                    <a:pt x="5062406" y="282668"/>
                    <a:pt x="5387494" y="129190"/>
                    <a:pt x="5722461" y="0"/>
                  </a:cubicBezTo>
                  <a:lnTo>
                    <a:pt x="5231004" y="0"/>
                  </a:lnTo>
                  <a:cubicBezTo>
                    <a:pt x="5035419" y="89448"/>
                    <a:pt x="4843690" y="187160"/>
                    <a:pt x="4655817" y="293133"/>
                  </a:cubicBezTo>
                  <a:cubicBezTo>
                    <a:pt x="4609981" y="318991"/>
                    <a:pt x="4593775" y="377121"/>
                    <a:pt x="4619605" y="422984"/>
                  </a:cubicBezTo>
                  <a:close/>
                  <a:moveTo>
                    <a:pt x="1208440" y="3617579"/>
                  </a:moveTo>
                  <a:cubicBezTo>
                    <a:pt x="1160368" y="3596141"/>
                    <a:pt x="1104031" y="3617751"/>
                    <a:pt x="1082609" y="3665846"/>
                  </a:cubicBezTo>
                  <a:cubicBezTo>
                    <a:pt x="1082603" y="3665858"/>
                    <a:pt x="1082596" y="3665871"/>
                    <a:pt x="1082590" y="3665884"/>
                  </a:cubicBezTo>
                  <a:cubicBezTo>
                    <a:pt x="859205" y="4168380"/>
                    <a:pt x="688459" y="4692677"/>
                    <a:pt x="573091" y="5230385"/>
                  </a:cubicBezTo>
                  <a:cubicBezTo>
                    <a:pt x="458720" y="5765494"/>
                    <a:pt x="399119" y="6310867"/>
                    <a:pt x="395211" y="6858064"/>
                  </a:cubicBezTo>
                  <a:lnTo>
                    <a:pt x="585797" y="6858064"/>
                  </a:lnTo>
                  <a:cubicBezTo>
                    <a:pt x="589636" y="6324322"/>
                    <a:pt x="647724" y="5792347"/>
                    <a:pt x="759166" y="5270364"/>
                  </a:cubicBezTo>
                  <a:cubicBezTo>
                    <a:pt x="871732" y="4745641"/>
                    <a:pt x="1038323" y="4233992"/>
                    <a:pt x="1256277" y="3743616"/>
                  </a:cubicBezTo>
                  <a:cubicBezTo>
                    <a:pt x="1277788" y="3695566"/>
                    <a:pt x="1256296" y="3639157"/>
                    <a:pt x="1208262" y="3617637"/>
                  </a:cubicBezTo>
                  <a:cubicBezTo>
                    <a:pt x="1208173" y="3617598"/>
                    <a:pt x="1208084" y="3617554"/>
                    <a:pt x="1207995" y="3617516"/>
                  </a:cubicBezTo>
                  <a:close/>
                  <a:moveTo>
                    <a:pt x="942891" y="5974532"/>
                  </a:moveTo>
                  <a:cubicBezTo>
                    <a:pt x="890594" y="5968659"/>
                    <a:pt x="843443" y="6006305"/>
                    <a:pt x="837560" y="6058620"/>
                  </a:cubicBezTo>
                  <a:cubicBezTo>
                    <a:pt x="807861" y="6324074"/>
                    <a:pt x="791934" y="6590926"/>
                    <a:pt x="789850" y="6858000"/>
                  </a:cubicBezTo>
                  <a:lnTo>
                    <a:pt x="980436" y="6858000"/>
                  </a:lnTo>
                  <a:cubicBezTo>
                    <a:pt x="982494" y="6597917"/>
                    <a:pt x="998014" y="6338127"/>
                    <a:pt x="1026939" y="6079658"/>
                  </a:cubicBezTo>
                  <a:cubicBezTo>
                    <a:pt x="1032663" y="6027432"/>
                    <a:pt x="995073" y="5980418"/>
                    <a:pt x="942891" y="5974532"/>
                  </a:cubicBezTo>
                  <a:close/>
                  <a:moveTo>
                    <a:pt x="2329973" y="1389587"/>
                  </a:moveTo>
                  <a:cubicBezTo>
                    <a:pt x="2705198" y="978292"/>
                    <a:pt x="3121081" y="606057"/>
                    <a:pt x="3571258" y="278578"/>
                  </a:cubicBezTo>
                  <a:cubicBezTo>
                    <a:pt x="3704623" y="181588"/>
                    <a:pt x="3840892" y="88728"/>
                    <a:pt x="3980064" y="0"/>
                  </a:cubicBezTo>
                  <a:lnTo>
                    <a:pt x="3634913" y="0"/>
                  </a:lnTo>
                  <a:cubicBezTo>
                    <a:pt x="3575622" y="40678"/>
                    <a:pt x="3517049" y="82118"/>
                    <a:pt x="3459193" y="124321"/>
                  </a:cubicBezTo>
                  <a:cubicBezTo>
                    <a:pt x="2998611" y="459401"/>
                    <a:pt x="2573110" y="840261"/>
                    <a:pt x="2189194" y="1261071"/>
                  </a:cubicBezTo>
                  <a:cubicBezTo>
                    <a:pt x="2154101" y="1300312"/>
                    <a:pt x="2157449" y="1360585"/>
                    <a:pt x="2196671" y="1395695"/>
                  </a:cubicBezTo>
                  <a:cubicBezTo>
                    <a:pt x="2235354" y="1430316"/>
                    <a:pt x="2294613" y="1427602"/>
                    <a:pt x="2329973" y="1389587"/>
                  </a:cubicBezTo>
                  <a:close/>
                  <a:moveTo>
                    <a:pt x="557844" y="4174100"/>
                  </a:moveTo>
                  <a:cubicBezTo>
                    <a:pt x="507970" y="4157308"/>
                    <a:pt x="453932" y="4184143"/>
                    <a:pt x="437140" y="4234036"/>
                  </a:cubicBezTo>
                  <a:cubicBezTo>
                    <a:pt x="152879" y="5079865"/>
                    <a:pt x="5311" y="5965653"/>
                    <a:pt x="0" y="6858000"/>
                  </a:cubicBezTo>
                  <a:lnTo>
                    <a:pt x="190586" y="6858000"/>
                  </a:lnTo>
                  <a:cubicBezTo>
                    <a:pt x="195867" y="5986354"/>
                    <a:pt x="340068" y="5121127"/>
                    <a:pt x="617752" y="4294926"/>
                  </a:cubicBezTo>
                  <a:cubicBezTo>
                    <a:pt x="634569" y="4245032"/>
                    <a:pt x="607775" y="4190944"/>
                    <a:pt x="557905" y="4174119"/>
                  </a:cubicBezTo>
                  <a:cubicBezTo>
                    <a:pt x="557885" y="4174113"/>
                    <a:pt x="557865" y="4174107"/>
                    <a:pt x="557844" y="4174100"/>
                  </a:cubicBezTo>
                  <a:close/>
                  <a:moveTo>
                    <a:pt x="6996336" y="3748828"/>
                  </a:moveTo>
                  <a:cubicBezTo>
                    <a:pt x="7044554" y="3727644"/>
                    <a:pt x="7066407" y="3671388"/>
                    <a:pt x="7045253" y="3623172"/>
                  </a:cubicBezTo>
                  <a:cubicBezTo>
                    <a:pt x="7024098" y="3574957"/>
                    <a:pt x="6967875" y="3553048"/>
                    <a:pt x="6919656" y="3574232"/>
                  </a:cubicBezTo>
                  <a:cubicBezTo>
                    <a:pt x="5972433" y="3991121"/>
                    <a:pt x="5246340" y="4790323"/>
                    <a:pt x="4921684" y="5773368"/>
                  </a:cubicBezTo>
                  <a:cubicBezTo>
                    <a:pt x="4904569" y="5823161"/>
                    <a:pt x="4931042" y="5877408"/>
                    <a:pt x="4980810" y="5894524"/>
                  </a:cubicBezTo>
                  <a:cubicBezTo>
                    <a:pt x="5030578" y="5911647"/>
                    <a:pt x="5084800" y="5885162"/>
                    <a:pt x="5101914" y="5835370"/>
                  </a:cubicBezTo>
                  <a:cubicBezTo>
                    <a:pt x="5102175" y="5834601"/>
                    <a:pt x="5102429" y="5833826"/>
                    <a:pt x="5102677" y="5833050"/>
                  </a:cubicBezTo>
                  <a:cubicBezTo>
                    <a:pt x="5410415" y="4901366"/>
                    <a:pt x="6098595" y="4143936"/>
                    <a:pt x="6996336" y="3748828"/>
                  </a:cubicBezTo>
                  <a:close/>
                  <a:moveTo>
                    <a:pt x="6881984" y="5085281"/>
                  </a:moveTo>
                  <a:cubicBezTo>
                    <a:pt x="6913749" y="5127178"/>
                    <a:pt x="6973465" y="5135396"/>
                    <a:pt x="7015394" y="5103649"/>
                  </a:cubicBezTo>
                  <a:cubicBezTo>
                    <a:pt x="7328018" y="4865545"/>
                    <a:pt x="7697564" y="4713512"/>
                    <a:pt x="8087184" y="4662677"/>
                  </a:cubicBezTo>
                  <a:lnTo>
                    <a:pt x="8087184" y="4470349"/>
                  </a:lnTo>
                  <a:cubicBezTo>
                    <a:pt x="7655889" y="4522225"/>
                    <a:pt x="7246321" y="4688393"/>
                    <a:pt x="6900725" y="4951680"/>
                  </a:cubicBezTo>
                  <a:cubicBezTo>
                    <a:pt x="6858669" y="4983370"/>
                    <a:pt x="6850284" y="5043153"/>
                    <a:pt x="6881984" y="5085198"/>
                  </a:cubicBezTo>
                  <a:cubicBezTo>
                    <a:pt x="6881984" y="5085223"/>
                    <a:pt x="6882048" y="5085255"/>
                    <a:pt x="6882048" y="5085281"/>
                  </a:cubicBezTo>
                  <a:close/>
                  <a:moveTo>
                    <a:pt x="7499037" y="2661908"/>
                  </a:moveTo>
                  <a:cubicBezTo>
                    <a:pt x="7508693" y="2713633"/>
                    <a:pt x="7558373" y="2747770"/>
                    <a:pt x="7610085" y="2738179"/>
                  </a:cubicBezTo>
                  <a:cubicBezTo>
                    <a:pt x="7767635" y="2709126"/>
                    <a:pt x="7926711" y="2688972"/>
                    <a:pt x="8086549" y="2677798"/>
                  </a:cubicBezTo>
                  <a:lnTo>
                    <a:pt x="8086549" y="2486804"/>
                  </a:lnTo>
                  <a:cubicBezTo>
                    <a:pt x="7915022" y="2498295"/>
                    <a:pt x="7744257" y="2519689"/>
                    <a:pt x="7575208" y="2550871"/>
                  </a:cubicBezTo>
                  <a:cubicBezTo>
                    <a:pt x="7523559" y="2560577"/>
                    <a:pt x="7489572" y="2610235"/>
                    <a:pt x="7499101" y="2661908"/>
                  </a:cubicBezTo>
                  <a:close/>
                  <a:moveTo>
                    <a:pt x="7131080" y="4015712"/>
                  </a:moveTo>
                  <a:cubicBezTo>
                    <a:pt x="7150520" y="4064646"/>
                    <a:pt x="7205916" y="4088550"/>
                    <a:pt x="7254833" y="4069101"/>
                  </a:cubicBezTo>
                  <a:cubicBezTo>
                    <a:pt x="7254833" y="4069101"/>
                    <a:pt x="7254833" y="4069101"/>
                    <a:pt x="7254833" y="4069101"/>
                  </a:cubicBezTo>
                  <a:cubicBezTo>
                    <a:pt x="7521336" y="3962939"/>
                    <a:pt x="7801560" y="3895064"/>
                    <a:pt x="8087057" y="3867493"/>
                  </a:cubicBezTo>
                  <a:lnTo>
                    <a:pt x="8087057" y="3675799"/>
                  </a:lnTo>
                  <a:cubicBezTo>
                    <a:pt x="7777546" y="3704051"/>
                    <a:pt x="7473689" y="3776832"/>
                    <a:pt x="7184952" y="3891899"/>
                  </a:cubicBezTo>
                  <a:cubicBezTo>
                    <a:pt x="7135971" y="3911157"/>
                    <a:pt x="7111894" y="3966492"/>
                    <a:pt x="7131080" y="4015502"/>
                  </a:cubicBezTo>
                  <a:cubicBezTo>
                    <a:pt x="7131143" y="4015528"/>
                    <a:pt x="7131143" y="4015559"/>
                    <a:pt x="7131143" y="4015585"/>
                  </a:cubicBezTo>
                  <a:close/>
                  <a:moveTo>
                    <a:pt x="6365942" y="4894731"/>
                  </a:moveTo>
                  <a:cubicBezTo>
                    <a:pt x="5843642" y="5416174"/>
                    <a:pt x="5543800" y="6119929"/>
                    <a:pt x="5529462" y="6858000"/>
                  </a:cubicBezTo>
                  <a:lnTo>
                    <a:pt x="5720047" y="6858000"/>
                  </a:lnTo>
                  <a:cubicBezTo>
                    <a:pt x="5748705" y="5522515"/>
                    <a:pt x="6760391" y="4414194"/>
                    <a:pt x="8087184" y="4264799"/>
                  </a:cubicBezTo>
                  <a:lnTo>
                    <a:pt x="8087184" y="4072851"/>
                  </a:lnTo>
                  <a:cubicBezTo>
                    <a:pt x="7436207" y="4140993"/>
                    <a:pt x="6828557" y="4431203"/>
                    <a:pt x="6366259" y="4894731"/>
                  </a:cubicBezTo>
                  <a:close/>
                  <a:moveTo>
                    <a:pt x="4557220" y="3966771"/>
                  </a:moveTo>
                  <a:cubicBezTo>
                    <a:pt x="4259850" y="4352269"/>
                    <a:pt x="4022589" y="4780624"/>
                    <a:pt x="3853515" y="5237250"/>
                  </a:cubicBezTo>
                  <a:cubicBezTo>
                    <a:pt x="3835238" y="5286641"/>
                    <a:pt x="3860433" y="5341505"/>
                    <a:pt x="3909801" y="5359791"/>
                  </a:cubicBezTo>
                  <a:cubicBezTo>
                    <a:pt x="3959169" y="5378077"/>
                    <a:pt x="4014007" y="5352869"/>
                    <a:pt x="4032284" y="5303478"/>
                  </a:cubicBezTo>
                  <a:cubicBezTo>
                    <a:pt x="4669044" y="3583607"/>
                    <a:pt x="6257778" y="2399677"/>
                    <a:pt x="8087184" y="2281763"/>
                  </a:cubicBezTo>
                  <a:lnTo>
                    <a:pt x="8087184" y="2091086"/>
                  </a:lnTo>
                  <a:cubicBezTo>
                    <a:pt x="7191432" y="2144743"/>
                    <a:pt x="6328670" y="2448611"/>
                    <a:pt x="5596865" y="2968198"/>
                  </a:cubicBezTo>
                  <a:cubicBezTo>
                    <a:pt x="5202550" y="3247304"/>
                    <a:pt x="4852133" y="3583791"/>
                    <a:pt x="4557220" y="3966517"/>
                  </a:cubicBezTo>
                  <a:close/>
                  <a:moveTo>
                    <a:pt x="6932489" y="261735"/>
                  </a:moveTo>
                  <a:cubicBezTo>
                    <a:pt x="6468922" y="362681"/>
                    <a:pt x="6017234" y="512059"/>
                    <a:pt x="5584858" y="707410"/>
                  </a:cubicBezTo>
                  <a:cubicBezTo>
                    <a:pt x="5536862" y="729014"/>
                    <a:pt x="5515466" y="785454"/>
                    <a:pt x="5537059" y="833473"/>
                  </a:cubicBezTo>
                  <a:cubicBezTo>
                    <a:pt x="5558659" y="881491"/>
                    <a:pt x="5615073" y="902898"/>
                    <a:pt x="5663062" y="881294"/>
                  </a:cubicBezTo>
                  <a:cubicBezTo>
                    <a:pt x="5663151" y="881256"/>
                    <a:pt x="5663234" y="881218"/>
                    <a:pt x="5663316" y="881180"/>
                  </a:cubicBezTo>
                  <a:cubicBezTo>
                    <a:pt x="6083519" y="691317"/>
                    <a:pt x="6522476" y="546157"/>
                    <a:pt x="6973021" y="448090"/>
                  </a:cubicBezTo>
                  <a:cubicBezTo>
                    <a:pt x="7339644" y="368564"/>
                    <a:pt x="7712366" y="320214"/>
                    <a:pt x="8087184" y="303557"/>
                  </a:cubicBezTo>
                  <a:lnTo>
                    <a:pt x="8087184" y="112881"/>
                  </a:lnTo>
                  <a:cubicBezTo>
                    <a:pt x="7698771" y="129641"/>
                    <a:pt x="7312454" y="179439"/>
                    <a:pt x="6932489" y="261735"/>
                  </a:cubicBezTo>
                  <a:close/>
                  <a:moveTo>
                    <a:pt x="7678505" y="1431218"/>
                  </a:moveTo>
                  <a:cubicBezTo>
                    <a:pt x="7684286" y="1483553"/>
                    <a:pt x="7731361" y="1521288"/>
                    <a:pt x="7783708" y="1515497"/>
                  </a:cubicBezTo>
                  <a:cubicBezTo>
                    <a:pt x="7783708" y="1515497"/>
                    <a:pt x="7783708" y="1515497"/>
                    <a:pt x="7783708" y="1515497"/>
                  </a:cubicBezTo>
                  <a:cubicBezTo>
                    <a:pt x="7883957" y="1504438"/>
                    <a:pt x="7985284" y="1496430"/>
                    <a:pt x="8086866" y="1490582"/>
                  </a:cubicBezTo>
                  <a:lnTo>
                    <a:pt x="8086866" y="1299906"/>
                  </a:lnTo>
                  <a:cubicBezTo>
                    <a:pt x="7978233" y="1305689"/>
                    <a:pt x="7869917" y="1314397"/>
                    <a:pt x="7762871" y="1326283"/>
                  </a:cubicBezTo>
                  <a:cubicBezTo>
                    <a:pt x="7710778" y="1332016"/>
                    <a:pt x="7673105" y="1378750"/>
                    <a:pt x="7678505" y="1430901"/>
                  </a:cubicBezTo>
                  <a:close/>
                  <a:moveTo>
                    <a:pt x="5303173" y="1289991"/>
                  </a:moveTo>
                  <a:cubicBezTo>
                    <a:pt x="4389549" y="1793110"/>
                    <a:pt x="3611369" y="2510187"/>
                    <a:pt x="3035203" y="3379869"/>
                  </a:cubicBezTo>
                  <a:cubicBezTo>
                    <a:pt x="3007435" y="3424596"/>
                    <a:pt x="3021164" y="3483375"/>
                    <a:pt x="3065869" y="3511163"/>
                  </a:cubicBezTo>
                  <a:cubicBezTo>
                    <a:pt x="3108738" y="3537807"/>
                    <a:pt x="3164935" y="3526385"/>
                    <a:pt x="3194025" y="3485123"/>
                  </a:cubicBezTo>
                  <a:cubicBezTo>
                    <a:pt x="3753101" y="2641067"/>
                    <a:pt x="4508272" y="1945117"/>
                    <a:pt x="5394908" y="1456833"/>
                  </a:cubicBezTo>
                  <a:cubicBezTo>
                    <a:pt x="6222818" y="1002126"/>
                    <a:pt x="7143722" y="742952"/>
                    <a:pt x="8087184" y="699147"/>
                  </a:cubicBezTo>
                  <a:lnTo>
                    <a:pt x="8087184" y="508471"/>
                  </a:lnTo>
                  <a:cubicBezTo>
                    <a:pt x="7111767" y="552630"/>
                    <a:pt x="6159410" y="820081"/>
                    <a:pt x="5303490" y="1290245"/>
                  </a:cubicBezTo>
                  <a:close/>
                  <a:moveTo>
                    <a:pt x="6957138" y="1164907"/>
                  </a:moveTo>
                  <a:cubicBezTo>
                    <a:pt x="6968955" y="1216211"/>
                    <a:pt x="7020159" y="1248207"/>
                    <a:pt x="7071426" y="1236366"/>
                  </a:cubicBezTo>
                  <a:cubicBezTo>
                    <a:pt x="7071426" y="1236360"/>
                    <a:pt x="7071490" y="1236353"/>
                    <a:pt x="7071490" y="1236347"/>
                  </a:cubicBezTo>
                  <a:cubicBezTo>
                    <a:pt x="7405269" y="1159485"/>
                    <a:pt x="7745147" y="1112083"/>
                    <a:pt x="8087184" y="1094674"/>
                  </a:cubicBezTo>
                  <a:lnTo>
                    <a:pt x="8087184" y="903998"/>
                  </a:lnTo>
                  <a:cubicBezTo>
                    <a:pt x="7730789" y="921355"/>
                    <a:pt x="7376618" y="970277"/>
                    <a:pt x="7028862" y="1050183"/>
                  </a:cubicBezTo>
                  <a:cubicBezTo>
                    <a:pt x="6977531" y="1061859"/>
                    <a:pt x="6945386" y="1112941"/>
                    <a:pt x="6957075" y="1164284"/>
                  </a:cubicBezTo>
                  <a:cubicBezTo>
                    <a:pt x="6957075" y="1164385"/>
                    <a:pt x="6957138" y="1164487"/>
                    <a:pt x="6957138" y="1164589"/>
                  </a:cubicBezTo>
                  <a:close/>
                  <a:moveTo>
                    <a:pt x="7810517" y="5550150"/>
                  </a:moveTo>
                  <a:cubicBezTo>
                    <a:pt x="7858989" y="5529652"/>
                    <a:pt x="7881733" y="5473708"/>
                    <a:pt x="7861214" y="5425193"/>
                  </a:cubicBezTo>
                  <a:cubicBezTo>
                    <a:pt x="7840693" y="5376679"/>
                    <a:pt x="7784789" y="5353975"/>
                    <a:pt x="7736316" y="5374473"/>
                  </a:cubicBezTo>
                  <a:cubicBezTo>
                    <a:pt x="7136099" y="5627692"/>
                    <a:pt x="6737457" y="6206655"/>
                    <a:pt x="6714968" y="6858000"/>
                  </a:cubicBezTo>
                  <a:lnTo>
                    <a:pt x="6905553" y="6858000"/>
                  </a:lnTo>
                  <a:cubicBezTo>
                    <a:pt x="6927979" y="6283212"/>
                    <a:pt x="7280753" y="5773292"/>
                    <a:pt x="7810517" y="5549832"/>
                  </a:cubicBezTo>
                  <a:close/>
                  <a:moveTo>
                    <a:pt x="6090863" y="6328301"/>
                  </a:moveTo>
                  <a:cubicBezTo>
                    <a:pt x="6039456" y="6317477"/>
                    <a:pt x="5988995" y="6350311"/>
                    <a:pt x="5978037" y="6401711"/>
                  </a:cubicBezTo>
                  <a:cubicBezTo>
                    <a:pt x="5946202" y="6551837"/>
                    <a:pt x="5928338" y="6704569"/>
                    <a:pt x="5924672" y="6858000"/>
                  </a:cubicBezTo>
                  <a:lnTo>
                    <a:pt x="6115258" y="6858000"/>
                  </a:lnTo>
                  <a:cubicBezTo>
                    <a:pt x="6118847" y="6717916"/>
                    <a:pt x="6135282" y="6578469"/>
                    <a:pt x="6164366" y="6441372"/>
                  </a:cubicBezTo>
                  <a:cubicBezTo>
                    <a:pt x="6175293" y="6389889"/>
                    <a:pt x="6142417" y="6339252"/>
                    <a:pt x="6090933" y="6328313"/>
                  </a:cubicBezTo>
                  <a:cubicBezTo>
                    <a:pt x="6090914" y="6328313"/>
                    <a:pt x="6090888" y="6328307"/>
                    <a:pt x="6090863" y="6328301"/>
                  </a:cubicBezTo>
                  <a:close/>
                  <a:moveTo>
                    <a:pt x="5637269" y="5359219"/>
                  </a:moveTo>
                  <a:cubicBezTo>
                    <a:pt x="5590722" y="5334641"/>
                    <a:pt x="5533083" y="5352469"/>
                    <a:pt x="5508516" y="5399039"/>
                  </a:cubicBezTo>
                  <a:cubicBezTo>
                    <a:pt x="5508510" y="5399045"/>
                    <a:pt x="5508503" y="5399058"/>
                    <a:pt x="5508497" y="5399071"/>
                  </a:cubicBezTo>
                  <a:cubicBezTo>
                    <a:pt x="5271929" y="5849588"/>
                    <a:pt x="5143862" y="6349180"/>
                    <a:pt x="5134504" y="6858000"/>
                  </a:cubicBezTo>
                  <a:lnTo>
                    <a:pt x="5325090" y="6858000"/>
                  </a:lnTo>
                  <a:cubicBezTo>
                    <a:pt x="5334410" y="6380165"/>
                    <a:pt x="5454936" y="5911126"/>
                    <a:pt x="5677102" y="5488053"/>
                  </a:cubicBezTo>
                  <a:cubicBezTo>
                    <a:pt x="5701668" y="5441483"/>
                    <a:pt x="5683849" y="5383816"/>
                    <a:pt x="5637301" y="5359238"/>
                  </a:cubicBezTo>
                  <a:cubicBezTo>
                    <a:pt x="5637295" y="5359232"/>
                    <a:pt x="5637282" y="5359225"/>
                    <a:pt x="5637269" y="5359219"/>
                  </a:cubicBezTo>
                  <a:close/>
                  <a:moveTo>
                    <a:pt x="6804289" y="5734216"/>
                  </a:moveTo>
                  <a:cubicBezTo>
                    <a:pt x="6760771" y="5704725"/>
                    <a:pt x="6701563" y="5716108"/>
                    <a:pt x="6672022" y="5759640"/>
                  </a:cubicBezTo>
                  <a:cubicBezTo>
                    <a:pt x="6452404" y="6084724"/>
                    <a:pt x="6330169" y="6465778"/>
                    <a:pt x="6319630" y="6858000"/>
                  </a:cubicBezTo>
                  <a:lnTo>
                    <a:pt x="6510215" y="6858000"/>
                  </a:lnTo>
                  <a:cubicBezTo>
                    <a:pt x="6520761" y="6503851"/>
                    <a:pt x="6631618" y="6160023"/>
                    <a:pt x="6829891" y="5866482"/>
                  </a:cubicBezTo>
                  <a:cubicBezTo>
                    <a:pt x="6859177" y="5822913"/>
                    <a:pt x="6847679" y="5763873"/>
                    <a:pt x="6804289" y="5734407"/>
                  </a:cubicBezTo>
                  <a:close/>
                  <a:moveTo>
                    <a:pt x="4904404" y="6204806"/>
                  </a:moveTo>
                  <a:cubicBezTo>
                    <a:pt x="4852571" y="6195698"/>
                    <a:pt x="4803171" y="6230357"/>
                    <a:pt x="4794068" y="6282220"/>
                  </a:cubicBezTo>
                  <a:cubicBezTo>
                    <a:pt x="4794061" y="6282240"/>
                    <a:pt x="4794061" y="6282265"/>
                    <a:pt x="4794055" y="6282284"/>
                  </a:cubicBezTo>
                  <a:cubicBezTo>
                    <a:pt x="4760766" y="6472452"/>
                    <a:pt x="4742432" y="6664972"/>
                    <a:pt x="4739230" y="6858000"/>
                  </a:cubicBezTo>
                  <a:lnTo>
                    <a:pt x="4929815" y="6858000"/>
                  </a:lnTo>
                  <a:cubicBezTo>
                    <a:pt x="4932922" y="6676031"/>
                    <a:pt x="4950189" y="6494507"/>
                    <a:pt x="4981464" y="6315208"/>
                  </a:cubicBezTo>
                  <a:cubicBezTo>
                    <a:pt x="4990587" y="6263445"/>
                    <a:pt x="4956116" y="6214067"/>
                    <a:pt x="4904404" y="6204806"/>
                  </a:cubicBezTo>
                  <a:close/>
                  <a:moveTo>
                    <a:pt x="7902253" y="6858000"/>
                  </a:moveTo>
                  <a:lnTo>
                    <a:pt x="8087184" y="6858000"/>
                  </a:lnTo>
                  <a:lnTo>
                    <a:pt x="8087184" y="6532261"/>
                  </a:lnTo>
                  <a:cubicBezTo>
                    <a:pt x="7984903" y="6612091"/>
                    <a:pt x="7918389" y="6729230"/>
                    <a:pt x="7902253" y="6858000"/>
                  </a:cubicBezTo>
                  <a:close/>
                  <a:moveTo>
                    <a:pt x="7565551" y="6591561"/>
                  </a:moveTo>
                  <a:cubicBezTo>
                    <a:pt x="7546175" y="6640502"/>
                    <a:pt x="7570062" y="6695925"/>
                    <a:pt x="7619043" y="6715311"/>
                  </a:cubicBezTo>
                  <a:cubicBezTo>
                    <a:pt x="7667959" y="6734760"/>
                    <a:pt x="7723356" y="6710798"/>
                    <a:pt x="7742733" y="6661858"/>
                  </a:cubicBezTo>
                  <a:cubicBezTo>
                    <a:pt x="7807341" y="6499910"/>
                    <a:pt x="7930205" y="6368089"/>
                    <a:pt x="8087184" y="6292326"/>
                  </a:cubicBezTo>
                  <a:lnTo>
                    <a:pt x="8087184" y="6085760"/>
                  </a:lnTo>
                  <a:cubicBezTo>
                    <a:pt x="7849270" y="6172245"/>
                    <a:pt x="7659700" y="6356394"/>
                    <a:pt x="7566250" y="6591752"/>
                  </a:cubicBezTo>
                  <a:close/>
                  <a:moveTo>
                    <a:pt x="7109989" y="6858000"/>
                  </a:moveTo>
                  <a:lnTo>
                    <a:pt x="7300574" y="6858000"/>
                  </a:lnTo>
                  <a:cubicBezTo>
                    <a:pt x="7326176" y="6394974"/>
                    <a:pt x="7641722" y="5998774"/>
                    <a:pt x="8087184" y="5870486"/>
                  </a:cubicBezTo>
                  <a:lnTo>
                    <a:pt x="8087184" y="5673454"/>
                  </a:lnTo>
                  <a:cubicBezTo>
                    <a:pt x="7534740" y="5807487"/>
                    <a:pt x="7136797" y="6289898"/>
                    <a:pt x="7109989" y="6858000"/>
                  </a:cubicBezTo>
                  <a:close/>
                  <a:moveTo>
                    <a:pt x="6578000" y="3403894"/>
                  </a:moveTo>
                  <a:cubicBezTo>
                    <a:pt x="6600998" y="3451093"/>
                    <a:pt x="6657792" y="3470809"/>
                    <a:pt x="6705057" y="3448004"/>
                  </a:cubicBezTo>
                  <a:cubicBezTo>
                    <a:pt x="7047794" y="3281442"/>
                    <a:pt x="7413527" y="3167030"/>
                    <a:pt x="7790061" y="3108536"/>
                  </a:cubicBezTo>
                  <a:cubicBezTo>
                    <a:pt x="7841964" y="3099632"/>
                    <a:pt x="7876778" y="3050348"/>
                    <a:pt x="7867884" y="2998453"/>
                  </a:cubicBezTo>
                  <a:cubicBezTo>
                    <a:pt x="7859180" y="2947694"/>
                    <a:pt x="7811725" y="2913029"/>
                    <a:pt x="7760775" y="2920148"/>
                  </a:cubicBezTo>
                  <a:cubicBezTo>
                    <a:pt x="7365500" y="2981527"/>
                    <a:pt x="6981597" y="3101621"/>
                    <a:pt x="6621771" y="3276459"/>
                  </a:cubicBezTo>
                  <a:cubicBezTo>
                    <a:pt x="6574506" y="3299582"/>
                    <a:pt x="6554940" y="3356607"/>
                    <a:pt x="6578000" y="3403894"/>
                  </a:cubicBezTo>
                  <a:close/>
                </a:path>
              </a:pathLst>
            </a:custGeom>
            <a:solidFill>
              <a:srgbClr val="005CC2">
                <a:alpha val="784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 name="Google Shape;66;p15"/>
            <p:cNvSpPr/>
            <p:nvPr/>
          </p:nvSpPr>
          <p:spPr>
            <a:xfrm>
              <a:off x="2377837" y="210583"/>
              <a:ext cx="5576288" cy="4831090"/>
            </a:xfrm>
            <a:custGeom>
              <a:rect b="b" l="l" r="r" t="t"/>
              <a:pathLst>
                <a:path extrusionOk="0" h="6441453" w="7435051">
                  <a:moveTo>
                    <a:pt x="2213120" y="5039472"/>
                  </a:moveTo>
                  <a:cubicBezTo>
                    <a:pt x="2095083" y="5051103"/>
                    <a:pt x="2103850" y="5229704"/>
                    <a:pt x="2222458" y="5229704"/>
                  </a:cubicBezTo>
                  <a:cubicBezTo>
                    <a:pt x="2353073" y="5228178"/>
                    <a:pt x="2343290" y="5028222"/>
                    <a:pt x="2213120" y="5039472"/>
                  </a:cubicBezTo>
                  <a:close/>
                  <a:moveTo>
                    <a:pt x="1816257" y="949650"/>
                  </a:moveTo>
                  <a:cubicBezTo>
                    <a:pt x="1698221" y="961282"/>
                    <a:pt x="1706988" y="1139882"/>
                    <a:pt x="1825595" y="1139882"/>
                  </a:cubicBezTo>
                  <a:cubicBezTo>
                    <a:pt x="1956274" y="1138420"/>
                    <a:pt x="1946427" y="938337"/>
                    <a:pt x="1816257" y="949650"/>
                  </a:cubicBezTo>
                  <a:close/>
                  <a:moveTo>
                    <a:pt x="1657435" y="6147620"/>
                  </a:moveTo>
                  <a:cubicBezTo>
                    <a:pt x="1527329" y="6136180"/>
                    <a:pt x="1517673" y="6336390"/>
                    <a:pt x="1648097" y="6337788"/>
                  </a:cubicBezTo>
                  <a:cubicBezTo>
                    <a:pt x="1766514" y="6337916"/>
                    <a:pt x="1775281" y="6159125"/>
                    <a:pt x="1657181" y="6147620"/>
                  </a:cubicBezTo>
                  <a:close/>
                  <a:moveTo>
                    <a:pt x="1777377" y="3926811"/>
                  </a:moveTo>
                  <a:cubicBezTo>
                    <a:pt x="1647271" y="3915307"/>
                    <a:pt x="1637614" y="4115517"/>
                    <a:pt x="1767975" y="4116979"/>
                  </a:cubicBezTo>
                  <a:cubicBezTo>
                    <a:pt x="1886583" y="4117487"/>
                    <a:pt x="1895477" y="3938442"/>
                    <a:pt x="1777377" y="3926811"/>
                  </a:cubicBezTo>
                  <a:close/>
                  <a:moveTo>
                    <a:pt x="2671541" y="3056499"/>
                  </a:moveTo>
                  <a:cubicBezTo>
                    <a:pt x="2553506" y="3068131"/>
                    <a:pt x="2562336" y="3246731"/>
                    <a:pt x="2680944" y="3246731"/>
                  </a:cubicBezTo>
                  <a:cubicBezTo>
                    <a:pt x="2811558" y="3245206"/>
                    <a:pt x="2801712" y="3045186"/>
                    <a:pt x="2671541" y="3056499"/>
                  </a:cubicBezTo>
                  <a:close/>
                  <a:moveTo>
                    <a:pt x="3043247" y="3211646"/>
                  </a:moveTo>
                  <a:cubicBezTo>
                    <a:pt x="2925148" y="3223278"/>
                    <a:pt x="2933978" y="3401878"/>
                    <a:pt x="3052649" y="3401878"/>
                  </a:cubicBezTo>
                  <a:cubicBezTo>
                    <a:pt x="3183264" y="3400289"/>
                    <a:pt x="3173354" y="3200333"/>
                    <a:pt x="3043247" y="3211646"/>
                  </a:cubicBezTo>
                  <a:close/>
                  <a:moveTo>
                    <a:pt x="3483564" y="1201216"/>
                  </a:moveTo>
                  <a:cubicBezTo>
                    <a:pt x="3602171" y="1201216"/>
                    <a:pt x="3611002" y="1022616"/>
                    <a:pt x="3492902" y="1010985"/>
                  </a:cubicBezTo>
                  <a:cubicBezTo>
                    <a:pt x="3362796" y="999608"/>
                    <a:pt x="3352949" y="1199627"/>
                    <a:pt x="3483564" y="1201216"/>
                  </a:cubicBezTo>
                  <a:close/>
                  <a:moveTo>
                    <a:pt x="3518314" y="4894812"/>
                  </a:moveTo>
                  <a:cubicBezTo>
                    <a:pt x="3388207" y="4883499"/>
                    <a:pt x="3378551" y="5083518"/>
                    <a:pt x="3508975" y="5085044"/>
                  </a:cubicBezTo>
                  <a:cubicBezTo>
                    <a:pt x="3627646" y="5085044"/>
                    <a:pt x="3636413" y="4906507"/>
                    <a:pt x="3518314" y="4894812"/>
                  </a:cubicBezTo>
                  <a:close/>
                  <a:moveTo>
                    <a:pt x="2488770" y="5643408"/>
                  </a:moveTo>
                  <a:cubicBezTo>
                    <a:pt x="2370670" y="5655039"/>
                    <a:pt x="2379501" y="5833576"/>
                    <a:pt x="2498109" y="5833640"/>
                  </a:cubicBezTo>
                  <a:cubicBezTo>
                    <a:pt x="2628723" y="5832115"/>
                    <a:pt x="2619003" y="5632095"/>
                    <a:pt x="2488770" y="5643408"/>
                  </a:cubicBezTo>
                  <a:close/>
                  <a:moveTo>
                    <a:pt x="1258984" y="4171957"/>
                  </a:moveTo>
                  <a:cubicBezTo>
                    <a:pt x="1128878" y="4160580"/>
                    <a:pt x="1118904" y="4360664"/>
                    <a:pt x="1249582" y="4362189"/>
                  </a:cubicBezTo>
                  <a:cubicBezTo>
                    <a:pt x="1368253" y="4362253"/>
                    <a:pt x="1377084" y="4183652"/>
                    <a:pt x="1258984" y="4171957"/>
                  </a:cubicBezTo>
                  <a:close/>
                  <a:moveTo>
                    <a:pt x="4268713" y="190694"/>
                  </a:moveTo>
                  <a:cubicBezTo>
                    <a:pt x="4399327" y="189105"/>
                    <a:pt x="4389417" y="-10851"/>
                    <a:pt x="4259311" y="463"/>
                  </a:cubicBezTo>
                  <a:cubicBezTo>
                    <a:pt x="4141211" y="12157"/>
                    <a:pt x="4150041" y="190758"/>
                    <a:pt x="4268713" y="190694"/>
                  </a:cubicBezTo>
                  <a:close/>
                  <a:moveTo>
                    <a:pt x="6303786" y="2710803"/>
                  </a:moveTo>
                  <a:cubicBezTo>
                    <a:pt x="6422394" y="2710803"/>
                    <a:pt x="6431225" y="2532266"/>
                    <a:pt x="6313189" y="2520571"/>
                  </a:cubicBezTo>
                  <a:cubicBezTo>
                    <a:pt x="6183082" y="2509448"/>
                    <a:pt x="6173045" y="2709341"/>
                    <a:pt x="6303786" y="2710803"/>
                  </a:cubicBezTo>
                  <a:close/>
                  <a:moveTo>
                    <a:pt x="2820516" y="724970"/>
                  </a:moveTo>
                  <a:cubicBezTo>
                    <a:pt x="2951131" y="723445"/>
                    <a:pt x="2941220" y="523425"/>
                    <a:pt x="2811177" y="534738"/>
                  </a:cubicBezTo>
                  <a:cubicBezTo>
                    <a:pt x="2693141" y="546370"/>
                    <a:pt x="2701908" y="724906"/>
                    <a:pt x="2820516" y="724970"/>
                  </a:cubicBezTo>
                  <a:close/>
                  <a:moveTo>
                    <a:pt x="7332377" y="2638663"/>
                  </a:moveTo>
                  <a:cubicBezTo>
                    <a:pt x="7214341" y="2650358"/>
                    <a:pt x="7223172" y="2828959"/>
                    <a:pt x="7341779" y="2828895"/>
                  </a:cubicBezTo>
                  <a:cubicBezTo>
                    <a:pt x="7472394" y="2827243"/>
                    <a:pt x="7462674" y="2627414"/>
                    <a:pt x="7332377" y="2638663"/>
                  </a:cubicBezTo>
                  <a:close/>
                  <a:moveTo>
                    <a:pt x="7339301" y="1234966"/>
                  </a:moveTo>
                  <a:cubicBezTo>
                    <a:pt x="7469916" y="1233504"/>
                    <a:pt x="7460006" y="1033421"/>
                    <a:pt x="7329899" y="1044798"/>
                  </a:cubicBezTo>
                  <a:cubicBezTo>
                    <a:pt x="7211864" y="1056302"/>
                    <a:pt x="7220694" y="1235157"/>
                    <a:pt x="7339301" y="1234966"/>
                  </a:cubicBezTo>
                  <a:close/>
                  <a:moveTo>
                    <a:pt x="84087" y="3888675"/>
                  </a:moveTo>
                  <a:cubicBezTo>
                    <a:pt x="-33695" y="3900434"/>
                    <a:pt x="-25118" y="4079352"/>
                    <a:pt x="93362" y="4079352"/>
                  </a:cubicBezTo>
                  <a:cubicBezTo>
                    <a:pt x="224104" y="4077445"/>
                    <a:pt x="214067" y="3877425"/>
                    <a:pt x="84087" y="3888675"/>
                  </a:cubicBezTo>
                  <a:close/>
                  <a:moveTo>
                    <a:pt x="488955" y="5693238"/>
                  </a:moveTo>
                  <a:cubicBezTo>
                    <a:pt x="370919" y="5704679"/>
                    <a:pt x="379686" y="5883470"/>
                    <a:pt x="498293" y="5883407"/>
                  </a:cubicBezTo>
                  <a:cubicBezTo>
                    <a:pt x="628908" y="5882135"/>
                    <a:pt x="619125" y="5681925"/>
                    <a:pt x="488955" y="5693366"/>
                  </a:cubicBezTo>
                  <a:close/>
                  <a:moveTo>
                    <a:pt x="722295" y="4567103"/>
                  </a:moveTo>
                  <a:cubicBezTo>
                    <a:pt x="592125" y="4555789"/>
                    <a:pt x="582532" y="4755682"/>
                    <a:pt x="712893" y="4757334"/>
                  </a:cubicBezTo>
                  <a:cubicBezTo>
                    <a:pt x="831501" y="4757334"/>
                    <a:pt x="840458" y="4578734"/>
                    <a:pt x="722295" y="4567103"/>
                  </a:cubicBezTo>
                  <a:close/>
                  <a:moveTo>
                    <a:pt x="1760606" y="2491334"/>
                  </a:moveTo>
                  <a:cubicBezTo>
                    <a:pt x="1891220" y="2489745"/>
                    <a:pt x="1881310" y="2289725"/>
                    <a:pt x="1751203" y="2301102"/>
                  </a:cubicBezTo>
                  <a:cubicBezTo>
                    <a:pt x="1633104" y="2312734"/>
                    <a:pt x="1641998" y="2491334"/>
                    <a:pt x="1760606" y="2491334"/>
                  </a:cubicBezTo>
                  <a:close/>
                  <a:moveTo>
                    <a:pt x="744657" y="3328976"/>
                  </a:moveTo>
                  <a:cubicBezTo>
                    <a:pt x="614551" y="3317536"/>
                    <a:pt x="604894" y="3517682"/>
                    <a:pt x="735255" y="3519144"/>
                  </a:cubicBezTo>
                  <a:cubicBezTo>
                    <a:pt x="853926" y="3519335"/>
                    <a:pt x="862820" y="3340544"/>
                    <a:pt x="744657" y="3328976"/>
                  </a:cubicBezTo>
                  <a:close/>
                  <a:moveTo>
                    <a:pt x="4587626" y="5427499"/>
                  </a:moveTo>
                  <a:cubicBezTo>
                    <a:pt x="4457774" y="5416058"/>
                    <a:pt x="4447546" y="5616269"/>
                    <a:pt x="4578478" y="5617476"/>
                  </a:cubicBezTo>
                  <a:cubicBezTo>
                    <a:pt x="4696832" y="5617858"/>
                    <a:pt x="4705535" y="5439067"/>
                    <a:pt x="4587626" y="5427499"/>
                  </a:cubicBezTo>
                  <a:close/>
                  <a:moveTo>
                    <a:pt x="6524040" y="3476242"/>
                  </a:moveTo>
                  <a:cubicBezTo>
                    <a:pt x="6654718" y="3474844"/>
                    <a:pt x="6644744" y="3274633"/>
                    <a:pt x="6514638" y="3286074"/>
                  </a:cubicBezTo>
                  <a:cubicBezTo>
                    <a:pt x="6396601" y="3297578"/>
                    <a:pt x="6405432" y="3476242"/>
                    <a:pt x="6524040" y="3476051"/>
                  </a:cubicBezTo>
                  <a:close/>
                  <a:moveTo>
                    <a:pt x="6533125" y="1608057"/>
                  </a:moveTo>
                  <a:cubicBezTo>
                    <a:pt x="6403018" y="1596616"/>
                    <a:pt x="6393362" y="1796826"/>
                    <a:pt x="6523785" y="1798225"/>
                  </a:cubicBezTo>
                  <a:cubicBezTo>
                    <a:pt x="6642394" y="1798161"/>
                    <a:pt x="6651224" y="1619624"/>
                    <a:pt x="6533125" y="1607866"/>
                  </a:cubicBezTo>
                  <a:close/>
                  <a:moveTo>
                    <a:pt x="6625368" y="767682"/>
                  </a:moveTo>
                  <a:cubicBezTo>
                    <a:pt x="6495261" y="756304"/>
                    <a:pt x="6485605" y="956324"/>
                    <a:pt x="6616029" y="957913"/>
                  </a:cubicBezTo>
                  <a:cubicBezTo>
                    <a:pt x="6734701" y="957722"/>
                    <a:pt x="6743531" y="779122"/>
                    <a:pt x="6625368" y="767491"/>
                  </a:cubicBezTo>
                  <a:close/>
                  <a:moveTo>
                    <a:pt x="6239178" y="2986775"/>
                  </a:moveTo>
                  <a:cubicBezTo>
                    <a:pt x="6109072" y="2975398"/>
                    <a:pt x="6099097" y="3175418"/>
                    <a:pt x="6229776" y="3177007"/>
                  </a:cubicBezTo>
                  <a:cubicBezTo>
                    <a:pt x="6348383" y="3176816"/>
                    <a:pt x="6357277" y="2998279"/>
                    <a:pt x="6239178" y="2986585"/>
                  </a:cubicBezTo>
                  <a:close/>
                  <a:moveTo>
                    <a:pt x="6514638" y="4652017"/>
                  </a:moveTo>
                  <a:cubicBezTo>
                    <a:pt x="6396538" y="4663649"/>
                    <a:pt x="6405432" y="4842249"/>
                    <a:pt x="6524040" y="4842249"/>
                  </a:cubicBezTo>
                  <a:cubicBezTo>
                    <a:pt x="6654718" y="4840660"/>
                    <a:pt x="6644808" y="4640640"/>
                    <a:pt x="6514638" y="4652017"/>
                  </a:cubicBezTo>
                  <a:close/>
                  <a:moveTo>
                    <a:pt x="6326403" y="5437732"/>
                  </a:moveTo>
                  <a:cubicBezTo>
                    <a:pt x="6196296" y="5426355"/>
                    <a:pt x="6186640" y="5626375"/>
                    <a:pt x="6317001" y="5627964"/>
                  </a:cubicBezTo>
                  <a:cubicBezTo>
                    <a:pt x="6435671" y="5628027"/>
                    <a:pt x="6444502" y="5449363"/>
                    <a:pt x="6326403" y="5437732"/>
                  </a:cubicBezTo>
                  <a:close/>
                  <a:moveTo>
                    <a:pt x="7229651" y="6251285"/>
                  </a:moveTo>
                  <a:cubicBezTo>
                    <a:pt x="7099545" y="6239781"/>
                    <a:pt x="7089888" y="6440055"/>
                    <a:pt x="7220249" y="6441453"/>
                  </a:cubicBezTo>
                  <a:cubicBezTo>
                    <a:pt x="7338857" y="6441453"/>
                    <a:pt x="7347751" y="6262662"/>
                    <a:pt x="7229651" y="6251094"/>
                  </a:cubicBezTo>
                  <a:close/>
                  <a:moveTo>
                    <a:pt x="6776566" y="3604694"/>
                  </a:moveTo>
                  <a:cubicBezTo>
                    <a:pt x="6658530" y="3616389"/>
                    <a:pt x="6667297" y="3794926"/>
                    <a:pt x="6785968" y="3794926"/>
                  </a:cubicBezTo>
                  <a:cubicBezTo>
                    <a:pt x="6916329" y="3793337"/>
                    <a:pt x="6906481" y="3593381"/>
                    <a:pt x="6776566" y="3604694"/>
                  </a:cubicBezTo>
                  <a:close/>
                  <a:moveTo>
                    <a:pt x="7330281" y="5086315"/>
                  </a:moveTo>
                  <a:cubicBezTo>
                    <a:pt x="7212244" y="5097946"/>
                    <a:pt x="7221075" y="5276610"/>
                    <a:pt x="7339683" y="5276546"/>
                  </a:cubicBezTo>
                  <a:cubicBezTo>
                    <a:pt x="7470107" y="5275021"/>
                    <a:pt x="7460324" y="5074938"/>
                    <a:pt x="7330090" y="5086315"/>
                  </a:cubicBezTo>
                  <a:close/>
                  <a:moveTo>
                    <a:pt x="7149732" y="2268942"/>
                  </a:moveTo>
                  <a:cubicBezTo>
                    <a:pt x="7031697" y="2280573"/>
                    <a:pt x="7040464" y="2459173"/>
                    <a:pt x="7159071" y="2459173"/>
                  </a:cubicBezTo>
                  <a:cubicBezTo>
                    <a:pt x="7289495" y="2457711"/>
                    <a:pt x="7279775" y="2257628"/>
                    <a:pt x="7149542" y="2268942"/>
                  </a:cubicBezTo>
                  <a:close/>
                  <a:moveTo>
                    <a:pt x="4803179" y="4171957"/>
                  </a:moveTo>
                  <a:cubicBezTo>
                    <a:pt x="4673072" y="4160580"/>
                    <a:pt x="4663416" y="4360600"/>
                    <a:pt x="4793840" y="4362189"/>
                  </a:cubicBezTo>
                  <a:cubicBezTo>
                    <a:pt x="4912511" y="4362189"/>
                    <a:pt x="4921532" y="4183589"/>
                    <a:pt x="4803179" y="4171957"/>
                  </a:cubicBezTo>
                  <a:close/>
                  <a:moveTo>
                    <a:pt x="4264139" y="1897059"/>
                  </a:moveTo>
                  <a:cubicBezTo>
                    <a:pt x="4146039" y="1908626"/>
                    <a:pt x="4154870" y="2087227"/>
                    <a:pt x="4273477" y="2087290"/>
                  </a:cubicBezTo>
                  <a:cubicBezTo>
                    <a:pt x="4404092" y="2085765"/>
                    <a:pt x="4394245" y="1885682"/>
                    <a:pt x="4264139" y="1897059"/>
                  </a:cubicBezTo>
                  <a:close/>
                  <a:moveTo>
                    <a:pt x="4141592" y="4439731"/>
                  </a:moveTo>
                  <a:cubicBezTo>
                    <a:pt x="4023556" y="4451362"/>
                    <a:pt x="4032386" y="4629962"/>
                    <a:pt x="4150995" y="4629962"/>
                  </a:cubicBezTo>
                  <a:cubicBezTo>
                    <a:pt x="4281609" y="4628373"/>
                    <a:pt x="4271826" y="4428417"/>
                    <a:pt x="4141592" y="4439731"/>
                  </a:cubicBezTo>
                  <a:close/>
                  <a:moveTo>
                    <a:pt x="4444560" y="5923067"/>
                  </a:moveTo>
                  <a:cubicBezTo>
                    <a:pt x="4326460" y="5934698"/>
                    <a:pt x="4335354" y="6113363"/>
                    <a:pt x="4453962" y="6113299"/>
                  </a:cubicBezTo>
                  <a:cubicBezTo>
                    <a:pt x="4584831" y="6111774"/>
                    <a:pt x="4574730" y="5911754"/>
                    <a:pt x="4444560" y="5923067"/>
                  </a:cubicBezTo>
                  <a:close/>
                  <a:moveTo>
                    <a:pt x="4149660" y="722555"/>
                  </a:moveTo>
                  <a:cubicBezTo>
                    <a:pt x="4280339" y="721029"/>
                    <a:pt x="4270365" y="521010"/>
                    <a:pt x="4140322" y="532323"/>
                  </a:cubicBezTo>
                  <a:cubicBezTo>
                    <a:pt x="4022222" y="543954"/>
                    <a:pt x="4031053" y="722491"/>
                    <a:pt x="4149660" y="722555"/>
                  </a:cubicBezTo>
                  <a:close/>
                  <a:moveTo>
                    <a:pt x="5149473" y="5067883"/>
                  </a:moveTo>
                  <a:cubicBezTo>
                    <a:pt x="5031437" y="5079514"/>
                    <a:pt x="5040267" y="5258178"/>
                    <a:pt x="5158875" y="5258115"/>
                  </a:cubicBezTo>
                  <a:cubicBezTo>
                    <a:pt x="5289489" y="5256589"/>
                    <a:pt x="5279643" y="5056569"/>
                    <a:pt x="5149473" y="5067883"/>
                  </a:cubicBezTo>
                  <a:close/>
                  <a:moveTo>
                    <a:pt x="5180729" y="418362"/>
                  </a:moveTo>
                  <a:cubicBezTo>
                    <a:pt x="5062692" y="430057"/>
                    <a:pt x="5071523" y="608657"/>
                    <a:pt x="5190131" y="608594"/>
                  </a:cubicBezTo>
                  <a:cubicBezTo>
                    <a:pt x="5320746" y="607259"/>
                    <a:pt x="5310962" y="407303"/>
                    <a:pt x="5180729" y="418362"/>
                  </a:cubicBezTo>
                  <a:close/>
                  <a:moveTo>
                    <a:pt x="3703309" y="5642900"/>
                  </a:moveTo>
                  <a:cubicBezTo>
                    <a:pt x="3578793" y="5643599"/>
                    <a:pt x="3578793" y="5832877"/>
                    <a:pt x="3703309" y="5833576"/>
                  </a:cubicBezTo>
                  <a:cubicBezTo>
                    <a:pt x="3827825" y="5832941"/>
                    <a:pt x="3827888" y="5643662"/>
                    <a:pt x="3703309" y="5642900"/>
                  </a:cubicBezTo>
                  <a:close/>
                  <a:moveTo>
                    <a:pt x="5646456" y="6045926"/>
                  </a:moveTo>
                  <a:cubicBezTo>
                    <a:pt x="5516350" y="6034422"/>
                    <a:pt x="5506694" y="6234696"/>
                    <a:pt x="5637118" y="6236094"/>
                  </a:cubicBezTo>
                  <a:cubicBezTo>
                    <a:pt x="5755726" y="6236222"/>
                    <a:pt x="5764556" y="6057430"/>
                    <a:pt x="5646456" y="6045926"/>
                  </a:cubicBezTo>
                  <a:close/>
                  <a:moveTo>
                    <a:pt x="5906225" y="1406067"/>
                  </a:moveTo>
                  <a:cubicBezTo>
                    <a:pt x="5776118" y="1394689"/>
                    <a:pt x="5766462" y="1594773"/>
                    <a:pt x="5896886" y="1596298"/>
                  </a:cubicBezTo>
                  <a:cubicBezTo>
                    <a:pt x="6015494" y="1596298"/>
                    <a:pt x="6024324" y="1417698"/>
                    <a:pt x="5906225" y="1406067"/>
                  </a:cubicBezTo>
                  <a:close/>
                </a:path>
              </a:pathLst>
            </a:custGeom>
            <a:solidFill>
              <a:srgbClr val="005CC2">
                <a:alpha val="784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67" name="Google Shape;67;p15"/>
          <p:cNvSpPr txBox="1"/>
          <p:nvPr>
            <p:ph type="ctrTitle"/>
          </p:nvPr>
        </p:nvSpPr>
        <p:spPr>
          <a:xfrm>
            <a:off x="685800" y="1668151"/>
            <a:ext cx="7772400" cy="13116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2"/>
              </a:buClr>
              <a:buSzPts val="4800"/>
              <a:buNone/>
              <a:defRPr sz="4800">
                <a:solidFill>
                  <a:schemeClr val="accent2"/>
                </a:solidFill>
              </a:defRPr>
            </a:lvl1pPr>
            <a:lvl2pPr lvl="1" algn="l">
              <a:lnSpc>
                <a:spcPct val="90000"/>
              </a:lnSpc>
              <a:spcBef>
                <a:spcPts val="0"/>
              </a:spcBef>
              <a:spcAft>
                <a:spcPts val="0"/>
              </a:spcAft>
              <a:buClr>
                <a:schemeClr val="accent2"/>
              </a:buClr>
              <a:buSzPts val="4800"/>
              <a:buNone/>
              <a:defRPr sz="4800">
                <a:solidFill>
                  <a:schemeClr val="accent2"/>
                </a:solidFill>
              </a:defRPr>
            </a:lvl2pPr>
            <a:lvl3pPr lvl="2" algn="l">
              <a:lnSpc>
                <a:spcPct val="90000"/>
              </a:lnSpc>
              <a:spcBef>
                <a:spcPts val="0"/>
              </a:spcBef>
              <a:spcAft>
                <a:spcPts val="0"/>
              </a:spcAft>
              <a:buClr>
                <a:schemeClr val="accent2"/>
              </a:buClr>
              <a:buSzPts val="4800"/>
              <a:buNone/>
              <a:defRPr sz="4800">
                <a:solidFill>
                  <a:schemeClr val="accent2"/>
                </a:solidFill>
              </a:defRPr>
            </a:lvl3pPr>
            <a:lvl4pPr lvl="3" algn="l">
              <a:lnSpc>
                <a:spcPct val="90000"/>
              </a:lnSpc>
              <a:spcBef>
                <a:spcPts val="0"/>
              </a:spcBef>
              <a:spcAft>
                <a:spcPts val="0"/>
              </a:spcAft>
              <a:buClr>
                <a:schemeClr val="accent2"/>
              </a:buClr>
              <a:buSzPts val="4800"/>
              <a:buNone/>
              <a:defRPr sz="4800">
                <a:solidFill>
                  <a:schemeClr val="accent2"/>
                </a:solidFill>
              </a:defRPr>
            </a:lvl4pPr>
            <a:lvl5pPr lvl="4" algn="l">
              <a:lnSpc>
                <a:spcPct val="90000"/>
              </a:lnSpc>
              <a:spcBef>
                <a:spcPts val="0"/>
              </a:spcBef>
              <a:spcAft>
                <a:spcPts val="0"/>
              </a:spcAft>
              <a:buClr>
                <a:schemeClr val="accent2"/>
              </a:buClr>
              <a:buSzPts val="4800"/>
              <a:buNone/>
              <a:defRPr sz="4800">
                <a:solidFill>
                  <a:schemeClr val="accent2"/>
                </a:solidFill>
              </a:defRPr>
            </a:lvl5pPr>
            <a:lvl6pPr lvl="5" algn="l">
              <a:lnSpc>
                <a:spcPct val="90000"/>
              </a:lnSpc>
              <a:spcBef>
                <a:spcPts val="0"/>
              </a:spcBef>
              <a:spcAft>
                <a:spcPts val="0"/>
              </a:spcAft>
              <a:buClr>
                <a:schemeClr val="accent2"/>
              </a:buClr>
              <a:buSzPts val="4800"/>
              <a:buNone/>
              <a:defRPr sz="4800">
                <a:solidFill>
                  <a:schemeClr val="accent2"/>
                </a:solidFill>
              </a:defRPr>
            </a:lvl6pPr>
            <a:lvl7pPr lvl="6" algn="l">
              <a:lnSpc>
                <a:spcPct val="90000"/>
              </a:lnSpc>
              <a:spcBef>
                <a:spcPts val="0"/>
              </a:spcBef>
              <a:spcAft>
                <a:spcPts val="0"/>
              </a:spcAft>
              <a:buClr>
                <a:schemeClr val="accent2"/>
              </a:buClr>
              <a:buSzPts val="4800"/>
              <a:buNone/>
              <a:defRPr sz="4800">
                <a:solidFill>
                  <a:schemeClr val="accent2"/>
                </a:solidFill>
              </a:defRPr>
            </a:lvl7pPr>
            <a:lvl8pPr lvl="7" algn="l">
              <a:lnSpc>
                <a:spcPct val="90000"/>
              </a:lnSpc>
              <a:spcBef>
                <a:spcPts val="0"/>
              </a:spcBef>
              <a:spcAft>
                <a:spcPts val="0"/>
              </a:spcAft>
              <a:buClr>
                <a:schemeClr val="accent2"/>
              </a:buClr>
              <a:buSzPts val="4800"/>
              <a:buNone/>
              <a:defRPr sz="4800">
                <a:solidFill>
                  <a:schemeClr val="accent2"/>
                </a:solidFill>
              </a:defRPr>
            </a:lvl8pPr>
            <a:lvl9pPr lvl="8" algn="l">
              <a:lnSpc>
                <a:spcPct val="90000"/>
              </a:lnSpc>
              <a:spcBef>
                <a:spcPts val="0"/>
              </a:spcBef>
              <a:spcAft>
                <a:spcPts val="0"/>
              </a:spcAft>
              <a:buClr>
                <a:schemeClr val="accent2"/>
              </a:buClr>
              <a:buSzPts val="4800"/>
              <a:buNone/>
              <a:defRPr sz="4800">
                <a:solidFill>
                  <a:schemeClr val="accent2"/>
                </a:solidFill>
              </a:defRPr>
            </a:lvl9pPr>
          </a:lstStyle>
          <a:p/>
        </p:txBody>
      </p:sp>
      <p:sp>
        <p:nvSpPr>
          <p:cNvPr id="68" name="Google Shape;68;p15"/>
          <p:cNvSpPr txBox="1"/>
          <p:nvPr>
            <p:ph idx="1" type="subTitle"/>
          </p:nvPr>
        </p:nvSpPr>
        <p:spPr>
          <a:xfrm>
            <a:off x="685800" y="3076652"/>
            <a:ext cx="7772400" cy="398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400"/>
              <a:buNone/>
              <a:defRPr/>
            </a:lvl1pPr>
            <a:lvl2pPr lvl="1" algn="l">
              <a:lnSpc>
                <a:spcPct val="100000"/>
              </a:lnSpc>
              <a:spcBef>
                <a:spcPts val="600"/>
              </a:spcBef>
              <a:spcAft>
                <a:spcPts val="0"/>
              </a:spcAft>
              <a:buClr>
                <a:schemeClr val="dk1"/>
              </a:buClr>
              <a:buSzPts val="3000"/>
              <a:buNone/>
              <a:defRPr sz="3000"/>
            </a:lvl2pPr>
            <a:lvl3pPr lvl="2" algn="l">
              <a:lnSpc>
                <a:spcPct val="100000"/>
              </a:lnSpc>
              <a:spcBef>
                <a:spcPts val="600"/>
              </a:spcBef>
              <a:spcAft>
                <a:spcPts val="0"/>
              </a:spcAft>
              <a:buSzPts val="3000"/>
              <a:buNone/>
              <a:defRPr sz="3000"/>
            </a:lvl3pPr>
            <a:lvl4pPr lvl="3" algn="l">
              <a:lnSpc>
                <a:spcPct val="100000"/>
              </a:lnSpc>
              <a:spcBef>
                <a:spcPts val="600"/>
              </a:spcBef>
              <a:spcAft>
                <a:spcPts val="0"/>
              </a:spcAft>
              <a:buSzPts val="3000"/>
              <a:buNone/>
              <a:defRPr sz="3000"/>
            </a:lvl4pPr>
            <a:lvl5pPr lvl="4" algn="l">
              <a:lnSpc>
                <a:spcPct val="100000"/>
              </a:lnSpc>
              <a:spcBef>
                <a:spcPts val="600"/>
              </a:spcBef>
              <a:spcAft>
                <a:spcPts val="0"/>
              </a:spcAft>
              <a:buSzPts val="3000"/>
              <a:buNone/>
              <a:defRPr sz="3000"/>
            </a:lvl5pPr>
            <a:lvl6pPr lvl="5" algn="l">
              <a:lnSpc>
                <a:spcPct val="100000"/>
              </a:lnSpc>
              <a:spcBef>
                <a:spcPts val="600"/>
              </a:spcBef>
              <a:spcAft>
                <a:spcPts val="0"/>
              </a:spcAft>
              <a:buSzPts val="3000"/>
              <a:buNone/>
              <a:defRPr sz="3000"/>
            </a:lvl6pPr>
            <a:lvl7pPr lvl="6" algn="l">
              <a:lnSpc>
                <a:spcPct val="100000"/>
              </a:lnSpc>
              <a:spcBef>
                <a:spcPts val="600"/>
              </a:spcBef>
              <a:spcAft>
                <a:spcPts val="0"/>
              </a:spcAft>
              <a:buSzPts val="3000"/>
              <a:buNone/>
              <a:defRPr sz="3000"/>
            </a:lvl7pPr>
            <a:lvl8pPr lvl="7" algn="l">
              <a:lnSpc>
                <a:spcPct val="100000"/>
              </a:lnSpc>
              <a:spcBef>
                <a:spcPts val="600"/>
              </a:spcBef>
              <a:spcAft>
                <a:spcPts val="0"/>
              </a:spcAft>
              <a:buSzPts val="3000"/>
              <a:buNone/>
              <a:defRPr sz="3000"/>
            </a:lvl8pPr>
            <a:lvl9pPr lvl="8" algn="l">
              <a:lnSpc>
                <a:spcPct val="100000"/>
              </a:lnSpc>
              <a:spcBef>
                <a:spcPts val="600"/>
              </a:spcBef>
              <a:spcAft>
                <a:spcPts val="600"/>
              </a:spcAft>
              <a:buSzPts val="3000"/>
              <a:buNone/>
              <a:defRPr sz="30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ctrTitle"/>
          </p:nvPr>
        </p:nvSpPr>
        <p:spPr>
          <a:xfrm>
            <a:off x="422050" y="2037450"/>
            <a:ext cx="8520600" cy="1068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Weekly reflection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311708" y="15454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inequality of climate change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8"/>
          <p:cNvPicPr preferRelativeResize="0"/>
          <p:nvPr/>
        </p:nvPicPr>
        <p:blipFill rotWithShape="1">
          <a:blip r:embed="rId3">
            <a:alphaModFix/>
          </a:blip>
          <a:srcRect b="0" l="0" r="0" t="15669"/>
          <a:stretch/>
        </p:blipFill>
        <p:spPr>
          <a:xfrm>
            <a:off x="0" y="-2"/>
            <a:ext cx="9144000"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ctrTitle"/>
          </p:nvPr>
        </p:nvSpPr>
        <p:spPr>
          <a:xfrm>
            <a:off x="311700" y="0"/>
            <a:ext cx="8520600" cy="891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n" sz="3280"/>
              <a:t>Continued discussion</a:t>
            </a:r>
            <a:endParaRPr sz="3280"/>
          </a:p>
        </p:txBody>
      </p:sp>
      <p:sp>
        <p:nvSpPr>
          <p:cNvPr id="89" name="Google Shape;89;p19"/>
          <p:cNvSpPr txBox="1"/>
          <p:nvPr>
            <p:ph idx="1" type="subTitle"/>
          </p:nvPr>
        </p:nvSpPr>
        <p:spPr>
          <a:xfrm>
            <a:off x="311700" y="891600"/>
            <a:ext cx="8520600" cy="41370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a:t>
            </a:r>
            <a:r>
              <a:rPr lang="en" sz="1700">
                <a:highlight>
                  <a:srgbClr val="FFFFFF"/>
                </a:highlight>
              </a:rPr>
              <a:t>In general, I have some frustration with using these geographically distant examples of how climate change is </a:t>
            </a:r>
            <a:r>
              <a:rPr lang="en" sz="1700">
                <a:highlight>
                  <a:srgbClr val="FFFFFF"/>
                </a:highlight>
              </a:rPr>
              <a:t>affecting</a:t>
            </a:r>
            <a:r>
              <a:rPr lang="en" sz="1700">
                <a:highlight>
                  <a:srgbClr val="FFFFFF"/>
                </a:highlight>
              </a:rPr>
              <a:t> communities… I think using these distant examples can make the effects of climate change feel more futuristic for us and gives us a sense of insulation from them when in reality it is also </a:t>
            </a:r>
            <a:r>
              <a:rPr lang="en" sz="1700">
                <a:highlight>
                  <a:srgbClr val="FFFFFF"/>
                </a:highlight>
              </a:rPr>
              <a:t>affecting</a:t>
            </a:r>
            <a:r>
              <a:rPr lang="en" sz="1700">
                <a:highlight>
                  <a:srgbClr val="FFFFFF"/>
                </a:highlight>
              </a:rPr>
              <a:t> marginalized and under-supported communities closer to home.”</a:t>
            </a:r>
            <a:endParaRPr sz="1700">
              <a:highlight>
                <a:srgbClr val="FFFFFF"/>
              </a:highlight>
            </a:endParaRPr>
          </a:p>
          <a:p>
            <a:pPr indent="-336550" lvl="0" marL="457200" rtl="0" algn="l">
              <a:spcBef>
                <a:spcPts val="0"/>
              </a:spcBef>
              <a:spcAft>
                <a:spcPts val="0"/>
              </a:spcAft>
              <a:buSzPts val="1700"/>
              <a:buChar char="●"/>
            </a:pPr>
            <a:r>
              <a:rPr lang="en" sz="1700">
                <a:highlight>
                  <a:srgbClr val="FFFFFF"/>
                </a:highlight>
              </a:rPr>
              <a:t>“I honestly didn't think much about the immediate effects of climate change. In my day-to-day life, I don't notice much difference over the last 20 years. However, seeing how people's lives in Alaska have been altered has put climate change in a new light for me… I assumed it would happening 20-50 years from now. The video left me more passionate about preserving Earth’s equilibrium than before.”</a:t>
            </a:r>
            <a:endParaRPr sz="1700">
              <a:highlight>
                <a:srgbClr val="FFFFFF"/>
              </a:highlight>
            </a:endParaRPr>
          </a:p>
          <a:p>
            <a:pPr indent="-336550" lvl="0" marL="457200" rtl="0" algn="l">
              <a:spcBef>
                <a:spcPts val="0"/>
              </a:spcBef>
              <a:spcAft>
                <a:spcPts val="0"/>
              </a:spcAft>
              <a:buSzPts val="1700"/>
              <a:buChar char="●"/>
            </a:pPr>
            <a:r>
              <a:rPr lang="en" sz="1700">
                <a:highlight>
                  <a:srgbClr val="FFFFFF"/>
                </a:highlight>
              </a:rPr>
              <a:t>“By continuing to learn about the struggles of communities like Kivalina, the conversation around climate change becomes a more humanistic and moral issue rather than an generalized one. I hope myself and the population as a whole can learn more about communities facing the worst of climate change, so we can take responsibility, advocate for, and offer support to those struggling.”</a:t>
            </a:r>
            <a:endParaRPr sz="1700">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20"/>
          <p:cNvPicPr preferRelativeResize="0"/>
          <p:nvPr/>
        </p:nvPicPr>
        <p:blipFill>
          <a:blip r:embed="rId3">
            <a:alphaModFix/>
          </a:blip>
          <a:stretch>
            <a:fillRect/>
          </a:stretch>
        </p:blipFill>
        <p:spPr>
          <a:xfrm>
            <a:off x="-12" y="0"/>
            <a:ext cx="3978224" cy="5143499"/>
          </a:xfrm>
          <a:prstGeom prst="rect">
            <a:avLst/>
          </a:prstGeom>
          <a:noFill/>
          <a:ln>
            <a:noFill/>
          </a:ln>
        </p:spPr>
      </p:pic>
      <p:sp>
        <p:nvSpPr>
          <p:cNvPr id="95" name="Google Shape;95;p20"/>
          <p:cNvSpPr txBox="1"/>
          <p:nvPr/>
        </p:nvSpPr>
        <p:spPr>
          <a:xfrm>
            <a:off x="3978200" y="1241"/>
            <a:ext cx="5165700" cy="46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rPr>
              <a:t>Climate impacts on Tacoma</a:t>
            </a:r>
            <a:endParaRPr sz="1900">
              <a:solidFill>
                <a:schemeClr val="dk1"/>
              </a:solidFill>
            </a:endParaRPr>
          </a:p>
          <a:p>
            <a:pPr indent="-336550" lvl="0" marL="457200" rtl="0" algn="l">
              <a:spcBef>
                <a:spcPts val="0"/>
              </a:spcBef>
              <a:spcAft>
                <a:spcPts val="0"/>
              </a:spcAft>
              <a:buClr>
                <a:schemeClr val="dk2"/>
              </a:buClr>
              <a:buSzPts val="1700"/>
              <a:buChar char="●"/>
            </a:pPr>
            <a:r>
              <a:rPr lang="en" sz="1700">
                <a:solidFill>
                  <a:schemeClr val="dk2"/>
                </a:solidFill>
              </a:rPr>
              <a:t>Extreme heat and drought</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Increased heat-related illness</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Greater heat island effect</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Strain on energy systems</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Wildfires and smoke</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Poor air quality and visibility</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Infrastructure damage</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Landslides</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Risk to coastlines and conveyance systems</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Sea level rise</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Saltwater intrusion of low-altitude sites like the Central Wastewater Treatment Plant</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Flooding of roads and rail corridors</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Flooding from extreme precipitation and storm surges</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Flooding of coastal communities</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Risk of hazardous material release</a:t>
            </a:r>
            <a:endParaRPr sz="17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1" name="Google Shape;101;p21"/>
          <p:cNvPicPr preferRelativeResize="0"/>
          <p:nvPr/>
        </p:nvPicPr>
        <p:blipFill>
          <a:blip r:embed="rId3">
            <a:alphaModFix/>
          </a:blip>
          <a:stretch>
            <a:fillRect/>
          </a:stretch>
        </p:blipFill>
        <p:spPr>
          <a:xfrm>
            <a:off x="716300" y="0"/>
            <a:ext cx="7711397"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22"/>
          <p:cNvPicPr preferRelativeResize="0"/>
          <p:nvPr/>
        </p:nvPicPr>
        <p:blipFill>
          <a:blip r:embed="rId3">
            <a:alphaModFix/>
          </a:blip>
          <a:stretch>
            <a:fillRect/>
          </a:stretch>
        </p:blipFill>
        <p:spPr>
          <a:xfrm>
            <a:off x="152400" y="863046"/>
            <a:ext cx="8839204" cy="2930576"/>
          </a:xfrm>
          <a:prstGeom prst="rect">
            <a:avLst/>
          </a:prstGeom>
          <a:noFill/>
          <a:ln>
            <a:noFill/>
          </a:ln>
        </p:spPr>
      </p:pic>
      <p:sp>
        <p:nvSpPr>
          <p:cNvPr id="107" name="Google Shape;107;p22"/>
          <p:cNvSpPr txBox="1"/>
          <p:nvPr/>
        </p:nvSpPr>
        <p:spPr>
          <a:xfrm>
            <a:off x="7954875" y="4782306"/>
            <a:ext cx="1749000" cy="28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IPCC AR6</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idx="4294967295" type="ctrTitle"/>
          </p:nvPr>
        </p:nvSpPr>
        <p:spPr>
          <a:xfrm>
            <a:off x="311700" y="1417047"/>
            <a:ext cx="8520600" cy="230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t>You have two figures in front of you. Take a couple minutes to review them and write what you notice. What is surprising? Important?</a:t>
            </a:r>
            <a:endParaRPr sz="3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4"/>
          <p:cNvPicPr preferRelativeResize="0"/>
          <p:nvPr/>
        </p:nvPicPr>
        <p:blipFill rotWithShape="1">
          <a:blip r:embed="rId3">
            <a:alphaModFix/>
          </a:blip>
          <a:srcRect b="36415" l="0" r="0" t="0"/>
          <a:stretch/>
        </p:blipFill>
        <p:spPr>
          <a:xfrm>
            <a:off x="57380" y="265075"/>
            <a:ext cx="9144003" cy="4613326"/>
          </a:xfrm>
          <a:prstGeom prst="rect">
            <a:avLst/>
          </a:prstGeom>
          <a:noFill/>
          <a:ln>
            <a:noFill/>
          </a:ln>
        </p:spPr>
      </p:pic>
      <p:sp>
        <p:nvSpPr>
          <p:cNvPr id="118" name="Google Shape;118;p24"/>
          <p:cNvSpPr txBox="1"/>
          <p:nvPr/>
        </p:nvSpPr>
        <p:spPr>
          <a:xfrm>
            <a:off x="7954875" y="4782306"/>
            <a:ext cx="1749000" cy="28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IPCC AR6</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5"/>
          <p:cNvPicPr preferRelativeResize="0"/>
          <p:nvPr/>
        </p:nvPicPr>
        <p:blipFill rotWithShape="1">
          <a:blip r:embed="rId3">
            <a:alphaModFix/>
          </a:blip>
          <a:srcRect b="53300" l="0" r="0" t="4820"/>
          <a:stretch/>
        </p:blipFill>
        <p:spPr>
          <a:xfrm>
            <a:off x="0" y="837749"/>
            <a:ext cx="5175851" cy="2667848"/>
          </a:xfrm>
          <a:prstGeom prst="rect">
            <a:avLst/>
          </a:prstGeom>
          <a:noFill/>
          <a:ln>
            <a:noFill/>
          </a:ln>
        </p:spPr>
      </p:pic>
      <p:pic>
        <p:nvPicPr>
          <p:cNvPr id="124" name="Google Shape;124;p25"/>
          <p:cNvPicPr preferRelativeResize="0"/>
          <p:nvPr/>
        </p:nvPicPr>
        <p:blipFill rotWithShape="1">
          <a:blip r:embed="rId3">
            <a:alphaModFix/>
          </a:blip>
          <a:srcRect b="0" l="0" r="0" t="47202"/>
          <a:stretch/>
        </p:blipFill>
        <p:spPr>
          <a:xfrm>
            <a:off x="4964900" y="1885700"/>
            <a:ext cx="4179099" cy="2715648"/>
          </a:xfrm>
          <a:prstGeom prst="rect">
            <a:avLst/>
          </a:prstGeom>
          <a:noFill/>
          <a:ln>
            <a:noFill/>
          </a:ln>
        </p:spPr>
      </p:pic>
      <p:cxnSp>
        <p:nvCxnSpPr>
          <p:cNvPr id="125" name="Google Shape;125;p25"/>
          <p:cNvCxnSpPr/>
          <p:nvPr/>
        </p:nvCxnSpPr>
        <p:spPr>
          <a:xfrm>
            <a:off x="4076875" y="1500900"/>
            <a:ext cx="911100" cy="395700"/>
          </a:xfrm>
          <a:prstGeom prst="straightConnector1">
            <a:avLst/>
          </a:prstGeom>
          <a:noFill/>
          <a:ln cap="flat" cmpd="sng" w="9525">
            <a:solidFill>
              <a:schemeClr val="dk2"/>
            </a:solidFill>
            <a:prstDash val="solid"/>
            <a:round/>
            <a:headEnd len="med" w="med" type="none"/>
            <a:tailEnd len="med" w="med" type="none"/>
          </a:ln>
        </p:spPr>
      </p:cxnSp>
      <p:cxnSp>
        <p:nvCxnSpPr>
          <p:cNvPr id="126" name="Google Shape;126;p25"/>
          <p:cNvCxnSpPr/>
          <p:nvPr/>
        </p:nvCxnSpPr>
        <p:spPr>
          <a:xfrm>
            <a:off x="4072274" y="2242274"/>
            <a:ext cx="924900" cy="1794000"/>
          </a:xfrm>
          <a:prstGeom prst="straightConnector1">
            <a:avLst/>
          </a:prstGeom>
          <a:noFill/>
          <a:ln cap="flat" cmpd="sng" w="9525">
            <a:solidFill>
              <a:schemeClr val="dk2"/>
            </a:solidFill>
            <a:prstDash val="solid"/>
            <a:round/>
            <a:headEnd len="med" w="med" type="none"/>
            <a:tailEnd len="med" w="med" type="none"/>
          </a:ln>
        </p:spPr>
      </p:cxnSp>
      <p:sp>
        <p:nvSpPr>
          <p:cNvPr id="127" name="Google Shape;127;p25"/>
          <p:cNvSpPr txBox="1"/>
          <p:nvPr/>
        </p:nvSpPr>
        <p:spPr>
          <a:xfrm>
            <a:off x="0" y="0"/>
            <a:ext cx="9144000" cy="7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Present-day global distribution of camps for refugees and internally displaced people</a:t>
            </a:r>
            <a:endParaRPr sz="1800">
              <a:solidFill>
                <a:schemeClr val="dk2"/>
              </a:solidFill>
            </a:endParaRPr>
          </a:p>
          <a:p>
            <a:pPr indent="0" lvl="0" marL="0" rtl="0" algn="l">
              <a:spcBef>
                <a:spcPts val="0"/>
              </a:spcBef>
              <a:spcAft>
                <a:spcPts val="0"/>
              </a:spcAft>
              <a:buNone/>
            </a:pPr>
            <a:r>
              <a:rPr lang="en" sz="1600">
                <a:solidFill>
                  <a:schemeClr val="dk2"/>
                </a:solidFill>
              </a:rPr>
              <a:t>Background shows projected days of </a:t>
            </a:r>
            <a:r>
              <a:rPr lang="en" sz="1600">
                <a:solidFill>
                  <a:schemeClr val="dk2"/>
                </a:solidFill>
              </a:rPr>
              <a:t>temperature</a:t>
            </a:r>
            <a:r>
              <a:rPr lang="en" sz="1600">
                <a:solidFill>
                  <a:schemeClr val="dk2"/>
                </a:solidFill>
              </a:rPr>
              <a:t> exceeding 35॰C (95॰F) in 2041-2060</a:t>
            </a:r>
            <a:endParaRPr sz="1600">
              <a:solidFill>
                <a:schemeClr val="dk2"/>
              </a:solidFill>
            </a:endParaRPr>
          </a:p>
        </p:txBody>
      </p:sp>
      <p:sp>
        <p:nvSpPr>
          <p:cNvPr id="128" name="Google Shape;128;p25"/>
          <p:cNvSpPr txBox="1"/>
          <p:nvPr/>
        </p:nvSpPr>
        <p:spPr>
          <a:xfrm>
            <a:off x="7954875" y="4782306"/>
            <a:ext cx="1749000" cy="28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IPCC AR6</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idx="4294967295" type="ctrTitle"/>
          </p:nvPr>
        </p:nvSpPr>
        <p:spPr>
          <a:xfrm>
            <a:off x="311700" y="1913817"/>
            <a:ext cx="8520600" cy="61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t>What do different potential future scenarios look like?</a:t>
            </a:r>
            <a:endParaRPr sz="3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1.5° C of warming by 2100 (RCP 1.9)</a:t>
            </a:r>
            <a:endParaRPr/>
          </a:p>
        </p:txBody>
      </p:sp>
      <p:sp>
        <p:nvSpPr>
          <p:cNvPr id="139" name="Google Shape;139;p27"/>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p>
            <a:pPr indent="-355600" lvl="0" marL="457200" rtl="0" algn="l">
              <a:lnSpc>
                <a:spcPct val="100000"/>
              </a:lnSpc>
              <a:spcBef>
                <a:spcPts val="0"/>
              </a:spcBef>
              <a:spcAft>
                <a:spcPts val="0"/>
              </a:spcAft>
              <a:buSzPts val="2000"/>
              <a:buChar char="●"/>
            </a:pPr>
            <a:r>
              <a:rPr lang="en" sz="2000"/>
              <a:t>Some regions will experience much greater warming that 1.5 degrees.</a:t>
            </a:r>
            <a:endParaRPr sz="2000"/>
          </a:p>
          <a:p>
            <a:pPr indent="-355600" lvl="0" marL="457200" rtl="0" algn="l">
              <a:lnSpc>
                <a:spcPct val="100000"/>
              </a:lnSpc>
              <a:spcBef>
                <a:spcPts val="1000"/>
              </a:spcBef>
              <a:spcAft>
                <a:spcPts val="0"/>
              </a:spcAft>
              <a:buSzPts val="2000"/>
              <a:buChar char="●"/>
            </a:pPr>
            <a:r>
              <a:rPr lang="en" sz="2000"/>
              <a:t>Global mean sea level rise from 0.26 to 0.77 meters (10-30 inches) by 2100.</a:t>
            </a:r>
            <a:endParaRPr sz="2000"/>
          </a:p>
          <a:p>
            <a:pPr indent="-355600" lvl="0" marL="457200" rtl="0" algn="l">
              <a:lnSpc>
                <a:spcPct val="100000"/>
              </a:lnSpc>
              <a:spcBef>
                <a:spcPts val="1000"/>
              </a:spcBef>
              <a:spcAft>
                <a:spcPts val="0"/>
              </a:spcAft>
              <a:buSzPts val="2000"/>
              <a:buChar char="●"/>
            </a:pPr>
            <a:r>
              <a:rPr lang="en" sz="2000"/>
              <a:t>Increase of extreme heat and overall number of hot days.  </a:t>
            </a:r>
            <a:endParaRPr sz="2000"/>
          </a:p>
          <a:p>
            <a:pPr indent="-355600" lvl="0" marL="457200" rtl="0" algn="l">
              <a:lnSpc>
                <a:spcPct val="100000"/>
              </a:lnSpc>
              <a:spcBef>
                <a:spcPts val="1000"/>
              </a:spcBef>
              <a:spcAft>
                <a:spcPts val="0"/>
              </a:spcAft>
              <a:buSzPts val="2000"/>
              <a:buChar char="●"/>
            </a:pPr>
            <a:r>
              <a:rPr lang="en" sz="2000"/>
              <a:t>70-90% of coral reefs bleached.</a:t>
            </a:r>
            <a:endParaRPr sz="2000"/>
          </a:p>
          <a:p>
            <a:pPr indent="-355600" lvl="0" marL="457200" rtl="0" algn="l">
              <a:lnSpc>
                <a:spcPct val="100000"/>
              </a:lnSpc>
              <a:spcBef>
                <a:spcPts val="1000"/>
              </a:spcBef>
              <a:spcAft>
                <a:spcPts val="1000"/>
              </a:spcAft>
              <a:buSzPts val="2000"/>
              <a:buChar char="●"/>
            </a:pPr>
            <a:r>
              <a:rPr lang="en" sz="2000"/>
              <a:t>About 4% of the Earth’s land area will transform to a different ecosystem.</a:t>
            </a:r>
            <a:endParaRPr sz="2000"/>
          </a:p>
        </p:txBody>
      </p:sp>
      <p:sp>
        <p:nvSpPr>
          <p:cNvPr id="140" name="Google Shape;140;p27"/>
          <p:cNvSpPr txBox="1"/>
          <p:nvPr>
            <p:ph idx="12" type="sldNum"/>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311700" y="445025"/>
            <a:ext cx="8520600" cy="5727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2° C of warming by 2100 (RCP 2.5)</a:t>
            </a:r>
            <a:endParaRPr/>
          </a:p>
        </p:txBody>
      </p:sp>
      <p:sp>
        <p:nvSpPr>
          <p:cNvPr id="146" name="Google Shape;146;p28"/>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p>
            <a:pPr indent="-355600" lvl="0" marL="457200" rtl="0" algn="l">
              <a:lnSpc>
                <a:spcPct val="100000"/>
              </a:lnSpc>
              <a:spcBef>
                <a:spcPts val="0"/>
              </a:spcBef>
              <a:spcAft>
                <a:spcPts val="0"/>
              </a:spcAft>
              <a:buSzPts val="2000"/>
              <a:buChar char="●"/>
            </a:pPr>
            <a:r>
              <a:rPr lang="en" sz="2000"/>
              <a:t>Over 50% of the world's population exposed to lethal heat for more than 20 days per year.</a:t>
            </a:r>
            <a:endParaRPr sz="2000"/>
          </a:p>
          <a:p>
            <a:pPr indent="-355600" lvl="0" marL="457200" rtl="0" algn="l">
              <a:lnSpc>
                <a:spcPct val="100000"/>
              </a:lnSpc>
              <a:spcBef>
                <a:spcPts val="1000"/>
              </a:spcBef>
              <a:spcAft>
                <a:spcPts val="0"/>
              </a:spcAft>
              <a:buSzPts val="2000"/>
              <a:buChar char="●"/>
            </a:pPr>
            <a:r>
              <a:rPr lang="en" sz="2000"/>
              <a:t>Risk of river flooding more than doubles</a:t>
            </a:r>
            <a:endParaRPr sz="2000"/>
          </a:p>
          <a:p>
            <a:pPr indent="-355600" lvl="0" marL="457200" rtl="0" algn="l">
              <a:lnSpc>
                <a:spcPct val="100000"/>
              </a:lnSpc>
              <a:spcBef>
                <a:spcPts val="1000"/>
              </a:spcBef>
              <a:spcAft>
                <a:spcPts val="0"/>
              </a:spcAft>
              <a:buSzPts val="2000"/>
              <a:buChar char="●"/>
            </a:pPr>
            <a:r>
              <a:rPr lang="en" sz="2000"/>
              <a:t>Severe droughts that used to happen once a decade will happen two to three times as often.</a:t>
            </a:r>
            <a:endParaRPr sz="2000"/>
          </a:p>
          <a:p>
            <a:pPr indent="-355600" lvl="0" marL="457200" rtl="0" algn="l">
              <a:lnSpc>
                <a:spcPct val="100000"/>
              </a:lnSpc>
              <a:spcBef>
                <a:spcPts val="1000"/>
              </a:spcBef>
              <a:spcAft>
                <a:spcPts val="0"/>
              </a:spcAft>
              <a:buSzPts val="2000"/>
              <a:buChar char="●"/>
            </a:pPr>
            <a:r>
              <a:rPr lang="en" sz="2000"/>
              <a:t>The arctic ocean, could become ice free in the summer about once per decade. </a:t>
            </a:r>
            <a:endParaRPr sz="2000"/>
          </a:p>
          <a:p>
            <a:pPr indent="-355600" lvl="0" marL="457200" rtl="0" algn="l">
              <a:lnSpc>
                <a:spcPct val="100000"/>
              </a:lnSpc>
              <a:spcBef>
                <a:spcPts val="1000"/>
              </a:spcBef>
              <a:spcAft>
                <a:spcPts val="1000"/>
              </a:spcAft>
              <a:buSzPts val="2000"/>
              <a:buChar char="●"/>
            </a:pPr>
            <a:r>
              <a:rPr lang="en" sz="2000"/>
              <a:t>Sea levels are projected to rise by 0.36 to 0.87 meters (1.18-2.85 feet) by 2100.</a:t>
            </a:r>
            <a:endParaRPr sz="2000"/>
          </a:p>
        </p:txBody>
      </p:sp>
      <p:sp>
        <p:nvSpPr>
          <p:cNvPr id="147" name="Google Shape;147;p28"/>
          <p:cNvSpPr txBox="1"/>
          <p:nvPr>
            <p:ph idx="12" type="sldNum"/>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445025"/>
            <a:ext cx="8520600" cy="5727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3° C of warming by 2100 (RCP 6.0)</a:t>
            </a:r>
            <a:endParaRPr/>
          </a:p>
        </p:txBody>
      </p:sp>
      <p:sp>
        <p:nvSpPr>
          <p:cNvPr id="153" name="Google Shape;153;p29"/>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p>
            <a:pPr indent="-355600" lvl="0" marL="457200" rtl="0" algn="l">
              <a:lnSpc>
                <a:spcPct val="100000"/>
              </a:lnSpc>
              <a:spcBef>
                <a:spcPts val="0"/>
              </a:spcBef>
              <a:spcAft>
                <a:spcPts val="0"/>
              </a:spcAft>
              <a:buSzPts val="2000"/>
              <a:buChar char="●"/>
            </a:pPr>
            <a:r>
              <a:rPr lang="en" sz="2000"/>
              <a:t>Sea-level rise will will dramatically change present coastlines and be catastrophic for small island nations.</a:t>
            </a:r>
            <a:endParaRPr sz="2000"/>
          </a:p>
          <a:p>
            <a:pPr indent="-355600" lvl="0" marL="457200" rtl="0" algn="l">
              <a:lnSpc>
                <a:spcPct val="100000"/>
              </a:lnSpc>
              <a:spcBef>
                <a:spcPts val="600"/>
              </a:spcBef>
              <a:spcAft>
                <a:spcPts val="0"/>
              </a:spcAft>
              <a:buSzPts val="2000"/>
              <a:buChar char="●"/>
            </a:pPr>
            <a:r>
              <a:rPr lang="en" sz="2000"/>
              <a:t>The Arctic could be ice free 2 out of every 3 summers.</a:t>
            </a:r>
            <a:endParaRPr sz="2000"/>
          </a:p>
          <a:p>
            <a:pPr indent="-355600" lvl="0" marL="457200" rtl="0" algn="l">
              <a:lnSpc>
                <a:spcPct val="100000"/>
              </a:lnSpc>
              <a:spcBef>
                <a:spcPts val="600"/>
              </a:spcBef>
              <a:spcAft>
                <a:spcPts val="0"/>
              </a:spcAft>
              <a:buSzPts val="2000"/>
              <a:buChar char="●"/>
            </a:pPr>
            <a:r>
              <a:rPr lang="en" sz="2000"/>
              <a:t>In some tropical countries, the combined heat and humidity may be so high during heat waves that it surpasses what human bodies can survive.</a:t>
            </a:r>
            <a:endParaRPr sz="2000"/>
          </a:p>
          <a:p>
            <a:pPr indent="-355600" lvl="0" marL="457200" rtl="0" algn="l">
              <a:lnSpc>
                <a:spcPct val="100000"/>
              </a:lnSpc>
              <a:spcBef>
                <a:spcPts val="600"/>
              </a:spcBef>
              <a:spcAft>
                <a:spcPts val="600"/>
              </a:spcAft>
              <a:buSzPts val="2000"/>
              <a:buChar char="●"/>
            </a:pPr>
            <a:r>
              <a:rPr lang="en" sz="2000"/>
              <a:t>Droughts that are currently considered once-in-a-century events could happen every two to five years in much of the world, including the U.S.</a:t>
            </a:r>
            <a:endParaRPr sz="2000"/>
          </a:p>
        </p:txBody>
      </p:sp>
      <p:sp>
        <p:nvSpPr>
          <p:cNvPr id="154" name="Google Shape;154;p29"/>
          <p:cNvSpPr txBox="1"/>
          <p:nvPr>
            <p:ph idx="12" type="sldNum"/>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ctrTitle"/>
          </p:nvPr>
        </p:nvSpPr>
        <p:spPr>
          <a:xfrm>
            <a:off x="311708" y="1300300"/>
            <a:ext cx="8520600" cy="20526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SzPts val="6000"/>
              <a:buNone/>
            </a:pPr>
            <a:r>
              <a:rPr lang="en"/>
              <a:t>Which scenario is most likely?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idx="12" type="sldNum"/>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165" name="Google Shape;165;p31"/>
          <p:cNvPicPr preferRelativeResize="0"/>
          <p:nvPr/>
        </p:nvPicPr>
        <p:blipFill rotWithShape="1">
          <a:blip r:embed="rId3">
            <a:alphaModFix/>
          </a:blip>
          <a:srcRect b="0" l="0" r="0" t="0"/>
          <a:stretch/>
        </p:blipFill>
        <p:spPr>
          <a:xfrm>
            <a:off x="4245250" y="228600"/>
            <a:ext cx="4784026" cy="4838700"/>
          </a:xfrm>
          <a:prstGeom prst="rect">
            <a:avLst/>
          </a:prstGeom>
          <a:noFill/>
          <a:ln>
            <a:noFill/>
          </a:ln>
        </p:spPr>
      </p:pic>
      <p:sp>
        <p:nvSpPr>
          <p:cNvPr id="166" name="Google Shape;166;p31"/>
          <p:cNvSpPr txBox="1"/>
          <p:nvPr>
            <p:ph type="title"/>
          </p:nvPr>
        </p:nvSpPr>
        <p:spPr>
          <a:xfrm>
            <a:off x="392325" y="301775"/>
            <a:ext cx="3530700" cy="10461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Which scenario is most likely? </a:t>
            </a:r>
            <a:endParaRPr/>
          </a:p>
        </p:txBody>
      </p:sp>
      <p:sp>
        <p:nvSpPr>
          <p:cNvPr id="167" name="Google Shape;167;p31"/>
          <p:cNvSpPr txBox="1"/>
          <p:nvPr>
            <p:ph idx="1" type="body"/>
          </p:nvPr>
        </p:nvSpPr>
        <p:spPr>
          <a:xfrm>
            <a:off x="392325" y="1480425"/>
            <a:ext cx="3671700" cy="3033900"/>
          </a:xfrm>
          <a:prstGeom prst="rect">
            <a:avLst/>
          </a:prstGeom>
          <a:noFill/>
          <a:ln>
            <a:noFill/>
          </a:ln>
        </p:spPr>
        <p:txBody>
          <a:bodyPr anchorCtr="0" anchor="t" bIns="0" lIns="0" spcFirstLastPara="1" rIns="0" wrap="square" tIns="0">
            <a:noAutofit/>
          </a:bodyPr>
          <a:lstStyle/>
          <a:p>
            <a:pPr indent="-374650" lvl="0" marL="457200" rtl="0" algn="l">
              <a:lnSpc>
                <a:spcPct val="100000"/>
              </a:lnSpc>
              <a:spcBef>
                <a:spcPts val="0"/>
              </a:spcBef>
              <a:spcAft>
                <a:spcPts val="0"/>
              </a:spcAft>
              <a:buSzPts val="2300"/>
              <a:buChar char="●"/>
            </a:pPr>
            <a:r>
              <a:rPr lang="en" sz="2300"/>
              <a:t>We’re not on track for RCP 2.6 (1°C)</a:t>
            </a:r>
            <a:endParaRPr sz="2300"/>
          </a:p>
          <a:p>
            <a:pPr indent="-374650" lvl="0" marL="457200" rtl="0" algn="l">
              <a:lnSpc>
                <a:spcPct val="100000"/>
              </a:lnSpc>
              <a:spcBef>
                <a:spcPts val="1000"/>
              </a:spcBef>
              <a:spcAft>
                <a:spcPts val="0"/>
              </a:spcAft>
              <a:buSzPts val="2300"/>
              <a:buChar char="●"/>
            </a:pPr>
            <a:r>
              <a:rPr lang="en" sz="2300"/>
              <a:t>RCP 8.5 (3+°C) is less and less plausible </a:t>
            </a:r>
            <a:endParaRPr sz="2300"/>
          </a:p>
          <a:p>
            <a:pPr indent="-374650" lvl="0" marL="457200" rtl="0" algn="l">
              <a:lnSpc>
                <a:spcPct val="100000"/>
              </a:lnSpc>
              <a:spcBef>
                <a:spcPts val="1000"/>
              </a:spcBef>
              <a:spcAft>
                <a:spcPts val="0"/>
              </a:spcAft>
              <a:buSzPts val="2300"/>
              <a:buChar char="●"/>
            </a:pPr>
            <a:r>
              <a:rPr lang="en" sz="2300"/>
              <a:t>Current policy aligned with about 3°C</a:t>
            </a:r>
            <a:endParaRPr sz="2300"/>
          </a:p>
          <a:p>
            <a:pPr indent="-374650" lvl="0" marL="457200" rtl="0" algn="l">
              <a:lnSpc>
                <a:spcPct val="100000"/>
              </a:lnSpc>
              <a:spcBef>
                <a:spcPts val="1000"/>
              </a:spcBef>
              <a:spcAft>
                <a:spcPts val="1000"/>
              </a:spcAft>
              <a:buSzPts val="2300"/>
              <a:buChar char="●"/>
            </a:pPr>
            <a:r>
              <a:rPr lang="en" sz="2300"/>
              <a:t>Global targets 1.5-2°C</a:t>
            </a:r>
            <a:endParaRPr sz="2300"/>
          </a:p>
        </p:txBody>
      </p:sp>
      <p:sp>
        <p:nvSpPr>
          <p:cNvPr id="168" name="Google Shape;168;p31"/>
          <p:cNvSpPr txBox="1"/>
          <p:nvPr/>
        </p:nvSpPr>
        <p:spPr>
          <a:xfrm>
            <a:off x="100600" y="4769650"/>
            <a:ext cx="42651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Montserrat Light"/>
                <a:ea typeface="Montserrat Light"/>
                <a:cs typeface="Montserrat Light"/>
                <a:sym typeface="Montserrat Light"/>
              </a:rPr>
              <a:t>https://www.nature.com/articles/d41586-020-00177-3</a:t>
            </a:r>
            <a:endParaRPr b="0" i="0" sz="1100" u="none" cap="none" strike="noStrike">
              <a:solidFill>
                <a:srgbClr val="000000"/>
              </a:solidFill>
              <a:latin typeface="Montserrat Light"/>
              <a:ea typeface="Montserrat Light"/>
              <a:cs typeface="Montserrat Light"/>
              <a:sym typeface="Montserrat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ctrTitle"/>
          </p:nvPr>
        </p:nvSpPr>
        <p:spPr>
          <a:xfrm>
            <a:off x="311708" y="744575"/>
            <a:ext cx="8520600" cy="20526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4800"/>
              <a:buNone/>
            </a:pPr>
            <a:r>
              <a:rPr lang="en"/>
              <a:t>Maintaining a Livable Planet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602550" y="827850"/>
            <a:ext cx="79389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The sooner we can stop the emissions of greenhouse gases, the better.</a:t>
            </a:r>
            <a:endParaRPr/>
          </a:p>
        </p:txBody>
      </p:sp>
      <p:sp>
        <p:nvSpPr>
          <p:cNvPr id="179" name="Google Shape;179;p33"/>
          <p:cNvSpPr txBox="1"/>
          <p:nvPr>
            <p:ph idx="1" type="body"/>
          </p:nvPr>
        </p:nvSpPr>
        <p:spPr>
          <a:xfrm>
            <a:off x="602550" y="1430150"/>
            <a:ext cx="8008200" cy="3033900"/>
          </a:xfrm>
          <a:prstGeom prst="rect">
            <a:avLst/>
          </a:prstGeom>
          <a:noFill/>
          <a:ln>
            <a:noFill/>
          </a:ln>
        </p:spPr>
        <p:txBody>
          <a:bodyPr anchorCtr="0" anchor="t" bIns="0" lIns="0" spcFirstLastPara="1" rIns="0" wrap="square" tIns="0">
            <a:noAutofit/>
          </a:bodyPr>
          <a:lstStyle/>
          <a:p>
            <a:pPr indent="-412750" lvl="0" marL="457200" rtl="0" algn="l">
              <a:lnSpc>
                <a:spcPct val="100000"/>
              </a:lnSpc>
              <a:spcBef>
                <a:spcPts val="0"/>
              </a:spcBef>
              <a:spcAft>
                <a:spcPts val="0"/>
              </a:spcAft>
              <a:buSzPts val="2900"/>
              <a:buChar char="●"/>
            </a:pPr>
            <a:r>
              <a:rPr lang="en" sz="2300"/>
              <a:t>Copenhagen Accord (2009): “the increase in global temperature should be below 2° C.” </a:t>
            </a:r>
            <a:endParaRPr sz="2300"/>
          </a:p>
          <a:p>
            <a:pPr indent="-412750" lvl="0" marL="457200" rtl="0" algn="l">
              <a:lnSpc>
                <a:spcPct val="100000"/>
              </a:lnSpc>
              <a:spcBef>
                <a:spcPts val="1000"/>
              </a:spcBef>
              <a:spcAft>
                <a:spcPts val="0"/>
              </a:spcAft>
              <a:buSzPts val="2900"/>
              <a:buChar char="●"/>
            </a:pPr>
            <a:r>
              <a:rPr lang="en" sz="2300"/>
              <a:t>We have already raised the temperature 1° C, which has caused more damage than expected. </a:t>
            </a:r>
            <a:endParaRPr sz="2300"/>
          </a:p>
          <a:p>
            <a:pPr indent="-412750" lvl="0" marL="457200" rtl="0" algn="l">
              <a:lnSpc>
                <a:spcPct val="100000"/>
              </a:lnSpc>
              <a:spcBef>
                <a:spcPts val="1000"/>
              </a:spcBef>
              <a:spcAft>
                <a:spcPts val="1000"/>
              </a:spcAft>
              <a:buSzPts val="2900"/>
              <a:buChar char="●"/>
            </a:pPr>
            <a:r>
              <a:rPr lang="en" sz="2300"/>
              <a:t>Widespread agreement that 2° C is the desired maximum but limiting warming to 1.5° C is better.</a:t>
            </a:r>
            <a:endParaRPr sz="2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474300" y="378800"/>
            <a:ext cx="74334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Our Carbon Budget</a:t>
            </a:r>
            <a:endParaRPr/>
          </a:p>
        </p:txBody>
      </p:sp>
      <p:sp>
        <p:nvSpPr>
          <p:cNvPr id="185" name="Google Shape;185;p34"/>
          <p:cNvSpPr txBox="1"/>
          <p:nvPr>
            <p:ph type="title"/>
          </p:nvPr>
        </p:nvSpPr>
        <p:spPr>
          <a:xfrm>
            <a:off x="474300" y="1108675"/>
            <a:ext cx="81588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sz="2200"/>
              <a:t>How much CO2 can we afford to “spend” to keep the planet within 2 degrees C?</a:t>
            </a:r>
            <a:endParaRPr sz="2200"/>
          </a:p>
        </p:txBody>
      </p:sp>
      <p:sp>
        <p:nvSpPr>
          <p:cNvPr id="186" name="Google Shape;186;p34"/>
          <p:cNvSpPr txBox="1"/>
          <p:nvPr/>
        </p:nvSpPr>
        <p:spPr>
          <a:xfrm>
            <a:off x="563025" y="3625675"/>
            <a:ext cx="1125900" cy="5850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 sz="2600" u="none" cap="none" strike="noStrike">
                <a:solidFill>
                  <a:srgbClr val="000000"/>
                </a:solidFill>
                <a:latin typeface="Montserrat Medium"/>
                <a:ea typeface="Montserrat Medium"/>
                <a:cs typeface="Montserrat Medium"/>
                <a:sym typeface="Montserrat Medium"/>
              </a:rPr>
              <a:t>1.5° C</a:t>
            </a:r>
            <a:endParaRPr b="0" i="0" sz="2600" u="none" cap="none" strike="noStrike">
              <a:solidFill>
                <a:srgbClr val="000000"/>
              </a:solidFill>
              <a:latin typeface="Montserrat Medium"/>
              <a:ea typeface="Montserrat Medium"/>
              <a:cs typeface="Montserrat Medium"/>
              <a:sym typeface="Montserrat Medium"/>
            </a:endParaRPr>
          </a:p>
        </p:txBody>
      </p:sp>
      <p:sp>
        <p:nvSpPr>
          <p:cNvPr id="187" name="Google Shape;187;p34"/>
          <p:cNvSpPr/>
          <p:nvPr/>
        </p:nvSpPr>
        <p:spPr>
          <a:xfrm>
            <a:off x="2766075" y="2936525"/>
            <a:ext cx="1605900" cy="1605900"/>
          </a:xfrm>
          <a:prstGeom prst="ellipse">
            <a:avLst/>
          </a:prstGeom>
          <a:solidFill>
            <a:schemeClr val="accent4"/>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4"/>
          <p:cNvSpPr txBox="1"/>
          <p:nvPr/>
        </p:nvSpPr>
        <p:spPr>
          <a:xfrm>
            <a:off x="474300" y="4609125"/>
            <a:ext cx="47646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Montserrat Light"/>
                <a:ea typeface="Montserrat Light"/>
                <a:cs typeface="Montserrat Light"/>
                <a:sym typeface="Montserrat Light"/>
              </a:rPr>
              <a:t>Remaining carbon budget 2021, GtCO2. </a:t>
            </a:r>
            <a:endParaRPr b="0" i="0" sz="1600" u="none" cap="none" strike="noStrike">
              <a:solidFill>
                <a:srgbClr val="000000"/>
              </a:solidFill>
              <a:latin typeface="Montserrat Light"/>
              <a:ea typeface="Montserrat Light"/>
              <a:cs typeface="Montserrat Light"/>
              <a:sym typeface="Montserrat Light"/>
            </a:endParaRPr>
          </a:p>
        </p:txBody>
      </p:sp>
      <p:sp>
        <p:nvSpPr>
          <p:cNvPr id="189" name="Google Shape;189;p34"/>
          <p:cNvSpPr txBox="1"/>
          <p:nvPr/>
        </p:nvSpPr>
        <p:spPr>
          <a:xfrm>
            <a:off x="3006075" y="3446975"/>
            <a:ext cx="1125900" cy="5232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000000"/>
                </a:solidFill>
                <a:latin typeface="Montserrat Medium"/>
                <a:ea typeface="Montserrat Medium"/>
                <a:cs typeface="Montserrat Medium"/>
                <a:sym typeface="Montserrat Medium"/>
              </a:rPr>
              <a:t>360 Gt</a:t>
            </a:r>
            <a:endParaRPr b="0" i="0" sz="2200" u="none" cap="none" strike="noStrike">
              <a:solidFill>
                <a:srgbClr val="000000"/>
              </a:solidFill>
              <a:latin typeface="Montserrat Medium"/>
              <a:ea typeface="Montserrat Medium"/>
              <a:cs typeface="Montserrat Medium"/>
              <a:sym typeface="Montserrat Medium"/>
            </a:endParaRPr>
          </a:p>
        </p:txBody>
      </p:sp>
      <p:sp>
        <p:nvSpPr>
          <p:cNvPr id="190" name="Google Shape;190;p34"/>
          <p:cNvSpPr txBox="1"/>
          <p:nvPr/>
        </p:nvSpPr>
        <p:spPr>
          <a:xfrm>
            <a:off x="5673850" y="4828600"/>
            <a:ext cx="3396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Adapted from Carbon Tracker Initiative</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4"/>
          <p:cNvSpPr txBox="1"/>
          <p:nvPr/>
        </p:nvSpPr>
        <p:spPr>
          <a:xfrm>
            <a:off x="474300" y="2400275"/>
            <a:ext cx="17001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Montserrat Light"/>
                <a:ea typeface="Montserrat Light"/>
                <a:cs typeface="Montserrat Light"/>
                <a:sym typeface="Montserrat Light"/>
              </a:rPr>
              <a:t>If we want to limit global warming to this temperature…</a:t>
            </a:r>
            <a:endParaRPr b="0" i="0" sz="1400" u="none" cap="none" strike="noStrike">
              <a:solidFill>
                <a:srgbClr val="000000"/>
              </a:solidFill>
              <a:latin typeface="Montserrat Light"/>
              <a:ea typeface="Montserrat Light"/>
              <a:cs typeface="Montserrat Light"/>
              <a:sym typeface="Montserrat Light"/>
            </a:endParaRPr>
          </a:p>
        </p:txBody>
      </p:sp>
      <p:sp>
        <p:nvSpPr>
          <p:cNvPr id="192" name="Google Shape;192;p34"/>
          <p:cNvSpPr txBox="1"/>
          <p:nvPr/>
        </p:nvSpPr>
        <p:spPr>
          <a:xfrm>
            <a:off x="2819650" y="1838550"/>
            <a:ext cx="17001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Montserrat Light"/>
                <a:ea typeface="Montserrat Light"/>
                <a:cs typeface="Montserrat Light"/>
                <a:sym typeface="Montserrat Light"/>
              </a:rPr>
              <a:t>We can only put this much more CO2 into the atmosphere.</a:t>
            </a:r>
            <a:endParaRPr b="0" i="0" sz="1400" u="none" cap="none" strike="noStrike">
              <a:solidFill>
                <a:srgbClr val="000000"/>
              </a:solidFill>
              <a:latin typeface="Montserrat Light"/>
              <a:ea typeface="Montserrat Light"/>
              <a:cs typeface="Montserrat Light"/>
              <a:sym typeface="Montserrat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474300" y="378800"/>
            <a:ext cx="74334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Our Carbon Budget</a:t>
            </a:r>
            <a:endParaRPr/>
          </a:p>
        </p:txBody>
      </p:sp>
      <p:sp>
        <p:nvSpPr>
          <p:cNvPr id="198" name="Google Shape;198;p35"/>
          <p:cNvSpPr txBox="1"/>
          <p:nvPr>
            <p:ph type="title"/>
          </p:nvPr>
        </p:nvSpPr>
        <p:spPr>
          <a:xfrm>
            <a:off x="474300" y="1108675"/>
            <a:ext cx="81588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sz="2200"/>
              <a:t>How much CO2 can we afford to “spend” to keep the planet within 2 degrees C?</a:t>
            </a:r>
            <a:endParaRPr sz="2200"/>
          </a:p>
        </p:txBody>
      </p:sp>
      <p:sp>
        <p:nvSpPr>
          <p:cNvPr id="199" name="Google Shape;199;p35"/>
          <p:cNvSpPr txBox="1"/>
          <p:nvPr/>
        </p:nvSpPr>
        <p:spPr>
          <a:xfrm>
            <a:off x="563025" y="2900700"/>
            <a:ext cx="1125900" cy="585000"/>
          </a:xfrm>
          <a:prstGeom prst="rect">
            <a:avLst/>
          </a:prstGeom>
          <a:solidFill>
            <a:schemeClr val="accent5"/>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 sz="2600" u="none" cap="none" strike="noStrike">
                <a:solidFill>
                  <a:srgbClr val="000000"/>
                </a:solidFill>
                <a:latin typeface="Montserrat Medium"/>
                <a:ea typeface="Montserrat Medium"/>
                <a:cs typeface="Montserrat Medium"/>
                <a:sym typeface="Montserrat Medium"/>
              </a:rPr>
              <a:t>1.7° C</a:t>
            </a:r>
            <a:endParaRPr b="0" i="0" sz="2600" u="none" cap="none" strike="noStrike">
              <a:solidFill>
                <a:srgbClr val="000000"/>
              </a:solidFill>
              <a:latin typeface="Montserrat Medium"/>
              <a:ea typeface="Montserrat Medium"/>
              <a:cs typeface="Montserrat Medium"/>
              <a:sym typeface="Montserrat Medium"/>
            </a:endParaRPr>
          </a:p>
        </p:txBody>
      </p:sp>
      <p:sp>
        <p:nvSpPr>
          <p:cNvPr id="200" name="Google Shape;200;p35"/>
          <p:cNvSpPr txBox="1"/>
          <p:nvPr/>
        </p:nvSpPr>
        <p:spPr>
          <a:xfrm>
            <a:off x="563025" y="3625675"/>
            <a:ext cx="1125900" cy="5850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 sz="2600" u="none" cap="none" strike="noStrike">
                <a:solidFill>
                  <a:srgbClr val="000000"/>
                </a:solidFill>
                <a:latin typeface="Montserrat Medium"/>
                <a:ea typeface="Montserrat Medium"/>
                <a:cs typeface="Montserrat Medium"/>
                <a:sym typeface="Montserrat Medium"/>
              </a:rPr>
              <a:t>1.5° C</a:t>
            </a:r>
            <a:endParaRPr b="0" i="0" sz="2600" u="none" cap="none" strike="noStrike">
              <a:solidFill>
                <a:srgbClr val="000000"/>
              </a:solidFill>
              <a:latin typeface="Montserrat Medium"/>
              <a:ea typeface="Montserrat Medium"/>
              <a:cs typeface="Montserrat Medium"/>
              <a:sym typeface="Montserrat Medium"/>
            </a:endParaRPr>
          </a:p>
        </p:txBody>
      </p:sp>
      <p:sp>
        <p:nvSpPr>
          <p:cNvPr id="201" name="Google Shape;201;p35"/>
          <p:cNvSpPr/>
          <p:nvPr/>
        </p:nvSpPr>
        <p:spPr>
          <a:xfrm>
            <a:off x="2461875" y="2328125"/>
            <a:ext cx="2214300" cy="2214300"/>
          </a:xfrm>
          <a:prstGeom prst="ellipse">
            <a:avLst/>
          </a:prstGeom>
          <a:solidFill>
            <a:schemeClr val="accent5"/>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5"/>
          <p:cNvSpPr/>
          <p:nvPr/>
        </p:nvSpPr>
        <p:spPr>
          <a:xfrm>
            <a:off x="2766075" y="2936525"/>
            <a:ext cx="1605900" cy="1605900"/>
          </a:xfrm>
          <a:prstGeom prst="ellipse">
            <a:avLst/>
          </a:prstGeom>
          <a:solidFill>
            <a:schemeClr val="accent4"/>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5"/>
          <p:cNvSpPr txBox="1"/>
          <p:nvPr/>
        </p:nvSpPr>
        <p:spPr>
          <a:xfrm>
            <a:off x="474300" y="4609125"/>
            <a:ext cx="47646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Montserrat Light"/>
                <a:ea typeface="Montserrat Light"/>
                <a:cs typeface="Montserrat Light"/>
                <a:sym typeface="Montserrat Light"/>
              </a:rPr>
              <a:t>Remaining carbon budget 2021, GtCO2. </a:t>
            </a:r>
            <a:endParaRPr b="0" i="0" sz="1600" u="none" cap="none" strike="noStrike">
              <a:solidFill>
                <a:srgbClr val="000000"/>
              </a:solidFill>
              <a:latin typeface="Montserrat Light"/>
              <a:ea typeface="Montserrat Light"/>
              <a:cs typeface="Montserrat Light"/>
              <a:sym typeface="Montserrat Light"/>
            </a:endParaRPr>
          </a:p>
        </p:txBody>
      </p:sp>
      <p:sp>
        <p:nvSpPr>
          <p:cNvPr id="204" name="Google Shape;204;p35"/>
          <p:cNvSpPr txBox="1"/>
          <p:nvPr/>
        </p:nvSpPr>
        <p:spPr>
          <a:xfrm>
            <a:off x="3006075" y="3446975"/>
            <a:ext cx="1125900" cy="5232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000000"/>
                </a:solidFill>
                <a:latin typeface="Montserrat Medium"/>
                <a:ea typeface="Montserrat Medium"/>
                <a:cs typeface="Montserrat Medium"/>
                <a:sym typeface="Montserrat Medium"/>
              </a:rPr>
              <a:t>360 Gt</a:t>
            </a:r>
            <a:endParaRPr b="0" i="0" sz="2200" u="none" cap="none" strike="noStrike">
              <a:solidFill>
                <a:srgbClr val="000000"/>
              </a:solidFill>
              <a:latin typeface="Montserrat Medium"/>
              <a:ea typeface="Montserrat Medium"/>
              <a:cs typeface="Montserrat Medium"/>
              <a:sym typeface="Montserrat Medium"/>
            </a:endParaRPr>
          </a:p>
        </p:txBody>
      </p:sp>
      <p:sp>
        <p:nvSpPr>
          <p:cNvPr id="205" name="Google Shape;205;p35"/>
          <p:cNvSpPr txBox="1"/>
          <p:nvPr/>
        </p:nvSpPr>
        <p:spPr>
          <a:xfrm>
            <a:off x="3006075" y="2430500"/>
            <a:ext cx="11259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000000"/>
                </a:solidFill>
                <a:latin typeface="Montserrat Medium"/>
                <a:ea typeface="Montserrat Medium"/>
                <a:cs typeface="Montserrat Medium"/>
                <a:sym typeface="Montserrat Medium"/>
              </a:rPr>
              <a:t>660 Gt</a:t>
            </a:r>
            <a:endParaRPr b="0" i="0" sz="2200" u="none" cap="none" strike="noStrike">
              <a:solidFill>
                <a:srgbClr val="000000"/>
              </a:solidFill>
              <a:latin typeface="Montserrat Medium"/>
              <a:ea typeface="Montserrat Medium"/>
              <a:cs typeface="Montserrat Medium"/>
              <a:sym typeface="Montserrat Medium"/>
            </a:endParaRPr>
          </a:p>
        </p:txBody>
      </p:sp>
      <p:sp>
        <p:nvSpPr>
          <p:cNvPr id="206" name="Google Shape;206;p35"/>
          <p:cNvSpPr txBox="1"/>
          <p:nvPr/>
        </p:nvSpPr>
        <p:spPr>
          <a:xfrm>
            <a:off x="5673850" y="4828600"/>
            <a:ext cx="3396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Adapted from Carbon Tracker Initiative</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6"/>
          <p:cNvSpPr txBox="1"/>
          <p:nvPr>
            <p:ph type="title"/>
          </p:nvPr>
        </p:nvSpPr>
        <p:spPr>
          <a:xfrm>
            <a:off x="474300" y="378800"/>
            <a:ext cx="74334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Our Carbon Budget</a:t>
            </a:r>
            <a:endParaRPr/>
          </a:p>
        </p:txBody>
      </p:sp>
      <p:sp>
        <p:nvSpPr>
          <p:cNvPr id="212" name="Google Shape;212;p36"/>
          <p:cNvSpPr txBox="1"/>
          <p:nvPr>
            <p:ph type="title"/>
          </p:nvPr>
        </p:nvSpPr>
        <p:spPr>
          <a:xfrm>
            <a:off x="474300" y="1108675"/>
            <a:ext cx="81588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sz="2200"/>
              <a:t>How much CO2 can we afford to “spend” to keep the planet within 2 degrees C?</a:t>
            </a:r>
            <a:endParaRPr sz="2200"/>
          </a:p>
        </p:txBody>
      </p:sp>
      <p:sp>
        <p:nvSpPr>
          <p:cNvPr id="213" name="Google Shape;213;p36"/>
          <p:cNvSpPr txBox="1"/>
          <p:nvPr/>
        </p:nvSpPr>
        <p:spPr>
          <a:xfrm>
            <a:off x="563025" y="2175725"/>
            <a:ext cx="1125900" cy="5850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 sz="2600" u="none" cap="none" strike="noStrike">
                <a:solidFill>
                  <a:srgbClr val="000000"/>
                </a:solidFill>
                <a:latin typeface="Montserrat Medium"/>
                <a:ea typeface="Montserrat Medium"/>
                <a:cs typeface="Montserrat Medium"/>
                <a:sym typeface="Montserrat Medium"/>
              </a:rPr>
              <a:t>2° C</a:t>
            </a:r>
            <a:endParaRPr b="0" i="0" sz="2600" u="none" cap="none" strike="noStrike">
              <a:solidFill>
                <a:srgbClr val="000000"/>
              </a:solidFill>
              <a:latin typeface="Montserrat Medium"/>
              <a:ea typeface="Montserrat Medium"/>
              <a:cs typeface="Montserrat Medium"/>
              <a:sym typeface="Montserrat Medium"/>
            </a:endParaRPr>
          </a:p>
        </p:txBody>
      </p:sp>
      <p:sp>
        <p:nvSpPr>
          <p:cNvPr id="214" name="Google Shape;214;p36"/>
          <p:cNvSpPr txBox="1"/>
          <p:nvPr/>
        </p:nvSpPr>
        <p:spPr>
          <a:xfrm>
            <a:off x="563025" y="2900700"/>
            <a:ext cx="1125900" cy="585000"/>
          </a:xfrm>
          <a:prstGeom prst="rect">
            <a:avLst/>
          </a:prstGeom>
          <a:solidFill>
            <a:schemeClr val="accent5"/>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 sz="2600" u="none" cap="none" strike="noStrike">
                <a:solidFill>
                  <a:srgbClr val="000000"/>
                </a:solidFill>
                <a:latin typeface="Montserrat Medium"/>
                <a:ea typeface="Montserrat Medium"/>
                <a:cs typeface="Montserrat Medium"/>
                <a:sym typeface="Montserrat Medium"/>
              </a:rPr>
              <a:t>1.7° C</a:t>
            </a:r>
            <a:endParaRPr b="0" i="0" sz="2600" u="none" cap="none" strike="noStrike">
              <a:solidFill>
                <a:srgbClr val="000000"/>
              </a:solidFill>
              <a:latin typeface="Montserrat Medium"/>
              <a:ea typeface="Montserrat Medium"/>
              <a:cs typeface="Montserrat Medium"/>
              <a:sym typeface="Montserrat Medium"/>
            </a:endParaRPr>
          </a:p>
        </p:txBody>
      </p:sp>
      <p:sp>
        <p:nvSpPr>
          <p:cNvPr id="215" name="Google Shape;215;p36"/>
          <p:cNvSpPr txBox="1"/>
          <p:nvPr/>
        </p:nvSpPr>
        <p:spPr>
          <a:xfrm>
            <a:off x="563025" y="3625675"/>
            <a:ext cx="1125900" cy="5850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 sz="2600" u="none" cap="none" strike="noStrike">
                <a:solidFill>
                  <a:srgbClr val="000000"/>
                </a:solidFill>
                <a:latin typeface="Montserrat Medium"/>
                <a:ea typeface="Montserrat Medium"/>
                <a:cs typeface="Montserrat Medium"/>
                <a:sym typeface="Montserrat Medium"/>
              </a:rPr>
              <a:t>1.5° C</a:t>
            </a:r>
            <a:endParaRPr b="0" i="0" sz="2600" u="none" cap="none" strike="noStrike">
              <a:solidFill>
                <a:srgbClr val="000000"/>
              </a:solidFill>
              <a:latin typeface="Montserrat Medium"/>
              <a:ea typeface="Montserrat Medium"/>
              <a:cs typeface="Montserrat Medium"/>
              <a:sym typeface="Montserrat Medium"/>
            </a:endParaRPr>
          </a:p>
        </p:txBody>
      </p:sp>
      <p:sp>
        <p:nvSpPr>
          <p:cNvPr id="216" name="Google Shape;216;p36"/>
          <p:cNvSpPr/>
          <p:nvPr/>
        </p:nvSpPr>
        <p:spPr>
          <a:xfrm>
            <a:off x="2137575" y="1679525"/>
            <a:ext cx="2862900" cy="2862900"/>
          </a:xfrm>
          <a:prstGeom prst="ellipse">
            <a:avLst/>
          </a:prstGeom>
          <a:solidFill>
            <a:schemeClr val="accent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6"/>
          <p:cNvSpPr/>
          <p:nvPr/>
        </p:nvSpPr>
        <p:spPr>
          <a:xfrm>
            <a:off x="2461875" y="2328125"/>
            <a:ext cx="2214300" cy="2214300"/>
          </a:xfrm>
          <a:prstGeom prst="ellipse">
            <a:avLst/>
          </a:prstGeom>
          <a:solidFill>
            <a:schemeClr val="accent5"/>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6"/>
          <p:cNvSpPr/>
          <p:nvPr/>
        </p:nvSpPr>
        <p:spPr>
          <a:xfrm>
            <a:off x="2766075" y="2936525"/>
            <a:ext cx="1605900" cy="1605900"/>
          </a:xfrm>
          <a:prstGeom prst="ellipse">
            <a:avLst/>
          </a:prstGeom>
          <a:solidFill>
            <a:schemeClr val="accent4"/>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36"/>
          <p:cNvSpPr txBox="1"/>
          <p:nvPr/>
        </p:nvSpPr>
        <p:spPr>
          <a:xfrm>
            <a:off x="474300" y="4609125"/>
            <a:ext cx="47646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Montserrat Light"/>
                <a:ea typeface="Montserrat Light"/>
                <a:cs typeface="Montserrat Light"/>
                <a:sym typeface="Montserrat Light"/>
              </a:rPr>
              <a:t>Remaining carbon budget 2021, GtCO2. </a:t>
            </a:r>
            <a:endParaRPr b="0" i="0" sz="1600" u="none" cap="none" strike="noStrike">
              <a:solidFill>
                <a:srgbClr val="000000"/>
              </a:solidFill>
              <a:latin typeface="Montserrat Light"/>
              <a:ea typeface="Montserrat Light"/>
              <a:cs typeface="Montserrat Light"/>
              <a:sym typeface="Montserrat Light"/>
            </a:endParaRPr>
          </a:p>
        </p:txBody>
      </p:sp>
      <p:sp>
        <p:nvSpPr>
          <p:cNvPr id="220" name="Google Shape;220;p36"/>
          <p:cNvSpPr txBox="1"/>
          <p:nvPr/>
        </p:nvSpPr>
        <p:spPr>
          <a:xfrm>
            <a:off x="3006075" y="3446975"/>
            <a:ext cx="1125900" cy="5232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000000"/>
                </a:solidFill>
                <a:latin typeface="Montserrat Medium"/>
                <a:ea typeface="Montserrat Medium"/>
                <a:cs typeface="Montserrat Medium"/>
                <a:sym typeface="Montserrat Medium"/>
              </a:rPr>
              <a:t>360 Gt</a:t>
            </a:r>
            <a:endParaRPr b="0" i="0" sz="2200" u="none" cap="none" strike="noStrike">
              <a:solidFill>
                <a:srgbClr val="000000"/>
              </a:solidFill>
              <a:latin typeface="Montserrat Medium"/>
              <a:ea typeface="Montserrat Medium"/>
              <a:cs typeface="Montserrat Medium"/>
              <a:sym typeface="Montserrat Medium"/>
            </a:endParaRPr>
          </a:p>
        </p:txBody>
      </p:sp>
      <p:sp>
        <p:nvSpPr>
          <p:cNvPr id="221" name="Google Shape;221;p36"/>
          <p:cNvSpPr txBox="1"/>
          <p:nvPr/>
        </p:nvSpPr>
        <p:spPr>
          <a:xfrm>
            <a:off x="3006075" y="2430500"/>
            <a:ext cx="11259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000000"/>
                </a:solidFill>
                <a:latin typeface="Montserrat Medium"/>
                <a:ea typeface="Montserrat Medium"/>
                <a:cs typeface="Montserrat Medium"/>
                <a:sym typeface="Montserrat Medium"/>
              </a:rPr>
              <a:t>660 Gt</a:t>
            </a:r>
            <a:endParaRPr b="0" i="0" sz="2200" u="none" cap="none" strike="noStrike">
              <a:solidFill>
                <a:srgbClr val="000000"/>
              </a:solidFill>
              <a:latin typeface="Montserrat Medium"/>
              <a:ea typeface="Montserrat Medium"/>
              <a:cs typeface="Montserrat Medium"/>
              <a:sym typeface="Montserrat Medium"/>
            </a:endParaRPr>
          </a:p>
        </p:txBody>
      </p:sp>
      <p:sp>
        <p:nvSpPr>
          <p:cNvPr id="222" name="Google Shape;222;p36"/>
          <p:cNvSpPr txBox="1"/>
          <p:nvPr/>
        </p:nvSpPr>
        <p:spPr>
          <a:xfrm>
            <a:off x="3006075" y="1738225"/>
            <a:ext cx="11259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000000"/>
                </a:solidFill>
                <a:latin typeface="Montserrat Medium"/>
                <a:ea typeface="Montserrat Medium"/>
                <a:cs typeface="Montserrat Medium"/>
                <a:sym typeface="Montserrat Medium"/>
              </a:rPr>
              <a:t>1110 Gt</a:t>
            </a:r>
            <a:endParaRPr b="0" i="0" sz="2200" u="none" cap="none" strike="noStrike">
              <a:solidFill>
                <a:srgbClr val="000000"/>
              </a:solidFill>
              <a:latin typeface="Montserrat Medium"/>
              <a:ea typeface="Montserrat Medium"/>
              <a:cs typeface="Montserrat Medium"/>
              <a:sym typeface="Montserrat Medium"/>
            </a:endParaRPr>
          </a:p>
        </p:txBody>
      </p:sp>
      <p:sp>
        <p:nvSpPr>
          <p:cNvPr id="223" name="Google Shape;223;p36"/>
          <p:cNvSpPr txBox="1"/>
          <p:nvPr/>
        </p:nvSpPr>
        <p:spPr>
          <a:xfrm>
            <a:off x="5363250" y="1794000"/>
            <a:ext cx="3396900" cy="1939500"/>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Montserrat Medium"/>
                <a:ea typeface="Montserrat Medium"/>
                <a:cs typeface="Montserrat Medium"/>
                <a:sym typeface="Montserrat Medium"/>
              </a:rPr>
              <a:t>For a 66% chance to keep warming to 1.5° C, the amount of CO2 emissions that can be released in the atmosphere is about 360 Gt.</a:t>
            </a:r>
            <a:endParaRPr b="0" i="0" sz="1900" u="none" cap="none" strike="noStrike">
              <a:solidFill>
                <a:srgbClr val="000000"/>
              </a:solidFill>
              <a:latin typeface="Montserrat Medium"/>
              <a:ea typeface="Montserrat Medium"/>
              <a:cs typeface="Montserrat Medium"/>
              <a:sym typeface="Montserrat Medium"/>
            </a:endParaRPr>
          </a:p>
        </p:txBody>
      </p:sp>
      <p:sp>
        <p:nvSpPr>
          <p:cNvPr id="224" name="Google Shape;224;p36"/>
          <p:cNvSpPr txBox="1"/>
          <p:nvPr/>
        </p:nvSpPr>
        <p:spPr>
          <a:xfrm>
            <a:off x="5673850" y="4828600"/>
            <a:ext cx="3396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Adapted from Carbon Tracker Initiative</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474300" y="378800"/>
            <a:ext cx="74334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Our Carbon Budget</a:t>
            </a:r>
            <a:endParaRPr/>
          </a:p>
        </p:txBody>
      </p:sp>
      <p:sp>
        <p:nvSpPr>
          <p:cNvPr id="230" name="Google Shape;230;p37"/>
          <p:cNvSpPr txBox="1"/>
          <p:nvPr>
            <p:ph type="title"/>
          </p:nvPr>
        </p:nvSpPr>
        <p:spPr>
          <a:xfrm>
            <a:off x="474300" y="1108675"/>
            <a:ext cx="81588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sz="2200"/>
              <a:t>How much CO2 can we afford to “spend” to keep the planet within 2 degrees C?</a:t>
            </a:r>
            <a:endParaRPr sz="2200"/>
          </a:p>
        </p:txBody>
      </p:sp>
      <p:sp>
        <p:nvSpPr>
          <p:cNvPr id="231" name="Google Shape;231;p37"/>
          <p:cNvSpPr txBox="1"/>
          <p:nvPr/>
        </p:nvSpPr>
        <p:spPr>
          <a:xfrm>
            <a:off x="563025" y="2175725"/>
            <a:ext cx="1125900" cy="585000"/>
          </a:xfrm>
          <a:prstGeom prst="rect">
            <a:avLst/>
          </a:prstGeom>
          <a:solidFill>
            <a:schemeClr val="accent6"/>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 sz="2600" u="none" cap="none" strike="noStrike">
                <a:solidFill>
                  <a:srgbClr val="000000"/>
                </a:solidFill>
                <a:latin typeface="Montserrat Medium"/>
                <a:ea typeface="Montserrat Medium"/>
                <a:cs typeface="Montserrat Medium"/>
                <a:sym typeface="Montserrat Medium"/>
              </a:rPr>
              <a:t>2° C</a:t>
            </a:r>
            <a:endParaRPr b="0" i="0" sz="2600" u="none" cap="none" strike="noStrike">
              <a:solidFill>
                <a:srgbClr val="000000"/>
              </a:solidFill>
              <a:latin typeface="Montserrat Medium"/>
              <a:ea typeface="Montserrat Medium"/>
              <a:cs typeface="Montserrat Medium"/>
              <a:sym typeface="Montserrat Medium"/>
            </a:endParaRPr>
          </a:p>
        </p:txBody>
      </p:sp>
      <p:sp>
        <p:nvSpPr>
          <p:cNvPr id="232" name="Google Shape;232;p37"/>
          <p:cNvSpPr txBox="1"/>
          <p:nvPr/>
        </p:nvSpPr>
        <p:spPr>
          <a:xfrm>
            <a:off x="563025" y="2900700"/>
            <a:ext cx="1125900" cy="585000"/>
          </a:xfrm>
          <a:prstGeom prst="rect">
            <a:avLst/>
          </a:prstGeom>
          <a:solidFill>
            <a:schemeClr val="accent5"/>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 sz="2600" u="none" cap="none" strike="noStrike">
                <a:solidFill>
                  <a:srgbClr val="000000"/>
                </a:solidFill>
                <a:latin typeface="Montserrat Medium"/>
                <a:ea typeface="Montserrat Medium"/>
                <a:cs typeface="Montserrat Medium"/>
                <a:sym typeface="Montserrat Medium"/>
              </a:rPr>
              <a:t>1.7° C</a:t>
            </a:r>
            <a:endParaRPr b="0" i="0" sz="2600" u="none" cap="none" strike="noStrike">
              <a:solidFill>
                <a:srgbClr val="000000"/>
              </a:solidFill>
              <a:latin typeface="Montserrat Medium"/>
              <a:ea typeface="Montserrat Medium"/>
              <a:cs typeface="Montserrat Medium"/>
              <a:sym typeface="Montserrat Medium"/>
            </a:endParaRPr>
          </a:p>
        </p:txBody>
      </p:sp>
      <p:sp>
        <p:nvSpPr>
          <p:cNvPr id="233" name="Google Shape;233;p37"/>
          <p:cNvSpPr txBox="1"/>
          <p:nvPr/>
        </p:nvSpPr>
        <p:spPr>
          <a:xfrm>
            <a:off x="563025" y="3625675"/>
            <a:ext cx="1125900" cy="5850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 sz="2600" u="none" cap="none" strike="noStrike">
                <a:solidFill>
                  <a:srgbClr val="000000"/>
                </a:solidFill>
                <a:latin typeface="Montserrat Medium"/>
                <a:ea typeface="Montserrat Medium"/>
                <a:cs typeface="Montserrat Medium"/>
                <a:sym typeface="Montserrat Medium"/>
              </a:rPr>
              <a:t>1.5° C</a:t>
            </a:r>
            <a:endParaRPr b="0" i="0" sz="2600" u="none" cap="none" strike="noStrike">
              <a:solidFill>
                <a:srgbClr val="000000"/>
              </a:solidFill>
              <a:latin typeface="Montserrat Medium"/>
              <a:ea typeface="Montserrat Medium"/>
              <a:cs typeface="Montserrat Medium"/>
              <a:sym typeface="Montserrat Medium"/>
            </a:endParaRPr>
          </a:p>
        </p:txBody>
      </p:sp>
      <p:sp>
        <p:nvSpPr>
          <p:cNvPr id="234" name="Google Shape;234;p37"/>
          <p:cNvSpPr/>
          <p:nvPr/>
        </p:nvSpPr>
        <p:spPr>
          <a:xfrm>
            <a:off x="2137575" y="1679525"/>
            <a:ext cx="2862900" cy="2862900"/>
          </a:xfrm>
          <a:prstGeom prst="ellipse">
            <a:avLst/>
          </a:prstGeom>
          <a:solidFill>
            <a:schemeClr val="accent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7"/>
          <p:cNvSpPr/>
          <p:nvPr/>
        </p:nvSpPr>
        <p:spPr>
          <a:xfrm>
            <a:off x="2461875" y="2328125"/>
            <a:ext cx="2214300" cy="2214300"/>
          </a:xfrm>
          <a:prstGeom prst="ellipse">
            <a:avLst/>
          </a:prstGeom>
          <a:solidFill>
            <a:schemeClr val="accent5"/>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7"/>
          <p:cNvSpPr/>
          <p:nvPr/>
        </p:nvSpPr>
        <p:spPr>
          <a:xfrm>
            <a:off x="2766075" y="2936525"/>
            <a:ext cx="1605900" cy="1605900"/>
          </a:xfrm>
          <a:prstGeom prst="ellipse">
            <a:avLst/>
          </a:prstGeom>
          <a:solidFill>
            <a:schemeClr val="accent4"/>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7"/>
          <p:cNvSpPr txBox="1"/>
          <p:nvPr/>
        </p:nvSpPr>
        <p:spPr>
          <a:xfrm>
            <a:off x="474300" y="4609125"/>
            <a:ext cx="47646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Montserrat Light"/>
                <a:ea typeface="Montserrat Light"/>
                <a:cs typeface="Montserrat Light"/>
                <a:sym typeface="Montserrat Light"/>
              </a:rPr>
              <a:t>Remaining carbon budget 2021, GtCO2. </a:t>
            </a:r>
            <a:endParaRPr b="0" i="0" sz="1600" u="none" cap="none" strike="noStrike">
              <a:solidFill>
                <a:srgbClr val="000000"/>
              </a:solidFill>
              <a:latin typeface="Montserrat Light"/>
              <a:ea typeface="Montserrat Light"/>
              <a:cs typeface="Montserrat Light"/>
              <a:sym typeface="Montserrat Light"/>
            </a:endParaRPr>
          </a:p>
        </p:txBody>
      </p:sp>
      <p:sp>
        <p:nvSpPr>
          <p:cNvPr id="238" name="Google Shape;238;p37"/>
          <p:cNvSpPr txBox="1"/>
          <p:nvPr/>
        </p:nvSpPr>
        <p:spPr>
          <a:xfrm>
            <a:off x="3006075" y="3446975"/>
            <a:ext cx="1125900" cy="5232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sngStrike">
                <a:solidFill>
                  <a:srgbClr val="000000"/>
                </a:solidFill>
                <a:latin typeface="Montserrat Medium"/>
                <a:ea typeface="Montserrat Medium"/>
                <a:cs typeface="Montserrat Medium"/>
                <a:sym typeface="Montserrat Medium"/>
              </a:rPr>
              <a:t>360 Gt</a:t>
            </a:r>
            <a:endParaRPr b="0" i="0" sz="2200" u="none" cap="none" strike="sngStrike">
              <a:solidFill>
                <a:srgbClr val="000000"/>
              </a:solidFill>
              <a:latin typeface="Montserrat Medium"/>
              <a:ea typeface="Montserrat Medium"/>
              <a:cs typeface="Montserrat Medium"/>
              <a:sym typeface="Montserrat Medium"/>
            </a:endParaRPr>
          </a:p>
        </p:txBody>
      </p:sp>
      <p:sp>
        <p:nvSpPr>
          <p:cNvPr id="239" name="Google Shape;239;p37"/>
          <p:cNvSpPr txBox="1"/>
          <p:nvPr/>
        </p:nvSpPr>
        <p:spPr>
          <a:xfrm>
            <a:off x="3006075" y="2430500"/>
            <a:ext cx="11259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sngStrike">
                <a:solidFill>
                  <a:srgbClr val="000000"/>
                </a:solidFill>
                <a:latin typeface="Montserrat Medium"/>
                <a:ea typeface="Montserrat Medium"/>
                <a:cs typeface="Montserrat Medium"/>
                <a:sym typeface="Montserrat Medium"/>
              </a:rPr>
              <a:t>660 Gt</a:t>
            </a:r>
            <a:endParaRPr b="0" i="0" sz="2200" u="none" cap="none" strike="sngStrike">
              <a:solidFill>
                <a:srgbClr val="000000"/>
              </a:solidFill>
              <a:latin typeface="Montserrat Medium"/>
              <a:ea typeface="Montserrat Medium"/>
              <a:cs typeface="Montserrat Medium"/>
              <a:sym typeface="Montserrat Medium"/>
            </a:endParaRPr>
          </a:p>
        </p:txBody>
      </p:sp>
      <p:sp>
        <p:nvSpPr>
          <p:cNvPr id="240" name="Google Shape;240;p37"/>
          <p:cNvSpPr txBox="1"/>
          <p:nvPr/>
        </p:nvSpPr>
        <p:spPr>
          <a:xfrm>
            <a:off x="3006075" y="1738225"/>
            <a:ext cx="11259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sngStrike">
                <a:solidFill>
                  <a:srgbClr val="000000"/>
                </a:solidFill>
                <a:latin typeface="Montserrat Medium"/>
                <a:ea typeface="Montserrat Medium"/>
                <a:cs typeface="Montserrat Medium"/>
                <a:sym typeface="Montserrat Medium"/>
              </a:rPr>
              <a:t>1110 Gt</a:t>
            </a:r>
            <a:endParaRPr b="0" i="0" sz="2200" u="none" cap="none" strike="sngStrike">
              <a:solidFill>
                <a:srgbClr val="000000"/>
              </a:solidFill>
              <a:latin typeface="Montserrat Medium"/>
              <a:ea typeface="Montserrat Medium"/>
              <a:cs typeface="Montserrat Medium"/>
              <a:sym typeface="Montserrat Medium"/>
            </a:endParaRPr>
          </a:p>
        </p:txBody>
      </p:sp>
      <p:sp>
        <p:nvSpPr>
          <p:cNvPr id="241" name="Google Shape;241;p37"/>
          <p:cNvSpPr txBox="1"/>
          <p:nvPr/>
        </p:nvSpPr>
        <p:spPr>
          <a:xfrm>
            <a:off x="5363250" y="1794000"/>
            <a:ext cx="3396900" cy="1939500"/>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Montserrat Medium"/>
                <a:ea typeface="Montserrat Medium"/>
                <a:cs typeface="Montserrat Medium"/>
                <a:sym typeface="Montserrat Medium"/>
              </a:rPr>
              <a:t>For a 66% chance to keep warming to 1.5° C, the amount of CO2 emissions that can be released in the atmosphere is about </a:t>
            </a:r>
            <a:r>
              <a:rPr b="0" i="0" lang="en" sz="1900" u="none" cap="none" strike="sngStrike">
                <a:solidFill>
                  <a:srgbClr val="000000"/>
                </a:solidFill>
                <a:latin typeface="Montserrat Medium"/>
                <a:ea typeface="Montserrat Medium"/>
                <a:cs typeface="Montserrat Medium"/>
                <a:sym typeface="Montserrat Medium"/>
              </a:rPr>
              <a:t>360</a:t>
            </a:r>
            <a:r>
              <a:rPr b="0" i="0" lang="en" sz="1900" u="none" cap="none" strike="noStrike">
                <a:solidFill>
                  <a:srgbClr val="000000"/>
                </a:solidFill>
                <a:latin typeface="Montserrat Medium"/>
                <a:ea typeface="Montserrat Medium"/>
                <a:cs typeface="Montserrat Medium"/>
                <a:sym typeface="Montserrat Medium"/>
              </a:rPr>
              <a:t> 150 Gt.</a:t>
            </a:r>
            <a:endParaRPr b="0" i="0" sz="1900" u="none" cap="none" strike="noStrike">
              <a:solidFill>
                <a:srgbClr val="000000"/>
              </a:solidFill>
              <a:latin typeface="Montserrat Medium"/>
              <a:ea typeface="Montserrat Medium"/>
              <a:cs typeface="Montserrat Medium"/>
              <a:sym typeface="Montserrat Medium"/>
            </a:endParaRPr>
          </a:p>
        </p:txBody>
      </p:sp>
      <p:sp>
        <p:nvSpPr>
          <p:cNvPr id="242" name="Google Shape;242;p37"/>
          <p:cNvSpPr txBox="1"/>
          <p:nvPr/>
        </p:nvSpPr>
        <p:spPr>
          <a:xfrm>
            <a:off x="5673850" y="4828600"/>
            <a:ext cx="3396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Adapted from Carbon Tracker Initiative</a:t>
            </a:r>
            <a:endParaRPr b="0" i="0" sz="12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37"/>
          <p:cNvSpPr txBox="1"/>
          <p:nvPr/>
        </p:nvSpPr>
        <p:spPr>
          <a:xfrm>
            <a:off x="5347772" y="3844425"/>
            <a:ext cx="3687600" cy="69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FFAB40"/>
                </a:solidFill>
              </a:rPr>
              <a:t>Since this graphic was made, we have released ~210 Gt</a:t>
            </a:r>
            <a:endParaRPr sz="2100">
              <a:solidFill>
                <a:srgbClr val="FFAB40"/>
              </a:solidFill>
            </a:endParaRPr>
          </a:p>
        </p:txBody>
      </p:sp>
      <p:sp>
        <p:nvSpPr>
          <p:cNvPr id="244" name="Google Shape;244;p37"/>
          <p:cNvSpPr txBox="1"/>
          <p:nvPr/>
        </p:nvSpPr>
        <p:spPr>
          <a:xfrm>
            <a:off x="4131975" y="3446975"/>
            <a:ext cx="1125900" cy="523200"/>
          </a:xfrm>
          <a:prstGeom prst="rect">
            <a:avLst/>
          </a:prstGeom>
          <a:solidFill>
            <a:schemeClr val="accent4"/>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n" sz="2200">
                <a:latin typeface="Montserrat Medium"/>
                <a:ea typeface="Montserrat Medium"/>
                <a:cs typeface="Montserrat Medium"/>
                <a:sym typeface="Montserrat Medium"/>
              </a:rPr>
              <a:t>150</a:t>
            </a:r>
            <a:r>
              <a:rPr b="0" i="0" lang="en" sz="2200" u="none" cap="none">
                <a:solidFill>
                  <a:srgbClr val="000000"/>
                </a:solidFill>
                <a:latin typeface="Montserrat Medium"/>
                <a:ea typeface="Montserrat Medium"/>
                <a:cs typeface="Montserrat Medium"/>
                <a:sym typeface="Montserrat Medium"/>
              </a:rPr>
              <a:t> Gt</a:t>
            </a:r>
            <a:endParaRPr b="0" i="0" sz="2200" u="none" cap="none">
              <a:solidFill>
                <a:srgbClr val="000000"/>
              </a:solidFill>
              <a:latin typeface="Montserrat Medium"/>
              <a:ea typeface="Montserrat Medium"/>
              <a:cs typeface="Montserrat Medium"/>
              <a:sym typeface="Montserrat Medium"/>
            </a:endParaRPr>
          </a:p>
        </p:txBody>
      </p:sp>
      <p:sp>
        <p:nvSpPr>
          <p:cNvPr id="245" name="Google Shape;245;p37"/>
          <p:cNvSpPr txBox="1"/>
          <p:nvPr/>
        </p:nvSpPr>
        <p:spPr>
          <a:xfrm>
            <a:off x="4131975" y="2413100"/>
            <a:ext cx="1125900" cy="523200"/>
          </a:xfrm>
          <a:prstGeom prst="rect">
            <a:avLst/>
          </a:prstGeom>
          <a:solidFill>
            <a:srgbClr val="0097A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n" sz="2200">
                <a:latin typeface="Montserrat Medium"/>
                <a:ea typeface="Montserrat Medium"/>
                <a:cs typeface="Montserrat Medium"/>
                <a:sym typeface="Montserrat Medium"/>
              </a:rPr>
              <a:t>45</a:t>
            </a:r>
            <a:r>
              <a:rPr lang="en" sz="2200">
                <a:latin typeface="Montserrat Medium"/>
                <a:ea typeface="Montserrat Medium"/>
                <a:cs typeface="Montserrat Medium"/>
                <a:sym typeface="Montserrat Medium"/>
              </a:rPr>
              <a:t>0</a:t>
            </a:r>
            <a:r>
              <a:rPr b="0" i="0" lang="en" sz="2200" u="none" cap="none">
                <a:solidFill>
                  <a:srgbClr val="000000"/>
                </a:solidFill>
                <a:latin typeface="Montserrat Medium"/>
                <a:ea typeface="Montserrat Medium"/>
                <a:cs typeface="Montserrat Medium"/>
                <a:sym typeface="Montserrat Medium"/>
              </a:rPr>
              <a:t> Gt</a:t>
            </a:r>
            <a:endParaRPr b="0" i="0" sz="2200" u="none" cap="none">
              <a:solidFill>
                <a:srgbClr val="000000"/>
              </a:solidFill>
              <a:latin typeface="Montserrat Medium"/>
              <a:ea typeface="Montserrat Medium"/>
              <a:cs typeface="Montserrat Medium"/>
              <a:sym typeface="Montserrat Medium"/>
            </a:endParaRPr>
          </a:p>
        </p:txBody>
      </p:sp>
      <p:sp>
        <p:nvSpPr>
          <p:cNvPr id="246" name="Google Shape;246;p37"/>
          <p:cNvSpPr txBox="1"/>
          <p:nvPr/>
        </p:nvSpPr>
        <p:spPr>
          <a:xfrm>
            <a:off x="4085425" y="1738225"/>
            <a:ext cx="1172400" cy="523200"/>
          </a:xfrm>
          <a:prstGeom prst="rect">
            <a:avLst/>
          </a:prstGeom>
          <a:solidFill>
            <a:srgbClr val="EEFF4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n" sz="2200">
                <a:latin typeface="Montserrat Medium"/>
                <a:ea typeface="Montserrat Medium"/>
                <a:cs typeface="Montserrat Medium"/>
                <a:sym typeface="Montserrat Medium"/>
              </a:rPr>
              <a:t>900</a:t>
            </a:r>
            <a:r>
              <a:rPr b="0" i="0" lang="en" sz="2200" u="none" cap="none">
                <a:solidFill>
                  <a:srgbClr val="000000"/>
                </a:solidFill>
                <a:latin typeface="Montserrat Medium"/>
                <a:ea typeface="Montserrat Medium"/>
                <a:cs typeface="Montserrat Medium"/>
                <a:sym typeface="Montserrat Medium"/>
              </a:rPr>
              <a:t> Gt</a:t>
            </a:r>
            <a:endParaRPr b="0" i="0" sz="2200" u="none" cap="none">
              <a:solidFill>
                <a:srgbClr val="000000"/>
              </a:solidFill>
              <a:latin typeface="Montserrat Medium"/>
              <a:ea typeface="Montserrat Medium"/>
              <a:cs typeface="Montserrat Medium"/>
              <a:sym typeface="Montserrat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ph type="title"/>
          </p:nvPr>
        </p:nvSpPr>
        <p:spPr>
          <a:xfrm>
            <a:off x="489200" y="323500"/>
            <a:ext cx="7433400" cy="8316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Current </a:t>
            </a:r>
            <a:endParaRPr/>
          </a:p>
          <a:p>
            <a:pPr indent="0" lvl="0" marL="0" rtl="0" algn="l">
              <a:lnSpc>
                <a:spcPct val="90000"/>
              </a:lnSpc>
              <a:spcBef>
                <a:spcPts val="0"/>
              </a:spcBef>
              <a:spcAft>
                <a:spcPts val="0"/>
              </a:spcAft>
              <a:buSzPts val="3000"/>
              <a:buNone/>
            </a:pPr>
            <a:r>
              <a:rPr lang="en"/>
              <a:t>Emissions</a:t>
            </a:r>
            <a:endParaRPr/>
          </a:p>
        </p:txBody>
      </p:sp>
      <p:sp>
        <p:nvSpPr>
          <p:cNvPr id="252" name="Google Shape;252;p38"/>
          <p:cNvSpPr txBox="1"/>
          <p:nvPr>
            <p:ph idx="12" type="sldNum"/>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253" name="Google Shape;253;p38"/>
          <p:cNvPicPr preferRelativeResize="0"/>
          <p:nvPr/>
        </p:nvPicPr>
        <p:blipFill rotWithShape="1">
          <a:blip r:embed="rId3">
            <a:alphaModFix/>
          </a:blip>
          <a:srcRect b="0" l="0" r="0" t="0"/>
          <a:stretch/>
        </p:blipFill>
        <p:spPr>
          <a:xfrm>
            <a:off x="0" y="2447675"/>
            <a:ext cx="9143998" cy="2695776"/>
          </a:xfrm>
          <a:prstGeom prst="rect">
            <a:avLst/>
          </a:prstGeom>
          <a:noFill/>
          <a:ln>
            <a:noFill/>
          </a:ln>
        </p:spPr>
      </p:pic>
      <p:sp>
        <p:nvSpPr>
          <p:cNvPr id="254" name="Google Shape;254;p38"/>
          <p:cNvSpPr txBox="1"/>
          <p:nvPr/>
        </p:nvSpPr>
        <p:spPr>
          <a:xfrm>
            <a:off x="440400" y="1274525"/>
            <a:ext cx="3120600" cy="1231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Montserrat"/>
                <a:ea typeface="Montserrat"/>
                <a:cs typeface="Montserrat"/>
                <a:sym typeface="Montserrat"/>
              </a:rPr>
              <a:t>We are currently emitting about 41.6 Gt CO2 each year.</a:t>
            </a:r>
            <a:endParaRPr b="1" i="0" sz="18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Light"/>
              <a:ea typeface="Montserrat Light"/>
              <a:cs typeface="Montserrat Light"/>
              <a:sym typeface="Montserrat Light"/>
            </a:endParaRPr>
          </a:p>
        </p:txBody>
      </p:sp>
      <p:sp>
        <p:nvSpPr>
          <p:cNvPr id="255" name="Google Shape;255;p38"/>
          <p:cNvSpPr txBox="1"/>
          <p:nvPr/>
        </p:nvSpPr>
        <p:spPr>
          <a:xfrm>
            <a:off x="3929900" y="323500"/>
            <a:ext cx="4506900" cy="1736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000000"/>
                </a:solidFill>
                <a:latin typeface="Montserrat"/>
                <a:ea typeface="Montserrat"/>
                <a:cs typeface="Montserrat"/>
                <a:sym typeface="Montserrat"/>
              </a:rPr>
              <a:t>As of 202</a:t>
            </a:r>
            <a:r>
              <a:rPr lang="en" sz="1800">
                <a:latin typeface="Montserrat"/>
                <a:ea typeface="Montserrat"/>
                <a:cs typeface="Montserrat"/>
                <a:sym typeface="Montserrat"/>
              </a:rPr>
              <a:t>6</a:t>
            </a:r>
            <a:r>
              <a:rPr b="0" i="0" lang="en" sz="1800" u="none" cap="none" strike="noStrike">
                <a:solidFill>
                  <a:srgbClr val="000000"/>
                </a:solidFill>
                <a:latin typeface="Montserrat"/>
                <a:ea typeface="Montserrat"/>
                <a:cs typeface="Montserrat"/>
                <a:sym typeface="Montserrat"/>
              </a:rPr>
              <a:t>, at that rate of emissions, we only have ~</a:t>
            </a:r>
            <a:r>
              <a:rPr lang="en" sz="1800">
                <a:latin typeface="Montserrat"/>
                <a:ea typeface="Montserrat"/>
                <a:cs typeface="Montserrat"/>
                <a:sym typeface="Montserrat"/>
              </a:rPr>
              <a:t>4</a:t>
            </a:r>
            <a:r>
              <a:rPr b="0" i="0" lang="en" sz="1800" u="none" cap="none" strike="noStrike">
                <a:solidFill>
                  <a:srgbClr val="000000"/>
                </a:solidFill>
                <a:latin typeface="Montserrat"/>
                <a:ea typeface="Montserrat"/>
                <a:cs typeface="Montserrat"/>
                <a:sym typeface="Montserrat"/>
              </a:rPr>
              <a:t> years to achieve a 1.5° C outcome and only ~1</a:t>
            </a:r>
            <a:r>
              <a:rPr lang="en" sz="1800">
                <a:latin typeface="Montserrat"/>
                <a:ea typeface="Montserrat"/>
                <a:cs typeface="Montserrat"/>
                <a:sym typeface="Montserrat"/>
              </a:rPr>
              <a:t>0</a:t>
            </a:r>
            <a:r>
              <a:rPr b="0" i="0" lang="en" sz="1800" u="none" cap="none" strike="noStrike">
                <a:solidFill>
                  <a:srgbClr val="000000"/>
                </a:solidFill>
                <a:latin typeface="Montserrat"/>
                <a:ea typeface="Montserrat"/>
                <a:cs typeface="Montserrat"/>
                <a:sym typeface="Montserrat"/>
              </a:rPr>
              <a:t> years for the 1.7° C target.</a:t>
            </a:r>
            <a:endParaRPr b="0" i="0" sz="18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Montserrat Light"/>
              <a:ea typeface="Montserrat Light"/>
              <a:cs typeface="Montserrat Light"/>
              <a:sym typeface="Montserrat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type="title"/>
          </p:nvPr>
        </p:nvSpPr>
        <p:spPr>
          <a:xfrm>
            <a:off x="474300" y="836000"/>
            <a:ext cx="7433400" cy="3963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a:t>Oil, gas, and coal development is not aligned with this carbon budget. </a:t>
            </a:r>
            <a:endParaRPr/>
          </a:p>
        </p:txBody>
      </p:sp>
      <p:sp>
        <p:nvSpPr>
          <p:cNvPr id="261" name="Google Shape;261;p39"/>
          <p:cNvSpPr txBox="1"/>
          <p:nvPr>
            <p:ph idx="1" type="body"/>
          </p:nvPr>
        </p:nvSpPr>
        <p:spPr>
          <a:xfrm>
            <a:off x="474300" y="1430150"/>
            <a:ext cx="8006400" cy="3033900"/>
          </a:xfrm>
          <a:prstGeom prst="rect">
            <a:avLst/>
          </a:prstGeom>
          <a:solidFill>
            <a:srgbClr val="FFFFFF"/>
          </a:solidFill>
          <a:ln>
            <a:noFill/>
          </a:ln>
        </p:spPr>
        <p:txBody>
          <a:bodyPr anchorCtr="0" anchor="t" bIns="0" lIns="0" spcFirstLastPara="1" rIns="0" wrap="square" tIns="0">
            <a:noAutofit/>
          </a:bodyPr>
          <a:lstStyle/>
          <a:p>
            <a:pPr indent="-368300" lvl="0" marL="457200" rtl="0" algn="l">
              <a:lnSpc>
                <a:spcPct val="100000"/>
              </a:lnSpc>
              <a:spcBef>
                <a:spcPts val="0"/>
              </a:spcBef>
              <a:spcAft>
                <a:spcPts val="0"/>
              </a:spcAft>
              <a:buSzPts val="2200"/>
              <a:buChar char="●"/>
            </a:pPr>
            <a:r>
              <a:rPr lang="en" sz="2200"/>
              <a:t>Known global reserves need to stay in the ground, including 80% of coal, 50% of gas, and 33% of oil reserves </a:t>
            </a:r>
            <a:endParaRPr sz="2200"/>
          </a:p>
          <a:p>
            <a:pPr indent="-368300" lvl="0" marL="457200" rtl="0" algn="l">
              <a:lnSpc>
                <a:spcPct val="100000"/>
              </a:lnSpc>
              <a:spcBef>
                <a:spcPts val="600"/>
              </a:spcBef>
              <a:spcAft>
                <a:spcPts val="0"/>
              </a:spcAft>
              <a:buSzPts val="2200"/>
              <a:buChar char="●"/>
            </a:pPr>
            <a:r>
              <a:rPr lang="en" sz="2200"/>
              <a:t>Oil and gas wells currently in operation contain 942 Gt </a:t>
            </a:r>
            <a:endParaRPr sz="2200"/>
          </a:p>
          <a:p>
            <a:pPr indent="-368300" lvl="0" marL="457200" rtl="0" algn="l">
              <a:lnSpc>
                <a:spcPct val="100000"/>
              </a:lnSpc>
              <a:spcBef>
                <a:spcPts val="600"/>
              </a:spcBef>
              <a:spcAft>
                <a:spcPts val="0"/>
              </a:spcAft>
              <a:buSzPts val="2200"/>
              <a:buChar char="●"/>
            </a:pPr>
            <a:r>
              <a:rPr lang="en" sz="2200"/>
              <a:t>2,795 Gt are already financially “on the books”</a:t>
            </a:r>
            <a:endParaRPr sz="2200"/>
          </a:p>
          <a:p>
            <a:pPr indent="-368300" lvl="0" marL="457200" rtl="0" algn="l">
              <a:lnSpc>
                <a:spcPct val="100000"/>
              </a:lnSpc>
              <a:spcBef>
                <a:spcPts val="600"/>
              </a:spcBef>
              <a:spcAft>
                <a:spcPts val="600"/>
              </a:spcAft>
              <a:buSzPts val="2200"/>
              <a:buChar char="●"/>
            </a:pPr>
            <a:r>
              <a:rPr lang="en" sz="2200"/>
              <a:t>Far more oil, gas, and coal are set to be developed than what will keep global warming below 2°C </a:t>
            </a:r>
            <a:endParaRPr sz="2200"/>
          </a:p>
        </p:txBody>
      </p:sp>
      <p:sp>
        <p:nvSpPr>
          <p:cNvPr id="262" name="Google Shape;262;p39"/>
          <p:cNvSpPr txBox="1"/>
          <p:nvPr>
            <p:ph idx="12" type="sldNum"/>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39"/>
          <p:cNvSpPr txBox="1"/>
          <p:nvPr/>
        </p:nvSpPr>
        <p:spPr>
          <a:xfrm>
            <a:off x="43475" y="4746550"/>
            <a:ext cx="274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Montserrat Light"/>
                <a:ea typeface="Montserrat Light"/>
                <a:cs typeface="Montserrat Light"/>
                <a:sym typeface="Montserrat Light"/>
              </a:rPr>
              <a:t>Carbon Tracker Initiative</a:t>
            </a:r>
            <a:endParaRPr b="0" i="0" sz="1400" u="none" cap="none" strike="noStrike">
              <a:solidFill>
                <a:srgbClr val="000000"/>
              </a:solidFill>
              <a:latin typeface="Montserrat Light"/>
              <a:ea typeface="Montserrat Light"/>
              <a:cs typeface="Montserrat Light"/>
              <a:sym typeface="Montserrat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9" name="Google Shape;269;p40"/>
          <p:cNvPicPr preferRelativeResize="0"/>
          <p:nvPr/>
        </p:nvPicPr>
        <p:blipFill>
          <a:blip r:embed="rId3">
            <a:alphaModFix/>
          </a:blip>
          <a:stretch>
            <a:fillRect/>
          </a:stretch>
        </p:blipFill>
        <p:spPr>
          <a:xfrm>
            <a:off x="152400" y="152400"/>
            <a:ext cx="8839199" cy="4439198"/>
          </a:xfrm>
          <a:prstGeom prst="rect">
            <a:avLst/>
          </a:prstGeom>
          <a:noFill/>
          <a:ln>
            <a:noFill/>
          </a:ln>
        </p:spPr>
      </p:pic>
      <p:sp>
        <p:nvSpPr>
          <p:cNvPr id="270" name="Google Shape;270;p40"/>
          <p:cNvSpPr txBox="1"/>
          <p:nvPr/>
        </p:nvSpPr>
        <p:spPr>
          <a:xfrm>
            <a:off x="50800" y="4635600"/>
            <a:ext cx="4180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Montserrat Light"/>
                <a:ea typeface="Montserrat Light"/>
                <a:cs typeface="Montserrat Light"/>
                <a:sym typeface="Montserrat Light"/>
              </a:rPr>
              <a:t>Oxfam &amp; Stockholm Environmental Institute</a:t>
            </a:r>
            <a:endParaRPr sz="700">
              <a:solidFill>
                <a:schemeClr val="dk1"/>
              </a:solidFill>
              <a:latin typeface="Montserrat Light"/>
              <a:ea typeface="Montserrat Light"/>
              <a:cs typeface="Montserrat Light"/>
              <a:sym typeface="Montserrat Light"/>
            </a:endParaRPr>
          </a:p>
          <a:p>
            <a:pPr indent="0" lvl="0" marL="0" rtl="0" algn="l">
              <a:spcBef>
                <a:spcPts val="0"/>
              </a:spcBef>
              <a:spcAft>
                <a:spcPts val="0"/>
              </a:spcAft>
              <a:buNone/>
            </a:pPr>
            <a:r>
              <a:rPr lang="en" sz="700">
                <a:solidFill>
                  <a:schemeClr val="dk1"/>
                </a:solidFill>
                <a:latin typeface="Montserrat Light"/>
                <a:ea typeface="Montserrat Light"/>
                <a:cs typeface="Montserrat Light"/>
                <a:sym typeface="Montserrat Light"/>
              </a:rPr>
              <a:t>https://oxfamilibrary.openrepository.com/bitstream/handle/10546/621551/cr-climate-equality-201123-en-summ.pdf;jsessionid=A2310D4366609101EA722BCD0A7CF02F?sequence=1</a:t>
            </a:r>
            <a:endParaRPr sz="700">
              <a:solidFill>
                <a:schemeClr val="dk1"/>
              </a:solidFill>
              <a:latin typeface="Montserrat Light"/>
              <a:ea typeface="Montserrat Light"/>
              <a:cs typeface="Montserrat Light"/>
              <a:sym typeface="Montserrat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6" name="Google Shape;276;p41"/>
          <p:cNvPicPr preferRelativeResize="0"/>
          <p:nvPr/>
        </p:nvPicPr>
        <p:blipFill>
          <a:blip r:embed="rId3">
            <a:alphaModFix/>
          </a:blip>
          <a:stretch>
            <a:fillRect/>
          </a:stretch>
        </p:blipFill>
        <p:spPr>
          <a:xfrm>
            <a:off x="2627450" y="152400"/>
            <a:ext cx="6079544" cy="4838700"/>
          </a:xfrm>
          <a:prstGeom prst="rect">
            <a:avLst/>
          </a:prstGeom>
          <a:noFill/>
          <a:ln>
            <a:noFill/>
          </a:ln>
        </p:spPr>
      </p:pic>
      <p:sp>
        <p:nvSpPr>
          <p:cNvPr id="277" name="Google Shape;277;p41"/>
          <p:cNvSpPr txBox="1"/>
          <p:nvPr/>
        </p:nvSpPr>
        <p:spPr>
          <a:xfrm>
            <a:off x="177950" y="286200"/>
            <a:ext cx="2320200" cy="5120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Montserrat Light"/>
              <a:buChar char="●"/>
            </a:pPr>
            <a:r>
              <a:rPr lang="en" sz="1600">
                <a:solidFill>
                  <a:schemeClr val="dk1"/>
                </a:solidFill>
                <a:latin typeface="Montserrat Light"/>
                <a:ea typeface="Montserrat Light"/>
                <a:cs typeface="Montserrat Light"/>
                <a:sym typeface="Montserrat Light"/>
              </a:rPr>
              <a:t>GHG’s stay in the atmosphere for varying amounts of time</a:t>
            </a:r>
            <a:endParaRPr sz="1600">
              <a:solidFill>
                <a:schemeClr val="dk1"/>
              </a:solidFill>
              <a:latin typeface="Montserrat Light"/>
              <a:ea typeface="Montserrat Light"/>
              <a:cs typeface="Montserrat Light"/>
              <a:sym typeface="Montserrat Light"/>
            </a:endParaRPr>
          </a:p>
          <a:p>
            <a:pPr indent="-330200" lvl="0" marL="457200" rtl="0" algn="l">
              <a:spcBef>
                <a:spcPts val="1000"/>
              </a:spcBef>
              <a:spcAft>
                <a:spcPts val="0"/>
              </a:spcAft>
              <a:buClr>
                <a:schemeClr val="dk1"/>
              </a:buClr>
              <a:buSzPts val="1600"/>
              <a:buFont typeface="Montserrat Light"/>
              <a:buChar char="●"/>
            </a:pPr>
            <a:r>
              <a:rPr lang="en" sz="1600">
                <a:solidFill>
                  <a:schemeClr val="dk1"/>
                </a:solidFill>
                <a:latin typeface="Montserrat Light"/>
                <a:ea typeface="Montserrat Light"/>
                <a:cs typeface="Montserrat Light"/>
                <a:sym typeface="Montserrat Light"/>
              </a:rPr>
              <a:t>Many countries, including the US, built their wealth and lifestyle on high emissions</a:t>
            </a:r>
            <a:endParaRPr sz="1600">
              <a:solidFill>
                <a:schemeClr val="dk1"/>
              </a:solidFill>
              <a:latin typeface="Montserrat Light"/>
              <a:ea typeface="Montserrat Light"/>
              <a:cs typeface="Montserrat Light"/>
              <a:sym typeface="Montserrat Light"/>
            </a:endParaRPr>
          </a:p>
          <a:p>
            <a:pPr indent="-330200" lvl="0" marL="457200" rtl="0" algn="l">
              <a:spcBef>
                <a:spcPts val="1000"/>
              </a:spcBef>
              <a:spcAft>
                <a:spcPts val="1000"/>
              </a:spcAft>
              <a:buClr>
                <a:schemeClr val="dk1"/>
              </a:buClr>
              <a:buSzPts val="1600"/>
              <a:buFont typeface="Montserrat Light"/>
              <a:buChar char="●"/>
            </a:pPr>
            <a:r>
              <a:rPr lang="en" sz="1600">
                <a:solidFill>
                  <a:schemeClr val="dk1"/>
                </a:solidFill>
                <a:latin typeface="Montserrat Light"/>
                <a:ea typeface="Montserrat Light"/>
                <a:cs typeface="Montserrat Light"/>
                <a:sym typeface="Montserrat Light"/>
              </a:rPr>
              <a:t>They could use their wealth and infrastructure to develop low-carbon pathways for the rest of the world.</a:t>
            </a:r>
            <a:endParaRPr sz="1600">
              <a:solidFill>
                <a:schemeClr val="dk1"/>
              </a:solidFill>
              <a:latin typeface="Montserrat Light"/>
              <a:ea typeface="Montserrat Light"/>
              <a:cs typeface="Montserrat Light"/>
              <a:sym typeface="Montserrat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42"/>
          <p:cNvPicPr preferRelativeResize="0"/>
          <p:nvPr/>
        </p:nvPicPr>
        <p:blipFill>
          <a:blip r:embed="rId3">
            <a:alphaModFix/>
          </a:blip>
          <a:stretch>
            <a:fillRect/>
          </a:stretch>
        </p:blipFill>
        <p:spPr>
          <a:xfrm>
            <a:off x="4244850" y="196325"/>
            <a:ext cx="4899150" cy="4659525"/>
          </a:xfrm>
          <a:prstGeom prst="rect">
            <a:avLst/>
          </a:prstGeom>
          <a:noFill/>
          <a:ln>
            <a:noFill/>
          </a:ln>
        </p:spPr>
      </p:pic>
      <p:pic>
        <p:nvPicPr>
          <p:cNvPr id="283" name="Google Shape;283;p42"/>
          <p:cNvPicPr preferRelativeResize="0"/>
          <p:nvPr/>
        </p:nvPicPr>
        <p:blipFill>
          <a:blip r:embed="rId4">
            <a:alphaModFix/>
          </a:blip>
          <a:stretch>
            <a:fillRect/>
          </a:stretch>
        </p:blipFill>
        <p:spPr>
          <a:xfrm>
            <a:off x="171075" y="152392"/>
            <a:ext cx="4073775" cy="4703458"/>
          </a:xfrm>
          <a:prstGeom prst="rect">
            <a:avLst/>
          </a:prstGeom>
          <a:noFill/>
          <a:ln>
            <a:noFill/>
          </a:ln>
        </p:spPr>
      </p:pic>
      <p:sp>
        <p:nvSpPr>
          <p:cNvPr id="284" name="Google Shape;284;p42"/>
          <p:cNvSpPr txBox="1"/>
          <p:nvPr/>
        </p:nvSpPr>
        <p:spPr>
          <a:xfrm>
            <a:off x="6080750" y="4758700"/>
            <a:ext cx="46101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Human Development Report</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3"/>
          <p:cNvSpPr txBox="1"/>
          <p:nvPr/>
        </p:nvSpPr>
        <p:spPr>
          <a:xfrm>
            <a:off x="0" y="0"/>
            <a:ext cx="9144000" cy="346200"/>
          </a:xfrm>
          <a:prstGeom prst="rect">
            <a:avLst/>
          </a:prstGeom>
          <a:solidFill>
            <a:srgbClr val="FFC000"/>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800" u="none" cap="none" strike="noStrike">
                <a:solidFill>
                  <a:schemeClr val="dk1"/>
                </a:solidFill>
                <a:latin typeface="Calibri"/>
                <a:ea typeface="Calibri"/>
                <a:cs typeface="Calibri"/>
                <a:sym typeface="Calibri"/>
              </a:rPr>
              <a:t>Chancel, 2022: Per-capita budgets needed to avoid 2 degrees warming</a:t>
            </a:r>
            <a:endParaRPr sz="1100"/>
          </a:p>
        </p:txBody>
      </p:sp>
      <p:cxnSp>
        <p:nvCxnSpPr>
          <p:cNvPr id="290" name="Google Shape;290;p43"/>
          <p:cNvCxnSpPr/>
          <p:nvPr/>
        </p:nvCxnSpPr>
        <p:spPr>
          <a:xfrm rot="10800000">
            <a:off x="2738085" y="2864546"/>
            <a:ext cx="2742600" cy="0"/>
          </a:xfrm>
          <a:prstGeom prst="straightConnector1">
            <a:avLst/>
          </a:prstGeom>
          <a:noFill/>
          <a:ln cap="flat" cmpd="sng" w="7150">
            <a:solidFill>
              <a:schemeClr val="accent1"/>
            </a:solidFill>
            <a:prstDash val="solid"/>
            <a:miter lim="800000"/>
            <a:headEnd len="sm" w="sm" type="none"/>
            <a:tailEnd len="sm" w="sm" type="none"/>
          </a:ln>
        </p:spPr>
      </p:cxnSp>
      <p:cxnSp>
        <p:nvCxnSpPr>
          <p:cNvPr id="291" name="Google Shape;291;p43"/>
          <p:cNvCxnSpPr/>
          <p:nvPr/>
        </p:nvCxnSpPr>
        <p:spPr>
          <a:xfrm rot="10800000">
            <a:off x="1552473" y="3250029"/>
            <a:ext cx="4182300" cy="0"/>
          </a:xfrm>
          <a:prstGeom prst="straightConnector1">
            <a:avLst/>
          </a:prstGeom>
          <a:noFill/>
          <a:ln cap="flat" cmpd="sng" w="7150">
            <a:solidFill>
              <a:schemeClr val="accent1"/>
            </a:solidFill>
            <a:prstDash val="solid"/>
            <a:miter lim="800000"/>
            <a:headEnd len="sm" w="sm" type="none"/>
            <a:tailEnd len="sm" w="sm" type="none"/>
          </a:ln>
        </p:spPr>
      </p:cxnSp>
      <p:pic>
        <p:nvPicPr>
          <p:cNvPr id="292" name="Google Shape;292;p43"/>
          <p:cNvPicPr preferRelativeResize="0"/>
          <p:nvPr/>
        </p:nvPicPr>
        <p:blipFill rotWithShape="1">
          <a:blip r:embed="rId3">
            <a:alphaModFix/>
          </a:blip>
          <a:srcRect b="0" l="0" r="0" t="0"/>
          <a:stretch/>
        </p:blipFill>
        <p:spPr>
          <a:xfrm>
            <a:off x="288781" y="386351"/>
            <a:ext cx="5857205" cy="463973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4"/>
          <p:cNvSpPr txBox="1"/>
          <p:nvPr/>
        </p:nvSpPr>
        <p:spPr>
          <a:xfrm>
            <a:off x="0" y="0"/>
            <a:ext cx="9144000" cy="346200"/>
          </a:xfrm>
          <a:prstGeom prst="rect">
            <a:avLst/>
          </a:prstGeom>
          <a:solidFill>
            <a:srgbClr val="FFC000"/>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800">
                <a:solidFill>
                  <a:schemeClr val="dk1"/>
                </a:solidFill>
                <a:latin typeface="Calibri"/>
                <a:ea typeface="Calibri"/>
                <a:cs typeface="Calibri"/>
                <a:sym typeface="Calibri"/>
              </a:rPr>
              <a:t>Chancel, 2022: Per-capita budgets needed to avoid 2 degrees warming</a:t>
            </a:r>
            <a:endParaRPr sz="1100"/>
          </a:p>
        </p:txBody>
      </p:sp>
      <p:cxnSp>
        <p:nvCxnSpPr>
          <p:cNvPr id="298" name="Google Shape;298;p44"/>
          <p:cNvCxnSpPr/>
          <p:nvPr/>
        </p:nvCxnSpPr>
        <p:spPr>
          <a:xfrm rot="10800000">
            <a:off x="2738085" y="2864546"/>
            <a:ext cx="2742600" cy="0"/>
          </a:xfrm>
          <a:prstGeom prst="straightConnector1">
            <a:avLst/>
          </a:prstGeom>
          <a:noFill/>
          <a:ln cap="flat" cmpd="sng" w="7150">
            <a:solidFill>
              <a:schemeClr val="accent1"/>
            </a:solidFill>
            <a:prstDash val="solid"/>
            <a:miter lim="800000"/>
            <a:headEnd len="sm" w="sm" type="none"/>
            <a:tailEnd len="sm" w="sm" type="none"/>
          </a:ln>
        </p:spPr>
      </p:cxnSp>
      <p:cxnSp>
        <p:nvCxnSpPr>
          <p:cNvPr id="299" name="Google Shape;299;p44"/>
          <p:cNvCxnSpPr/>
          <p:nvPr/>
        </p:nvCxnSpPr>
        <p:spPr>
          <a:xfrm rot="10800000">
            <a:off x="1552473" y="3250029"/>
            <a:ext cx="4182300" cy="0"/>
          </a:xfrm>
          <a:prstGeom prst="straightConnector1">
            <a:avLst/>
          </a:prstGeom>
          <a:noFill/>
          <a:ln cap="flat" cmpd="sng" w="7150">
            <a:solidFill>
              <a:schemeClr val="accent1"/>
            </a:solidFill>
            <a:prstDash val="solid"/>
            <a:miter lim="800000"/>
            <a:headEnd len="sm" w="sm" type="none"/>
            <a:tailEnd len="sm" w="sm" type="none"/>
          </a:ln>
        </p:spPr>
      </p:cxnSp>
      <p:pic>
        <p:nvPicPr>
          <p:cNvPr id="300" name="Google Shape;300;p44"/>
          <p:cNvPicPr preferRelativeResize="0"/>
          <p:nvPr/>
        </p:nvPicPr>
        <p:blipFill rotWithShape="1">
          <a:blip r:embed="rId3">
            <a:alphaModFix/>
          </a:blip>
          <a:srcRect b="0" l="0" r="0" t="0"/>
          <a:stretch/>
        </p:blipFill>
        <p:spPr>
          <a:xfrm>
            <a:off x="288781" y="386351"/>
            <a:ext cx="5857205" cy="4639734"/>
          </a:xfrm>
          <a:prstGeom prst="rect">
            <a:avLst/>
          </a:prstGeom>
          <a:noFill/>
          <a:ln>
            <a:noFill/>
          </a:ln>
        </p:spPr>
      </p:pic>
      <p:grpSp>
        <p:nvGrpSpPr>
          <p:cNvPr id="301" name="Google Shape;301;p44"/>
          <p:cNvGrpSpPr/>
          <p:nvPr/>
        </p:nvGrpSpPr>
        <p:grpSpPr>
          <a:xfrm>
            <a:off x="5837377" y="452889"/>
            <a:ext cx="467253" cy="3106717"/>
            <a:chOff x="10166763" y="603805"/>
            <a:chExt cx="915465" cy="6086828"/>
          </a:xfrm>
        </p:grpSpPr>
        <p:grpSp>
          <p:nvGrpSpPr>
            <p:cNvPr id="302" name="Google Shape;302;p44"/>
            <p:cNvGrpSpPr/>
            <p:nvPr/>
          </p:nvGrpSpPr>
          <p:grpSpPr>
            <a:xfrm>
              <a:off x="10166763" y="603805"/>
              <a:ext cx="913504" cy="5054667"/>
              <a:chOff x="395902" y="603805"/>
              <a:chExt cx="913504" cy="5054667"/>
            </a:xfrm>
          </p:grpSpPr>
          <p:grpSp>
            <p:nvGrpSpPr>
              <p:cNvPr id="303" name="Google Shape;303;p44"/>
              <p:cNvGrpSpPr/>
              <p:nvPr/>
            </p:nvGrpSpPr>
            <p:grpSpPr>
              <a:xfrm>
                <a:off x="395902" y="1059544"/>
                <a:ext cx="913504" cy="4598928"/>
                <a:chOff x="395900" y="521126"/>
                <a:chExt cx="1000114" cy="5034955"/>
              </a:xfrm>
            </p:grpSpPr>
            <p:grpSp>
              <p:nvGrpSpPr>
                <p:cNvPr id="304" name="Google Shape;304;p44"/>
                <p:cNvGrpSpPr/>
                <p:nvPr/>
              </p:nvGrpSpPr>
              <p:grpSpPr>
                <a:xfrm>
                  <a:off x="395900" y="1019841"/>
                  <a:ext cx="1000114" cy="4536240"/>
                  <a:chOff x="395900" y="839726"/>
                  <a:chExt cx="1000114" cy="4536240"/>
                </a:xfrm>
              </p:grpSpPr>
              <p:grpSp>
                <p:nvGrpSpPr>
                  <p:cNvPr id="305" name="Google Shape;305;p44"/>
                  <p:cNvGrpSpPr/>
                  <p:nvPr/>
                </p:nvGrpSpPr>
                <p:grpSpPr>
                  <a:xfrm>
                    <a:off x="395900" y="3740674"/>
                    <a:ext cx="1000114" cy="1635292"/>
                    <a:chOff x="520609" y="1611823"/>
                    <a:chExt cx="1111361" cy="1817193"/>
                  </a:xfrm>
                </p:grpSpPr>
                <p:grpSp>
                  <p:nvGrpSpPr>
                    <p:cNvPr id="306" name="Google Shape;306;p44"/>
                    <p:cNvGrpSpPr/>
                    <p:nvPr/>
                  </p:nvGrpSpPr>
                  <p:grpSpPr>
                    <a:xfrm>
                      <a:off x="520609" y="1611823"/>
                      <a:ext cx="1093898" cy="529967"/>
                      <a:chOff x="286512" y="706056"/>
                      <a:chExt cx="1689940" cy="818735"/>
                    </a:xfrm>
                  </p:grpSpPr>
                  <p:pic>
                    <p:nvPicPr>
                      <p:cNvPr descr="Hippo Facts, History, Useful Information and Amazing Pictures" id="307" name="Google Shape;307;p44"/>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08" name="Google Shape;308;p44"/>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09" name="Google Shape;309;p44"/>
                    <p:cNvGrpSpPr/>
                    <p:nvPr/>
                  </p:nvGrpSpPr>
                  <p:grpSpPr>
                    <a:xfrm>
                      <a:off x="538072" y="2249998"/>
                      <a:ext cx="1093898" cy="529967"/>
                      <a:chOff x="286512" y="706056"/>
                      <a:chExt cx="1689940" cy="818735"/>
                    </a:xfrm>
                  </p:grpSpPr>
                  <p:pic>
                    <p:nvPicPr>
                      <p:cNvPr descr="Hippo Facts, History, Useful Information and Amazing Pictures" id="310" name="Google Shape;310;p44"/>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11" name="Google Shape;311;p44"/>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12" name="Google Shape;312;p44"/>
                    <p:cNvGrpSpPr/>
                    <p:nvPr/>
                  </p:nvGrpSpPr>
                  <p:grpSpPr>
                    <a:xfrm>
                      <a:off x="538072" y="2899049"/>
                      <a:ext cx="1093898" cy="529967"/>
                      <a:chOff x="286512" y="706056"/>
                      <a:chExt cx="1689940" cy="818735"/>
                    </a:xfrm>
                  </p:grpSpPr>
                  <p:pic>
                    <p:nvPicPr>
                      <p:cNvPr descr="Hippo Facts, History, Useful Information and Amazing Pictures" id="313" name="Google Shape;313;p44"/>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14" name="Google Shape;314;p44"/>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grpSp>
                <p:nvGrpSpPr>
                  <p:cNvPr id="315" name="Google Shape;315;p44"/>
                  <p:cNvGrpSpPr/>
                  <p:nvPr/>
                </p:nvGrpSpPr>
                <p:grpSpPr>
                  <a:xfrm>
                    <a:off x="395900" y="839726"/>
                    <a:ext cx="1000114" cy="2803454"/>
                    <a:chOff x="520609" y="1611823"/>
                    <a:chExt cx="1111361" cy="3115295"/>
                  </a:xfrm>
                </p:grpSpPr>
                <p:grpSp>
                  <p:nvGrpSpPr>
                    <p:cNvPr id="316" name="Google Shape;316;p44"/>
                    <p:cNvGrpSpPr/>
                    <p:nvPr/>
                  </p:nvGrpSpPr>
                  <p:grpSpPr>
                    <a:xfrm>
                      <a:off x="520609" y="1611823"/>
                      <a:ext cx="1093898" cy="529967"/>
                      <a:chOff x="286512" y="706056"/>
                      <a:chExt cx="1689940" cy="818735"/>
                    </a:xfrm>
                  </p:grpSpPr>
                  <p:pic>
                    <p:nvPicPr>
                      <p:cNvPr descr="Hippo Facts, History, Useful Information and Amazing Pictures" id="317" name="Google Shape;317;p44"/>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18" name="Google Shape;318;p44"/>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19" name="Google Shape;319;p44"/>
                    <p:cNvGrpSpPr/>
                    <p:nvPr/>
                  </p:nvGrpSpPr>
                  <p:grpSpPr>
                    <a:xfrm>
                      <a:off x="538072" y="2249998"/>
                      <a:ext cx="1093898" cy="529967"/>
                      <a:chOff x="286512" y="706056"/>
                      <a:chExt cx="1689940" cy="818735"/>
                    </a:xfrm>
                  </p:grpSpPr>
                  <p:pic>
                    <p:nvPicPr>
                      <p:cNvPr descr="Hippo Facts, History, Useful Information and Amazing Pictures" id="320" name="Google Shape;320;p44"/>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21" name="Google Shape;321;p44"/>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22" name="Google Shape;322;p44"/>
                    <p:cNvGrpSpPr/>
                    <p:nvPr/>
                  </p:nvGrpSpPr>
                  <p:grpSpPr>
                    <a:xfrm>
                      <a:off x="538072" y="2899049"/>
                      <a:ext cx="1093898" cy="529967"/>
                      <a:chOff x="286512" y="706056"/>
                      <a:chExt cx="1689940" cy="818735"/>
                    </a:xfrm>
                  </p:grpSpPr>
                  <p:pic>
                    <p:nvPicPr>
                      <p:cNvPr descr="Hippo Facts, History, Useful Information and Amazing Pictures" id="323" name="Google Shape;323;p44"/>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24" name="Google Shape;324;p44"/>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25" name="Google Shape;325;p44"/>
                    <p:cNvGrpSpPr/>
                    <p:nvPr/>
                  </p:nvGrpSpPr>
                  <p:grpSpPr>
                    <a:xfrm>
                      <a:off x="538072" y="3548100"/>
                      <a:ext cx="1093898" cy="529967"/>
                      <a:chOff x="286512" y="706056"/>
                      <a:chExt cx="1689940" cy="818735"/>
                    </a:xfrm>
                  </p:grpSpPr>
                  <p:pic>
                    <p:nvPicPr>
                      <p:cNvPr descr="Hippo Facts, History, Useful Information and Amazing Pictures" id="326" name="Google Shape;326;p44"/>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27" name="Google Shape;327;p44"/>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28" name="Google Shape;328;p44"/>
                    <p:cNvGrpSpPr/>
                    <p:nvPr/>
                  </p:nvGrpSpPr>
                  <p:grpSpPr>
                    <a:xfrm>
                      <a:off x="538072" y="4197151"/>
                      <a:ext cx="1093898" cy="529967"/>
                      <a:chOff x="286512" y="706056"/>
                      <a:chExt cx="1689940" cy="818735"/>
                    </a:xfrm>
                  </p:grpSpPr>
                  <p:pic>
                    <p:nvPicPr>
                      <p:cNvPr descr="Hippo Facts, History, Useful Information and Amazing Pictures" id="329" name="Google Shape;329;p44"/>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30" name="Google Shape;330;p44"/>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grpSp>
            <p:pic>
              <p:nvPicPr>
                <p:cNvPr descr="Hippo Facts, History, Useful Information and Amazing Pictures" id="331" name="Google Shape;331;p44"/>
                <p:cNvPicPr preferRelativeResize="0"/>
                <p:nvPr/>
              </p:nvPicPr>
              <p:blipFill rotWithShape="1">
                <a:blip r:embed="rId4">
                  <a:alphaModFix/>
                </a:blip>
                <a:srcRect b="0" l="6443" r="24801" t="0"/>
                <a:stretch/>
              </p:blipFill>
              <p:spPr>
                <a:xfrm>
                  <a:off x="395915" y="521126"/>
                  <a:ext cx="492210" cy="476928"/>
                </a:xfrm>
                <a:prstGeom prst="rect">
                  <a:avLst/>
                </a:prstGeom>
                <a:noFill/>
                <a:ln>
                  <a:noFill/>
                </a:ln>
              </p:spPr>
            </p:pic>
            <p:pic>
              <p:nvPicPr>
                <p:cNvPr descr="Hippo Facts, History, Useful Information and Amazing Pictures" id="332" name="Google Shape;332;p44"/>
                <p:cNvPicPr preferRelativeResize="0"/>
                <p:nvPr/>
              </p:nvPicPr>
              <p:blipFill rotWithShape="1">
                <a:blip r:embed="rId4">
                  <a:alphaModFix/>
                </a:blip>
                <a:srcRect b="0" l="6443" r="24801" t="0"/>
                <a:stretch/>
              </p:blipFill>
              <p:spPr>
                <a:xfrm>
                  <a:off x="888126" y="521126"/>
                  <a:ext cx="492210" cy="476928"/>
                </a:xfrm>
                <a:prstGeom prst="rect">
                  <a:avLst/>
                </a:prstGeom>
                <a:noFill/>
                <a:ln>
                  <a:noFill/>
                </a:ln>
              </p:spPr>
            </p:pic>
          </p:grpSp>
          <p:pic>
            <p:nvPicPr>
              <p:cNvPr descr="Hippo Facts, History, Useful Information and Amazing Pictures" id="333" name="Google Shape;333;p44"/>
              <p:cNvPicPr preferRelativeResize="0"/>
              <p:nvPr/>
            </p:nvPicPr>
            <p:blipFill rotWithShape="1">
              <a:blip r:embed="rId4">
                <a:alphaModFix/>
              </a:blip>
              <a:srcRect b="0" l="6443" r="24801" t="0"/>
              <a:stretch/>
            </p:blipFill>
            <p:spPr>
              <a:xfrm>
                <a:off x="410271" y="603805"/>
                <a:ext cx="449586" cy="435625"/>
              </a:xfrm>
              <a:prstGeom prst="rect">
                <a:avLst/>
              </a:prstGeom>
              <a:noFill/>
              <a:ln>
                <a:noFill/>
              </a:ln>
            </p:spPr>
          </p:pic>
        </p:grpSp>
        <p:pic>
          <p:nvPicPr>
            <p:cNvPr descr="Hippo Facts, History, Useful Information and Amazing Pictures" id="334" name="Google Shape;334;p44"/>
            <p:cNvPicPr preferRelativeResize="0"/>
            <p:nvPr/>
          </p:nvPicPr>
          <p:blipFill rotWithShape="1">
            <a:blip r:embed="rId4">
              <a:alphaModFix/>
            </a:blip>
            <a:srcRect b="0" l="6443" r="24801" t="0"/>
            <a:stretch/>
          </p:blipFill>
          <p:spPr>
            <a:xfrm>
              <a:off x="10183057" y="5721488"/>
              <a:ext cx="449586" cy="435625"/>
            </a:xfrm>
            <a:prstGeom prst="rect">
              <a:avLst/>
            </a:prstGeom>
            <a:noFill/>
            <a:ln>
              <a:noFill/>
            </a:ln>
          </p:spPr>
        </p:pic>
        <p:pic>
          <p:nvPicPr>
            <p:cNvPr descr="Hippo Facts, History, Useful Information and Amazing Pictures" id="335" name="Google Shape;335;p44"/>
            <p:cNvPicPr preferRelativeResize="0"/>
            <p:nvPr/>
          </p:nvPicPr>
          <p:blipFill rotWithShape="1">
            <a:blip r:embed="rId4">
              <a:alphaModFix/>
            </a:blip>
            <a:srcRect b="0" l="6443" r="24801" t="0"/>
            <a:stretch/>
          </p:blipFill>
          <p:spPr>
            <a:xfrm>
              <a:off x="10632642" y="5721488"/>
              <a:ext cx="449586" cy="435625"/>
            </a:xfrm>
            <a:prstGeom prst="rect">
              <a:avLst/>
            </a:prstGeom>
            <a:noFill/>
            <a:ln>
              <a:noFill/>
            </a:ln>
          </p:spPr>
        </p:pic>
        <p:pic>
          <p:nvPicPr>
            <p:cNvPr descr="Hippo Facts, History, Useful Information and Amazing Pictures" id="336" name="Google Shape;336;p44"/>
            <p:cNvPicPr preferRelativeResize="0"/>
            <p:nvPr/>
          </p:nvPicPr>
          <p:blipFill rotWithShape="1">
            <a:blip r:embed="rId4">
              <a:alphaModFix/>
            </a:blip>
            <a:srcRect b="0" l="6443" r="24801" t="0"/>
            <a:stretch/>
          </p:blipFill>
          <p:spPr>
            <a:xfrm>
              <a:off x="10183057" y="6255008"/>
              <a:ext cx="449586" cy="435625"/>
            </a:xfrm>
            <a:prstGeom prst="rect">
              <a:avLst/>
            </a:prstGeom>
            <a:noFill/>
            <a:ln>
              <a:noFill/>
            </a:ln>
          </p:spPr>
        </p:pic>
        <p:pic>
          <p:nvPicPr>
            <p:cNvPr descr="Hippo Facts, History, Useful Information and Amazing Pictures" id="337" name="Google Shape;337;p44"/>
            <p:cNvPicPr preferRelativeResize="0"/>
            <p:nvPr/>
          </p:nvPicPr>
          <p:blipFill rotWithShape="1">
            <a:blip r:embed="rId4">
              <a:alphaModFix/>
            </a:blip>
            <a:srcRect b="0" l="6443" r="24801" t="0"/>
            <a:stretch/>
          </p:blipFill>
          <p:spPr>
            <a:xfrm>
              <a:off x="10632642" y="6255008"/>
              <a:ext cx="449586" cy="435625"/>
            </a:xfrm>
            <a:prstGeom prst="rect">
              <a:avLst/>
            </a:prstGeom>
            <a:noFill/>
            <a:ln>
              <a:noFill/>
            </a:ln>
          </p:spPr>
        </p:pic>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5"/>
          <p:cNvSpPr txBox="1"/>
          <p:nvPr/>
        </p:nvSpPr>
        <p:spPr>
          <a:xfrm>
            <a:off x="0" y="0"/>
            <a:ext cx="9144000" cy="346200"/>
          </a:xfrm>
          <a:prstGeom prst="rect">
            <a:avLst/>
          </a:prstGeom>
          <a:solidFill>
            <a:srgbClr val="FFC000"/>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800">
                <a:solidFill>
                  <a:schemeClr val="dk1"/>
                </a:solidFill>
                <a:latin typeface="Calibri"/>
                <a:ea typeface="Calibri"/>
                <a:cs typeface="Calibri"/>
                <a:sym typeface="Calibri"/>
              </a:rPr>
              <a:t>Chancel, 2022: Per-capita budgets needed to avoid 2 degrees warming</a:t>
            </a:r>
            <a:endParaRPr sz="1100"/>
          </a:p>
        </p:txBody>
      </p:sp>
      <p:cxnSp>
        <p:nvCxnSpPr>
          <p:cNvPr id="343" name="Google Shape;343;p45"/>
          <p:cNvCxnSpPr/>
          <p:nvPr/>
        </p:nvCxnSpPr>
        <p:spPr>
          <a:xfrm rot="10800000">
            <a:off x="2738085" y="2864546"/>
            <a:ext cx="2742600" cy="0"/>
          </a:xfrm>
          <a:prstGeom prst="straightConnector1">
            <a:avLst/>
          </a:prstGeom>
          <a:noFill/>
          <a:ln cap="flat" cmpd="sng" w="7150">
            <a:solidFill>
              <a:schemeClr val="accent1"/>
            </a:solidFill>
            <a:prstDash val="solid"/>
            <a:miter lim="800000"/>
            <a:headEnd len="sm" w="sm" type="none"/>
            <a:tailEnd len="sm" w="sm" type="none"/>
          </a:ln>
        </p:spPr>
      </p:cxnSp>
      <p:cxnSp>
        <p:nvCxnSpPr>
          <p:cNvPr id="344" name="Google Shape;344;p45"/>
          <p:cNvCxnSpPr/>
          <p:nvPr/>
        </p:nvCxnSpPr>
        <p:spPr>
          <a:xfrm rot="10800000">
            <a:off x="1552473" y="3250029"/>
            <a:ext cx="4182300" cy="0"/>
          </a:xfrm>
          <a:prstGeom prst="straightConnector1">
            <a:avLst/>
          </a:prstGeom>
          <a:noFill/>
          <a:ln cap="flat" cmpd="sng" w="7150">
            <a:solidFill>
              <a:schemeClr val="accent1"/>
            </a:solidFill>
            <a:prstDash val="solid"/>
            <a:miter lim="800000"/>
            <a:headEnd len="sm" w="sm" type="none"/>
            <a:tailEnd len="sm" w="sm" type="none"/>
          </a:ln>
        </p:spPr>
      </p:cxnSp>
      <p:pic>
        <p:nvPicPr>
          <p:cNvPr id="345" name="Google Shape;345;p45"/>
          <p:cNvPicPr preferRelativeResize="0"/>
          <p:nvPr/>
        </p:nvPicPr>
        <p:blipFill rotWithShape="1">
          <a:blip r:embed="rId3">
            <a:alphaModFix/>
          </a:blip>
          <a:srcRect b="0" l="0" r="0" t="0"/>
          <a:stretch/>
        </p:blipFill>
        <p:spPr>
          <a:xfrm>
            <a:off x="288781" y="386351"/>
            <a:ext cx="5857205" cy="4639734"/>
          </a:xfrm>
          <a:prstGeom prst="rect">
            <a:avLst/>
          </a:prstGeom>
          <a:noFill/>
          <a:ln>
            <a:noFill/>
          </a:ln>
        </p:spPr>
      </p:pic>
      <p:grpSp>
        <p:nvGrpSpPr>
          <p:cNvPr id="346" name="Google Shape;346;p45"/>
          <p:cNvGrpSpPr/>
          <p:nvPr/>
        </p:nvGrpSpPr>
        <p:grpSpPr>
          <a:xfrm>
            <a:off x="6541901" y="654249"/>
            <a:ext cx="2468591" cy="2126925"/>
            <a:chOff x="7824486" y="891251"/>
            <a:chExt cx="5568668" cy="2835900"/>
          </a:xfrm>
        </p:grpSpPr>
        <p:sp>
          <p:nvSpPr>
            <p:cNvPr id="347" name="Google Shape;347;p45"/>
            <p:cNvSpPr/>
            <p:nvPr/>
          </p:nvSpPr>
          <p:spPr>
            <a:xfrm>
              <a:off x="7824486" y="891251"/>
              <a:ext cx="243000" cy="2835900"/>
            </a:xfrm>
            <a:prstGeom prst="rightBrace">
              <a:avLst>
                <a:gd fmla="val 8333" name="adj1"/>
                <a:gd fmla="val 50000" name="adj2"/>
              </a:avLst>
            </a:prstGeom>
            <a:no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48" name="Google Shape;348;p45"/>
            <p:cNvSpPr txBox="1"/>
            <p:nvPr/>
          </p:nvSpPr>
          <p:spPr>
            <a:xfrm>
              <a:off x="8067554" y="2073958"/>
              <a:ext cx="5325600" cy="4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16 GtC/yr</a:t>
              </a:r>
              <a:endParaRPr sz="1500">
                <a:solidFill>
                  <a:schemeClr val="dk1"/>
                </a:solidFill>
                <a:latin typeface="Calibri"/>
                <a:ea typeface="Calibri"/>
                <a:cs typeface="Calibri"/>
                <a:sym typeface="Calibri"/>
              </a:endParaRPr>
            </a:p>
          </p:txBody>
        </p:sp>
      </p:grpSp>
      <p:grpSp>
        <p:nvGrpSpPr>
          <p:cNvPr id="349" name="Google Shape;349;p45"/>
          <p:cNvGrpSpPr/>
          <p:nvPr/>
        </p:nvGrpSpPr>
        <p:grpSpPr>
          <a:xfrm>
            <a:off x="5837377" y="452889"/>
            <a:ext cx="467253" cy="3106717"/>
            <a:chOff x="10166763" y="603805"/>
            <a:chExt cx="915465" cy="6086828"/>
          </a:xfrm>
        </p:grpSpPr>
        <p:grpSp>
          <p:nvGrpSpPr>
            <p:cNvPr id="350" name="Google Shape;350;p45"/>
            <p:cNvGrpSpPr/>
            <p:nvPr/>
          </p:nvGrpSpPr>
          <p:grpSpPr>
            <a:xfrm>
              <a:off x="10166763" y="603805"/>
              <a:ext cx="913504" cy="5054667"/>
              <a:chOff x="395902" y="603805"/>
              <a:chExt cx="913504" cy="5054667"/>
            </a:xfrm>
          </p:grpSpPr>
          <p:grpSp>
            <p:nvGrpSpPr>
              <p:cNvPr id="351" name="Google Shape;351;p45"/>
              <p:cNvGrpSpPr/>
              <p:nvPr/>
            </p:nvGrpSpPr>
            <p:grpSpPr>
              <a:xfrm>
                <a:off x="395902" y="1059544"/>
                <a:ext cx="913504" cy="4598928"/>
                <a:chOff x="395900" y="521126"/>
                <a:chExt cx="1000114" cy="5034955"/>
              </a:xfrm>
            </p:grpSpPr>
            <p:grpSp>
              <p:nvGrpSpPr>
                <p:cNvPr id="352" name="Google Shape;352;p45"/>
                <p:cNvGrpSpPr/>
                <p:nvPr/>
              </p:nvGrpSpPr>
              <p:grpSpPr>
                <a:xfrm>
                  <a:off x="395900" y="1019841"/>
                  <a:ext cx="1000114" cy="4536240"/>
                  <a:chOff x="395900" y="839726"/>
                  <a:chExt cx="1000114" cy="4536240"/>
                </a:xfrm>
              </p:grpSpPr>
              <p:grpSp>
                <p:nvGrpSpPr>
                  <p:cNvPr id="353" name="Google Shape;353;p45"/>
                  <p:cNvGrpSpPr/>
                  <p:nvPr/>
                </p:nvGrpSpPr>
                <p:grpSpPr>
                  <a:xfrm>
                    <a:off x="395900" y="3740674"/>
                    <a:ext cx="1000114" cy="1635292"/>
                    <a:chOff x="520609" y="1611823"/>
                    <a:chExt cx="1111361" cy="1817193"/>
                  </a:xfrm>
                </p:grpSpPr>
                <p:grpSp>
                  <p:nvGrpSpPr>
                    <p:cNvPr id="354" name="Google Shape;354;p45"/>
                    <p:cNvGrpSpPr/>
                    <p:nvPr/>
                  </p:nvGrpSpPr>
                  <p:grpSpPr>
                    <a:xfrm>
                      <a:off x="520609" y="1611823"/>
                      <a:ext cx="1093898" cy="529967"/>
                      <a:chOff x="286512" y="706056"/>
                      <a:chExt cx="1689940" cy="818735"/>
                    </a:xfrm>
                  </p:grpSpPr>
                  <p:pic>
                    <p:nvPicPr>
                      <p:cNvPr descr="Hippo Facts, History, Useful Information and Amazing Pictures" id="355" name="Google Shape;355;p45"/>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56" name="Google Shape;356;p45"/>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57" name="Google Shape;357;p45"/>
                    <p:cNvGrpSpPr/>
                    <p:nvPr/>
                  </p:nvGrpSpPr>
                  <p:grpSpPr>
                    <a:xfrm>
                      <a:off x="538072" y="2249998"/>
                      <a:ext cx="1093898" cy="529967"/>
                      <a:chOff x="286512" y="706056"/>
                      <a:chExt cx="1689940" cy="818735"/>
                    </a:xfrm>
                  </p:grpSpPr>
                  <p:pic>
                    <p:nvPicPr>
                      <p:cNvPr descr="Hippo Facts, History, Useful Information and Amazing Pictures" id="358" name="Google Shape;358;p45"/>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59" name="Google Shape;359;p45"/>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60" name="Google Shape;360;p45"/>
                    <p:cNvGrpSpPr/>
                    <p:nvPr/>
                  </p:nvGrpSpPr>
                  <p:grpSpPr>
                    <a:xfrm>
                      <a:off x="538072" y="2899049"/>
                      <a:ext cx="1093898" cy="529967"/>
                      <a:chOff x="286512" y="706056"/>
                      <a:chExt cx="1689940" cy="818735"/>
                    </a:xfrm>
                  </p:grpSpPr>
                  <p:pic>
                    <p:nvPicPr>
                      <p:cNvPr descr="Hippo Facts, History, Useful Information and Amazing Pictures" id="361" name="Google Shape;361;p45"/>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62" name="Google Shape;362;p45"/>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grpSp>
                <p:nvGrpSpPr>
                  <p:cNvPr id="363" name="Google Shape;363;p45"/>
                  <p:cNvGrpSpPr/>
                  <p:nvPr/>
                </p:nvGrpSpPr>
                <p:grpSpPr>
                  <a:xfrm>
                    <a:off x="395900" y="839726"/>
                    <a:ext cx="1000114" cy="2803454"/>
                    <a:chOff x="520609" y="1611823"/>
                    <a:chExt cx="1111361" cy="3115295"/>
                  </a:xfrm>
                </p:grpSpPr>
                <p:grpSp>
                  <p:nvGrpSpPr>
                    <p:cNvPr id="364" name="Google Shape;364;p45"/>
                    <p:cNvGrpSpPr/>
                    <p:nvPr/>
                  </p:nvGrpSpPr>
                  <p:grpSpPr>
                    <a:xfrm>
                      <a:off x="520609" y="1611823"/>
                      <a:ext cx="1093898" cy="529967"/>
                      <a:chOff x="286512" y="706056"/>
                      <a:chExt cx="1689940" cy="818735"/>
                    </a:xfrm>
                  </p:grpSpPr>
                  <p:pic>
                    <p:nvPicPr>
                      <p:cNvPr descr="Hippo Facts, History, Useful Information and Amazing Pictures" id="365" name="Google Shape;365;p45"/>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66" name="Google Shape;366;p45"/>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67" name="Google Shape;367;p45"/>
                    <p:cNvGrpSpPr/>
                    <p:nvPr/>
                  </p:nvGrpSpPr>
                  <p:grpSpPr>
                    <a:xfrm>
                      <a:off x="538072" y="2249998"/>
                      <a:ext cx="1093898" cy="529967"/>
                      <a:chOff x="286512" y="706056"/>
                      <a:chExt cx="1689940" cy="818735"/>
                    </a:xfrm>
                  </p:grpSpPr>
                  <p:pic>
                    <p:nvPicPr>
                      <p:cNvPr descr="Hippo Facts, History, Useful Information and Amazing Pictures" id="368" name="Google Shape;368;p45"/>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69" name="Google Shape;369;p45"/>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70" name="Google Shape;370;p45"/>
                    <p:cNvGrpSpPr/>
                    <p:nvPr/>
                  </p:nvGrpSpPr>
                  <p:grpSpPr>
                    <a:xfrm>
                      <a:off x="538072" y="2899049"/>
                      <a:ext cx="1093898" cy="529967"/>
                      <a:chOff x="286512" y="706056"/>
                      <a:chExt cx="1689940" cy="818735"/>
                    </a:xfrm>
                  </p:grpSpPr>
                  <p:pic>
                    <p:nvPicPr>
                      <p:cNvPr descr="Hippo Facts, History, Useful Information and Amazing Pictures" id="371" name="Google Shape;371;p45"/>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72" name="Google Shape;372;p45"/>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73" name="Google Shape;373;p45"/>
                    <p:cNvGrpSpPr/>
                    <p:nvPr/>
                  </p:nvGrpSpPr>
                  <p:grpSpPr>
                    <a:xfrm>
                      <a:off x="538072" y="3548100"/>
                      <a:ext cx="1093898" cy="529967"/>
                      <a:chOff x="286512" y="706056"/>
                      <a:chExt cx="1689940" cy="818735"/>
                    </a:xfrm>
                  </p:grpSpPr>
                  <p:pic>
                    <p:nvPicPr>
                      <p:cNvPr descr="Hippo Facts, History, Useful Information and Amazing Pictures" id="374" name="Google Shape;374;p45"/>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75" name="Google Shape;375;p45"/>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376" name="Google Shape;376;p45"/>
                    <p:cNvGrpSpPr/>
                    <p:nvPr/>
                  </p:nvGrpSpPr>
                  <p:grpSpPr>
                    <a:xfrm>
                      <a:off x="538072" y="4197151"/>
                      <a:ext cx="1093898" cy="529967"/>
                      <a:chOff x="286512" y="706056"/>
                      <a:chExt cx="1689940" cy="818735"/>
                    </a:xfrm>
                  </p:grpSpPr>
                  <p:pic>
                    <p:nvPicPr>
                      <p:cNvPr descr="Hippo Facts, History, Useful Information and Amazing Pictures" id="377" name="Google Shape;377;p45"/>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378" name="Google Shape;378;p45"/>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grpSp>
            <p:pic>
              <p:nvPicPr>
                <p:cNvPr descr="Hippo Facts, History, Useful Information and Amazing Pictures" id="379" name="Google Shape;379;p45"/>
                <p:cNvPicPr preferRelativeResize="0"/>
                <p:nvPr/>
              </p:nvPicPr>
              <p:blipFill rotWithShape="1">
                <a:blip r:embed="rId4">
                  <a:alphaModFix/>
                </a:blip>
                <a:srcRect b="0" l="6443" r="24801" t="0"/>
                <a:stretch/>
              </p:blipFill>
              <p:spPr>
                <a:xfrm>
                  <a:off x="395915" y="521126"/>
                  <a:ext cx="492210" cy="476928"/>
                </a:xfrm>
                <a:prstGeom prst="rect">
                  <a:avLst/>
                </a:prstGeom>
                <a:noFill/>
                <a:ln>
                  <a:noFill/>
                </a:ln>
              </p:spPr>
            </p:pic>
            <p:pic>
              <p:nvPicPr>
                <p:cNvPr descr="Hippo Facts, History, Useful Information and Amazing Pictures" id="380" name="Google Shape;380;p45"/>
                <p:cNvPicPr preferRelativeResize="0"/>
                <p:nvPr/>
              </p:nvPicPr>
              <p:blipFill rotWithShape="1">
                <a:blip r:embed="rId4">
                  <a:alphaModFix/>
                </a:blip>
                <a:srcRect b="0" l="6443" r="24801" t="0"/>
                <a:stretch/>
              </p:blipFill>
              <p:spPr>
                <a:xfrm>
                  <a:off x="888126" y="521126"/>
                  <a:ext cx="492210" cy="476928"/>
                </a:xfrm>
                <a:prstGeom prst="rect">
                  <a:avLst/>
                </a:prstGeom>
                <a:noFill/>
                <a:ln>
                  <a:noFill/>
                </a:ln>
              </p:spPr>
            </p:pic>
          </p:grpSp>
          <p:pic>
            <p:nvPicPr>
              <p:cNvPr descr="Hippo Facts, History, Useful Information and Amazing Pictures" id="381" name="Google Shape;381;p45"/>
              <p:cNvPicPr preferRelativeResize="0"/>
              <p:nvPr/>
            </p:nvPicPr>
            <p:blipFill rotWithShape="1">
              <a:blip r:embed="rId4">
                <a:alphaModFix/>
              </a:blip>
              <a:srcRect b="0" l="6443" r="24801" t="0"/>
              <a:stretch/>
            </p:blipFill>
            <p:spPr>
              <a:xfrm>
                <a:off x="410271" y="603805"/>
                <a:ext cx="449586" cy="435625"/>
              </a:xfrm>
              <a:prstGeom prst="rect">
                <a:avLst/>
              </a:prstGeom>
              <a:noFill/>
              <a:ln>
                <a:noFill/>
              </a:ln>
            </p:spPr>
          </p:pic>
        </p:grpSp>
        <p:pic>
          <p:nvPicPr>
            <p:cNvPr descr="Hippo Facts, History, Useful Information and Amazing Pictures" id="382" name="Google Shape;382;p45"/>
            <p:cNvPicPr preferRelativeResize="0"/>
            <p:nvPr/>
          </p:nvPicPr>
          <p:blipFill rotWithShape="1">
            <a:blip r:embed="rId4">
              <a:alphaModFix/>
            </a:blip>
            <a:srcRect b="0" l="6443" r="24801" t="0"/>
            <a:stretch/>
          </p:blipFill>
          <p:spPr>
            <a:xfrm>
              <a:off x="10183057" y="5721488"/>
              <a:ext cx="449586" cy="435625"/>
            </a:xfrm>
            <a:prstGeom prst="rect">
              <a:avLst/>
            </a:prstGeom>
            <a:noFill/>
            <a:ln>
              <a:noFill/>
            </a:ln>
          </p:spPr>
        </p:pic>
        <p:pic>
          <p:nvPicPr>
            <p:cNvPr descr="Hippo Facts, History, Useful Information and Amazing Pictures" id="383" name="Google Shape;383;p45"/>
            <p:cNvPicPr preferRelativeResize="0"/>
            <p:nvPr/>
          </p:nvPicPr>
          <p:blipFill rotWithShape="1">
            <a:blip r:embed="rId4">
              <a:alphaModFix/>
            </a:blip>
            <a:srcRect b="0" l="6443" r="24801" t="0"/>
            <a:stretch/>
          </p:blipFill>
          <p:spPr>
            <a:xfrm>
              <a:off x="10632642" y="5721488"/>
              <a:ext cx="449586" cy="435625"/>
            </a:xfrm>
            <a:prstGeom prst="rect">
              <a:avLst/>
            </a:prstGeom>
            <a:noFill/>
            <a:ln>
              <a:noFill/>
            </a:ln>
          </p:spPr>
        </p:pic>
        <p:pic>
          <p:nvPicPr>
            <p:cNvPr descr="Hippo Facts, History, Useful Information and Amazing Pictures" id="384" name="Google Shape;384;p45"/>
            <p:cNvPicPr preferRelativeResize="0"/>
            <p:nvPr/>
          </p:nvPicPr>
          <p:blipFill rotWithShape="1">
            <a:blip r:embed="rId4">
              <a:alphaModFix/>
            </a:blip>
            <a:srcRect b="0" l="6443" r="24801" t="0"/>
            <a:stretch/>
          </p:blipFill>
          <p:spPr>
            <a:xfrm>
              <a:off x="10183057" y="6255008"/>
              <a:ext cx="449586" cy="435625"/>
            </a:xfrm>
            <a:prstGeom prst="rect">
              <a:avLst/>
            </a:prstGeom>
            <a:noFill/>
            <a:ln>
              <a:noFill/>
            </a:ln>
          </p:spPr>
        </p:pic>
        <p:pic>
          <p:nvPicPr>
            <p:cNvPr descr="Hippo Facts, History, Useful Information and Amazing Pictures" id="385" name="Google Shape;385;p45"/>
            <p:cNvPicPr preferRelativeResize="0"/>
            <p:nvPr/>
          </p:nvPicPr>
          <p:blipFill rotWithShape="1">
            <a:blip r:embed="rId4">
              <a:alphaModFix/>
            </a:blip>
            <a:srcRect b="0" l="6443" r="24801" t="0"/>
            <a:stretch/>
          </p:blipFill>
          <p:spPr>
            <a:xfrm>
              <a:off x="10632642" y="6255008"/>
              <a:ext cx="449586" cy="435625"/>
            </a:xfrm>
            <a:prstGeom prst="rect">
              <a:avLst/>
            </a:prstGeom>
            <a:noFill/>
            <a:ln>
              <a:noFill/>
            </a:ln>
          </p:spPr>
        </p:pic>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6"/>
          <p:cNvSpPr txBox="1"/>
          <p:nvPr/>
        </p:nvSpPr>
        <p:spPr>
          <a:xfrm>
            <a:off x="0" y="1"/>
            <a:ext cx="9144000" cy="346200"/>
          </a:xfrm>
          <a:prstGeom prst="rect">
            <a:avLst/>
          </a:prstGeom>
          <a:solidFill>
            <a:srgbClr val="FFC000"/>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800">
                <a:solidFill>
                  <a:schemeClr val="dk1"/>
                </a:solidFill>
                <a:latin typeface="Calibri"/>
                <a:ea typeface="Calibri"/>
                <a:cs typeface="Calibri"/>
                <a:sym typeface="Calibri"/>
              </a:rPr>
              <a:t>“Carbon Privilege” would seem to be an appropriate term for this</a:t>
            </a:r>
            <a:endParaRPr sz="1100"/>
          </a:p>
        </p:txBody>
      </p:sp>
      <p:grpSp>
        <p:nvGrpSpPr>
          <p:cNvPr id="391" name="Google Shape;391;p46"/>
          <p:cNvGrpSpPr/>
          <p:nvPr/>
        </p:nvGrpSpPr>
        <p:grpSpPr>
          <a:xfrm>
            <a:off x="207818" y="962390"/>
            <a:ext cx="4530983" cy="3279790"/>
            <a:chOff x="6095998" y="1925125"/>
            <a:chExt cx="6041310" cy="4373053"/>
          </a:xfrm>
        </p:grpSpPr>
        <p:pic>
          <p:nvPicPr>
            <p:cNvPr id="392" name="Google Shape;392;p46"/>
            <p:cNvPicPr preferRelativeResize="0"/>
            <p:nvPr/>
          </p:nvPicPr>
          <p:blipFill rotWithShape="1">
            <a:blip r:embed="rId3">
              <a:alphaModFix/>
            </a:blip>
            <a:srcRect b="0" l="0" r="0" t="0"/>
            <a:stretch/>
          </p:blipFill>
          <p:spPr>
            <a:xfrm>
              <a:off x="6095998" y="1925125"/>
              <a:ext cx="6041310" cy="3662629"/>
            </a:xfrm>
            <a:prstGeom prst="rect">
              <a:avLst/>
            </a:prstGeom>
            <a:noFill/>
            <a:ln cap="flat" cmpd="sng" w="7150">
              <a:solidFill>
                <a:schemeClr val="accent1"/>
              </a:solidFill>
              <a:prstDash val="solid"/>
              <a:round/>
              <a:headEnd len="sm" w="sm" type="none"/>
              <a:tailEnd len="sm" w="sm" type="none"/>
            </a:ln>
          </p:spPr>
        </p:pic>
        <p:sp>
          <p:nvSpPr>
            <p:cNvPr id="393" name="Google Shape;393;p46"/>
            <p:cNvSpPr txBox="1"/>
            <p:nvPr/>
          </p:nvSpPr>
          <p:spPr>
            <a:xfrm>
              <a:off x="6096021" y="5836478"/>
              <a:ext cx="2567700" cy="4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Dictionary.com</a:t>
              </a:r>
              <a:endParaRPr sz="1800">
                <a:solidFill>
                  <a:schemeClr val="dk1"/>
                </a:solidFill>
                <a:latin typeface="Calibri"/>
                <a:ea typeface="Calibri"/>
                <a:cs typeface="Calibri"/>
                <a:sym typeface="Calibri"/>
              </a:endParaRPr>
            </a:p>
          </p:txBody>
        </p:sp>
      </p:grpSp>
      <p:grpSp>
        <p:nvGrpSpPr>
          <p:cNvPr id="394" name="Google Shape;394;p46"/>
          <p:cNvGrpSpPr/>
          <p:nvPr/>
        </p:nvGrpSpPr>
        <p:grpSpPr>
          <a:xfrm>
            <a:off x="4907768" y="1199077"/>
            <a:ext cx="4028518" cy="2306050"/>
            <a:chOff x="2112822" y="4138404"/>
            <a:chExt cx="6056100" cy="3466701"/>
          </a:xfrm>
        </p:grpSpPr>
        <p:grpSp>
          <p:nvGrpSpPr>
            <p:cNvPr id="395" name="Google Shape;395;p46"/>
            <p:cNvGrpSpPr/>
            <p:nvPr/>
          </p:nvGrpSpPr>
          <p:grpSpPr>
            <a:xfrm>
              <a:off x="2236779" y="4138404"/>
              <a:ext cx="5786376" cy="2393977"/>
              <a:chOff x="268469" y="3401046"/>
              <a:chExt cx="7304186" cy="3021935"/>
            </a:xfrm>
          </p:grpSpPr>
          <p:grpSp>
            <p:nvGrpSpPr>
              <p:cNvPr id="396" name="Google Shape;396;p46"/>
              <p:cNvGrpSpPr/>
              <p:nvPr/>
            </p:nvGrpSpPr>
            <p:grpSpPr>
              <a:xfrm>
                <a:off x="278791" y="3401046"/>
                <a:ext cx="7291268" cy="275611"/>
                <a:chOff x="294289" y="3401046"/>
                <a:chExt cx="7291268" cy="275611"/>
              </a:xfrm>
            </p:grpSpPr>
            <p:grpSp>
              <p:nvGrpSpPr>
                <p:cNvPr id="397" name="Google Shape;397;p46"/>
                <p:cNvGrpSpPr/>
                <p:nvPr/>
              </p:nvGrpSpPr>
              <p:grpSpPr>
                <a:xfrm>
                  <a:off x="294289" y="3404732"/>
                  <a:ext cx="3606665" cy="271925"/>
                  <a:chOff x="898650" y="3410348"/>
                  <a:chExt cx="6215173" cy="468594"/>
                </a:xfrm>
              </p:grpSpPr>
              <p:grpSp>
                <p:nvGrpSpPr>
                  <p:cNvPr id="398" name="Google Shape;398;p46"/>
                  <p:cNvGrpSpPr/>
                  <p:nvPr/>
                </p:nvGrpSpPr>
                <p:grpSpPr>
                  <a:xfrm>
                    <a:off x="898650" y="3415341"/>
                    <a:ext cx="1487709" cy="463601"/>
                    <a:chOff x="5610386" y="4876927"/>
                    <a:chExt cx="2860429" cy="891370"/>
                  </a:xfrm>
                </p:grpSpPr>
                <p:pic>
                  <p:nvPicPr>
                    <p:cNvPr descr="Hippo Facts, History, Useful Information and Amazing Pictures" id="399" name="Google Shape;399;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00" name="Google Shape;400;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01" name="Google Shape;401;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02" name="Google Shape;402;p46"/>
                  <p:cNvGrpSpPr/>
                  <p:nvPr/>
                </p:nvGrpSpPr>
                <p:grpSpPr>
                  <a:xfrm>
                    <a:off x="2422299" y="3413281"/>
                    <a:ext cx="1487709" cy="463601"/>
                    <a:chOff x="5610386" y="4876927"/>
                    <a:chExt cx="2860429" cy="891370"/>
                  </a:xfrm>
                </p:grpSpPr>
                <p:pic>
                  <p:nvPicPr>
                    <p:cNvPr descr="Hippo Facts, History, Useful Information and Amazing Pictures" id="403" name="Google Shape;403;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04" name="Google Shape;404;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05" name="Google Shape;405;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06" name="Google Shape;406;p46"/>
                  <p:cNvGrpSpPr/>
                  <p:nvPr/>
                </p:nvGrpSpPr>
                <p:grpSpPr>
                  <a:xfrm>
                    <a:off x="4019579" y="3410348"/>
                    <a:ext cx="1487709" cy="463601"/>
                    <a:chOff x="5610386" y="4876927"/>
                    <a:chExt cx="2860429" cy="891370"/>
                  </a:xfrm>
                </p:grpSpPr>
                <p:pic>
                  <p:nvPicPr>
                    <p:cNvPr descr="Hippo Facts, History, Useful Information and Amazing Pictures" id="407" name="Google Shape;407;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08" name="Google Shape;408;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09" name="Google Shape;409;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10" name="Google Shape;410;p46"/>
                  <p:cNvGrpSpPr/>
                  <p:nvPr/>
                </p:nvGrpSpPr>
                <p:grpSpPr>
                  <a:xfrm>
                    <a:off x="5626114" y="3410348"/>
                    <a:ext cx="1487709" cy="463601"/>
                    <a:chOff x="5610386" y="4876927"/>
                    <a:chExt cx="2860429" cy="891370"/>
                  </a:xfrm>
                </p:grpSpPr>
                <p:pic>
                  <p:nvPicPr>
                    <p:cNvPr descr="Hippo Facts, History, Useful Information and Amazing Pictures" id="411" name="Google Shape;411;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12" name="Google Shape;412;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13" name="Google Shape;413;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nvGrpSpPr>
                <p:cNvPr id="414" name="Google Shape;414;p46"/>
                <p:cNvGrpSpPr/>
                <p:nvPr/>
              </p:nvGrpSpPr>
              <p:grpSpPr>
                <a:xfrm>
                  <a:off x="3978892" y="3401046"/>
                  <a:ext cx="3606665" cy="271925"/>
                  <a:chOff x="898650" y="3410348"/>
                  <a:chExt cx="6215173" cy="468594"/>
                </a:xfrm>
              </p:grpSpPr>
              <p:grpSp>
                <p:nvGrpSpPr>
                  <p:cNvPr id="415" name="Google Shape;415;p46"/>
                  <p:cNvGrpSpPr/>
                  <p:nvPr/>
                </p:nvGrpSpPr>
                <p:grpSpPr>
                  <a:xfrm>
                    <a:off x="898650" y="3415341"/>
                    <a:ext cx="1487709" cy="463601"/>
                    <a:chOff x="5610386" y="4876927"/>
                    <a:chExt cx="2860429" cy="891370"/>
                  </a:xfrm>
                </p:grpSpPr>
                <p:pic>
                  <p:nvPicPr>
                    <p:cNvPr descr="Hippo Facts, History, Useful Information and Amazing Pictures" id="416" name="Google Shape;416;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17" name="Google Shape;417;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18" name="Google Shape;418;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19" name="Google Shape;419;p46"/>
                  <p:cNvGrpSpPr/>
                  <p:nvPr/>
                </p:nvGrpSpPr>
                <p:grpSpPr>
                  <a:xfrm>
                    <a:off x="2422299" y="3413281"/>
                    <a:ext cx="1487709" cy="463601"/>
                    <a:chOff x="5610386" y="4876927"/>
                    <a:chExt cx="2860429" cy="891370"/>
                  </a:xfrm>
                </p:grpSpPr>
                <p:pic>
                  <p:nvPicPr>
                    <p:cNvPr descr="Hippo Facts, History, Useful Information and Amazing Pictures" id="420" name="Google Shape;420;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21" name="Google Shape;421;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22" name="Google Shape;422;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23" name="Google Shape;423;p46"/>
                  <p:cNvGrpSpPr/>
                  <p:nvPr/>
                </p:nvGrpSpPr>
                <p:grpSpPr>
                  <a:xfrm>
                    <a:off x="4019579" y="3410348"/>
                    <a:ext cx="1487709" cy="463601"/>
                    <a:chOff x="5610386" y="4876927"/>
                    <a:chExt cx="2860429" cy="891370"/>
                  </a:xfrm>
                </p:grpSpPr>
                <p:pic>
                  <p:nvPicPr>
                    <p:cNvPr descr="Hippo Facts, History, Useful Information and Amazing Pictures" id="424" name="Google Shape;424;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25" name="Google Shape;425;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26" name="Google Shape;426;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27" name="Google Shape;427;p46"/>
                  <p:cNvGrpSpPr/>
                  <p:nvPr/>
                </p:nvGrpSpPr>
                <p:grpSpPr>
                  <a:xfrm>
                    <a:off x="5626114" y="3410348"/>
                    <a:ext cx="1487709" cy="463601"/>
                    <a:chOff x="5610386" y="4876927"/>
                    <a:chExt cx="2860429" cy="891370"/>
                  </a:xfrm>
                </p:grpSpPr>
                <p:pic>
                  <p:nvPicPr>
                    <p:cNvPr descr="Hippo Facts, History, Useful Information and Amazing Pictures" id="428" name="Google Shape;428;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29" name="Google Shape;429;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30" name="Google Shape;430;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grpSp>
            <p:nvGrpSpPr>
              <p:cNvPr id="431" name="Google Shape;431;p46"/>
              <p:cNvGrpSpPr/>
              <p:nvPr/>
            </p:nvGrpSpPr>
            <p:grpSpPr>
              <a:xfrm>
                <a:off x="278791" y="3866535"/>
                <a:ext cx="7291268" cy="275611"/>
                <a:chOff x="294289" y="3401046"/>
                <a:chExt cx="7291268" cy="275611"/>
              </a:xfrm>
            </p:grpSpPr>
            <p:grpSp>
              <p:nvGrpSpPr>
                <p:cNvPr id="432" name="Google Shape;432;p46"/>
                <p:cNvGrpSpPr/>
                <p:nvPr/>
              </p:nvGrpSpPr>
              <p:grpSpPr>
                <a:xfrm>
                  <a:off x="294289" y="3404732"/>
                  <a:ext cx="3606665" cy="271925"/>
                  <a:chOff x="898650" y="3410348"/>
                  <a:chExt cx="6215173" cy="468594"/>
                </a:xfrm>
              </p:grpSpPr>
              <p:grpSp>
                <p:nvGrpSpPr>
                  <p:cNvPr id="433" name="Google Shape;433;p46"/>
                  <p:cNvGrpSpPr/>
                  <p:nvPr/>
                </p:nvGrpSpPr>
                <p:grpSpPr>
                  <a:xfrm>
                    <a:off x="898650" y="3415341"/>
                    <a:ext cx="1487709" cy="463601"/>
                    <a:chOff x="5610386" y="4876927"/>
                    <a:chExt cx="2860429" cy="891370"/>
                  </a:xfrm>
                </p:grpSpPr>
                <p:pic>
                  <p:nvPicPr>
                    <p:cNvPr descr="Hippo Facts, History, Useful Information and Amazing Pictures" id="434" name="Google Shape;434;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35" name="Google Shape;435;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36" name="Google Shape;436;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37" name="Google Shape;437;p46"/>
                  <p:cNvGrpSpPr/>
                  <p:nvPr/>
                </p:nvGrpSpPr>
                <p:grpSpPr>
                  <a:xfrm>
                    <a:off x="2422299" y="3413281"/>
                    <a:ext cx="1487709" cy="463601"/>
                    <a:chOff x="5610386" y="4876927"/>
                    <a:chExt cx="2860429" cy="891370"/>
                  </a:xfrm>
                </p:grpSpPr>
                <p:pic>
                  <p:nvPicPr>
                    <p:cNvPr descr="Hippo Facts, History, Useful Information and Amazing Pictures" id="438" name="Google Shape;438;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39" name="Google Shape;439;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40" name="Google Shape;440;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41" name="Google Shape;441;p46"/>
                  <p:cNvGrpSpPr/>
                  <p:nvPr/>
                </p:nvGrpSpPr>
                <p:grpSpPr>
                  <a:xfrm>
                    <a:off x="4019579" y="3410348"/>
                    <a:ext cx="1487709" cy="463601"/>
                    <a:chOff x="5610386" y="4876927"/>
                    <a:chExt cx="2860429" cy="891370"/>
                  </a:xfrm>
                </p:grpSpPr>
                <p:pic>
                  <p:nvPicPr>
                    <p:cNvPr descr="Hippo Facts, History, Useful Information and Amazing Pictures" id="442" name="Google Shape;442;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43" name="Google Shape;443;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44" name="Google Shape;444;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45" name="Google Shape;445;p46"/>
                  <p:cNvGrpSpPr/>
                  <p:nvPr/>
                </p:nvGrpSpPr>
                <p:grpSpPr>
                  <a:xfrm>
                    <a:off x="5626114" y="3410348"/>
                    <a:ext cx="1487709" cy="463601"/>
                    <a:chOff x="5610386" y="4876927"/>
                    <a:chExt cx="2860429" cy="891370"/>
                  </a:xfrm>
                </p:grpSpPr>
                <p:pic>
                  <p:nvPicPr>
                    <p:cNvPr descr="Hippo Facts, History, Useful Information and Amazing Pictures" id="446" name="Google Shape;446;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47" name="Google Shape;447;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48" name="Google Shape;448;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nvGrpSpPr>
                <p:cNvPr id="449" name="Google Shape;449;p46"/>
                <p:cNvGrpSpPr/>
                <p:nvPr/>
              </p:nvGrpSpPr>
              <p:grpSpPr>
                <a:xfrm>
                  <a:off x="3978892" y="3401046"/>
                  <a:ext cx="3606665" cy="271925"/>
                  <a:chOff x="898650" y="3410348"/>
                  <a:chExt cx="6215173" cy="468594"/>
                </a:xfrm>
              </p:grpSpPr>
              <p:grpSp>
                <p:nvGrpSpPr>
                  <p:cNvPr id="450" name="Google Shape;450;p46"/>
                  <p:cNvGrpSpPr/>
                  <p:nvPr/>
                </p:nvGrpSpPr>
                <p:grpSpPr>
                  <a:xfrm>
                    <a:off x="898650" y="3415341"/>
                    <a:ext cx="1487709" cy="463601"/>
                    <a:chOff x="5610386" y="4876927"/>
                    <a:chExt cx="2860429" cy="891370"/>
                  </a:xfrm>
                </p:grpSpPr>
                <p:pic>
                  <p:nvPicPr>
                    <p:cNvPr descr="Hippo Facts, History, Useful Information and Amazing Pictures" id="451" name="Google Shape;451;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52" name="Google Shape;452;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53" name="Google Shape;453;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54" name="Google Shape;454;p46"/>
                  <p:cNvGrpSpPr/>
                  <p:nvPr/>
                </p:nvGrpSpPr>
                <p:grpSpPr>
                  <a:xfrm>
                    <a:off x="2422299" y="3413281"/>
                    <a:ext cx="1487709" cy="463601"/>
                    <a:chOff x="5610386" y="4876927"/>
                    <a:chExt cx="2860429" cy="891370"/>
                  </a:xfrm>
                </p:grpSpPr>
                <p:pic>
                  <p:nvPicPr>
                    <p:cNvPr descr="Hippo Facts, History, Useful Information and Amazing Pictures" id="455" name="Google Shape;455;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56" name="Google Shape;456;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57" name="Google Shape;457;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58" name="Google Shape;458;p46"/>
                  <p:cNvGrpSpPr/>
                  <p:nvPr/>
                </p:nvGrpSpPr>
                <p:grpSpPr>
                  <a:xfrm>
                    <a:off x="4019579" y="3410348"/>
                    <a:ext cx="1487709" cy="463601"/>
                    <a:chOff x="5610386" y="4876927"/>
                    <a:chExt cx="2860429" cy="891370"/>
                  </a:xfrm>
                </p:grpSpPr>
                <p:pic>
                  <p:nvPicPr>
                    <p:cNvPr descr="Hippo Facts, History, Useful Information and Amazing Pictures" id="459" name="Google Shape;459;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60" name="Google Shape;460;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61" name="Google Shape;461;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62" name="Google Shape;462;p46"/>
                  <p:cNvGrpSpPr/>
                  <p:nvPr/>
                </p:nvGrpSpPr>
                <p:grpSpPr>
                  <a:xfrm>
                    <a:off x="5626114" y="3410348"/>
                    <a:ext cx="1487709" cy="463601"/>
                    <a:chOff x="5610386" y="4876927"/>
                    <a:chExt cx="2860429" cy="891370"/>
                  </a:xfrm>
                </p:grpSpPr>
                <p:pic>
                  <p:nvPicPr>
                    <p:cNvPr descr="Hippo Facts, History, Useful Information and Amazing Pictures" id="463" name="Google Shape;463;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64" name="Google Shape;464;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65" name="Google Shape;465;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grpSp>
            <p:nvGrpSpPr>
              <p:cNvPr id="466" name="Google Shape;466;p46"/>
              <p:cNvGrpSpPr/>
              <p:nvPr/>
            </p:nvGrpSpPr>
            <p:grpSpPr>
              <a:xfrm>
                <a:off x="276209" y="4344400"/>
                <a:ext cx="7291268" cy="275611"/>
                <a:chOff x="294289" y="3401046"/>
                <a:chExt cx="7291268" cy="275611"/>
              </a:xfrm>
            </p:grpSpPr>
            <p:grpSp>
              <p:nvGrpSpPr>
                <p:cNvPr id="467" name="Google Shape;467;p46"/>
                <p:cNvGrpSpPr/>
                <p:nvPr/>
              </p:nvGrpSpPr>
              <p:grpSpPr>
                <a:xfrm>
                  <a:off x="294289" y="3404732"/>
                  <a:ext cx="3606665" cy="271925"/>
                  <a:chOff x="898650" y="3410348"/>
                  <a:chExt cx="6215173" cy="468594"/>
                </a:xfrm>
              </p:grpSpPr>
              <p:grpSp>
                <p:nvGrpSpPr>
                  <p:cNvPr id="468" name="Google Shape;468;p46"/>
                  <p:cNvGrpSpPr/>
                  <p:nvPr/>
                </p:nvGrpSpPr>
                <p:grpSpPr>
                  <a:xfrm>
                    <a:off x="898650" y="3415341"/>
                    <a:ext cx="1487709" cy="463601"/>
                    <a:chOff x="5610386" y="4876927"/>
                    <a:chExt cx="2860429" cy="891370"/>
                  </a:xfrm>
                </p:grpSpPr>
                <p:pic>
                  <p:nvPicPr>
                    <p:cNvPr descr="Hippo Facts, History, Useful Information and Amazing Pictures" id="469" name="Google Shape;469;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70" name="Google Shape;470;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71" name="Google Shape;471;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72" name="Google Shape;472;p46"/>
                  <p:cNvGrpSpPr/>
                  <p:nvPr/>
                </p:nvGrpSpPr>
                <p:grpSpPr>
                  <a:xfrm>
                    <a:off x="2422299" y="3413281"/>
                    <a:ext cx="1487709" cy="463601"/>
                    <a:chOff x="5610386" y="4876927"/>
                    <a:chExt cx="2860429" cy="891370"/>
                  </a:xfrm>
                </p:grpSpPr>
                <p:pic>
                  <p:nvPicPr>
                    <p:cNvPr descr="Hippo Facts, History, Useful Information and Amazing Pictures" id="473" name="Google Shape;473;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74" name="Google Shape;474;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75" name="Google Shape;475;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76" name="Google Shape;476;p46"/>
                  <p:cNvGrpSpPr/>
                  <p:nvPr/>
                </p:nvGrpSpPr>
                <p:grpSpPr>
                  <a:xfrm>
                    <a:off x="4019579" y="3410348"/>
                    <a:ext cx="1487710" cy="463601"/>
                    <a:chOff x="5610385" y="4876927"/>
                    <a:chExt cx="2860430" cy="891370"/>
                  </a:xfrm>
                </p:grpSpPr>
                <p:pic>
                  <p:nvPicPr>
                    <p:cNvPr descr="Hippo Facts, History, Useful Information and Amazing Pictures" id="477" name="Google Shape;477;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78" name="Google Shape;478;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79" name="Google Shape;479;p46"/>
                    <p:cNvPicPr preferRelativeResize="0"/>
                    <p:nvPr/>
                  </p:nvPicPr>
                  <p:blipFill rotWithShape="1">
                    <a:blip r:embed="rId4">
                      <a:alphaModFix/>
                    </a:blip>
                    <a:srcRect b="0" l="6443" r="24801" t="0"/>
                    <a:stretch/>
                  </p:blipFill>
                  <p:spPr>
                    <a:xfrm>
                      <a:off x="5610385" y="4876927"/>
                      <a:ext cx="917240" cy="888758"/>
                    </a:xfrm>
                    <a:prstGeom prst="rect">
                      <a:avLst/>
                    </a:prstGeom>
                    <a:noFill/>
                    <a:ln cap="flat" cmpd="sng" w="42875">
                      <a:solidFill>
                        <a:srgbClr val="FFC000"/>
                      </a:solidFill>
                      <a:prstDash val="solid"/>
                      <a:round/>
                      <a:headEnd len="sm" w="sm" type="none"/>
                      <a:tailEnd len="sm" w="sm" type="none"/>
                    </a:ln>
                  </p:spPr>
                </p:pic>
              </p:grpSp>
              <p:grpSp>
                <p:nvGrpSpPr>
                  <p:cNvPr id="480" name="Google Shape;480;p46"/>
                  <p:cNvGrpSpPr/>
                  <p:nvPr/>
                </p:nvGrpSpPr>
                <p:grpSpPr>
                  <a:xfrm>
                    <a:off x="5626114" y="3410348"/>
                    <a:ext cx="1487709" cy="463601"/>
                    <a:chOff x="5610386" y="4876927"/>
                    <a:chExt cx="2860429" cy="891370"/>
                  </a:xfrm>
                </p:grpSpPr>
                <p:pic>
                  <p:nvPicPr>
                    <p:cNvPr descr="Hippo Facts, History, Useful Information and Amazing Pictures" id="481" name="Google Shape;481;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82" name="Google Shape;482;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83" name="Google Shape;483;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nvGrpSpPr>
                <p:cNvPr id="484" name="Google Shape;484;p46"/>
                <p:cNvGrpSpPr/>
                <p:nvPr/>
              </p:nvGrpSpPr>
              <p:grpSpPr>
                <a:xfrm>
                  <a:off x="3978892" y="3401046"/>
                  <a:ext cx="3606665" cy="271925"/>
                  <a:chOff x="898650" y="3410348"/>
                  <a:chExt cx="6215173" cy="468594"/>
                </a:xfrm>
              </p:grpSpPr>
              <p:grpSp>
                <p:nvGrpSpPr>
                  <p:cNvPr id="485" name="Google Shape;485;p46"/>
                  <p:cNvGrpSpPr/>
                  <p:nvPr/>
                </p:nvGrpSpPr>
                <p:grpSpPr>
                  <a:xfrm>
                    <a:off x="898650" y="3415341"/>
                    <a:ext cx="1487709" cy="463601"/>
                    <a:chOff x="5610386" y="4876927"/>
                    <a:chExt cx="2860429" cy="891370"/>
                  </a:xfrm>
                </p:grpSpPr>
                <p:pic>
                  <p:nvPicPr>
                    <p:cNvPr descr="Hippo Facts, History, Useful Information and Amazing Pictures" id="486" name="Google Shape;486;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87" name="Google Shape;487;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88" name="Google Shape;488;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89" name="Google Shape;489;p46"/>
                  <p:cNvGrpSpPr/>
                  <p:nvPr/>
                </p:nvGrpSpPr>
                <p:grpSpPr>
                  <a:xfrm>
                    <a:off x="2422299" y="3413281"/>
                    <a:ext cx="1487709" cy="463601"/>
                    <a:chOff x="5610386" y="4876927"/>
                    <a:chExt cx="2860429" cy="891370"/>
                  </a:xfrm>
                </p:grpSpPr>
                <p:pic>
                  <p:nvPicPr>
                    <p:cNvPr descr="Hippo Facts, History, Useful Information and Amazing Pictures" id="490" name="Google Shape;490;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91" name="Google Shape;491;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92" name="Google Shape;492;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93" name="Google Shape;493;p46"/>
                  <p:cNvGrpSpPr/>
                  <p:nvPr/>
                </p:nvGrpSpPr>
                <p:grpSpPr>
                  <a:xfrm>
                    <a:off x="4019579" y="3410348"/>
                    <a:ext cx="1487709" cy="463601"/>
                    <a:chOff x="5610386" y="4876927"/>
                    <a:chExt cx="2860429" cy="891370"/>
                  </a:xfrm>
                </p:grpSpPr>
                <p:pic>
                  <p:nvPicPr>
                    <p:cNvPr descr="Hippo Facts, History, Useful Information and Amazing Pictures" id="494" name="Google Shape;494;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95" name="Google Shape;495;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96" name="Google Shape;496;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497" name="Google Shape;497;p46"/>
                  <p:cNvGrpSpPr/>
                  <p:nvPr/>
                </p:nvGrpSpPr>
                <p:grpSpPr>
                  <a:xfrm>
                    <a:off x="5626114" y="3410348"/>
                    <a:ext cx="1487709" cy="463601"/>
                    <a:chOff x="5610386" y="4876927"/>
                    <a:chExt cx="2860429" cy="891370"/>
                  </a:xfrm>
                </p:grpSpPr>
                <p:pic>
                  <p:nvPicPr>
                    <p:cNvPr descr="Hippo Facts, History, Useful Information and Amazing Pictures" id="498" name="Google Shape;498;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499" name="Google Shape;499;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00" name="Google Shape;500;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grpSp>
            <p:nvGrpSpPr>
              <p:cNvPr id="501" name="Google Shape;501;p46"/>
              <p:cNvGrpSpPr/>
              <p:nvPr/>
            </p:nvGrpSpPr>
            <p:grpSpPr>
              <a:xfrm>
                <a:off x="273629" y="4806766"/>
                <a:ext cx="7291268" cy="275611"/>
                <a:chOff x="294289" y="3401046"/>
                <a:chExt cx="7291268" cy="275611"/>
              </a:xfrm>
            </p:grpSpPr>
            <p:grpSp>
              <p:nvGrpSpPr>
                <p:cNvPr id="502" name="Google Shape;502;p46"/>
                <p:cNvGrpSpPr/>
                <p:nvPr/>
              </p:nvGrpSpPr>
              <p:grpSpPr>
                <a:xfrm>
                  <a:off x="294289" y="3404732"/>
                  <a:ext cx="3606665" cy="271925"/>
                  <a:chOff x="898650" y="3410348"/>
                  <a:chExt cx="6215173" cy="468594"/>
                </a:xfrm>
              </p:grpSpPr>
              <p:grpSp>
                <p:nvGrpSpPr>
                  <p:cNvPr id="503" name="Google Shape;503;p46"/>
                  <p:cNvGrpSpPr/>
                  <p:nvPr/>
                </p:nvGrpSpPr>
                <p:grpSpPr>
                  <a:xfrm>
                    <a:off x="898650" y="3415341"/>
                    <a:ext cx="1487709" cy="463601"/>
                    <a:chOff x="5610386" y="4876927"/>
                    <a:chExt cx="2860429" cy="891370"/>
                  </a:xfrm>
                </p:grpSpPr>
                <p:pic>
                  <p:nvPicPr>
                    <p:cNvPr descr="Hippo Facts, History, Useful Information and Amazing Pictures" id="504" name="Google Shape;504;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05" name="Google Shape;505;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06" name="Google Shape;506;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07" name="Google Shape;507;p46"/>
                  <p:cNvGrpSpPr/>
                  <p:nvPr/>
                </p:nvGrpSpPr>
                <p:grpSpPr>
                  <a:xfrm>
                    <a:off x="2422299" y="3413281"/>
                    <a:ext cx="1487709" cy="463601"/>
                    <a:chOff x="5610386" y="4876927"/>
                    <a:chExt cx="2860429" cy="891370"/>
                  </a:xfrm>
                </p:grpSpPr>
                <p:pic>
                  <p:nvPicPr>
                    <p:cNvPr descr="Hippo Facts, History, Useful Information and Amazing Pictures" id="508" name="Google Shape;508;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09" name="Google Shape;509;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10" name="Google Shape;510;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11" name="Google Shape;511;p46"/>
                  <p:cNvGrpSpPr/>
                  <p:nvPr/>
                </p:nvGrpSpPr>
                <p:grpSpPr>
                  <a:xfrm>
                    <a:off x="4019579" y="3410348"/>
                    <a:ext cx="1487709" cy="463601"/>
                    <a:chOff x="5610386" y="4876927"/>
                    <a:chExt cx="2860429" cy="891370"/>
                  </a:xfrm>
                </p:grpSpPr>
                <p:pic>
                  <p:nvPicPr>
                    <p:cNvPr descr="Hippo Facts, History, Useful Information and Amazing Pictures" id="512" name="Google Shape;512;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13" name="Google Shape;513;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14" name="Google Shape;514;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15" name="Google Shape;515;p46"/>
                  <p:cNvGrpSpPr/>
                  <p:nvPr/>
                </p:nvGrpSpPr>
                <p:grpSpPr>
                  <a:xfrm>
                    <a:off x="5626114" y="3410348"/>
                    <a:ext cx="1487709" cy="463601"/>
                    <a:chOff x="5610386" y="4876927"/>
                    <a:chExt cx="2860429" cy="891370"/>
                  </a:xfrm>
                </p:grpSpPr>
                <p:pic>
                  <p:nvPicPr>
                    <p:cNvPr descr="Hippo Facts, History, Useful Information and Amazing Pictures" id="516" name="Google Shape;516;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17" name="Google Shape;517;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18" name="Google Shape;518;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nvGrpSpPr>
                <p:cNvPr id="519" name="Google Shape;519;p46"/>
                <p:cNvGrpSpPr/>
                <p:nvPr/>
              </p:nvGrpSpPr>
              <p:grpSpPr>
                <a:xfrm>
                  <a:off x="3978892" y="3401046"/>
                  <a:ext cx="3606665" cy="271925"/>
                  <a:chOff x="898650" y="3410348"/>
                  <a:chExt cx="6215173" cy="468594"/>
                </a:xfrm>
              </p:grpSpPr>
              <p:grpSp>
                <p:nvGrpSpPr>
                  <p:cNvPr id="520" name="Google Shape;520;p46"/>
                  <p:cNvGrpSpPr/>
                  <p:nvPr/>
                </p:nvGrpSpPr>
                <p:grpSpPr>
                  <a:xfrm>
                    <a:off x="898650" y="3415341"/>
                    <a:ext cx="1487709" cy="463601"/>
                    <a:chOff x="5610386" y="4876927"/>
                    <a:chExt cx="2860429" cy="891370"/>
                  </a:xfrm>
                </p:grpSpPr>
                <p:pic>
                  <p:nvPicPr>
                    <p:cNvPr descr="Hippo Facts, History, Useful Information and Amazing Pictures" id="521" name="Google Shape;521;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22" name="Google Shape;522;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23" name="Google Shape;523;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24" name="Google Shape;524;p46"/>
                  <p:cNvGrpSpPr/>
                  <p:nvPr/>
                </p:nvGrpSpPr>
                <p:grpSpPr>
                  <a:xfrm>
                    <a:off x="2422299" y="3413281"/>
                    <a:ext cx="1487709" cy="463601"/>
                    <a:chOff x="5610386" y="4876927"/>
                    <a:chExt cx="2860429" cy="891370"/>
                  </a:xfrm>
                </p:grpSpPr>
                <p:pic>
                  <p:nvPicPr>
                    <p:cNvPr descr="Hippo Facts, History, Useful Information and Amazing Pictures" id="525" name="Google Shape;525;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26" name="Google Shape;526;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27" name="Google Shape;527;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28" name="Google Shape;528;p46"/>
                  <p:cNvGrpSpPr/>
                  <p:nvPr/>
                </p:nvGrpSpPr>
                <p:grpSpPr>
                  <a:xfrm>
                    <a:off x="4019579" y="3410348"/>
                    <a:ext cx="1487709" cy="463601"/>
                    <a:chOff x="5610386" y="4876927"/>
                    <a:chExt cx="2860429" cy="891370"/>
                  </a:xfrm>
                </p:grpSpPr>
                <p:pic>
                  <p:nvPicPr>
                    <p:cNvPr descr="Hippo Facts, History, Useful Information and Amazing Pictures" id="529" name="Google Shape;529;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30" name="Google Shape;530;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31" name="Google Shape;531;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32" name="Google Shape;532;p46"/>
                  <p:cNvGrpSpPr/>
                  <p:nvPr/>
                </p:nvGrpSpPr>
                <p:grpSpPr>
                  <a:xfrm>
                    <a:off x="5626114" y="3410348"/>
                    <a:ext cx="1487709" cy="463601"/>
                    <a:chOff x="5610386" y="4876927"/>
                    <a:chExt cx="2860429" cy="891370"/>
                  </a:xfrm>
                </p:grpSpPr>
                <p:pic>
                  <p:nvPicPr>
                    <p:cNvPr descr="Hippo Facts, History, Useful Information and Amazing Pictures" id="533" name="Google Shape;533;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34" name="Google Shape;534;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35" name="Google Shape;535;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grpSp>
            <p:nvGrpSpPr>
              <p:cNvPr id="536" name="Google Shape;536;p46"/>
              <p:cNvGrpSpPr/>
              <p:nvPr/>
            </p:nvGrpSpPr>
            <p:grpSpPr>
              <a:xfrm>
                <a:off x="271049" y="5253634"/>
                <a:ext cx="7291268" cy="275611"/>
                <a:chOff x="294289" y="3401046"/>
                <a:chExt cx="7291268" cy="275611"/>
              </a:xfrm>
            </p:grpSpPr>
            <p:grpSp>
              <p:nvGrpSpPr>
                <p:cNvPr id="537" name="Google Shape;537;p46"/>
                <p:cNvGrpSpPr/>
                <p:nvPr/>
              </p:nvGrpSpPr>
              <p:grpSpPr>
                <a:xfrm>
                  <a:off x="294289" y="3404732"/>
                  <a:ext cx="3606665" cy="271925"/>
                  <a:chOff x="898650" y="3410348"/>
                  <a:chExt cx="6215173" cy="468594"/>
                </a:xfrm>
              </p:grpSpPr>
              <p:grpSp>
                <p:nvGrpSpPr>
                  <p:cNvPr id="538" name="Google Shape;538;p46"/>
                  <p:cNvGrpSpPr/>
                  <p:nvPr/>
                </p:nvGrpSpPr>
                <p:grpSpPr>
                  <a:xfrm>
                    <a:off x="898650" y="3415341"/>
                    <a:ext cx="1487709" cy="463601"/>
                    <a:chOff x="5610386" y="4876927"/>
                    <a:chExt cx="2860429" cy="891370"/>
                  </a:xfrm>
                </p:grpSpPr>
                <p:pic>
                  <p:nvPicPr>
                    <p:cNvPr descr="Hippo Facts, History, Useful Information and Amazing Pictures" id="539" name="Google Shape;539;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40" name="Google Shape;540;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41" name="Google Shape;541;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42" name="Google Shape;542;p46"/>
                  <p:cNvGrpSpPr/>
                  <p:nvPr/>
                </p:nvGrpSpPr>
                <p:grpSpPr>
                  <a:xfrm>
                    <a:off x="2422299" y="3413281"/>
                    <a:ext cx="1487709" cy="463601"/>
                    <a:chOff x="5610386" y="4876927"/>
                    <a:chExt cx="2860429" cy="891370"/>
                  </a:xfrm>
                </p:grpSpPr>
                <p:pic>
                  <p:nvPicPr>
                    <p:cNvPr descr="Hippo Facts, History, Useful Information and Amazing Pictures" id="543" name="Google Shape;543;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44" name="Google Shape;544;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45" name="Google Shape;545;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46" name="Google Shape;546;p46"/>
                  <p:cNvGrpSpPr/>
                  <p:nvPr/>
                </p:nvGrpSpPr>
                <p:grpSpPr>
                  <a:xfrm>
                    <a:off x="4019579" y="3410348"/>
                    <a:ext cx="1487709" cy="463601"/>
                    <a:chOff x="5610386" y="4876927"/>
                    <a:chExt cx="2860429" cy="891370"/>
                  </a:xfrm>
                </p:grpSpPr>
                <p:pic>
                  <p:nvPicPr>
                    <p:cNvPr descr="Hippo Facts, History, Useful Information and Amazing Pictures" id="547" name="Google Shape;547;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48" name="Google Shape;548;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49" name="Google Shape;549;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50" name="Google Shape;550;p46"/>
                  <p:cNvGrpSpPr/>
                  <p:nvPr/>
                </p:nvGrpSpPr>
                <p:grpSpPr>
                  <a:xfrm>
                    <a:off x="5626114" y="3410348"/>
                    <a:ext cx="1487709" cy="463601"/>
                    <a:chOff x="5610386" y="4876927"/>
                    <a:chExt cx="2860429" cy="891370"/>
                  </a:xfrm>
                </p:grpSpPr>
                <p:pic>
                  <p:nvPicPr>
                    <p:cNvPr descr="Hippo Facts, History, Useful Information and Amazing Pictures" id="551" name="Google Shape;551;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52" name="Google Shape;552;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53" name="Google Shape;553;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nvGrpSpPr>
                <p:cNvPr id="554" name="Google Shape;554;p46"/>
                <p:cNvGrpSpPr/>
                <p:nvPr/>
              </p:nvGrpSpPr>
              <p:grpSpPr>
                <a:xfrm>
                  <a:off x="3978892" y="3401046"/>
                  <a:ext cx="3606665" cy="271925"/>
                  <a:chOff x="898650" y="3410348"/>
                  <a:chExt cx="6215173" cy="468594"/>
                </a:xfrm>
              </p:grpSpPr>
              <p:grpSp>
                <p:nvGrpSpPr>
                  <p:cNvPr id="555" name="Google Shape;555;p46"/>
                  <p:cNvGrpSpPr/>
                  <p:nvPr/>
                </p:nvGrpSpPr>
                <p:grpSpPr>
                  <a:xfrm>
                    <a:off x="898650" y="3415341"/>
                    <a:ext cx="1487709" cy="463601"/>
                    <a:chOff x="5610386" y="4876927"/>
                    <a:chExt cx="2860429" cy="891370"/>
                  </a:xfrm>
                </p:grpSpPr>
                <p:pic>
                  <p:nvPicPr>
                    <p:cNvPr descr="Hippo Facts, History, Useful Information and Amazing Pictures" id="556" name="Google Shape;556;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57" name="Google Shape;557;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58" name="Google Shape;558;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59" name="Google Shape;559;p46"/>
                  <p:cNvGrpSpPr/>
                  <p:nvPr/>
                </p:nvGrpSpPr>
                <p:grpSpPr>
                  <a:xfrm>
                    <a:off x="2422299" y="3413281"/>
                    <a:ext cx="1487709" cy="463601"/>
                    <a:chOff x="5610386" y="4876927"/>
                    <a:chExt cx="2860429" cy="891370"/>
                  </a:xfrm>
                </p:grpSpPr>
                <p:pic>
                  <p:nvPicPr>
                    <p:cNvPr descr="Hippo Facts, History, Useful Information and Amazing Pictures" id="560" name="Google Shape;560;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61" name="Google Shape;561;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62" name="Google Shape;562;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63" name="Google Shape;563;p46"/>
                  <p:cNvGrpSpPr/>
                  <p:nvPr/>
                </p:nvGrpSpPr>
                <p:grpSpPr>
                  <a:xfrm>
                    <a:off x="4019579" y="3410348"/>
                    <a:ext cx="1487709" cy="463601"/>
                    <a:chOff x="5610386" y="4876927"/>
                    <a:chExt cx="2860429" cy="891370"/>
                  </a:xfrm>
                </p:grpSpPr>
                <p:pic>
                  <p:nvPicPr>
                    <p:cNvPr descr="Hippo Facts, History, Useful Information and Amazing Pictures" id="564" name="Google Shape;564;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65" name="Google Shape;565;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66" name="Google Shape;566;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67" name="Google Shape;567;p46"/>
                  <p:cNvGrpSpPr/>
                  <p:nvPr/>
                </p:nvGrpSpPr>
                <p:grpSpPr>
                  <a:xfrm>
                    <a:off x="5626114" y="3410348"/>
                    <a:ext cx="1487709" cy="463601"/>
                    <a:chOff x="5610386" y="4876927"/>
                    <a:chExt cx="2860429" cy="891370"/>
                  </a:xfrm>
                </p:grpSpPr>
                <p:pic>
                  <p:nvPicPr>
                    <p:cNvPr descr="Hippo Facts, History, Useful Information and Amazing Pictures" id="568" name="Google Shape;568;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69" name="Google Shape;569;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70" name="Google Shape;570;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grpSp>
            <p:nvGrpSpPr>
              <p:cNvPr id="571" name="Google Shape;571;p46"/>
              <p:cNvGrpSpPr/>
              <p:nvPr/>
            </p:nvGrpSpPr>
            <p:grpSpPr>
              <a:xfrm>
                <a:off x="268469" y="5700503"/>
                <a:ext cx="7291268" cy="275611"/>
                <a:chOff x="294289" y="3401046"/>
                <a:chExt cx="7291268" cy="275611"/>
              </a:xfrm>
            </p:grpSpPr>
            <p:grpSp>
              <p:nvGrpSpPr>
                <p:cNvPr id="572" name="Google Shape;572;p46"/>
                <p:cNvGrpSpPr/>
                <p:nvPr/>
              </p:nvGrpSpPr>
              <p:grpSpPr>
                <a:xfrm>
                  <a:off x="294289" y="3404732"/>
                  <a:ext cx="3606665" cy="271925"/>
                  <a:chOff x="898650" y="3410348"/>
                  <a:chExt cx="6215173" cy="468594"/>
                </a:xfrm>
              </p:grpSpPr>
              <p:grpSp>
                <p:nvGrpSpPr>
                  <p:cNvPr id="573" name="Google Shape;573;p46"/>
                  <p:cNvGrpSpPr/>
                  <p:nvPr/>
                </p:nvGrpSpPr>
                <p:grpSpPr>
                  <a:xfrm>
                    <a:off x="898650" y="3415341"/>
                    <a:ext cx="1487709" cy="463601"/>
                    <a:chOff x="5610386" y="4876927"/>
                    <a:chExt cx="2860429" cy="891370"/>
                  </a:xfrm>
                </p:grpSpPr>
                <p:pic>
                  <p:nvPicPr>
                    <p:cNvPr descr="Hippo Facts, History, Useful Information and Amazing Pictures" id="574" name="Google Shape;574;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75" name="Google Shape;575;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76" name="Google Shape;576;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77" name="Google Shape;577;p46"/>
                  <p:cNvGrpSpPr/>
                  <p:nvPr/>
                </p:nvGrpSpPr>
                <p:grpSpPr>
                  <a:xfrm>
                    <a:off x="2422299" y="3413281"/>
                    <a:ext cx="1487709" cy="463601"/>
                    <a:chOff x="5610386" y="4876927"/>
                    <a:chExt cx="2860429" cy="891370"/>
                  </a:xfrm>
                </p:grpSpPr>
                <p:pic>
                  <p:nvPicPr>
                    <p:cNvPr descr="Hippo Facts, History, Useful Information and Amazing Pictures" id="578" name="Google Shape;578;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79" name="Google Shape;579;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80" name="Google Shape;580;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81" name="Google Shape;581;p46"/>
                  <p:cNvGrpSpPr/>
                  <p:nvPr/>
                </p:nvGrpSpPr>
                <p:grpSpPr>
                  <a:xfrm>
                    <a:off x="4019579" y="3410348"/>
                    <a:ext cx="1487709" cy="463601"/>
                    <a:chOff x="5610386" y="4876927"/>
                    <a:chExt cx="2860429" cy="891370"/>
                  </a:xfrm>
                </p:grpSpPr>
                <p:pic>
                  <p:nvPicPr>
                    <p:cNvPr descr="Hippo Facts, History, Useful Information and Amazing Pictures" id="582" name="Google Shape;582;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83" name="Google Shape;583;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84" name="Google Shape;584;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85" name="Google Shape;585;p46"/>
                  <p:cNvGrpSpPr/>
                  <p:nvPr/>
                </p:nvGrpSpPr>
                <p:grpSpPr>
                  <a:xfrm>
                    <a:off x="5626114" y="3410348"/>
                    <a:ext cx="1487709" cy="463601"/>
                    <a:chOff x="5610386" y="4876927"/>
                    <a:chExt cx="2860429" cy="891370"/>
                  </a:xfrm>
                </p:grpSpPr>
                <p:pic>
                  <p:nvPicPr>
                    <p:cNvPr descr="Hippo Facts, History, Useful Information and Amazing Pictures" id="586" name="Google Shape;586;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87" name="Google Shape;587;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88" name="Google Shape;588;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nvGrpSpPr>
                <p:cNvPr id="589" name="Google Shape;589;p46"/>
                <p:cNvGrpSpPr/>
                <p:nvPr/>
              </p:nvGrpSpPr>
              <p:grpSpPr>
                <a:xfrm>
                  <a:off x="3978892" y="3401046"/>
                  <a:ext cx="3606665" cy="271925"/>
                  <a:chOff x="898650" y="3410348"/>
                  <a:chExt cx="6215173" cy="468594"/>
                </a:xfrm>
              </p:grpSpPr>
              <p:grpSp>
                <p:nvGrpSpPr>
                  <p:cNvPr id="590" name="Google Shape;590;p46"/>
                  <p:cNvGrpSpPr/>
                  <p:nvPr/>
                </p:nvGrpSpPr>
                <p:grpSpPr>
                  <a:xfrm>
                    <a:off x="898650" y="3415341"/>
                    <a:ext cx="1487709" cy="463601"/>
                    <a:chOff x="5610386" y="4876927"/>
                    <a:chExt cx="2860429" cy="891370"/>
                  </a:xfrm>
                </p:grpSpPr>
                <p:pic>
                  <p:nvPicPr>
                    <p:cNvPr descr="Hippo Facts, History, Useful Information and Amazing Pictures" id="591" name="Google Shape;591;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92" name="Google Shape;592;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93" name="Google Shape;593;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94" name="Google Shape;594;p46"/>
                  <p:cNvGrpSpPr/>
                  <p:nvPr/>
                </p:nvGrpSpPr>
                <p:grpSpPr>
                  <a:xfrm>
                    <a:off x="2422299" y="3413281"/>
                    <a:ext cx="1487709" cy="463601"/>
                    <a:chOff x="5610386" y="4876927"/>
                    <a:chExt cx="2860429" cy="891370"/>
                  </a:xfrm>
                </p:grpSpPr>
                <p:pic>
                  <p:nvPicPr>
                    <p:cNvPr descr="Hippo Facts, History, Useful Information and Amazing Pictures" id="595" name="Google Shape;595;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96" name="Google Shape;596;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597" name="Google Shape;597;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598" name="Google Shape;598;p46"/>
                  <p:cNvGrpSpPr/>
                  <p:nvPr/>
                </p:nvGrpSpPr>
                <p:grpSpPr>
                  <a:xfrm>
                    <a:off x="4019579" y="3410348"/>
                    <a:ext cx="1487709" cy="463601"/>
                    <a:chOff x="5610386" y="4876927"/>
                    <a:chExt cx="2860429" cy="891370"/>
                  </a:xfrm>
                </p:grpSpPr>
                <p:pic>
                  <p:nvPicPr>
                    <p:cNvPr descr="Hippo Facts, History, Useful Information and Amazing Pictures" id="599" name="Google Shape;599;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00" name="Google Shape;600;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01" name="Google Shape;601;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602" name="Google Shape;602;p46"/>
                  <p:cNvGrpSpPr/>
                  <p:nvPr/>
                </p:nvGrpSpPr>
                <p:grpSpPr>
                  <a:xfrm>
                    <a:off x="5626114" y="3410348"/>
                    <a:ext cx="1487709" cy="463601"/>
                    <a:chOff x="5610386" y="4876927"/>
                    <a:chExt cx="2860429" cy="891370"/>
                  </a:xfrm>
                </p:grpSpPr>
                <p:pic>
                  <p:nvPicPr>
                    <p:cNvPr descr="Hippo Facts, History, Useful Information and Amazing Pictures" id="603" name="Google Shape;603;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04" name="Google Shape;604;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05" name="Google Shape;605;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grpSp>
            <p:nvGrpSpPr>
              <p:cNvPr id="606" name="Google Shape;606;p46"/>
              <p:cNvGrpSpPr/>
              <p:nvPr/>
            </p:nvGrpSpPr>
            <p:grpSpPr>
              <a:xfrm>
                <a:off x="281387" y="6147370"/>
                <a:ext cx="7291268" cy="275611"/>
                <a:chOff x="294289" y="3401046"/>
                <a:chExt cx="7291268" cy="275611"/>
              </a:xfrm>
            </p:grpSpPr>
            <p:grpSp>
              <p:nvGrpSpPr>
                <p:cNvPr id="607" name="Google Shape;607;p46"/>
                <p:cNvGrpSpPr/>
                <p:nvPr/>
              </p:nvGrpSpPr>
              <p:grpSpPr>
                <a:xfrm>
                  <a:off x="294289" y="3404732"/>
                  <a:ext cx="3606665" cy="271925"/>
                  <a:chOff x="898650" y="3410348"/>
                  <a:chExt cx="6215173" cy="468594"/>
                </a:xfrm>
              </p:grpSpPr>
              <p:grpSp>
                <p:nvGrpSpPr>
                  <p:cNvPr id="608" name="Google Shape;608;p46"/>
                  <p:cNvGrpSpPr/>
                  <p:nvPr/>
                </p:nvGrpSpPr>
                <p:grpSpPr>
                  <a:xfrm>
                    <a:off x="898650" y="3415341"/>
                    <a:ext cx="1487709" cy="463601"/>
                    <a:chOff x="5610386" y="4876927"/>
                    <a:chExt cx="2860429" cy="891370"/>
                  </a:xfrm>
                </p:grpSpPr>
                <p:pic>
                  <p:nvPicPr>
                    <p:cNvPr descr="Hippo Facts, History, Useful Information and Amazing Pictures" id="609" name="Google Shape;609;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10" name="Google Shape;610;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11" name="Google Shape;611;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612" name="Google Shape;612;p46"/>
                  <p:cNvGrpSpPr/>
                  <p:nvPr/>
                </p:nvGrpSpPr>
                <p:grpSpPr>
                  <a:xfrm>
                    <a:off x="2422299" y="3413281"/>
                    <a:ext cx="1487709" cy="463601"/>
                    <a:chOff x="5610386" y="4876927"/>
                    <a:chExt cx="2860429" cy="891370"/>
                  </a:xfrm>
                </p:grpSpPr>
                <p:pic>
                  <p:nvPicPr>
                    <p:cNvPr descr="Hippo Facts, History, Useful Information and Amazing Pictures" id="613" name="Google Shape;613;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14" name="Google Shape;614;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15" name="Google Shape;615;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616" name="Google Shape;616;p46"/>
                  <p:cNvGrpSpPr/>
                  <p:nvPr/>
                </p:nvGrpSpPr>
                <p:grpSpPr>
                  <a:xfrm>
                    <a:off x="4019579" y="3410348"/>
                    <a:ext cx="1487709" cy="463601"/>
                    <a:chOff x="5610386" y="4876927"/>
                    <a:chExt cx="2860429" cy="891370"/>
                  </a:xfrm>
                </p:grpSpPr>
                <p:pic>
                  <p:nvPicPr>
                    <p:cNvPr descr="Hippo Facts, History, Useful Information and Amazing Pictures" id="617" name="Google Shape;617;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18" name="Google Shape;618;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19" name="Google Shape;619;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620" name="Google Shape;620;p46"/>
                  <p:cNvGrpSpPr/>
                  <p:nvPr/>
                </p:nvGrpSpPr>
                <p:grpSpPr>
                  <a:xfrm>
                    <a:off x="5626114" y="3410348"/>
                    <a:ext cx="1487709" cy="463601"/>
                    <a:chOff x="5610386" y="4876927"/>
                    <a:chExt cx="2860429" cy="891370"/>
                  </a:xfrm>
                </p:grpSpPr>
                <p:pic>
                  <p:nvPicPr>
                    <p:cNvPr descr="Hippo Facts, History, Useful Information and Amazing Pictures" id="621" name="Google Shape;621;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22" name="Google Shape;622;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23" name="Google Shape;623;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nvGrpSpPr>
                <p:cNvPr id="624" name="Google Shape;624;p46"/>
                <p:cNvGrpSpPr/>
                <p:nvPr/>
              </p:nvGrpSpPr>
              <p:grpSpPr>
                <a:xfrm>
                  <a:off x="3978892" y="3401046"/>
                  <a:ext cx="3606665" cy="271925"/>
                  <a:chOff x="898650" y="3410348"/>
                  <a:chExt cx="6215173" cy="468594"/>
                </a:xfrm>
              </p:grpSpPr>
              <p:grpSp>
                <p:nvGrpSpPr>
                  <p:cNvPr id="625" name="Google Shape;625;p46"/>
                  <p:cNvGrpSpPr/>
                  <p:nvPr/>
                </p:nvGrpSpPr>
                <p:grpSpPr>
                  <a:xfrm>
                    <a:off x="898650" y="3415341"/>
                    <a:ext cx="1487709" cy="463601"/>
                    <a:chOff x="5610386" y="4876927"/>
                    <a:chExt cx="2860429" cy="891370"/>
                  </a:xfrm>
                </p:grpSpPr>
                <p:pic>
                  <p:nvPicPr>
                    <p:cNvPr descr="Hippo Facts, History, Useful Information and Amazing Pictures" id="626" name="Google Shape;626;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27" name="Google Shape;627;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28" name="Google Shape;628;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629" name="Google Shape;629;p46"/>
                  <p:cNvGrpSpPr/>
                  <p:nvPr/>
                </p:nvGrpSpPr>
                <p:grpSpPr>
                  <a:xfrm>
                    <a:off x="2422299" y="3413281"/>
                    <a:ext cx="1487709" cy="463601"/>
                    <a:chOff x="5610386" y="4876927"/>
                    <a:chExt cx="2860429" cy="891370"/>
                  </a:xfrm>
                </p:grpSpPr>
                <p:pic>
                  <p:nvPicPr>
                    <p:cNvPr descr="Hippo Facts, History, Useful Information and Amazing Pictures" id="630" name="Google Shape;630;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31" name="Google Shape;631;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32" name="Google Shape;632;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633" name="Google Shape;633;p46"/>
                  <p:cNvGrpSpPr/>
                  <p:nvPr/>
                </p:nvGrpSpPr>
                <p:grpSpPr>
                  <a:xfrm>
                    <a:off x="4019579" y="3410348"/>
                    <a:ext cx="1487709" cy="463601"/>
                    <a:chOff x="5610386" y="4876927"/>
                    <a:chExt cx="2860429" cy="891370"/>
                  </a:xfrm>
                </p:grpSpPr>
                <p:pic>
                  <p:nvPicPr>
                    <p:cNvPr descr="Hippo Facts, History, Useful Information and Amazing Pictures" id="634" name="Google Shape;634;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35" name="Google Shape;635;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36" name="Google Shape;636;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nvGrpSpPr>
                  <p:cNvPr id="637" name="Google Shape;637;p46"/>
                  <p:cNvGrpSpPr/>
                  <p:nvPr/>
                </p:nvGrpSpPr>
                <p:grpSpPr>
                  <a:xfrm>
                    <a:off x="5626114" y="3410348"/>
                    <a:ext cx="1487709" cy="463601"/>
                    <a:chOff x="5610386" y="4876927"/>
                    <a:chExt cx="2860429" cy="891370"/>
                  </a:xfrm>
                </p:grpSpPr>
                <p:pic>
                  <p:nvPicPr>
                    <p:cNvPr descr="Hippo Facts, History, Useful Information and Amazing Pictures" id="638" name="Google Shape;638;p46"/>
                    <p:cNvPicPr preferRelativeResize="0"/>
                    <p:nvPr/>
                  </p:nvPicPr>
                  <p:blipFill rotWithShape="1">
                    <a:blip r:embed="rId4">
                      <a:alphaModFix/>
                    </a:blip>
                    <a:srcRect b="0" l="6443" r="24801" t="0"/>
                    <a:stretch/>
                  </p:blipFill>
                  <p:spPr>
                    <a:xfrm>
                      <a:off x="6596472" y="4879538"/>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39" name="Google Shape;639;p46"/>
                    <p:cNvPicPr preferRelativeResize="0"/>
                    <p:nvPr/>
                  </p:nvPicPr>
                  <p:blipFill rotWithShape="1">
                    <a:blip r:embed="rId4">
                      <a:alphaModFix/>
                    </a:blip>
                    <a:srcRect b="0" l="6443" r="24801" t="0"/>
                    <a:stretch/>
                  </p:blipFill>
                  <p:spPr>
                    <a:xfrm>
                      <a:off x="7553577" y="4876927"/>
                      <a:ext cx="917238" cy="888759"/>
                    </a:xfrm>
                    <a:prstGeom prst="rect">
                      <a:avLst/>
                    </a:prstGeom>
                    <a:noFill/>
                    <a:ln cap="flat" cmpd="sng" w="42875">
                      <a:solidFill>
                        <a:srgbClr val="FFC000"/>
                      </a:solidFill>
                      <a:prstDash val="solid"/>
                      <a:round/>
                      <a:headEnd len="sm" w="sm" type="none"/>
                      <a:tailEnd len="sm" w="sm" type="none"/>
                    </a:ln>
                  </p:spPr>
                </p:pic>
                <p:pic>
                  <p:nvPicPr>
                    <p:cNvPr descr="Hippo Facts, History, Useful Information and Amazing Pictures" id="640" name="Google Shape;640;p46"/>
                    <p:cNvPicPr preferRelativeResize="0"/>
                    <p:nvPr/>
                  </p:nvPicPr>
                  <p:blipFill rotWithShape="1">
                    <a:blip r:embed="rId4">
                      <a:alphaModFix/>
                    </a:blip>
                    <a:srcRect b="0" l="6443" r="24801" t="0"/>
                    <a:stretch/>
                  </p:blipFill>
                  <p:spPr>
                    <a:xfrm>
                      <a:off x="5610386" y="4876927"/>
                      <a:ext cx="917238" cy="888759"/>
                    </a:xfrm>
                    <a:prstGeom prst="rect">
                      <a:avLst/>
                    </a:prstGeom>
                    <a:noFill/>
                    <a:ln cap="flat" cmpd="sng" w="42875">
                      <a:solidFill>
                        <a:srgbClr val="FFC000"/>
                      </a:solidFill>
                      <a:prstDash val="solid"/>
                      <a:round/>
                      <a:headEnd len="sm" w="sm" type="none"/>
                      <a:tailEnd len="sm" w="sm" type="none"/>
                    </a:ln>
                  </p:spPr>
                </p:pic>
              </p:grpSp>
            </p:grpSp>
          </p:grpSp>
        </p:grpSp>
        <p:sp>
          <p:nvSpPr>
            <p:cNvPr id="641" name="Google Shape;641;p46"/>
            <p:cNvSpPr txBox="1"/>
            <p:nvPr/>
          </p:nvSpPr>
          <p:spPr>
            <a:xfrm>
              <a:off x="2112822" y="6667905"/>
              <a:ext cx="6056100" cy="93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Calibri"/>
                  <a:ea typeface="Calibri"/>
                  <a:cs typeface="Calibri"/>
                  <a:sym typeface="Calibri"/>
                </a:rPr>
                <a:t>My lifetime carbon emissions due to flying. </a:t>
              </a:r>
              <a:endParaRPr sz="11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47"/>
          <p:cNvSpPr txBox="1"/>
          <p:nvPr/>
        </p:nvSpPr>
        <p:spPr>
          <a:xfrm>
            <a:off x="0" y="0"/>
            <a:ext cx="9144000" cy="346200"/>
          </a:xfrm>
          <a:prstGeom prst="rect">
            <a:avLst/>
          </a:prstGeom>
          <a:solidFill>
            <a:srgbClr val="FFC000"/>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800">
                <a:solidFill>
                  <a:schemeClr val="dk1"/>
                </a:solidFill>
                <a:latin typeface="Calibri"/>
                <a:ea typeface="Calibri"/>
                <a:cs typeface="Calibri"/>
                <a:sym typeface="Calibri"/>
              </a:rPr>
              <a:t>Chancel, 2022: Per-capita budgets needed to avoid 2 degrees warming</a:t>
            </a:r>
            <a:endParaRPr sz="1100"/>
          </a:p>
        </p:txBody>
      </p:sp>
      <p:cxnSp>
        <p:nvCxnSpPr>
          <p:cNvPr id="647" name="Google Shape;647;p47"/>
          <p:cNvCxnSpPr/>
          <p:nvPr/>
        </p:nvCxnSpPr>
        <p:spPr>
          <a:xfrm rot="10800000">
            <a:off x="2738085" y="2864546"/>
            <a:ext cx="2742600" cy="0"/>
          </a:xfrm>
          <a:prstGeom prst="straightConnector1">
            <a:avLst/>
          </a:prstGeom>
          <a:noFill/>
          <a:ln cap="flat" cmpd="sng" w="7150">
            <a:solidFill>
              <a:schemeClr val="accent1"/>
            </a:solidFill>
            <a:prstDash val="solid"/>
            <a:miter lim="800000"/>
            <a:headEnd len="sm" w="sm" type="none"/>
            <a:tailEnd len="sm" w="sm" type="none"/>
          </a:ln>
        </p:spPr>
      </p:cxnSp>
      <p:cxnSp>
        <p:nvCxnSpPr>
          <p:cNvPr id="648" name="Google Shape;648;p47"/>
          <p:cNvCxnSpPr/>
          <p:nvPr/>
        </p:nvCxnSpPr>
        <p:spPr>
          <a:xfrm rot="10800000">
            <a:off x="1552473" y="3250029"/>
            <a:ext cx="4182300" cy="0"/>
          </a:xfrm>
          <a:prstGeom prst="straightConnector1">
            <a:avLst/>
          </a:prstGeom>
          <a:noFill/>
          <a:ln cap="flat" cmpd="sng" w="7150">
            <a:solidFill>
              <a:schemeClr val="accent1"/>
            </a:solidFill>
            <a:prstDash val="solid"/>
            <a:miter lim="800000"/>
            <a:headEnd len="sm" w="sm" type="none"/>
            <a:tailEnd len="sm" w="sm" type="none"/>
          </a:ln>
        </p:spPr>
      </p:cxnSp>
      <p:pic>
        <p:nvPicPr>
          <p:cNvPr id="649" name="Google Shape;649;p47"/>
          <p:cNvPicPr preferRelativeResize="0"/>
          <p:nvPr/>
        </p:nvPicPr>
        <p:blipFill rotWithShape="1">
          <a:blip r:embed="rId3">
            <a:alphaModFix/>
          </a:blip>
          <a:srcRect b="0" l="0" r="0" t="0"/>
          <a:stretch/>
        </p:blipFill>
        <p:spPr>
          <a:xfrm>
            <a:off x="288781" y="386351"/>
            <a:ext cx="5857205" cy="4639734"/>
          </a:xfrm>
          <a:prstGeom prst="rect">
            <a:avLst/>
          </a:prstGeom>
          <a:noFill/>
          <a:ln>
            <a:noFill/>
          </a:ln>
        </p:spPr>
      </p:pic>
      <p:grpSp>
        <p:nvGrpSpPr>
          <p:cNvPr id="650" name="Google Shape;650;p47"/>
          <p:cNvGrpSpPr/>
          <p:nvPr/>
        </p:nvGrpSpPr>
        <p:grpSpPr>
          <a:xfrm>
            <a:off x="6541901" y="654249"/>
            <a:ext cx="2468591" cy="2126925"/>
            <a:chOff x="7824486" y="891251"/>
            <a:chExt cx="5568668" cy="2835900"/>
          </a:xfrm>
        </p:grpSpPr>
        <p:sp>
          <p:nvSpPr>
            <p:cNvPr id="651" name="Google Shape;651;p47"/>
            <p:cNvSpPr/>
            <p:nvPr/>
          </p:nvSpPr>
          <p:spPr>
            <a:xfrm>
              <a:off x="7824486" y="891251"/>
              <a:ext cx="243000" cy="2835900"/>
            </a:xfrm>
            <a:prstGeom prst="rightBrace">
              <a:avLst>
                <a:gd fmla="val 8333" name="adj1"/>
                <a:gd fmla="val 50000" name="adj2"/>
              </a:avLst>
            </a:prstGeom>
            <a:no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52" name="Google Shape;652;p47"/>
            <p:cNvSpPr txBox="1"/>
            <p:nvPr/>
          </p:nvSpPr>
          <p:spPr>
            <a:xfrm>
              <a:off x="8067554" y="2073958"/>
              <a:ext cx="5325600" cy="4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Carbon Privilege </a:t>
              </a:r>
              <a:r>
                <a:rPr b="1" lang="en" sz="1500">
                  <a:solidFill>
                    <a:schemeClr val="dk1"/>
                  </a:solidFill>
                  <a:latin typeface="Calibri"/>
                  <a:ea typeface="Calibri"/>
                  <a:cs typeface="Calibri"/>
                  <a:sym typeface="Calibri"/>
                </a:rPr>
                <a:t>= </a:t>
              </a:r>
              <a:r>
                <a:rPr lang="en" sz="1500">
                  <a:solidFill>
                    <a:schemeClr val="dk1"/>
                  </a:solidFill>
                  <a:latin typeface="Calibri"/>
                  <a:ea typeface="Calibri"/>
                  <a:cs typeface="Calibri"/>
                  <a:sym typeface="Calibri"/>
                </a:rPr>
                <a:t>16 tC/yr</a:t>
              </a:r>
              <a:endParaRPr sz="1100"/>
            </a:p>
          </p:txBody>
        </p:sp>
      </p:grpSp>
      <p:grpSp>
        <p:nvGrpSpPr>
          <p:cNvPr id="653" name="Google Shape;653;p47"/>
          <p:cNvGrpSpPr/>
          <p:nvPr/>
        </p:nvGrpSpPr>
        <p:grpSpPr>
          <a:xfrm>
            <a:off x="5837377" y="452889"/>
            <a:ext cx="467253" cy="3106717"/>
            <a:chOff x="10166763" y="603805"/>
            <a:chExt cx="915465" cy="6086828"/>
          </a:xfrm>
        </p:grpSpPr>
        <p:grpSp>
          <p:nvGrpSpPr>
            <p:cNvPr id="654" name="Google Shape;654;p47"/>
            <p:cNvGrpSpPr/>
            <p:nvPr/>
          </p:nvGrpSpPr>
          <p:grpSpPr>
            <a:xfrm>
              <a:off x="10166763" y="603805"/>
              <a:ext cx="913504" cy="5054667"/>
              <a:chOff x="395902" y="603805"/>
              <a:chExt cx="913504" cy="5054667"/>
            </a:xfrm>
          </p:grpSpPr>
          <p:grpSp>
            <p:nvGrpSpPr>
              <p:cNvPr id="655" name="Google Shape;655;p47"/>
              <p:cNvGrpSpPr/>
              <p:nvPr/>
            </p:nvGrpSpPr>
            <p:grpSpPr>
              <a:xfrm>
                <a:off x="395902" y="1059544"/>
                <a:ext cx="913504" cy="4598928"/>
                <a:chOff x="395900" y="521126"/>
                <a:chExt cx="1000114" cy="5034955"/>
              </a:xfrm>
            </p:grpSpPr>
            <p:grpSp>
              <p:nvGrpSpPr>
                <p:cNvPr id="656" name="Google Shape;656;p47"/>
                <p:cNvGrpSpPr/>
                <p:nvPr/>
              </p:nvGrpSpPr>
              <p:grpSpPr>
                <a:xfrm>
                  <a:off x="395900" y="1019841"/>
                  <a:ext cx="1000114" cy="4536240"/>
                  <a:chOff x="395900" y="839726"/>
                  <a:chExt cx="1000114" cy="4536240"/>
                </a:xfrm>
              </p:grpSpPr>
              <p:grpSp>
                <p:nvGrpSpPr>
                  <p:cNvPr id="657" name="Google Shape;657;p47"/>
                  <p:cNvGrpSpPr/>
                  <p:nvPr/>
                </p:nvGrpSpPr>
                <p:grpSpPr>
                  <a:xfrm>
                    <a:off x="395900" y="3740674"/>
                    <a:ext cx="1000114" cy="1635292"/>
                    <a:chOff x="520609" y="1611823"/>
                    <a:chExt cx="1111361" cy="1817193"/>
                  </a:xfrm>
                </p:grpSpPr>
                <p:grpSp>
                  <p:nvGrpSpPr>
                    <p:cNvPr id="658" name="Google Shape;658;p47"/>
                    <p:cNvGrpSpPr/>
                    <p:nvPr/>
                  </p:nvGrpSpPr>
                  <p:grpSpPr>
                    <a:xfrm>
                      <a:off x="520609" y="1611823"/>
                      <a:ext cx="1093898" cy="529967"/>
                      <a:chOff x="286512" y="706056"/>
                      <a:chExt cx="1689940" cy="818735"/>
                    </a:xfrm>
                  </p:grpSpPr>
                  <p:pic>
                    <p:nvPicPr>
                      <p:cNvPr descr="Hippo Facts, History, Useful Information and Amazing Pictures" id="659" name="Google Shape;659;p47"/>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660" name="Google Shape;660;p47"/>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661" name="Google Shape;661;p47"/>
                    <p:cNvGrpSpPr/>
                    <p:nvPr/>
                  </p:nvGrpSpPr>
                  <p:grpSpPr>
                    <a:xfrm>
                      <a:off x="538072" y="2249998"/>
                      <a:ext cx="1093898" cy="529967"/>
                      <a:chOff x="286512" y="706056"/>
                      <a:chExt cx="1689940" cy="818735"/>
                    </a:xfrm>
                  </p:grpSpPr>
                  <p:pic>
                    <p:nvPicPr>
                      <p:cNvPr descr="Hippo Facts, History, Useful Information and Amazing Pictures" id="662" name="Google Shape;662;p47"/>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663" name="Google Shape;663;p47"/>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664" name="Google Shape;664;p47"/>
                    <p:cNvGrpSpPr/>
                    <p:nvPr/>
                  </p:nvGrpSpPr>
                  <p:grpSpPr>
                    <a:xfrm>
                      <a:off x="538072" y="2899049"/>
                      <a:ext cx="1093898" cy="529967"/>
                      <a:chOff x="286512" y="706056"/>
                      <a:chExt cx="1689940" cy="818735"/>
                    </a:xfrm>
                  </p:grpSpPr>
                  <p:pic>
                    <p:nvPicPr>
                      <p:cNvPr descr="Hippo Facts, History, Useful Information and Amazing Pictures" id="665" name="Google Shape;665;p47"/>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666" name="Google Shape;666;p47"/>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grpSp>
                <p:nvGrpSpPr>
                  <p:cNvPr id="667" name="Google Shape;667;p47"/>
                  <p:cNvGrpSpPr/>
                  <p:nvPr/>
                </p:nvGrpSpPr>
                <p:grpSpPr>
                  <a:xfrm>
                    <a:off x="395900" y="839726"/>
                    <a:ext cx="1000114" cy="2803454"/>
                    <a:chOff x="520609" y="1611823"/>
                    <a:chExt cx="1111361" cy="3115295"/>
                  </a:xfrm>
                </p:grpSpPr>
                <p:grpSp>
                  <p:nvGrpSpPr>
                    <p:cNvPr id="668" name="Google Shape;668;p47"/>
                    <p:cNvGrpSpPr/>
                    <p:nvPr/>
                  </p:nvGrpSpPr>
                  <p:grpSpPr>
                    <a:xfrm>
                      <a:off x="520609" y="1611823"/>
                      <a:ext cx="1093898" cy="529967"/>
                      <a:chOff x="286512" y="706056"/>
                      <a:chExt cx="1689940" cy="818735"/>
                    </a:xfrm>
                  </p:grpSpPr>
                  <p:pic>
                    <p:nvPicPr>
                      <p:cNvPr descr="Hippo Facts, History, Useful Information and Amazing Pictures" id="669" name="Google Shape;669;p47"/>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670" name="Google Shape;670;p47"/>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671" name="Google Shape;671;p47"/>
                    <p:cNvGrpSpPr/>
                    <p:nvPr/>
                  </p:nvGrpSpPr>
                  <p:grpSpPr>
                    <a:xfrm>
                      <a:off x="538072" y="2249998"/>
                      <a:ext cx="1093898" cy="529967"/>
                      <a:chOff x="286512" y="706056"/>
                      <a:chExt cx="1689940" cy="818735"/>
                    </a:xfrm>
                  </p:grpSpPr>
                  <p:pic>
                    <p:nvPicPr>
                      <p:cNvPr descr="Hippo Facts, History, Useful Information and Amazing Pictures" id="672" name="Google Shape;672;p47"/>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673" name="Google Shape;673;p47"/>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674" name="Google Shape;674;p47"/>
                    <p:cNvGrpSpPr/>
                    <p:nvPr/>
                  </p:nvGrpSpPr>
                  <p:grpSpPr>
                    <a:xfrm>
                      <a:off x="538072" y="2899049"/>
                      <a:ext cx="1093898" cy="529967"/>
                      <a:chOff x="286512" y="706056"/>
                      <a:chExt cx="1689940" cy="818735"/>
                    </a:xfrm>
                  </p:grpSpPr>
                  <p:pic>
                    <p:nvPicPr>
                      <p:cNvPr descr="Hippo Facts, History, Useful Information and Amazing Pictures" id="675" name="Google Shape;675;p47"/>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676" name="Google Shape;676;p47"/>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677" name="Google Shape;677;p47"/>
                    <p:cNvGrpSpPr/>
                    <p:nvPr/>
                  </p:nvGrpSpPr>
                  <p:grpSpPr>
                    <a:xfrm>
                      <a:off x="538072" y="3548100"/>
                      <a:ext cx="1093898" cy="529967"/>
                      <a:chOff x="286512" y="706056"/>
                      <a:chExt cx="1689940" cy="818735"/>
                    </a:xfrm>
                  </p:grpSpPr>
                  <p:pic>
                    <p:nvPicPr>
                      <p:cNvPr descr="Hippo Facts, History, Useful Information and Amazing Pictures" id="678" name="Google Shape;678;p47"/>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679" name="Google Shape;679;p47"/>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nvGrpSpPr>
                    <p:cNvPr id="680" name="Google Shape;680;p47"/>
                    <p:cNvGrpSpPr/>
                    <p:nvPr/>
                  </p:nvGrpSpPr>
                  <p:grpSpPr>
                    <a:xfrm>
                      <a:off x="538072" y="4197151"/>
                      <a:ext cx="1093898" cy="529967"/>
                      <a:chOff x="286512" y="706056"/>
                      <a:chExt cx="1689940" cy="818735"/>
                    </a:xfrm>
                  </p:grpSpPr>
                  <p:pic>
                    <p:nvPicPr>
                      <p:cNvPr descr="Hippo Facts, History, Useful Information and Amazing Pictures" id="681" name="Google Shape;681;p47"/>
                      <p:cNvPicPr preferRelativeResize="0"/>
                      <p:nvPr/>
                    </p:nvPicPr>
                    <p:blipFill rotWithShape="1">
                      <a:blip r:embed="rId4">
                        <a:alphaModFix/>
                      </a:blip>
                      <a:srcRect b="0" l="6443" r="24801" t="0"/>
                      <a:stretch/>
                    </p:blipFill>
                    <p:spPr>
                      <a:xfrm>
                        <a:off x="286512" y="706056"/>
                        <a:ext cx="844970" cy="818735"/>
                      </a:xfrm>
                      <a:prstGeom prst="rect">
                        <a:avLst/>
                      </a:prstGeom>
                      <a:noFill/>
                      <a:ln>
                        <a:noFill/>
                      </a:ln>
                    </p:spPr>
                  </p:pic>
                  <p:pic>
                    <p:nvPicPr>
                      <p:cNvPr descr="Hippo Facts, History, Useful Information and Amazing Pictures" id="682" name="Google Shape;682;p47"/>
                      <p:cNvPicPr preferRelativeResize="0"/>
                      <p:nvPr/>
                    </p:nvPicPr>
                    <p:blipFill rotWithShape="1">
                      <a:blip r:embed="rId4">
                        <a:alphaModFix/>
                      </a:blip>
                      <a:srcRect b="0" l="6443" r="24801" t="0"/>
                      <a:stretch/>
                    </p:blipFill>
                    <p:spPr>
                      <a:xfrm>
                        <a:off x="1131482" y="706056"/>
                        <a:ext cx="844970" cy="818735"/>
                      </a:xfrm>
                      <a:prstGeom prst="rect">
                        <a:avLst/>
                      </a:prstGeom>
                      <a:noFill/>
                      <a:ln>
                        <a:noFill/>
                      </a:ln>
                    </p:spPr>
                  </p:pic>
                </p:grpSp>
              </p:grpSp>
            </p:grpSp>
            <p:pic>
              <p:nvPicPr>
                <p:cNvPr descr="Hippo Facts, History, Useful Information and Amazing Pictures" id="683" name="Google Shape;683;p47"/>
                <p:cNvPicPr preferRelativeResize="0"/>
                <p:nvPr/>
              </p:nvPicPr>
              <p:blipFill rotWithShape="1">
                <a:blip r:embed="rId4">
                  <a:alphaModFix/>
                </a:blip>
                <a:srcRect b="0" l="6443" r="24801" t="0"/>
                <a:stretch/>
              </p:blipFill>
              <p:spPr>
                <a:xfrm>
                  <a:off x="395915" y="521126"/>
                  <a:ext cx="492210" cy="476928"/>
                </a:xfrm>
                <a:prstGeom prst="rect">
                  <a:avLst/>
                </a:prstGeom>
                <a:noFill/>
                <a:ln>
                  <a:noFill/>
                </a:ln>
              </p:spPr>
            </p:pic>
            <p:pic>
              <p:nvPicPr>
                <p:cNvPr descr="Hippo Facts, History, Useful Information and Amazing Pictures" id="684" name="Google Shape;684;p47"/>
                <p:cNvPicPr preferRelativeResize="0"/>
                <p:nvPr/>
              </p:nvPicPr>
              <p:blipFill rotWithShape="1">
                <a:blip r:embed="rId4">
                  <a:alphaModFix/>
                </a:blip>
                <a:srcRect b="0" l="6443" r="24801" t="0"/>
                <a:stretch/>
              </p:blipFill>
              <p:spPr>
                <a:xfrm>
                  <a:off x="888126" y="521126"/>
                  <a:ext cx="492210" cy="476928"/>
                </a:xfrm>
                <a:prstGeom prst="rect">
                  <a:avLst/>
                </a:prstGeom>
                <a:noFill/>
                <a:ln>
                  <a:noFill/>
                </a:ln>
              </p:spPr>
            </p:pic>
          </p:grpSp>
          <p:pic>
            <p:nvPicPr>
              <p:cNvPr descr="Hippo Facts, History, Useful Information and Amazing Pictures" id="685" name="Google Shape;685;p47"/>
              <p:cNvPicPr preferRelativeResize="0"/>
              <p:nvPr/>
            </p:nvPicPr>
            <p:blipFill rotWithShape="1">
              <a:blip r:embed="rId4">
                <a:alphaModFix/>
              </a:blip>
              <a:srcRect b="0" l="6443" r="24801" t="0"/>
              <a:stretch/>
            </p:blipFill>
            <p:spPr>
              <a:xfrm>
                <a:off x="410271" y="603805"/>
                <a:ext cx="449586" cy="435625"/>
              </a:xfrm>
              <a:prstGeom prst="rect">
                <a:avLst/>
              </a:prstGeom>
              <a:noFill/>
              <a:ln>
                <a:noFill/>
              </a:ln>
            </p:spPr>
          </p:pic>
        </p:grpSp>
        <p:pic>
          <p:nvPicPr>
            <p:cNvPr descr="Hippo Facts, History, Useful Information and Amazing Pictures" id="686" name="Google Shape;686;p47"/>
            <p:cNvPicPr preferRelativeResize="0"/>
            <p:nvPr/>
          </p:nvPicPr>
          <p:blipFill rotWithShape="1">
            <a:blip r:embed="rId4">
              <a:alphaModFix/>
            </a:blip>
            <a:srcRect b="0" l="6443" r="24801" t="0"/>
            <a:stretch/>
          </p:blipFill>
          <p:spPr>
            <a:xfrm>
              <a:off x="10183057" y="5721488"/>
              <a:ext cx="449586" cy="435625"/>
            </a:xfrm>
            <a:prstGeom prst="rect">
              <a:avLst/>
            </a:prstGeom>
            <a:noFill/>
            <a:ln>
              <a:noFill/>
            </a:ln>
          </p:spPr>
        </p:pic>
        <p:pic>
          <p:nvPicPr>
            <p:cNvPr descr="Hippo Facts, History, Useful Information and Amazing Pictures" id="687" name="Google Shape;687;p47"/>
            <p:cNvPicPr preferRelativeResize="0"/>
            <p:nvPr/>
          </p:nvPicPr>
          <p:blipFill rotWithShape="1">
            <a:blip r:embed="rId4">
              <a:alphaModFix/>
            </a:blip>
            <a:srcRect b="0" l="6443" r="24801" t="0"/>
            <a:stretch/>
          </p:blipFill>
          <p:spPr>
            <a:xfrm>
              <a:off x="10632642" y="5721488"/>
              <a:ext cx="449586" cy="435625"/>
            </a:xfrm>
            <a:prstGeom prst="rect">
              <a:avLst/>
            </a:prstGeom>
            <a:noFill/>
            <a:ln>
              <a:noFill/>
            </a:ln>
          </p:spPr>
        </p:pic>
        <p:pic>
          <p:nvPicPr>
            <p:cNvPr descr="Hippo Facts, History, Useful Information and Amazing Pictures" id="688" name="Google Shape;688;p47"/>
            <p:cNvPicPr preferRelativeResize="0"/>
            <p:nvPr/>
          </p:nvPicPr>
          <p:blipFill rotWithShape="1">
            <a:blip r:embed="rId4">
              <a:alphaModFix/>
            </a:blip>
            <a:srcRect b="0" l="6443" r="24801" t="0"/>
            <a:stretch/>
          </p:blipFill>
          <p:spPr>
            <a:xfrm>
              <a:off x="10183057" y="6255008"/>
              <a:ext cx="449586" cy="435625"/>
            </a:xfrm>
            <a:prstGeom prst="rect">
              <a:avLst/>
            </a:prstGeom>
            <a:noFill/>
            <a:ln>
              <a:noFill/>
            </a:ln>
          </p:spPr>
        </p:pic>
        <p:pic>
          <p:nvPicPr>
            <p:cNvPr descr="Hippo Facts, History, Useful Information and Amazing Pictures" id="689" name="Google Shape;689;p47"/>
            <p:cNvPicPr preferRelativeResize="0"/>
            <p:nvPr/>
          </p:nvPicPr>
          <p:blipFill rotWithShape="1">
            <a:blip r:embed="rId4">
              <a:alphaModFix/>
            </a:blip>
            <a:srcRect b="0" l="6443" r="24801" t="0"/>
            <a:stretch/>
          </p:blipFill>
          <p:spPr>
            <a:xfrm>
              <a:off x="10632642" y="6255008"/>
              <a:ext cx="449586" cy="435625"/>
            </a:xfrm>
            <a:prstGeom prst="rect">
              <a:avLst/>
            </a:prstGeom>
            <a:noFill/>
            <a:ln>
              <a:noFill/>
            </a:ln>
          </p:spPr>
        </p:pic>
      </p:grpSp>
      <p:cxnSp>
        <p:nvCxnSpPr>
          <p:cNvPr id="690" name="Google Shape;690;p47"/>
          <p:cNvCxnSpPr/>
          <p:nvPr/>
        </p:nvCxnSpPr>
        <p:spPr>
          <a:xfrm>
            <a:off x="3211975" y="2864546"/>
            <a:ext cx="4522800" cy="0"/>
          </a:xfrm>
          <a:prstGeom prst="straightConnector1">
            <a:avLst/>
          </a:prstGeom>
          <a:noFill/>
          <a:ln cap="flat" cmpd="sng" w="38100">
            <a:solidFill>
              <a:schemeClr val="dk1">
                <a:alpha val="45880"/>
              </a:schemeClr>
            </a:solidFill>
            <a:prstDash val="lgDash"/>
            <a:miter lim="800000"/>
            <a:headEnd len="sm" w="sm" type="none"/>
            <a:tailEnd len="sm" w="sm"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48"/>
          <p:cNvSpPr txBox="1"/>
          <p:nvPr>
            <p:ph type="title"/>
          </p:nvPr>
        </p:nvSpPr>
        <p:spPr>
          <a:xfrm>
            <a:off x="628650" y="20746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Next: Exploring our personal connections to </a:t>
            </a:r>
            <a:r>
              <a:rPr lang="en"/>
              <a:t>climate</a:t>
            </a:r>
            <a:r>
              <a:rPr lang="en"/>
              <a:t> change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