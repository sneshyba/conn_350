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1970" r:id="rId2"/>
    <p:sldId id="1987" r:id="rId3"/>
    <p:sldId id="1986" r:id="rId4"/>
    <p:sldId id="1984" r:id="rId5"/>
    <p:sldId id="19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6"/>
    <p:restoredTop sz="94807"/>
  </p:normalViewPr>
  <p:slideViewPr>
    <p:cSldViewPr snapToGrid="0" snapToObjects="1">
      <p:cViewPr varScale="1">
        <p:scale>
          <a:sx n="106" d="100"/>
          <a:sy n="106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6A1C6-E471-BF41-BBF9-CF9DA8526259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08D31-7B83-B447-A863-4D6DAE0D4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1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38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3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8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8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70C4-864C-3B4C-BAA5-3A52204F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65EDF-E38D-D949-B1FD-73909B7F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763B-B285-8B4F-B568-F9CC15B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9C12D-0E8D-5D47-9CF9-F57F1CFD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F7E26-2280-8241-B951-4C065AC3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8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0EDF-2FA1-F345-BCA9-C2395460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4C4B-1B36-DE4A-BB93-E32BE794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86FCD-8C0E-3D4D-AFB2-F5B312881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C0C0-7669-0C4E-B20C-61B57C63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644A-7CEF-CD40-A96F-59E2D598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85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122B-7C49-1B42-A64C-CBB9F296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8E77-AA50-414A-9F41-A8E6616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1C7B7-2967-9B41-80F9-5D9998B2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EF07-DA67-0C49-83E1-D977FE14B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2513-0BDB-2E4F-9B2F-8E3A5798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79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606E-99C5-5345-A2E1-6957638D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77FB7-4EF6-C743-BBCC-CEC00A555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5105A-1952-BC43-9C9F-BDB5A609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FDB8E-AB70-C04A-B24F-48078B7F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D0A1-A401-3B4C-AD9C-D626B387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3447-77C2-4D4B-94D4-FF4E34F7A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4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CC82-DE9E-434F-BD17-57CF0747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F150-B8F6-BA4D-8974-3DF70CD5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52812-2A6E-0F4B-9D0B-4F99D3008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F4AB49-91EE-DC47-814C-9A7D022B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2986C-3F8F-5544-90D9-1DCEBBD35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8D4C8-6F24-7F41-95AA-CEEA8711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FFA0B4-AA6A-714C-A6AC-1E168FF18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0B91B-6320-6A40-A34C-E2012025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F560-B978-D24A-9B7A-86410864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6F941-D1A4-314E-9A5A-C1A42215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3BDFB-D19E-EA4E-AC74-E38C62DC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34305-0FFD-5A40-897A-4788323B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B89A7-9A33-684A-AAE2-F12458DF7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820C8-37FD-6B44-B007-FA4D974B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2C3DE-E496-8649-98F3-6B135A8C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2B17-E596-A040-AC9C-13CE58EA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BF28B-214A-B34B-AF2E-C73A9943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5832B-FA17-1F4B-BC3C-543D1504C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67EAD-BB90-374F-83EF-3AE73C27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B7B62-B056-DA42-BC60-F8A7BEA7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15DE2-CF65-0F4D-8B09-104A9834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0DDB-85B3-9D45-A651-7D061C08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06272-187D-224C-9725-94DDC071D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09773-D5D0-7943-9048-C131E09BC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681F9-C5FF-E141-8F24-C1280F84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995FC-3E39-8C4C-9276-CF6C6B23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94B87-2EB5-2248-ADF0-D71671806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3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D05A-7083-6942-AB09-66ABCB72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DEEA9-B5C8-1D45-855D-D5769666D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132E5-406C-B041-81C0-EAF279E9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FF86C-79A4-B54E-815A-5ED3F82B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2AE7-D192-7340-81DB-94256D26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6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B7D15-8341-074A-A3F9-8415C2027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07D0C-1BAF-D646-9977-9972674A4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013C-AA7B-6E45-AB87-91C65D60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3C697-B529-364B-A375-D0DF4B0C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B2F78-3F55-684D-B96C-93DC482A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1635A-4DA0-584B-B971-A7920FD2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C8D25-4C01-1F42-A89F-A0BB45B3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FB19-B5FD-DC44-ADC1-9131567DE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26E36-63F8-BA4F-A422-5A315AE49356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0256E-8CBE-964F-80C3-7073B59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E050A-3764-014D-BAB1-BF416C7EC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7768E-235F-6345-8AF6-1B490D1F1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7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227E424C-FA60-654C-8DC2-04A60AF61A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12435"/>
                <a:ext cx="12192000" cy="593203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latin typeface="+mn-lt"/>
                  </a:rPr>
                  <a:t>To implement certain kinds of feedbacks, we’ll need a sigmoid 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𝒇𝒍𝒐𝒐𝒓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>
                  <a:latin typeface="+mn-lt"/>
                </a:endParaRPr>
              </a:p>
            </p:txBody>
          </p:sp>
        </mc:Choice>
        <mc:Fallback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227E424C-FA60-654C-8DC2-04A60AF61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2435"/>
                <a:ext cx="12192000" cy="593203"/>
              </a:xfrm>
              <a:prstGeom prst="rect">
                <a:avLst/>
              </a:prstGeom>
              <a:blipFill>
                <a:blip r:embed="rId3"/>
                <a:stretch>
                  <a:fillRect l="-832" t="-212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370930" y="3245000"/>
            <a:ext cx="4414408" cy="30469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array “T” defines the range of temperatures we’re considering (on the x-axis). </a:t>
            </a:r>
          </a:p>
          <a:p>
            <a:endParaRPr lang="en-US" sz="2400" dirty="0"/>
          </a:p>
          <a:p>
            <a:r>
              <a:rPr lang="en-US" sz="2400" dirty="0"/>
              <a:t>Our sigmoid function transitions from a value of 1 to a lower value when the temperature crosses a threshold value.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F146D-BF74-EDB6-B88C-86C09DE59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627" y="2772740"/>
            <a:ext cx="6388443" cy="39616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835A119-8316-87FC-3810-63FFCED28CF0}"/>
              </a:ext>
            </a:extLst>
          </p:cNvPr>
          <p:cNvSpPr/>
          <p:nvPr/>
        </p:nvSpPr>
        <p:spPr>
          <a:xfrm>
            <a:off x="2780269" y="935344"/>
            <a:ext cx="225821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48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466510" y="3541581"/>
            <a:ext cx="4568785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 threshold parameter is specified by the second argument, “</a:t>
            </a:r>
            <a:r>
              <a:rPr lang="en-US" sz="2400" dirty="0" err="1"/>
              <a:t>Tstar</a:t>
            </a:r>
            <a:r>
              <a:rPr lang="en-US" sz="2400" dirty="0"/>
              <a:t>”. Here you can see the effect of various values of “</a:t>
            </a:r>
            <a:r>
              <a:rPr lang="en-US" sz="2400" dirty="0" err="1"/>
              <a:t>Tstar</a:t>
            </a:r>
            <a:r>
              <a:rPr lang="en-US" sz="2400" dirty="0"/>
              <a:t>”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408864-8E56-E11A-74AC-E145F3550393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3189E-C647-1CA2-F1B8-69E7407390A9}"/>
              </a:ext>
            </a:extLst>
          </p:cNvPr>
          <p:cNvSpPr/>
          <p:nvPr/>
        </p:nvSpPr>
        <p:spPr>
          <a:xfrm>
            <a:off x="3113896" y="927795"/>
            <a:ext cx="852624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29FBA-C103-0876-D655-FAE671303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484" y="2881900"/>
            <a:ext cx="6259440" cy="386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8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466511" y="3541581"/>
            <a:ext cx="4772754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Here’s the effect of different values of the 3</a:t>
            </a:r>
            <a:r>
              <a:rPr lang="en-US" sz="2400" baseline="30000" dirty="0"/>
              <a:t>rd</a:t>
            </a:r>
            <a:r>
              <a:rPr lang="en-US" sz="2400" dirty="0"/>
              <a:t> argument, “</a:t>
            </a:r>
            <a:r>
              <a:rPr lang="en-US" sz="2400" dirty="0" err="1"/>
              <a:t>deltaT</a:t>
            </a:r>
            <a:r>
              <a:rPr lang="en-US" sz="2400" dirty="0"/>
              <a:t>” (also referred to as “</a:t>
            </a:r>
            <a:r>
              <a:rPr lang="en-US" sz="2400" dirty="0" err="1"/>
              <a:t>T_transition</a:t>
            </a:r>
            <a:r>
              <a:rPr lang="en-US" sz="2400" dirty="0"/>
              <a:t>” in the Notebook)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408864-8E56-E11A-74AC-E145F3550393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3189E-C647-1CA2-F1B8-69E7407390A9}"/>
              </a:ext>
            </a:extLst>
          </p:cNvPr>
          <p:cNvSpPr/>
          <p:nvPr/>
        </p:nvSpPr>
        <p:spPr>
          <a:xfrm>
            <a:off x="4127155" y="927795"/>
            <a:ext cx="1025613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DB6B47-AF2D-7990-147D-EF9421BC3975}"/>
              </a:ext>
            </a:extLst>
          </p:cNvPr>
          <p:cNvGrpSpPr/>
          <p:nvPr/>
        </p:nvGrpSpPr>
        <p:grpSpPr>
          <a:xfrm>
            <a:off x="5583236" y="2817359"/>
            <a:ext cx="5733494" cy="3662614"/>
            <a:chOff x="5583236" y="2817359"/>
            <a:chExt cx="5733494" cy="36626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B672E8-BA46-A267-9FC7-9D1EF99A5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3236" y="2817359"/>
              <a:ext cx="5733494" cy="3662614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01E4488-0F6B-B7BD-F8C4-D7547F510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66623" y="2935768"/>
              <a:ext cx="1497420" cy="686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025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623DB3D9-F8B2-EF3A-615D-08D72EF9E0CC}"/>
              </a:ext>
            </a:extLst>
          </p:cNvPr>
          <p:cNvSpPr txBox="1"/>
          <p:nvPr/>
        </p:nvSpPr>
        <p:spPr>
          <a:xfrm>
            <a:off x="466510" y="3541581"/>
            <a:ext cx="464193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Here’s the effect of different values of the 4</a:t>
            </a:r>
            <a:r>
              <a:rPr lang="en-US" sz="2400" baseline="30000" dirty="0"/>
              <a:t>th</a:t>
            </a:r>
            <a:r>
              <a:rPr lang="en-US" sz="2400" dirty="0"/>
              <a:t> argument, “floor”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272A4-26B7-CEF9-B808-6F07EA9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1" y="927795"/>
            <a:ext cx="11718818" cy="18449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9B0B5B-22C3-B586-1B15-B96D1C423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725" y="2772741"/>
            <a:ext cx="6291125" cy="40852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0408864-8E56-E11A-74AC-E145F3550393}"/>
              </a:ext>
            </a:extLst>
          </p:cNvPr>
          <p:cNvSpPr txBox="1">
            <a:spLocks/>
          </p:cNvSpPr>
          <p:nvPr/>
        </p:nvSpPr>
        <p:spPr>
          <a:xfrm>
            <a:off x="0" y="-12435"/>
            <a:ext cx="12192000" cy="59320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To implement certain kinds of feedbacks, we’ll need a sigmoid function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3189E-C647-1CA2-F1B8-69E7407390A9}"/>
              </a:ext>
            </a:extLst>
          </p:cNvPr>
          <p:cNvSpPr/>
          <p:nvPr/>
        </p:nvSpPr>
        <p:spPr>
          <a:xfrm>
            <a:off x="5263977" y="927795"/>
            <a:ext cx="914401" cy="481914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7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EDB417-75C1-7C3D-29BA-9A8775BF1B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00"/>
          <a:stretch/>
        </p:blipFill>
        <p:spPr>
          <a:xfrm>
            <a:off x="539496" y="678113"/>
            <a:ext cx="8668662" cy="4698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3BC787-BFD1-1337-30E2-50B7EFEB3610}"/>
              </a:ext>
            </a:extLst>
          </p:cNvPr>
          <p:cNvSpPr txBox="1"/>
          <p:nvPr/>
        </p:nvSpPr>
        <p:spPr>
          <a:xfrm>
            <a:off x="0" y="-11575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376C1-D294-233A-F7CA-38B148D7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888" y="5527294"/>
            <a:ext cx="7571270" cy="111734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6550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168</Words>
  <Application>Microsoft Macintosh PowerPoint</Application>
  <PresentationFormat>Widescreen</PresentationFormat>
  <Paragraphs>15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119</cp:revision>
  <dcterms:created xsi:type="dcterms:W3CDTF">2021-09-25T22:03:07Z</dcterms:created>
  <dcterms:modified xsi:type="dcterms:W3CDTF">2026-03-02T01:31:04Z</dcterms:modified>
</cp:coreProperties>
</file>