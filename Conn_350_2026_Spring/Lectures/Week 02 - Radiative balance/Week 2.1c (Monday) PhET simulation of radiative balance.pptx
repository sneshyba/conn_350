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jj31J1nE9MdgQaEHoFTK9YWrcD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Have both upwelling longwave light from the surface and downwelling longwave light </a:t>
            </a:r>
            <a:r>
              <a:rPr lang="en-US"/>
              <a:t>front</a:t>
            </a:r>
            <a:r>
              <a:rPr lang="en-US"/>
              <a:t> the atmosphere</a:t>
            </a:r>
            <a:endParaRPr/>
          </a:p>
        </p:txBody>
      </p:sp>
      <p:sp>
        <p:nvSpPr>
          <p:cNvPr id="157" name="Google Shape;15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3"/>
          <p:cNvSpPr/>
          <p:nvPr>
            <p:ph idx="2" type="pic"/>
          </p:nvPr>
        </p:nvSpPr>
        <p:spPr>
          <a:xfrm>
            <a:off x="5183188" y="987425"/>
            <a:ext cx="6172200" cy="4873625"/>
          </a:xfrm>
          <a:prstGeom prst="rect">
            <a:avLst/>
          </a:prstGeom>
          <a:noFill/>
          <a:ln>
            <a:noFill/>
          </a:ln>
        </p:spPr>
      </p:sp>
      <p:sp>
        <p:nvSpPr>
          <p:cNvPr id="64" name="Google Shape;64;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phet.colorado.edu/sims/cheerpj/greenhouse/latest/greenhouse.html?simulation=greenhouse" TargetMode="External"/><Relationship Id="rId4" Type="http://schemas.openxmlformats.org/officeDocument/2006/relationships/hyperlink" Target="https://phet.colorado.edu/sims/cheerpj/greenhouse/latest/greenhouse.html?simulation=greenhouse" TargetMode="External"/><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hyperlink" Target="https://www.sliderbase.com/spitem-1155-2.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phet.colorado.edu/sims/cheerpj/greenhouse/latest/greenhouse.html?simulation=greenhouse" TargetMode="External"/><Relationship Id="rId4" Type="http://schemas.openxmlformats.org/officeDocument/2006/relationships/hyperlink" Target="https://phet.colorado.edu/sims/cheerpj/greenhouse/latest/greenhouse.html?simulation=greenhouse" TargetMode="External"/><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hyperlink" Target="https://www.sliderbase.com/spitem-1155-2.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phet.colorado.edu/sims/cheerpj/greenhouse/latest/greenhouse.html?simulation=greenhouse" TargetMode="External"/><Relationship Id="rId4" Type="http://schemas.openxmlformats.org/officeDocument/2006/relationships/hyperlink" Target="https://phet.colorado.edu/sims/cheerpj/greenhouse/latest/greenhouse.html?simulation=greenhouse" TargetMode="External"/><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hyperlink" Target="https://www.sliderbase.com/spitem-1155-2.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phet.colorado.edu/sims/cheerpj/greenhouse/latest/greenhouse.html?simulation=greenhouse" TargetMode="External"/><Relationship Id="rId4" Type="http://schemas.openxmlformats.org/officeDocument/2006/relationships/hyperlink" Target="https://phet.colorado.edu/sims/cheerpj/greenhouse/latest/greenhouse.html?simulation=greenhouse" TargetMode="External"/><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hyperlink" Target="https://www.sliderbase.com/spitem-1155-2.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phet.colorado.edu/sims/cheerpj/greenhouse/latest/greenhouse.html?simulation=greenhouse" TargetMode="External"/><Relationship Id="rId4" Type="http://schemas.openxmlformats.org/officeDocument/2006/relationships/hyperlink" Target="https://phet.colorado.edu/sims/cheerpj/greenhouse/latest/greenhouse.html?simulation=greenhouse" TargetMode="External"/><Relationship Id="rId5" Type="http://schemas.openxmlformats.org/officeDocument/2006/relationships/image" Target="../media/image6.png"/><Relationship Id="rId6" Type="http://schemas.openxmlformats.org/officeDocument/2006/relationships/image" Target="../media/image4.jpg"/><Relationship Id="rId7" Type="http://schemas.openxmlformats.org/officeDocument/2006/relationships/hyperlink" Target="http://earthshinefoundation.org/images/whatisearthshine.jp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phet.colorado.edu/sims/cheerpj/greenhouse/latest/greenhouse.html?simulation=greenhouse" TargetMode="External"/><Relationship Id="rId4" Type="http://schemas.openxmlformats.org/officeDocument/2006/relationships/hyperlink" Target="https://phet.colorado.edu/sims/cheerpj/greenhouse/latest/greenhouse.html?simulation=greenhouse" TargetMode="External"/><Relationship Id="rId5" Type="http://schemas.openxmlformats.org/officeDocument/2006/relationships/image" Target="../media/image6.png"/><Relationship Id="rId6"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phet.colorado.edu/sims/cheerpj/greenhouse/latest/greenhouse.html?simulation=greenhouse" TargetMode="External"/><Relationship Id="rId4" Type="http://schemas.openxmlformats.org/officeDocument/2006/relationships/image" Target="../media/image6.png"/><Relationship Id="rId5" Type="http://schemas.openxmlformats.org/officeDocument/2006/relationships/hyperlink" Target="https://phet.colorado.edu/sims/cheerpj/greenhouse/latest/greenhouse.html?simulation=greenhouse" TargetMode="External"/><Relationship Id="rId6"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phet.colorado.edu/sims/cheerpj/greenhouse/latest/greenhouse.html?simulation=greenhouse" TargetMode="External"/><Relationship Id="rId4" Type="http://schemas.openxmlformats.org/officeDocument/2006/relationships/image" Target="../media/image6.png"/><Relationship Id="rId5" Type="http://schemas.openxmlformats.org/officeDocument/2006/relationships/hyperlink" Target="https://phet.colorado.edu/sims/cheerpj/greenhouse/latest/greenhouse.html?simulation=greenhouse" TargetMode="External"/><Relationship Id="rId6"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phet.colorado.edu/sims/cheerpj/greenhouse/latest/greenhouse.html?simulation=greenhouse" TargetMode="External"/><Relationship Id="rId4" Type="http://schemas.openxmlformats.org/officeDocument/2006/relationships/image" Target="../media/image6.png"/><Relationship Id="rId5" Type="http://schemas.openxmlformats.org/officeDocument/2006/relationships/hyperlink" Target="https://phet.colorado.edu/sims/cheerpj/greenhouse/latest/greenhouse.html?simulation=greenhous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phet.colorado.edu/sims/cheerpj/greenhouse/latest/greenhouse.html?simulation=greenhouse" TargetMode="External"/><Relationship Id="rId4" Type="http://schemas.openxmlformats.org/officeDocument/2006/relationships/image" Target="../media/image6.png"/><Relationship Id="rId5" Type="http://schemas.openxmlformats.org/officeDocument/2006/relationships/hyperlink" Target="https://phet.colorado.edu/sims/cheerpj/greenhouse/latest/greenhouse.html?simulation=greenhous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phet.colorado.edu/sims/cheerpj/greenhouse/latest/greenhouse.html?simulation=greenhouse" TargetMode="External"/><Relationship Id="rId4" Type="http://schemas.openxmlformats.org/officeDocument/2006/relationships/image" Target="../media/image6.png"/><Relationship Id="rId5" Type="http://schemas.openxmlformats.org/officeDocument/2006/relationships/hyperlink" Target="https://phet.colorado.edu/sims/cheerpj/greenhouse/latest/greenhouse.html?simulation=greenhous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phet.colorado.edu/sims/cheerpj/greenhouse/latest/greenhouse.html?simulation=greenhouse" TargetMode="External"/><Relationship Id="rId4" Type="http://schemas.openxmlformats.org/officeDocument/2006/relationships/image" Target="../media/image5.png"/><Relationship Id="rId5"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0" y="0"/>
            <a:ext cx="12192000" cy="461665"/>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dk1"/>
                </a:solidFill>
                <a:latin typeface="Calibri"/>
                <a:ea typeface="Calibri"/>
                <a:cs typeface="Calibri"/>
                <a:sym typeface="Calibri"/>
              </a:rPr>
              <a:t>PhET simulation – shortwave radiation</a:t>
            </a:r>
            <a:endParaRPr/>
          </a:p>
        </p:txBody>
      </p:sp>
      <p:sp>
        <p:nvSpPr>
          <p:cNvPr id="85" name="Google Shape;85;p1"/>
          <p:cNvSpPr/>
          <p:nvPr/>
        </p:nvSpPr>
        <p:spPr>
          <a:xfrm>
            <a:off x="357396" y="5318626"/>
            <a:ext cx="472518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3">
                  <a:extLst>
                    <a:ext uri="{A12FA001-AC4F-418D-AE19-62706E023703}">
                      <ahyp:hlinkClr val="tx"/>
                    </a:ext>
                  </a:extLst>
                </a:hlinkClick>
              </a:rPr>
              <a:t>https://phet.colorado.edu/sims/cheerpj/greenhouse/latest/greenhouse.html?simulation=greenhouse</a:t>
            </a:r>
            <a:endParaRPr sz="1200">
              <a:solidFill>
                <a:schemeClr val="dk1"/>
              </a:solidFill>
              <a:latin typeface="Calibri"/>
              <a:ea typeface="Calibri"/>
              <a:cs typeface="Calibri"/>
              <a:sym typeface="Calibri"/>
            </a:endParaRPr>
          </a:p>
        </p:txBody>
      </p:sp>
      <p:pic>
        <p:nvPicPr>
          <p:cNvPr id="86" name="Google Shape;86;p1">
            <a:hlinkClick r:id="rId4"/>
          </p:cNvPr>
          <p:cNvPicPr preferRelativeResize="0"/>
          <p:nvPr/>
        </p:nvPicPr>
        <p:blipFill rotWithShape="1">
          <a:blip r:embed="rId5">
            <a:alphaModFix/>
          </a:blip>
          <a:srcRect b="0" l="0" r="0" t="0"/>
          <a:stretch/>
        </p:blipFill>
        <p:spPr>
          <a:xfrm>
            <a:off x="376428" y="2314849"/>
            <a:ext cx="4725180" cy="2820297"/>
          </a:xfrm>
          <a:prstGeom prst="rect">
            <a:avLst/>
          </a:prstGeom>
          <a:noFill/>
          <a:ln>
            <a:noFill/>
          </a:ln>
        </p:spPr>
      </p:pic>
      <p:sp>
        <p:nvSpPr>
          <p:cNvPr id="87" name="Google Shape;87;p1"/>
          <p:cNvSpPr txBox="1"/>
          <p:nvPr/>
        </p:nvSpPr>
        <p:spPr>
          <a:xfrm>
            <a:off x="376428" y="1157424"/>
            <a:ext cx="1159611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Yellow</a:t>
            </a:r>
            <a:r>
              <a:rPr lang="en-US" sz="2400">
                <a:solidFill>
                  <a:schemeClr val="dk1"/>
                </a:solidFill>
                <a:latin typeface="Calibri"/>
                <a:ea typeface="Calibri"/>
                <a:cs typeface="Calibri"/>
                <a:sym typeface="Calibri"/>
              </a:rPr>
              <a:t> photons represent </a:t>
            </a:r>
            <a:r>
              <a:rPr b="1" lang="en-US" sz="2400">
                <a:solidFill>
                  <a:schemeClr val="dk1"/>
                </a:solidFill>
                <a:latin typeface="Calibri"/>
                <a:ea typeface="Calibri"/>
                <a:cs typeface="Calibri"/>
                <a:sym typeface="Calibri"/>
              </a:rPr>
              <a:t>shortwave radiation </a:t>
            </a:r>
            <a:r>
              <a:rPr lang="en-US" sz="2400">
                <a:solidFill>
                  <a:schemeClr val="dk1"/>
                </a:solidFill>
                <a:latin typeface="Calibri"/>
                <a:ea typeface="Calibri"/>
                <a:cs typeface="Calibri"/>
                <a:sym typeface="Calibri"/>
              </a:rPr>
              <a:t>from the sun. </a:t>
            </a:r>
            <a:endParaRPr/>
          </a:p>
        </p:txBody>
      </p:sp>
      <p:pic>
        <p:nvPicPr>
          <p:cNvPr id="88" name="Google Shape;88;p1"/>
          <p:cNvPicPr preferRelativeResize="0"/>
          <p:nvPr/>
        </p:nvPicPr>
        <p:blipFill rotWithShape="1">
          <a:blip r:embed="rId6">
            <a:alphaModFix/>
          </a:blip>
          <a:srcRect b="20579" l="0" r="52000" t="13156"/>
          <a:stretch/>
        </p:blipFill>
        <p:spPr>
          <a:xfrm>
            <a:off x="6799110" y="2012388"/>
            <a:ext cx="3308058" cy="3425218"/>
          </a:xfrm>
          <a:prstGeom prst="rect">
            <a:avLst/>
          </a:prstGeom>
          <a:noFill/>
          <a:ln>
            <a:noFill/>
          </a:ln>
        </p:spPr>
      </p:pic>
      <p:sp>
        <p:nvSpPr>
          <p:cNvPr id="89" name="Google Shape;89;p1"/>
          <p:cNvSpPr txBox="1"/>
          <p:nvPr/>
        </p:nvSpPr>
        <p:spPr>
          <a:xfrm>
            <a:off x="6799110" y="5437798"/>
            <a:ext cx="330805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7">
                  <a:extLst>
                    <a:ext uri="{A12FA001-AC4F-418D-AE19-62706E023703}">
                      <ahyp:hlinkClr val="tx"/>
                    </a:ext>
                  </a:extLst>
                </a:hlinkClick>
              </a:rPr>
              <a:t>https://www.sliderbase.com/spitem-1155-2.html</a:t>
            </a:r>
            <a:endParaRPr sz="12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nvSpPr>
        <p:spPr>
          <a:xfrm>
            <a:off x="0" y="0"/>
            <a:ext cx="12192000" cy="461665"/>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PhET simulation – shortwave radiation</a:t>
            </a:r>
            <a:endParaRPr/>
          </a:p>
        </p:txBody>
      </p:sp>
      <p:sp>
        <p:nvSpPr>
          <p:cNvPr id="95" name="Google Shape;95;p2"/>
          <p:cNvSpPr/>
          <p:nvPr/>
        </p:nvSpPr>
        <p:spPr>
          <a:xfrm>
            <a:off x="357396" y="5318626"/>
            <a:ext cx="472518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3">
                  <a:extLst>
                    <a:ext uri="{A12FA001-AC4F-418D-AE19-62706E023703}">
                      <ahyp:hlinkClr val="tx"/>
                    </a:ext>
                  </a:extLst>
                </a:hlinkClick>
              </a:rPr>
              <a:t>https://phet.colorado.edu/sims/cheerpj/greenhouse/latest/greenhouse.html?simulation=greenhouse</a:t>
            </a:r>
            <a:endParaRPr sz="1200">
              <a:solidFill>
                <a:schemeClr val="dk1"/>
              </a:solidFill>
              <a:latin typeface="Calibri"/>
              <a:ea typeface="Calibri"/>
              <a:cs typeface="Calibri"/>
              <a:sym typeface="Calibri"/>
            </a:endParaRPr>
          </a:p>
        </p:txBody>
      </p:sp>
      <p:pic>
        <p:nvPicPr>
          <p:cNvPr id="96" name="Google Shape;96;p2">
            <a:hlinkClick r:id="rId4"/>
          </p:cNvPr>
          <p:cNvPicPr preferRelativeResize="0"/>
          <p:nvPr/>
        </p:nvPicPr>
        <p:blipFill rotWithShape="1">
          <a:blip r:embed="rId5">
            <a:alphaModFix/>
          </a:blip>
          <a:srcRect b="0" l="0" r="0" t="0"/>
          <a:stretch/>
        </p:blipFill>
        <p:spPr>
          <a:xfrm>
            <a:off x="376428" y="2314849"/>
            <a:ext cx="4725180" cy="2820297"/>
          </a:xfrm>
          <a:prstGeom prst="rect">
            <a:avLst/>
          </a:prstGeom>
          <a:noFill/>
          <a:ln>
            <a:noFill/>
          </a:ln>
        </p:spPr>
      </p:pic>
      <p:pic>
        <p:nvPicPr>
          <p:cNvPr id="97" name="Google Shape;97;p2"/>
          <p:cNvPicPr preferRelativeResize="0"/>
          <p:nvPr/>
        </p:nvPicPr>
        <p:blipFill rotWithShape="1">
          <a:blip r:embed="rId6">
            <a:alphaModFix/>
          </a:blip>
          <a:srcRect b="20579" l="0" r="52000" t="13156"/>
          <a:stretch/>
        </p:blipFill>
        <p:spPr>
          <a:xfrm>
            <a:off x="6799110" y="2012388"/>
            <a:ext cx="3308058" cy="3425218"/>
          </a:xfrm>
          <a:prstGeom prst="rect">
            <a:avLst/>
          </a:prstGeom>
          <a:noFill/>
          <a:ln>
            <a:noFill/>
          </a:ln>
        </p:spPr>
      </p:pic>
      <p:sp>
        <p:nvSpPr>
          <p:cNvPr id="98" name="Google Shape;98;p2"/>
          <p:cNvSpPr txBox="1"/>
          <p:nvPr/>
        </p:nvSpPr>
        <p:spPr>
          <a:xfrm>
            <a:off x="6799110" y="5437798"/>
            <a:ext cx="330805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7">
                  <a:extLst>
                    <a:ext uri="{A12FA001-AC4F-418D-AE19-62706E023703}">
                      <ahyp:hlinkClr val="tx"/>
                    </a:ext>
                  </a:extLst>
                </a:hlinkClick>
              </a:rPr>
              <a:t>https://www.sliderbase.com/spitem-1155-2.html</a:t>
            </a:r>
            <a:endParaRPr sz="1200">
              <a:solidFill>
                <a:schemeClr val="dk1"/>
              </a:solidFill>
              <a:latin typeface="Calibri"/>
              <a:ea typeface="Calibri"/>
              <a:cs typeface="Calibri"/>
              <a:sym typeface="Calibri"/>
            </a:endParaRPr>
          </a:p>
        </p:txBody>
      </p:sp>
      <p:sp>
        <p:nvSpPr>
          <p:cNvPr id="99" name="Google Shape;99;p2"/>
          <p:cNvSpPr txBox="1"/>
          <p:nvPr/>
        </p:nvSpPr>
        <p:spPr>
          <a:xfrm>
            <a:off x="8067819" y="2882112"/>
            <a:ext cx="145600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Visible part of shortwave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nvSpPr>
        <p:spPr>
          <a:xfrm>
            <a:off x="0" y="0"/>
            <a:ext cx="12192000" cy="461665"/>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PhET simulation – shortwave radiation</a:t>
            </a:r>
            <a:endParaRPr/>
          </a:p>
        </p:txBody>
      </p:sp>
      <p:sp>
        <p:nvSpPr>
          <p:cNvPr id="105" name="Google Shape;105;p3"/>
          <p:cNvSpPr/>
          <p:nvPr/>
        </p:nvSpPr>
        <p:spPr>
          <a:xfrm>
            <a:off x="357396" y="5318626"/>
            <a:ext cx="472518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3">
                  <a:extLst>
                    <a:ext uri="{A12FA001-AC4F-418D-AE19-62706E023703}">
                      <ahyp:hlinkClr val="tx"/>
                    </a:ext>
                  </a:extLst>
                </a:hlinkClick>
              </a:rPr>
              <a:t>https://phet.colorado.edu/sims/cheerpj/greenhouse/latest/greenhouse.html?simulation=greenhouse</a:t>
            </a:r>
            <a:endParaRPr sz="1200">
              <a:solidFill>
                <a:schemeClr val="dk1"/>
              </a:solidFill>
              <a:latin typeface="Calibri"/>
              <a:ea typeface="Calibri"/>
              <a:cs typeface="Calibri"/>
              <a:sym typeface="Calibri"/>
            </a:endParaRPr>
          </a:p>
        </p:txBody>
      </p:sp>
      <p:pic>
        <p:nvPicPr>
          <p:cNvPr id="106" name="Google Shape;106;p3">
            <a:hlinkClick r:id="rId4"/>
          </p:cNvPr>
          <p:cNvPicPr preferRelativeResize="0"/>
          <p:nvPr/>
        </p:nvPicPr>
        <p:blipFill rotWithShape="1">
          <a:blip r:embed="rId5">
            <a:alphaModFix/>
          </a:blip>
          <a:srcRect b="0" l="0" r="0" t="0"/>
          <a:stretch/>
        </p:blipFill>
        <p:spPr>
          <a:xfrm>
            <a:off x="376428" y="2314849"/>
            <a:ext cx="4725180" cy="2820297"/>
          </a:xfrm>
          <a:prstGeom prst="rect">
            <a:avLst/>
          </a:prstGeom>
          <a:noFill/>
          <a:ln>
            <a:noFill/>
          </a:ln>
        </p:spPr>
      </p:pic>
      <p:pic>
        <p:nvPicPr>
          <p:cNvPr id="107" name="Google Shape;107;p3"/>
          <p:cNvPicPr preferRelativeResize="0"/>
          <p:nvPr/>
        </p:nvPicPr>
        <p:blipFill rotWithShape="1">
          <a:blip r:embed="rId6">
            <a:alphaModFix/>
          </a:blip>
          <a:srcRect b="20579" l="0" r="52000" t="13156"/>
          <a:stretch/>
        </p:blipFill>
        <p:spPr>
          <a:xfrm>
            <a:off x="6799110" y="2012388"/>
            <a:ext cx="3308058" cy="3425218"/>
          </a:xfrm>
          <a:prstGeom prst="rect">
            <a:avLst/>
          </a:prstGeom>
          <a:noFill/>
          <a:ln>
            <a:noFill/>
          </a:ln>
        </p:spPr>
      </p:pic>
      <p:sp>
        <p:nvSpPr>
          <p:cNvPr id="108" name="Google Shape;108;p3"/>
          <p:cNvSpPr txBox="1"/>
          <p:nvPr/>
        </p:nvSpPr>
        <p:spPr>
          <a:xfrm>
            <a:off x="6799110" y="5437798"/>
            <a:ext cx="330805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7">
                  <a:extLst>
                    <a:ext uri="{A12FA001-AC4F-418D-AE19-62706E023703}">
                      <ahyp:hlinkClr val="tx"/>
                    </a:ext>
                  </a:extLst>
                </a:hlinkClick>
              </a:rPr>
              <a:t>https://www.sliderbase.com/spitem-1155-2.html</a:t>
            </a:r>
            <a:endParaRPr sz="1200">
              <a:solidFill>
                <a:schemeClr val="dk1"/>
              </a:solidFill>
              <a:latin typeface="Calibri"/>
              <a:ea typeface="Calibri"/>
              <a:cs typeface="Calibri"/>
              <a:sym typeface="Calibri"/>
            </a:endParaRPr>
          </a:p>
        </p:txBody>
      </p:sp>
      <p:sp>
        <p:nvSpPr>
          <p:cNvPr id="109" name="Google Shape;109;p3"/>
          <p:cNvSpPr txBox="1"/>
          <p:nvPr/>
        </p:nvSpPr>
        <p:spPr>
          <a:xfrm>
            <a:off x="9298743" y="4220308"/>
            <a:ext cx="115355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Near infrared</a:t>
            </a:r>
            <a:endParaRPr/>
          </a:p>
        </p:txBody>
      </p:sp>
      <p:sp>
        <p:nvSpPr>
          <p:cNvPr id="110" name="Google Shape;110;p3"/>
          <p:cNvSpPr txBox="1"/>
          <p:nvPr/>
        </p:nvSpPr>
        <p:spPr>
          <a:xfrm>
            <a:off x="8067819" y="2882112"/>
            <a:ext cx="145600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Visible part of shortwave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txBox="1"/>
          <p:nvPr/>
        </p:nvSpPr>
        <p:spPr>
          <a:xfrm>
            <a:off x="0" y="0"/>
            <a:ext cx="12192000" cy="461665"/>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PhET simulation – shortwave radiation</a:t>
            </a:r>
            <a:endParaRPr/>
          </a:p>
        </p:txBody>
      </p:sp>
      <p:sp>
        <p:nvSpPr>
          <p:cNvPr id="116" name="Google Shape;116;p4"/>
          <p:cNvSpPr/>
          <p:nvPr/>
        </p:nvSpPr>
        <p:spPr>
          <a:xfrm>
            <a:off x="357396" y="5318626"/>
            <a:ext cx="472518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3">
                  <a:extLst>
                    <a:ext uri="{A12FA001-AC4F-418D-AE19-62706E023703}">
                      <ahyp:hlinkClr val="tx"/>
                    </a:ext>
                  </a:extLst>
                </a:hlinkClick>
              </a:rPr>
              <a:t>https://phet.colorado.edu/sims/cheerpj/greenhouse/latest/greenhouse.html?simulation=greenhouse</a:t>
            </a:r>
            <a:endParaRPr sz="1200">
              <a:solidFill>
                <a:schemeClr val="dk1"/>
              </a:solidFill>
              <a:latin typeface="Calibri"/>
              <a:ea typeface="Calibri"/>
              <a:cs typeface="Calibri"/>
              <a:sym typeface="Calibri"/>
            </a:endParaRPr>
          </a:p>
        </p:txBody>
      </p:sp>
      <p:pic>
        <p:nvPicPr>
          <p:cNvPr id="117" name="Google Shape;117;p4">
            <a:hlinkClick r:id="rId4"/>
          </p:cNvPr>
          <p:cNvPicPr preferRelativeResize="0"/>
          <p:nvPr/>
        </p:nvPicPr>
        <p:blipFill rotWithShape="1">
          <a:blip r:embed="rId5">
            <a:alphaModFix/>
          </a:blip>
          <a:srcRect b="0" l="0" r="0" t="0"/>
          <a:stretch/>
        </p:blipFill>
        <p:spPr>
          <a:xfrm>
            <a:off x="376428" y="2314849"/>
            <a:ext cx="4725180" cy="2820297"/>
          </a:xfrm>
          <a:prstGeom prst="rect">
            <a:avLst/>
          </a:prstGeom>
          <a:noFill/>
          <a:ln>
            <a:noFill/>
          </a:ln>
        </p:spPr>
      </p:pic>
      <p:pic>
        <p:nvPicPr>
          <p:cNvPr id="118" name="Google Shape;118;p4"/>
          <p:cNvPicPr preferRelativeResize="0"/>
          <p:nvPr/>
        </p:nvPicPr>
        <p:blipFill rotWithShape="1">
          <a:blip r:embed="rId6">
            <a:alphaModFix/>
          </a:blip>
          <a:srcRect b="20579" l="0" r="52000" t="13156"/>
          <a:stretch/>
        </p:blipFill>
        <p:spPr>
          <a:xfrm>
            <a:off x="6799110" y="2012388"/>
            <a:ext cx="3308058" cy="3425218"/>
          </a:xfrm>
          <a:prstGeom prst="rect">
            <a:avLst/>
          </a:prstGeom>
          <a:noFill/>
          <a:ln>
            <a:noFill/>
          </a:ln>
        </p:spPr>
      </p:pic>
      <p:sp>
        <p:nvSpPr>
          <p:cNvPr id="119" name="Google Shape;119;p4"/>
          <p:cNvSpPr txBox="1"/>
          <p:nvPr/>
        </p:nvSpPr>
        <p:spPr>
          <a:xfrm>
            <a:off x="6799110" y="5437798"/>
            <a:ext cx="330805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7">
                  <a:extLst>
                    <a:ext uri="{A12FA001-AC4F-418D-AE19-62706E023703}">
                      <ahyp:hlinkClr val="tx"/>
                    </a:ext>
                  </a:extLst>
                </a:hlinkClick>
              </a:rPr>
              <a:t>https://www.sliderbase.com/spitem-1155-2.html</a:t>
            </a:r>
            <a:endParaRPr sz="1200">
              <a:solidFill>
                <a:schemeClr val="dk1"/>
              </a:solidFill>
              <a:latin typeface="Calibri"/>
              <a:ea typeface="Calibri"/>
              <a:cs typeface="Calibri"/>
              <a:sym typeface="Calibri"/>
            </a:endParaRPr>
          </a:p>
        </p:txBody>
      </p:sp>
      <p:sp>
        <p:nvSpPr>
          <p:cNvPr id="120" name="Google Shape;120;p4"/>
          <p:cNvSpPr txBox="1"/>
          <p:nvPr/>
        </p:nvSpPr>
        <p:spPr>
          <a:xfrm>
            <a:off x="9298743" y="4220308"/>
            <a:ext cx="115355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Near infrared</a:t>
            </a:r>
            <a:endParaRPr/>
          </a:p>
        </p:txBody>
      </p:sp>
      <p:sp>
        <p:nvSpPr>
          <p:cNvPr id="121" name="Google Shape;121;p4"/>
          <p:cNvSpPr txBox="1"/>
          <p:nvPr/>
        </p:nvSpPr>
        <p:spPr>
          <a:xfrm>
            <a:off x="7104185" y="4404974"/>
            <a:ext cx="13362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ultraviolet</a:t>
            </a:r>
            <a:endParaRPr/>
          </a:p>
        </p:txBody>
      </p:sp>
      <p:sp>
        <p:nvSpPr>
          <p:cNvPr id="122" name="Google Shape;122;p4"/>
          <p:cNvSpPr txBox="1"/>
          <p:nvPr/>
        </p:nvSpPr>
        <p:spPr>
          <a:xfrm>
            <a:off x="8067819" y="2882112"/>
            <a:ext cx="145600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Visible part of shortwave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nvSpPr>
        <p:spPr>
          <a:xfrm>
            <a:off x="0" y="0"/>
            <a:ext cx="12192000" cy="461665"/>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PhET simulation – shortwave radiation</a:t>
            </a:r>
            <a:endParaRPr/>
          </a:p>
        </p:txBody>
      </p:sp>
      <p:sp>
        <p:nvSpPr>
          <p:cNvPr id="128" name="Google Shape;128;p5"/>
          <p:cNvSpPr/>
          <p:nvPr/>
        </p:nvSpPr>
        <p:spPr>
          <a:xfrm>
            <a:off x="357396" y="5318626"/>
            <a:ext cx="472518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3">
                  <a:extLst>
                    <a:ext uri="{A12FA001-AC4F-418D-AE19-62706E023703}">
                      <ahyp:hlinkClr val="tx"/>
                    </a:ext>
                  </a:extLst>
                </a:hlinkClick>
              </a:rPr>
              <a:t>https://phet.colorado.edu/sims/cheerpj/greenhouse/latest/greenhouse.html?simulation=greenhouse</a:t>
            </a:r>
            <a:endParaRPr sz="1200">
              <a:solidFill>
                <a:schemeClr val="dk1"/>
              </a:solidFill>
              <a:latin typeface="Calibri"/>
              <a:ea typeface="Calibri"/>
              <a:cs typeface="Calibri"/>
              <a:sym typeface="Calibri"/>
            </a:endParaRPr>
          </a:p>
        </p:txBody>
      </p:sp>
      <p:pic>
        <p:nvPicPr>
          <p:cNvPr id="129" name="Google Shape;129;p5">
            <a:hlinkClick r:id="rId4"/>
          </p:cNvPr>
          <p:cNvPicPr preferRelativeResize="0"/>
          <p:nvPr/>
        </p:nvPicPr>
        <p:blipFill rotWithShape="1">
          <a:blip r:embed="rId5">
            <a:alphaModFix/>
          </a:blip>
          <a:srcRect b="0" l="0" r="0" t="0"/>
          <a:stretch/>
        </p:blipFill>
        <p:spPr>
          <a:xfrm>
            <a:off x="376428" y="2314849"/>
            <a:ext cx="4725180" cy="2820297"/>
          </a:xfrm>
          <a:prstGeom prst="rect">
            <a:avLst/>
          </a:prstGeom>
          <a:noFill/>
          <a:ln>
            <a:noFill/>
          </a:ln>
        </p:spPr>
      </p:pic>
      <p:pic>
        <p:nvPicPr>
          <p:cNvPr descr="Insolation - QS Study" id="130" name="Google Shape;130;p5"/>
          <p:cNvPicPr preferRelativeResize="0"/>
          <p:nvPr/>
        </p:nvPicPr>
        <p:blipFill rotWithShape="1">
          <a:blip r:embed="rId6">
            <a:alphaModFix/>
          </a:blip>
          <a:srcRect b="0" l="0" r="0" t="0"/>
          <a:stretch/>
        </p:blipFill>
        <p:spPr>
          <a:xfrm>
            <a:off x="5205898" y="1925910"/>
            <a:ext cx="6746866" cy="3373433"/>
          </a:xfrm>
          <a:prstGeom prst="rect">
            <a:avLst/>
          </a:prstGeom>
          <a:noFill/>
          <a:ln>
            <a:noFill/>
          </a:ln>
        </p:spPr>
      </p:pic>
      <p:sp>
        <p:nvSpPr>
          <p:cNvPr id="131" name="Google Shape;131;p5"/>
          <p:cNvSpPr txBox="1"/>
          <p:nvPr/>
        </p:nvSpPr>
        <p:spPr>
          <a:xfrm>
            <a:off x="239236" y="872498"/>
            <a:ext cx="1155793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The intensity of shortwave light reaching every square meter of Earth’s surface depends on where you are on the planet. The excess at the equator is the main driver of weather &amp; climate.</a:t>
            </a:r>
            <a:endParaRPr sz="2400">
              <a:solidFill>
                <a:schemeClr val="dk1"/>
              </a:solidFill>
              <a:latin typeface="Calibri"/>
              <a:ea typeface="Calibri"/>
              <a:cs typeface="Calibri"/>
              <a:sym typeface="Calibri"/>
            </a:endParaRPr>
          </a:p>
        </p:txBody>
      </p:sp>
      <p:sp>
        <p:nvSpPr>
          <p:cNvPr id="132" name="Google Shape;132;p5"/>
          <p:cNvSpPr txBox="1"/>
          <p:nvPr/>
        </p:nvSpPr>
        <p:spPr>
          <a:xfrm>
            <a:off x="5649469" y="5305750"/>
            <a:ext cx="614770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7">
                  <a:extLst>
                    <a:ext uri="{A12FA001-AC4F-418D-AE19-62706E023703}">
                      <ahyp:hlinkClr val="tx"/>
                    </a:ext>
                  </a:extLst>
                </a:hlinkClick>
              </a:rPr>
              <a:t>http://earthshinefoundation.org/images/whatisearthshine.jpg</a:t>
            </a:r>
            <a:endParaRPr sz="1200">
              <a:solidFill>
                <a:schemeClr val="dk1"/>
              </a:solidFill>
              <a:latin typeface="Calibri"/>
              <a:ea typeface="Calibri"/>
              <a:cs typeface="Calibri"/>
              <a:sym typeface="Calibri"/>
            </a:endParaRPr>
          </a:p>
        </p:txBody>
      </p:sp>
      <p:sp>
        <p:nvSpPr>
          <p:cNvPr id="133" name="Google Shape;133;p5"/>
          <p:cNvSpPr txBox="1"/>
          <p:nvPr/>
        </p:nvSpPr>
        <p:spPr>
          <a:xfrm>
            <a:off x="9017391" y="4178105"/>
            <a:ext cx="22226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&gt;2x on average!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nvSpPr>
        <p:spPr>
          <a:xfrm>
            <a:off x="0" y="0"/>
            <a:ext cx="12192000" cy="461665"/>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PhET simulation – shortwave radiation</a:t>
            </a:r>
            <a:endParaRPr/>
          </a:p>
        </p:txBody>
      </p:sp>
      <p:sp>
        <p:nvSpPr>
          <p:cNvPr id="139" name="Google Shape;139;p6"/>
          <p:cNvSpPr/>
          <p:nvPr/>
        </p:nvSpPr>
        <p:spPr>
          <a:xfrm>
            <a:off x="357396" y="5318626"/>
            <a:ext cx="472518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3">
                  <a:extLst>
                    <a:ext uri="{A12FA001-AC4F-418D-AE19-62706E023703}">
                      <ahyp:hlinkClr val="tx"/>
                    </a:ext>
                  </a:extLst>
                </a:hlinkClick>
              </a:rPr>
              <a:t>https://phet.colorado.edu/sims/cheerpj/greenhouse/latest/greenhouse.html?simulation=greenhouse</a:t>
            </a:r>
            <a:endParaRPr sz="1200">
              <a:solidFill>
                <a:schemeClr val="dk1"/>
              </a:solidFill>
              <a:latin typeface="Calibri"/>
              <a:ea typeface="Calibri"/>
              <a:cs typeface="Calibri"/>
              <a:sym typeface="Calibri"/>
            </a:endParaRPr>
          </a:p>
        </p:txBody>
      </p:sp>
      <p:pic>
        <p:nvPicPr>
          <p:cNvPr id="140" name="Google Shape;140;p6">
            <a:hlinkClick r:id="rId4"/>
          </p:cNvPr>
          <p:cNvPicPr preferRelativeResize="0"/>
          <p:nvPr/>
        </p:nvPicPr>
        <p:blipFill rotWithShape="1">
          <a:blip r:embed="rId5">
            <a:alphaModFix/>
          </a:blip>
          <a:srcRect b="0" l="0" r="0" t="0"/>
          <a:stretch/>
        </p:blipFill>
        <p:spPr>
          <a:xfrm>
            <a:off x="376428" y="2314849"/>
            <a:ext cx="4725180" cy="2820297"/>
          </a:xfrm>
          <a:prstGeom prst="rect">
            <a:avLst/>
          </a:prstGeom>
          <a:noFill/>
          <a:ln>
            <a:noFill/>
          </a:ln>
        </p:spPr>
      </p:pic>
      <p:sp>
        <p:nvSpPr>
          <p:cNvPr id="141" name="Google Shape;141;p6"/>
          <p:cNvSpPr txBox="1"/>
          <p:nvPr/>
        </p:nvSpPr>
        <p:spPr>
          <a:xfrm>
            <a:off x="253804" y="645145"/>
            <a:ext cx="1145051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Another driver: the amount of shortwave energy reflected by Earth. That reflectivity (called the albedo) is a lot bigger where there are </a:t>
            </a:r>
            <a:r>
              <a:rPr b="1" lang="en-US" sz="2400">
                <a:solidFill>
                  <a:schemeClr val="dk1"/>
                </a:solidFill>
                <a:latin typeface="Calibri"/>
                <a:ea typeface="Calibri"/>
                <a:cs typeface="Calibri"/>
                <a:sym typeface="Calibri"/>
              </a:rPr>
              <a:t>clouds</a:t>
            </a:r>
            <a:r>
              <a:rPr lang="en-US" sz="2400">
                <a:solidFill>
                  <a:schemeClr val="dk1"/>
                </a:solidFill>
                <a:latin typeface="Calibri"/>
                <a:ea typeface="Calibri"/>
                <a:cs typeface="Calibri"/>
                <a:sym typeface="Calibri"/>
              </a:rPr>
              <a:t> and </a:t>
            </a:r>
            <a:r>
              <a:rPr b="1" lang="en-US" sz="2400">
                <a:solidFill>
                  <a:schemeClr val="dk1"/>
                </a:solidFill>
                <a:latin typeface="Calibri"/>
                <a:ea typeface="Calibri"/>
                <a:cs typeface="Calibri"/>
                <a:sym typeface="Calibri"/>
              </a:rPr>
              <a:t>highly reflective ground cover (like ice and snow)</a:t>
            </a:r>
            <a:r>
              <a:rPr lang="en-US" sz="2400">
                <a:solidFill>
                  <a:schemeClr val="dk1"/>
                </a:solidFill>
                <a:latin typeface="Calibri"/>
                <a:ea typeface="Calibri"/>
                <a:cs typeface="Calibri"/>
                <a:sym typeface="Calibri"/>
              </a:rPr>
              <a:t>.</a:t>
            </a:r>
            <a:endParaRPr/>
          </a:p>
        </p:txBody>
      </p:sp>
      <p:pic>
        <p:nvPicPr>
          <p:cNvPr descr="Emini Vanilli: CAJ Geoengineering - Introduction" id="142" name="Google Shape;142;p6"/>
          <p:cNvPicPr preferRelativeResize="0"/>
          <p:nvPr/>
        </p:nvPicPr>
        <p:blipFill rotWithShape="1">
          <a:blip r:embed="rId6">
            <a:alphaModFix/>
          </a:blip>
          <a:srcRect b="0" l="0" r="49992" t="0"/>
          <a:stretch/>
        </p:blipFill>
        <p:spPr>
          <a:xfrm>
            <a:off x="6506893" y="1549854"/>
            <a:ext cx="3678115" cy="51223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7"/>
          <p:cNvSpPr txBox="1"/>
          <p:nvPr/>
        </p:nvSpPr>
        <p:spPr>
          <a:xfrm>
            <a:off x="0" y="0"/>
            <a:ext cx="12192000" cy="461665"/>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PhET simulation – longwave radiation</a:t>
            </a:r>
            <a:endParaRPr/>
          </a:p>
        </p:txBody>
      </p:sp>
      <p:sp>
        <p:nvSpPr>
          <p:cNvPr id="148" name="Google Shape;148;p7"/>
          <p:cNvSpPr txBox="1"/>
          <p:nvPr/>
        </p:nvSpPr>
        <p:spPr>
          <a:xfrm>
            <a:off x="207615" y="625174"/>
            <a:ext cx="1146732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Red</a:t>
            </a:r>
            <a:r>
              <a:rPr lang="en-US" sz="2400">
                <a:solidFill>
                  <a:schemeClr val="dk1"/>
                </a:solidFill>
                <a:latin typeface="Calibri"/>
                <a:ea typeface="Calibri"/>
                <a:cs typeface="Calibri"/>
                <a:sym typeface="Calibri"/>
              </a:rPr>
              <a:t> photons represent </a:t>
            </a:r>
            <a:r>
              <a:rPr b="1" lang="en-US" sz="2400">
                <a:solidFill>
                  <a:schemeClr val="dk1"/>
                </a:solidFill>
                <a:latin typeface="Calibri"/>
                <a:ea typeface="Calibri"/>
                <a:cs typeface="Calibri"/>
                <a:sym typeface="Calibri"/>
              </a:rPr>
              <a:t>longwave radiation</a:t>
            </a:r>
            <a:r>
              <a:rPr lang="en-US" sz="2400">
                <a:solidFill>
                  <a:schemeClr val="dk1"/>
                </a:solidFill>
                <a:latin typeface="Calibri"/>
                <a:ea typeface="Calibri"/>
                <a:cs typeface="Calibri"/>
                <a:sym typeface="Calibri"/>
              </a:rPr>
              <a:t> emitted by Earth’s surface (also emitted by the atmosphere, your hands, any solid object). Each longwave photon packs less energy than a shortwave photon, so you’ll see more of them in the PhET simulation.</a:t>
            </a:r>
            <a:endParaRPr/>
          </a:p>
        </p:txBody>
      </p:sp>
      <p:pic>
        <p:nvPicPr>
          <p:cNvPr id="149" name="Google Shape;149;p7">
            <a:hlinkClick r:id="rId3"/>
          </p:cNvPr>
          <p:cNvPicPr preferRelativeResize="0"/>
          <p:nvPr/>
        </p:nvPicPr>
        <p:blipFill rotWithShape="1">
          <a:blip r:embed="rId4">
            <a:alphaModFix/>
          </a:blip>
          <a:srcRect b="0" l="0" r="0" t="0"/>
          <a:stretch/>
        </p:blipFill>
        <p:spPr>
          <a:xfrm>
            <a:off x="376428" y="2314849"/>
            <a:ext cx="4725180" cy="2820297"/>
          </a:xfrm>
          <a:prstGeom prst="rect">
            <a:avLst/>
          </a:prstGeom>
          <a:noFill/>
          <a:ln>
            <a:noFill/>
          </a:ln>
        </p:spPr>
      </p:pic>
      <p:sp>
        <p:nvSpPr>
          <p:cNvPr id="150" name="Google Shape;150;p7"/>
          <p:cNvSpPr/>
          <p:nvPr/>
        </p:nvSpPr>
        <p:spPr>
          <a:xfrm>
            <a:off x="357396" y="5318626"/>
            <a:ext cx="472518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5">
                  <a:extLst>
                    <a:ext uri="{A12FA001-AC4F-418D-AE19-62706E023703}">
                      <ahyp:hlinkClr val="tx"/>
                    </a:ext>
                  </a:extLst>
                </a:hlinkClick>
              </a:rPr>
              <a:t>https://phet.colorado.edu/sims/cheerpj/greenhouse/latest/greenhouse.html?simulation=greenhouse</a:t>
            </a:r>
            <a:endParaRPr sz="1200">
              <a:solidFill>
                <a:schemeClr val="dk1"/>
              </a:solidFill>
              <a:latin typeface="Calibri"/>
              <a:ea typeface="Calibri"/>
              <a:cs typeface="Calibri"/>
              <a:sym typeface="Calibri"/>
            </a:endParaRPr>
          </a:p>
        </p:txBody>
      </p:sp>
      <p:pic>
        <p:nvPicPr>
          <p:cNvPr id="151" name="Google Shape;151;p7"/>
          <p:cNvPicPr preferRelativeResize="0"/>
          <p:nvPr/>
        </p:nvPicPr>
        <p:blipFill rotWithShape="1">
          <a:blip r:embed="rId6">
            <a:alphaModFix/>
          </a:blip>
          <a:srcRect b="14134" l="0" r="26667" t="12847"/>
          <a:stretch/>
        </p:blipFill>
        <p:spPr>
          <a:xfrm>
            <a:off x="5262255" y="1880829"/>
            <a:ext cx="6608064" cy="4934880"/>
          </a:xfrm>
          <a:prstGeom prst="rect">
            <a:avLst/>
          </a:prstGeom>
          <a:noFill/>
          <a:ln cap="flat" cmpd="sng" w="9525">
            <a:solidFill>
              <a:schemeClr val="accent1"/>
            </a:solidFill>
            <a:prstDash val="solid"/>
            <a:round/>
            <a:headEnd len="sm" w="sm" type="none"/>
            <a:tailEnd len="sm" w="sm" type="none"/>
          </a:ln>
        </p:spPr>
      </p:pic>
      <p:sp>
        <p:nvSpPr>
          <p:cNvPr id="152" name="Google Shape;152;p7"/>
          <p:cNvSpPr txBox="1"/>
          <p:nvPr/>
        </p:nvSpPr>
        <p:spPr>
          <a:xfrm>
            <a:off x="8566287" y="4435517"/>
            <a:ext cx="97033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Near IR</a:t>
            </a:r>
            <a:endParaRPr/>
          </a:p>
        </p:txBody>
      </p:sp>
      <p:sp>
        <p:nvSpPr>
          <p:cNvPr id="153" name="Google Shape;153;p7"/>
          <p:cNvSpPr txBox="1"/>
          <p:nvPr/>
        </p:nvSpPr>
        <p:spPr>
          <a:xfrm>
            <a:off x="6708589" y="4529936"/>
            <a:ext cx="7221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uv</a:t>
            </a:r>
            <a:endParaRPr sz="1800">
              <a:solidFill>
                <a:schemeClr val="dk1"/>
              </a:solidFill>
              <a:latin typeface="Calibri"/>
              <a:ea typeface="Calibri"/>
              <a:cs typeface="Calibri"/>
              <a:sym typeface="Calibri"/>
            </a:endParaRPr>
          </a:p>
        </p:txBody>
      </p:sp>
      <p:sp>
        <p:nvSpPr>
          <p:cNvPr id="154" name="Google Shape;154;p7"/>
          <p:cNvSpPr txBox="1"/>
          <p:nvPr/>
        </p:nvSpPr>
        <p:spPr>
          <a:xfrm>
            <a:off x="7421043" y="3073765"/>
            <a:ext cx="145600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Visible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8"/>
          <p:cNvSpPr txBox="1"/>
          <p:nvPr/>
        </p:nvSpPr>
        <p:spPr>
          <a:xfrm>
            <a:off x="0" y="0"/>
            <a:ext cx="12192000" cy="461665"/>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PhET simulation – longwave radiation</a:t>
            </a:r>
            <a:endParaRPr/>
          </a:p>
        </p:txBody>
      </p:sp>
      <p:pic>
        <p:nvPicPr>
          <p:cNvPr id="160" name="Google Shape;160;p8">
            <a:hlinkClick r:id="rId3"/>
          </p:cNvPr>
          <p:cNvPicPr preferRelativeResize="0"/>
          <p:nvPr/>
        </p:nvPicPr>
        <p:blipFill rotWithShape="1">
          <a:blip r:embed="rId4">
            <a:alphaModFix/>
          </a:blip>
          <a:srcRect b="0" l="0" r="0" t="0"/>
          <a:stretch/>
        </p:blipFill>
        <p:spPr>
          <a:xfrm>
            <a:off x="376428" y="2314849"/>
            <a:ext cx="4725180" cy="2820297"/>
          </a:xfrm>
          <a:prstGeom prst="rect">
            <a:avLst/>
          </a:prstGeom>
          <a:noFill/>
          <a:ln>
            <a:noFill/>
          </a:ln>
        </p:spPr>
      </p:pic>
      <p:sp>
        <p:nvSpPr>
          <p:cNvPr id="161" name="Google Shape;161;p8"/>
          <p:cNvSpPr/>
          <p:nvPr/>
        </p:nvSpPr>
        <p:spPr>
          <a:xfrm>
            <a:off x="357396" y="5318626"/>
            <a:ext cx="472518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5">
                  <a:extLst>
                    <a:ext uri="{A12FA001-AC4F-418D-AE19-62706E023703}">
                      <ahyp:hlinkClr val="tx"/>
                    </a:ext>
                  </a:extLst>
                </a:hlinkClick>
              </a:rPr>
              <a:t>https://phet.colorado.edu/sims/cheerpj/greenhouse/latest/greenhouse.html?simulation=greenhouse</a:t>
            </a:r>
            <a:endParaRPr sz="1200">
              <a:solidFill>
                <a:schemeClr val="dk1"/>
              </a:solidFill>
              <a:latin typeface="Calibri"/>
              <a:ea typeface="Calibri"/>
              <a:cs typeface="Calibri"/>
              <a:sym typeface="Calibri"/>
            </a:endParaRPr>
          </a:p>
        </p:txBody>
      </p:sp>
      <p:sp>
        <p:nvSpPr>
          <p:cNvPr id="162" name="Google Shape;162;p8"/>
          <p:cNvSpPr txBox="1"/>
          <p:nvPr/>
        </p:nvSpPr>
        <p:spPr>
          <a:xfrm>
            <a:off x="160537" y="561709"/>
            <a:ext cx="1187092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The intensity of the longwave light emitted by an object depends on: </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temperature of the object</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Temperature of the atmosphere</a:t>
            </a:r>
            <a:endParaRPr/>
          </a:p>
        </p:txBody>
      </p:sp>
      <p:pic>
        <p:nvPicPr>
          <p:cNvPr descr="Emini Vanilli: CAJ Geoengineering - Introduction" id="163" name="Google Shape;163;p8"/>
          <p:cNvPicPr preferRelativeResize="0"/>
          <p:nvPr/>
        </p:nvPicPr>
        <p:blipFill rotWithShape="1">
          <a:blip r:embed="rId6">
            <a:alphaModFix/>
          </a:blip>
          <a:srcRect b="0" l="50008" r="0" t="0"/>
          <a:stretch/>
        </p:blipFill>
        <p:spPr>
          <a:xfrm>
            <a:off x="5442597" y="1402939"/>
            <a:ext cx="3701403" cy="5156421"/>
          </a:xfrm>
          <a:prstGeom prst="rect">
            <a:avLst/>
          </a:prstGeom>
          <a:noFill/>
          <a:ln>
            <a:noFill/>
          </a:ln>
        </p:spPr>
      </p:pic>
      <p:sp>
        <p:nvSpPr>
          <p:cNvPr id="164" name="Google Shape;164;p8"/>
          <p:cNvSpPr txBox="1"/>
          <p:nvPr/>
        </p:nvSpPr>
        <p:spPr>
          <a:xfrm>
            <a:off x="9125057" y="1530019"/>
            <a:ext cx="2906405"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It also matters how easily photons get past the atmosphere and out to space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9"/>
          <p:cNvSpPr txBox="1"/>
          <p:nvPr/>
        </p:nvSpPr>
        <p:spPr>
          <a:xfrm>
            <a:off x="0" y="0"/>
            <a:ext cx="12192000" cy="461665"/>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Shortwave and longwave</a:t>
            </a:r>
            <a:endParaRPr/>
          </a:p>
        </p:txBody>
      </p:sp>
      <p:pic>
        <p:nvPicPr>
          <p:cNvPr descr="What Happens to Insolation That Reaches the Surface?" id="170" name="Google Shape;170;p9"/>
          <p:cNvPicPr preferRelativeResize="0"/>
          <p:nvPr/>
        </p:nvPicPr>
        <p:blipFill rotWithShape="1">
          <a:blip r:embed="rId3">
            <a:alphaModFix/>
          </a:blip>
          <a:srcRect b="0" l="0" r="0" t="0"/>
          <a:stretch/>
        </p:blipFill>
        <p:spPr>
          <a:xfrm>
            <a:off x="2344510" y="534307"/>
            <a:ext cx="7236733" cy="5789386"/>
          </a:xfrm>
          <a:prstGeom prst="rect">
            <a:avLst/>
          </a:prstGeom>
          <a:noFill/>
          <a:ln>
            <a:noFill/>
          </a:ln>
        </p:spPr>
      </p:pic>
      <p:sp>
        <p:nvSpPr>
          <p:cNvPr id="171" name="Google Shape;171;p9"/>
          <p:cNvSpPr txBox="1"/>
          <p:nvPr/>
        </p:nvSpPr>
        <p:spPr>
          <a:xfrm>
            <a:off x="3155497" y="6396335"/>
            <a:ext cx="61477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https://geography.name/wp-content/uploads/2019/06/22.jpg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nvSpPr>
        <p:spPr>
          <a:xfrm>
            <a:off x="0" y="0"/>
            <a:ext cx="12192000" cy="461665"/>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Net radiative flux is the balance between shortwave (incoming) and longwave (outgoing)</a:t>
            </a:r>
            <a:endParaRPr sz="2400">
              <a:solidFill>
                <a:schemeClr val="dk1"/>
              </a:solidFill>
              <a:latin typeface="Calibri"/>
              <a:ea typeface="Calibri"/>
              <a:cs typeface="Calibri"/>
              <a:sym typeface="Calibri"/>
            </a:endParaRPr>
          </a:p>
        </p:txBody>
      </p:sp>
      <p:pic>
        <p:nvPicPr>
          <p:cNvPr id="177" name="Google Shape;177;p10">
            <a:hlinkClick r:id="rId3"/>
          </p:cNvPr>
          <p:cNvPicPr preferRelativeResize="0"/>
          <p:nvPr/>
        </p:nvPicPr>
        <p:blipFill rotWithShape="1">
          <a:blip r:embed="rId4">
            <a:alphaModFix/>
          </a:blip>
          <a:srcRect b="0" l="0" r="0" t="0"/>
          <a:stretch/>
        </p:blipFill>
        <p:spPr>
          <a:xfrm>
            <a:off x="376428" y="2314849"/>
            <a:ext cx="4725180" cy="2820297"/>
          </a:xfrm>
          <a:prstGeom prst="rect">
            <a:avLst/>
          </a:prstGeom>
          <a:noFill/>
          <a:ln>
            <a:noFill/>
          </a:ln>
        </p:spPr>
      </p:pic>
      <p:grpSp>
        <p:nvGrpSpPr>
          <p:cNvPr id="178" name="Google Shape;178;p10"/>
          <p:cNvGrpSpPr/>
          <p:nvPr/>
        </p:nvGrpSpPr>
        <p:grpSpPr>
          <a:xfrm>
            <a:off x="6562199" y="3097603"/>
            <a:ext cx="5044458" cy="1239953"/>
            <a:chOff x="6562199" y="3097603"/>
            <a:chExt cx="5044458" cy="1239953"/>
          </a:xfrm>
        </p:grpSpPr>
        <p:sp>
          <p:nvSpPr>
            <p:cNvPr id="179" name="Google Shape;179;p10"/>
            <p:cNvSpPr/>
            <p:nvPr/>
          </p:nvSpPr>
          <p:spPr>
            <a:xfrm flipH="1" rot="10800000">
              <a:off x="6562199" y="3125847"/>
              <a:ext cx="768096" cy="1198299"/>
            </a:xfrm>
            <a:prstGeom prst="upArrow">
              <a:avLst>
                <a:gd fmla="val 50000" name="adj1"/>
                <a:gd fmla="val 50000" name="adj2"/>
              </a:avLst>
            </a:prstGeom>
            <a:solidFill>
              <a:srgbClr val="FFFF00"/>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 name="Google Shape;180;p10"/>
            <p:cNvSpPr/>
            <p:nvPr/>
          </p:nvSpPr>
          <p:spPr>
            <a:xfrm>
              <a:off x="7570942" y="3097603"/>
              <a:ext cx="768096" cy="1180330"/>
            </a:xfrm>
            <a:prstGeom prst="upArrow">
              <a:avLst>
                <a:gd fmla="val 50000" name="adj1"/>
                <a:gd fmla="val 50000" name="adj2"/>
              </a:avLst>
            </a:prstGeom>
            <a:solidFill>
              <a:srgbClr val="C00000"/>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 name="Google Shape;181;p10"/>
            <p:cNvSpPr txBox="1"/>
            <p:nvPr/>
          </p:nvSpPr>
          <p:spPr>
            <a:xfrm>
              <a:off x="8790886" y="3137227"/>
              <a:ext cx="281577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Net radiative flux is zero, so Earth is in radiative balance.</a:t>
              </a:r>
              <a:endParaRPr/>
            </a:p>
          </p:txBody>
        </p:sp>
      </p:grpSp>
      <p:sp>
        <p:nvSpPr>
          <p:cNvPr id="182" name="Google Shape;182;p10"/>
          <p:cNvSpPr/>
          <p:nvPr/>
        </p:nvSpPr>
        <p:spPr>
          <a:xfrm>
            <a:off x="357396" y="5318626"/>
            <a:ext cx="472518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5">
                  <a:extLst>
                    <a:ext uri="{A12FA001-AC4F-418D-AE19-62706E023703}">
                      <ahyp:hlinkClr val="tx"/>
                    </a:ext>
                  </a:extLst>
                </a:hlinkClick>
              </a:rPr>
              <a:t>https://phet.colorado.edu/sims/cheerpj/greenhouse/latest/greenhouse.html?simulation=greenhouse</a:t>
            </a:r>
            <a:endParaRPr sz="1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1"/>
          <p:cNvSpPr txBox="1"/>
          <p:nvPr/>
        </p:nvSpPr>
        <p:spPr>
          <a:xfrm>
            <a:off x="0" y="0"/>
            <a:ext cx="12192000" cy="461665"/>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Net radiative flux is the balance between shortwave (incoming) and longwave (outgoing)</a:t>
            </a:r>
            <a:endParaRPr sz="2400">
              <a:solidFill>
                <a:schemeClr val="dk1"/>
              </a:solidFill>
              <a:latin typeface="Calibri"/>
              <a:ea typeface="Calibri"/>
              <a:cs typeface="Calibri"/>
              <a:sym typeface="Calibri"/>
            </a:endParaRPr>
          </a:p>
        </p:txBody>
      </p:sp>
      <p:pic>
        <p:nvPicPr>
          <p:cNvPr id="188" name="Google Shape;188;p11">
            <a:hlinkClick r:id="rId3"/>
          </p:cNvPr>
          <p:cNvPicPr preferRelativeResize="0"/>
          <p:nvPr/>
        </p:nvPicPr>
        <p:blipFill rotWithShape="1">
          <a:blip r:embed="rId4">
            <a:alphaModFix/>
          </a:blip>
          <a:srcRect b="0" l="0" r="0" t="0"/>
          <a:stretch/>
        </p:blipFill>
        <p:spPr>
          <a:xfrm>
            <a:off x="376428" y="2314849"/>
            <a:ext cx="4725180" cy="2820297"/>
          </a:xfrm>
          <a:prstGeom prst="rect">
            <a:avLst/>
          </a:prstGeom>
          <a:noFill/>
          <a:ln>
            <a:noFill/>
          </a:ln>
        </p:spPr>
      </p:pic>
      <p:grpSp>
        <p:nvGrpSpPr>
          <p:cNvPr id="189" name="Google Shape;189;p11"/>
          <p:cNvGrpSpPr/>
          <p:nvPr/>
        </p:nvGrpSpPr>
        <p:grpSpPr>
          <a:xfrm>
            <a:off x="6562199" y="3125847"/>
            <a:ext cx="5044458" cy="1569660"/>
            <a:chOff x="6562199" y="3125847"/>
            <a:chExt cx="5044458" cy="1569660"/>
          </a:xfrm>
        </p:grpSpPr>
        <p:sp>
          <p:nvSpPr>
            <p:cNvPr id="190" name="Google Shape;190;p11"/>
            <p:cNvSpPr/>
            <p:nvPr/>
          </p:nvSpPr>
          <p:spPr>
            <a:xfrm flipH="1" rot="10800000">
              <a:off x="6562199" y="3125847"/>
              <a:ext cx="768096" cy="1198299"/>
            </a:xfrm>
            <a:prstGeom prst="upArrow">
              <a:avLst>
                <a:gd fmla="val 50000" name="adj1"/>
                <a:gd fmla="val 50000" name="adj2"/>
              </a:avLst>
            </a:prstGeom>
            <a:solidFill>
              <a:srgbClr val="FFFF00"/>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 name="Google Shape;191;p11"/>
            <p:cNvSpPr/>
            <p:nvPr/>
          </p:nvSpPr>
          <p:spPr>
            <a:xfrm>
              <a:off x="7570942" y="3316223"/>
              <a:ext cx="768096" cy="961709"/>
            </a:xfrm>
            <a:prstGeom prst="upArrow">
              <a:avLst>
                <a:gd fmla="val 50000" name="adj1"/>
                <a:gd fmla="val 50000" name="adj2"/>
              </a:avLst>
            </a:prstGeom>
            <a:solidFill>
              <a:srgbClr val="C00000"/>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 name="Google Shape;192;p11"/>
            <p:cNvSpPr txBox="1"/>
            <p:nvPr/>
          </p:nvSpPr>
          <p:spPr>
            <a:xfrm>
              <a:off x="8790886" y="3125847"/>
              <a:ext cx="2815771"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Earth is too cold, so net radiative flux is </a:t>
              </a:r>
              <a:r>
                <a:rPr b="1" lang="en-US" sz="2400">
                  <a:solidFill>
                    <a:schemeClr val="dk1"/>
                  </a:solidFill>
                  <a:latin typeface="Calibri"/>
                  <a:ea typeface="Calibri"/>
                  <a:cs typeface="Calibri"/>
                  <a:sym typeface="Calibri"/>
                </a:rPr>
                <a:t>positive</a:t>
              </a:r>
              <a:r>
                <a:rPr lang="en-US" sz="2400">
                  <a:solidFill>
                    <a:schemeClr val="dk1"/>
                  </a:solidFill>
                  <a:latin typeface="Calibri"/>
                  <a:ea typeface="Calibri"/>
                  <a:cs typeface="Calibri"/>
                  <a:sym typeface="Calibri"/>
                </a:rPr>
                <a:t>. Earth will heat up!</a:t>
              </a:r>
              <a:endParaRPr/>
            </a:p>
          </p:txBody>
        </p:sp>
      </p:grpSp>
      <p:sp>
        <p:nvSpPr>
          <p:cNvPr id="193" name="Google Shape;193;p11"/>
          <p:cNvSpPr/>
          <p:nvPr/>
        </p:nvSpPr>
        <p:spPr>
          <a:xfrm>
            <a:off x="357396" y="5318626"/>
            <a:ext cx="472518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5">
                  <a:extLst>
                    <a:ext uri="{A12FA001-AC4F-418D-AE19-62706E023703}">
                      <ahyp:hlinkClr val="tx"/>
                    </a:ext>
                  </a:extLst>
                </a:hlinkClick>
              </a:rPr>
              <a:t>https://phet.colorado.edu/sims/cheerpj/greenhouse/latest/greenhouse.html?simulation=greenhouse</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nvSpPr>
        <p:spPr>
          <a:xfrm>
            <a:off x="0" y="0"/>
            <a:ext cx="12192000" cy="461665"/>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Net radiative flux is the balance between shortwave (incoming) and longwave (outgoing)</a:t>
            </a:r>
            <a:endParaRPr sz="2400">
              <a:solidFill>
                <a:schemeClr val="dk1"/>
              </a:solidFill>
              <a:latin typeface="Calibri"/>
              <a:ea typeface="Calibri"/>
              <a:cs typeface="Calibri"/>
              <a:sym typeface="Calibri"/>
            </a:endParaRPr>
          </a:p>
        </p:txBody>
      </p:sp>
      <p:pic>
        <p:nvPicPr>
          <p:cNvPr id="199" name="Google Shape;199;p12">
            <a:hlinkClick r:id="rId3"/>
          </p:cNvPr>
          <p:cNvPicPr preferRelativeResize="0"/>
          <p:nvPr/>
        </p:nvPicPr>
        <p:blipFill rotWithShape="1">
          <a:blip r:embed="rId4">
            <a:alphaModFix/>
          </a:blip>
          <a:srcRect b="0" l="0" r="0" t="0"/>
          <a:stretch/>
        </p:blipFill>
        <p:spPr>
          <a:xfrm>
            <a:off x="376428" y="2314849"/>
            <a:ext cx="4725180" cy="2820297"/>
          </a:xfrm>
          <a:prstGeom prst="rect">
            <a:avLst/>
          </a:prstGeom>
          <a:noFill/>
          <a:ln>
            <a:noFill/>
          </a:ln>
        </p:spPr>
      </p:pic>
      <p:sp>
        <p:nvSpPr>
          <p:cNvPr id="200" name="Google Shape;200;p12"/>
          <p:cNvSpPr/>
          <p:nvPr/>
        </p:nvSpPr>
        <p:spPr>
          <a:xfrm flipH="1" rot="10800000">
            <a:off x="6562199" y="3125847"/>
            <a:ext cx="768096" cy="1198299"/>
          </a:xfrm>
          <a:prstGeom prst="upArrow">
            <a:avLst>
              <a:gd fmla="val 50000" name="adj1"/>
              <a:gd fmla="val 50000" name="adj2"/>
            </a:avLst>
          </a:prstGeom>
          <a:solidFill>
            <a:srgbClr val="FFFF00"/>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 name="Google Shape;201;p12"/>
          <p:cNvSpPr/>
          <p:nvPr/>
        </p:nvSpPr>
        <p:spPr>
          <a:xfrm>
            <a:off x="7570942" y="2670049"/>
            <a:ext cx="768096" cy="1607884"/>
          </a:xfrm>
          <a:prstGeom prst="upArrow">
            <a:avLst>
              <a:gd fmla="val 50000" name="adj1"/>
              <a:gd fmla="val 50000" name="adj2"/>
            </a:avLst>
          </a:prstGeom>
          <a:solidFill>
            <a:srgbClr val="C00000"/>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12"/>
          <p:cNvSpPr txBox="1"/>
          <p:nvPr/>
        </p:nvSpPr>
        <p:spPr>
          <a:xfrm>
            <a:off x="8790886" y="3125847"/>
            <a:ext cx="2815771"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Earth is too hot, so net radiative flux is </a:t>
            </a:r>
            <a:r>
              <a:rPr b="1" lang="en-US" sz="2400">
                <a:solidFill>
                  <a:schemeClr val="dk1"/>
                </a:solidFill>
                <a:latin typeface="Calibri"/>
                <a:ea typeface="Calibri"/>
                <a:cs typeface="Calibri"/>
                <a:sym typeface="Calibri"/>
              </a:rPr>
              <a:t>negative</a:t>
            </a:r>
            <a:r>
              <a:rPr lang="en-US" sz="2400">
                <a:solidFill>
                  <a:schemeClr val="dk1"/>
                </a:solidFill>
                <a:latin typeface="Calibri"/>
                <a:ea typeface="Calibri"/>
                <a:cs typeface="Calibri"/>
                <a:sym typeface="Calibri"/>
              </a:rPr>
              <a:t>. Earth will cool down!</a:t>
            </a:r>
            <a:endParaRPr/>
          </a:p>
        </p:txBody>
      </p:sp>
      <p:sp>
        <p:nvSpPr>
          <p:cNvPr id="203" name="Google Shape;203;p12"/>
          <p:cNvSpPr/>
          <p:nvPr/>
        </p:nvSpPr>
        <p:spPr>
          <a:xfrm>
            <a:off x="357396" y="5318626"/>
            <a:ext cx="472518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chemeClr val="dk1"/>
                </a:solidFill>
                <a:latin typeface="Calibri"/>
                <a:ea typeface="Calibri"/>
                <a:cs typeface="Calibri"/>
                <a:sym typeface="Calibri"/>
                <a:hlinkClick r:id="rId5">
                  <a:extLst>
                    <a:ext uri="{A12FA001-AC4F-418D-AE19-62706E023703}">
                      <ahyp:hlinkClr val="tx"/>
                    </a:ext>
                  </a:extLst>
                </a:hlinkClick>
              </a:rPr>
              <a:t>https://phet.colorado.edu/sims/cheerpj/greenhouse/latest/greenhouse.html?simulation=greenhouse</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3"/>
          <p:cNvSpPr txBox="1"/>
          <p:nvPr/>
        </p:nvSpPr>
        <p:spPr>
          <a:xfrm>
            <a:off x="2948940" y="1006614"/>
            <a:ext cx="9109710" cy="830997"/>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What kind of light (SW or LW) do GHG molecules absorb?</a:t>
            </a:r>
            <a:endParaRPr/>
          </a:p>
          <a:p>
            <a:pPr indent="-457200" lvl="0" marL="457200" marR="0" rtl="0" algn="l">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What happens to those molecules when they absorb that light?</a:t>
            </a:r>
            <a:endParaRPr/>
          </a:p>
        </p:txBody>
      </p:sp>
      <p:sp>
        <p:nvSpPr>
          <p:cNvPr id="209" name="Google Shape;209;p13"/>
          <p:cNvSpPr/>
          <p:nvPr/>
        </p:nvSpPr>
        <p:spPr>
          <a:xfrm>
            <a:off x="261366" y="5027354"/>
            <a:ext cx="2687574"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u="sng">
                <a:solidFill>
                  <a:schemeClr val="dk1"/>
                </a:solidFill>
                <a:latin typeface="Calibri"/>
                <a:ea typeface="Calibri"/>
                <a:cs typeface="Calibri"/>
                <a:sym typeface="Calibri"/>
                <a:hlinkClick r:id="rId3">
                  <a:extLst>
                    <a:ext uri="{A12FA001-AC4F-418D-AE19-62706E023703}">
                      <ahyp:hlinkClr val="tx"/>
                    </a:ext>
                  </a:extLst>
                </a:hlinkClick>
              </a:rPr>
              <a:t>https://phet.colorado.edu/sims/cheerpj/greenhouse/latest/greenhouse.html?simulation=greenhouse</a:t>
            </a:r>
            <a:endParaRPr sz="2000">
              <a:solidFill>
                <a:schemeClr val="dk1"/>
              </a:solidFill>
              <a:latin typeface="Calibri"/>
              <a:ea typeface="Calibri"/>
              <a:cs typeface="Calibri"/>
              <a:sym typeface="Calibri"/>
            </a:endParaRPr>
          </a:p>
        </p:txBody>
      </p:sp>
      <p:sp>
        <p:nvSpPr>
          <p:cNvPr id="210" name="Google Shape;210;p13"/>
          <p:cNvSpPr txBox="1"/>
          <p:nvPr/>
        </p:nvSpPr>
        <p:spPr>
          <a:xfrm>
            <a:off x="0" y="0"/>
            <a:ext cx="12192000" cy="461665"/>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OK, let’s get started … work these out in small groups</a:t>
            </a:r>
            <a:endParaRPr/>
          </a:p>
        </p:txBody>
      </p:sp>
      <p:pic>
        <p:nvPicPr>
          <p:cNvPr id="211" name="Google Shape;211;p13"/>
          <p:cNvPicPr preferRelativeResize="0"/>
          <p:nvPr/>
        </p:nvPicPr>
        <p:blipFill rotWithShape="1">
          <a:blip r:embed="rId4">
            <a:alphaModFix/>
          </a:blip>
          <a:srcRect b="0" l="0" r="0" t="0"/>
          <a:stretch/>
        </p:blipFill>
        <p:spPr>
          <a:xfrm>
            <a:off x="447763" y="797462"/>
            <a:ext cx="1704594" cy="1249302"/>
          </a:xfrm>
          <a:prstGeom prst="rect">
            <a:avLst/>
          </a:prstGeom>
          <a:noFill/>
          <a:ln>
            <a:noFill/>
          </a:ln>
        </p:spPr>
      </p:pic>
      <p:sp>
        <p:nvSpPr>
          <p:cNvPr id="212" name="Google Shape;212;p13"/>
          <p:cNvSpPr txBox="1"/>
          <p:nvPr/>
        </p:nvSpPr>
        <p:spPr>
          <a:xfrm>
            <a:off x="2948940" y="2853059"/>
            <a:ext cx="9109710" cy="341632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Assuming radiative balance, why are there more LW photons leaving Earth than SW photons coming in?</a:t>
            </a:r>
            <a:endParaRPr/>
          </a:p>
          <a:p>
            <a:pPr indent="-457200" lvl="0" marL="457200" marR="0" rtl="0" algn="l">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What seems to be the homeostatic temperature (in degrees K, C, F) with default settings?</a:t>
            </a:r>
            <a:endParaRPr/>
          </a:p>
          <a:p>
            <a:pPr indent="-457200" lvl="0" marL="457200" marR="0" rtl="0" algn="l">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How much colder was it  back in 1750 compared to now?</a:t>
            </a:r>
            <a:endParaRPr/>
          </a:p>
          <a:p>
            <a:pPr indent="-457200" lvl="0" marL="457200" marR="0" rtl="0" algn="l">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How much colder was it during ice ages compared to now?</a:t>
            </a:r>
            <a:endParaRPr/>
          </a:p>
          <a:p>
            <a:pPr indent="-457200" lvl="0" marL="457200" marR="0" rtl="0" algn="l">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What effect do clouds have on SW photons? </a:t>
            </a:r>
            <a:endParaRPr/>
          </a:p>
          <a:p>
            <a:pPr indent="-457200" lvl="0" marL="457200" marR="0" rtl="0" algn="l">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On LW photons? </a:t>
            </a:r>
            <a:endParaRPr/>
          </a:p>
          <a:p>
            <a:pPr indent="-457200" lvl="0" marL="457200" marR="0" rtl="0" algn="l">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On temperature?</a:t>
            </a:r>
            <a:endParaRPr/>
          </a:p>
        </p:txBody>
      </p:sp>
      <p:pic>
        <p:nvPicPr>
          <p:cNvPr id="213" name="Google Shape;213;p13"/>
          <p:cNvPicPr preferRelativeResize="0"/>
          <p:nvPr/>
        </p:nvPicPr>
        <p:blipFill rotWithShape="1">
          <a:blip r:embed="rId5">
            <a:alphaModFix/>
          </a:blip>
          <a:srcRect b="0" l="0" r="0" t="0"/>
          <a:stretch/>
        </p:blipFill>
        <p:spPr>
          <a:xfrm>
            <a:off x="199309" y="2853059"/>
            <a:ext cx="2601200" cy="150516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2021-09-07T14:45:01Z</dcterms:created>
  <dc:creator>Steven</dc:creator>
</cp:coreProperties>
</file>