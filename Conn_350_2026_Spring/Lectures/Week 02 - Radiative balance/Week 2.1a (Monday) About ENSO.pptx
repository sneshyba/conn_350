
<file path=[Content_Types].xml><?xml version="1.0" encoding="utf-8"?>
<Types xmlns="http://schemas.openxmlformats.org/package/2006/content-types">
  <Default ContentType="image/jpeg" Extension="jpg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4" roundtripDataSignature="AMtx7mhNx9Dkcs2LJ4bXmse0WAkmmoNdt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4" Type="http://customschemas.google.com/relationships/presentationmetadata" Target="meta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Currently</a:t>
            </a:r>
            <a:r>
              <a:rPr lang="en-US"/>
              <a:t> weak La Nina, with an ~75% chance of transitioning to neutral in the spring (NOAA, 2026)</a:t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1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1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3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3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4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14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5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5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5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15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5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8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8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18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9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9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0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1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1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0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https://i.gifer.com/Rcep.gif" TargetMode="External"/><Relationship Id="rId4" Type="http://schemas.openxmlformats.org/officeDocument/2006/relationships/image" Target="../media/image2.gif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gif"/><Relationship Id="rId4" Type="http://schemas.openxmlformats.org/officeDocument/2006/relationships/hyperlink" Target="https://i.gifer.com/Rcep.gif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Relationship Id="rId4" Type="http://schemas.openxmlformats.org/officeDocument/2006/relationships/hyperlink" Target="https://www.climate.gov/news-features/featured-images/global-impacts-el-ni%C3%B1o-and-la-ni%C3%B1a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gif"/><Relationship Id="rId4" Type="http://schemas.openxmlformats.org/officeDocument/2006/relationships/hyperlink" Target="https://i.gifer.com/Rcep.gif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hyperlink" Target="https://www.climate.gov/news-features/blogs/enso/walker-circulation-ensos-atmospheric-buddy" TargetMode="Externa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www.pmel.noaa.gov/elnino/impacts-of-el-nino" TargetMode="External"/><Relationship Id="rId4" Type="http://schemas.openxmlformats.org/officeDocument/2006/relationships/image" Target="../media/image6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Remember those semi-permament synoptic systems? These two drive the </a:t>
            </a:r>
            <a:r>
              <a:rPr b="1" i="1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Walker Circulation</a:t>
            </a:r>
            <a:endParaRPr/>
          </a:p>
        </p:txBody>
      </p:sp>
      <p:sp>
        <p:nvSpPr>
          <p:cNvPr id="89" name="Google Shape;89;p1"/>
          <p:cNvSpPr txBox="1"/>
          <p:nvPr/>
        </p:nvSpPr>
        <p:spPr>
          <a:xfrm>
            <a:off x="-689115" y="5616890"/>
            <a:ext cx="615194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https://i.gifer.com/Rcep.gif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"/>
          <p:cNvSpPr txBox="1"/>
          <p:nvPr/>
        </p:nvSpPr>
        <p:spPr>
          <a:xfrm>
            <a:off x="8125428" y="3657598"/>
            <a:ext cx="200242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Chilean High</a:t>
            </a:r>
            <a:endParaRPr/>
          </a:p>
        </p:txBody>
      </p:sp>
      <p:sp>
        <p:nvSpPr>
          <p:cNvPr id="91" name="Google Shape;91;p1"/>
          <p:cNvSpPr txBox="1"/>
          <p:nvPr/>
        </p:nvSpPr>
        <p:spPr>
          <a:xfrm>
            <a:off x="3671103" y="2808445"/>
            <a:ext cx="1791726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Nauru Low</a:t>
            </a:r>
            <a:endParaRPr/>
          </a:p>
        </p:txBody>
      </p:sp>
      <p:sp>
        <p:nvSpPr>
          <p:cNvPr id="92" name="Google Shape;92;p1"/>
          <p:cNvSpPr txBox="1"/>
          <p:nvPr/>
        </p:nvSpPr>
        <p:spPr>
          <a:xfrm>
            <a:off x="61899" y="6062253"/>
            <a:ext cx="12130101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winds offshore from Ecuador pull up deep, nutrient-filled colder water, good for fishing</a:t>
            </a:r>
            <a:endParaRPr/>
          </a:p>
        </p:txBody>
      </p:sp>
      <p:grpSp>
        <p:nvGrpSpPr>
          <p:cNvPr id="93" name="Google Shape;93;p1"/>
          <p:cNvGrpSpPr/>
          <p:nvPr/>
        </p:nvGrpSpPr>
        <p:grpSpPr>
          <a:xfrm>
            <a:off x="61899" y="565839"/>
            <a:ext cx="12510136" cy="5541655"/>
            <a:chOff x="61899" y="565839"/>
            <a:chExt cx="12510136" cy="5541655"/>
          </a:xfrm>
        </p:grpSpPr>
        <p:pic>
          <p:nvPicPr>
            <p:cNvPr descr="El nino GIF - Find on GIFER" id="94" name="Google Shape;94;p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899" y="565839"/>
              <a:ext cx="11965116" cy="5541655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95" name="Google Shape;95;p1"/>
            <p:cNvGrpSpPr/>
            <p:nvPr/>
          </p:nvGrpSpPr>
          <p:grpSpPr>
            <a:xfrm>
              <a:off x="10266744" y="3657598"/>
              <a:ext cx="2305291" cy="1616753"/>
              <a:chOff x="10266744" y="3657598"/>
              <a:chExt cx="2305291" cy="1616753"/>
            </a:xfrm>
          </p:grpSpPr>
          <p:sp>
            <p:nvSpPr>
              <p:cNvPr id="96" name="Google Shape;96;p1"/>
              <p:cNvSpPr txBox="1"/>
              <p:nvPr/>
            </p:nvSpPr>
            <p:spPr>
              <a:xfrm>
                <a:off x="10569615" y="4443354"/>
                <a:ext cx="2002420" cy="83099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2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Upwelling water</a:t>
                </a:r>
                <a:endParaRPr/>
              </a:p>
            </p:txBody>
          </p:sp>
          <p:cxnSp>
            <p:nvCxnSpPr>
              <p:cNvPr id="97" name="Google Shape;97;p1"/>
              <p:cNvCxnSpPr/>
              <p:nvPr/>
            </p:nvCxnSpPr>
            <p:spPr>
              <a:xfrm rot="10800000">
                <a:off x="10266744" y="3657598"/>
                <a:ext cx="509286" cy="785756"/>
              </a:xfrm>
              <a:prstGeom prst="straightConnector1">
                <a:avLst/>
              </a:prstGeom>
              <a:noFill/>
              <a:ln cap="flat" cmpd="sng" w="127000">
                <a:solidFill>
                  <a:srgbClr val="0070C0">
                    <a:alpha val="50980"/>
                  </a:srgbClr>
                </a:solidFill>
                <a:prstDash val="solid"/>
                <a:miter lim="800000"/>
                <a:headEnd len="sm" w="sm" type="none"/>
                <a:tailEnd len="med" w="med" type="triangle"/>
              </a:ln>
            </p:spPr>
          </p:cxnSp>
        </p:grpSp>
      </p:grpSp>
      <p:sp>
        <p:nvSpPr>
          <p:cNvPr id="98" name="Google Shape;98;p1"/>
          <p:cNvSpPr txBox="1"/>
          <p:nvPr/>
        </p:nvSpPr>
        <p:spPr>
          <a:xfrm>
            <a:off x="8117808" y="3649978"/>
            <a:ext cx="200242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Chilean High</a:t>
            </a:r>
            <a:endParaRPr/>
          </a:p>
        </p:txBody>
      </p:sp>
      <p:sp>
        <p:nvSpPr>
          <p:cNvPr id="99" name="Google Shape;99;p1"/>
          <p:cNvSpPr txBox="1"/>
          <p:nvPr/>
        </p:nvSpPr>
        <p:spPr>
          <a:xfrm>
            <a:off x="3663483" y="2800825"/>
            <a:ext cx="1791726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Nauru Low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"/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What if the Walker pattern GETS STRONGER? (La Niña conditions)</a:t>
            </a:r>
            <a:endParaRPr b="1" i="1"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El nino GIF - Find on GIFER" id="105" name="Google Shape;105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899" y="565839"/>
            <a:ext cx="11965116" cy="5541655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2"/>
          <p:cNvSpPr txBox="1"/>
          <p:nvPr/>
        </p:nvSpPr>
        <p:spPr>
          <a:xfrm>
            <a:off x="-689115" y="5616890"/>
            <a:ext cx="615194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https://i.gifer.com/Rcep.gif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2"/>
          <p:cNvSpPr txBox="1"/>
          <p:nvPr/>
        </p:nvSpPr>
        <p:spPr>
          <a:xfrm>
            <a:off x="8125428" y="3657598"/>
            <a:ext cx="200242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Chilean High</a:t>
            </a:r>
            <a:endParaRPr/>
          </a:p>
        </p:txBody>
      </p:sp>
      <p:sp>
        <p:nvSpPr>
          <p:cNvPr id="108" name="Google Shape;108;p2"/>
          <p:cNvSpPr txBox="1"/>
          <p:nvPr/>
        </p:nvSpPr>
        <p:spPr>
          <a:xfrm>
            <a:off x="3671103" y="2808445"/>
            <a:ext cx="1791726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Nauru Low</a:t>
            </a:r>
            <a:endParaRPr/>
          </a:p>
        </p:txBody>
      </p:sp>
      <p:grpSp>
        <p:nvGrpSpPr>
          <p:cNvPr id="109" name="Google Shape;109;p2"/>
          <p:cNvGrpSpPr/>
          <p:nvPr/>
        </p:nvGrpSpPr>
        <p:grpSpPr>
          <a:xfrm>
            <a:off x="10127848" y="3429000"/>
            <a:ext cx="2444187" cy="1845351"/>
            <a:chOff x="10127848" y="3429000"/>
            <a:chExt cx="2444187" cy="1845351"/>
          </a:xfrm>
        </p:grpSpPr>
        <p:sp>
          <p:nvSpPr>
            <p:cNvPr id="110" name="Google Shape;110;p2"/>
            <p:cNvSpPr txBox="1"/>
            <p:nvPr/>
          </p:nvSpPr>
          <p:spPr>
            <a:xfrm>
              <a:off x="10569615" y="4443354"/>
              <a:ext cx="2002420" cy="83099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Upwelling water</a:t>
              </a:r>
              <a:endParaRPr/>
            </a:p>
          </p:txBody>
        </p:sp>
        <p:cxnSp>
          <p:nvCxnSpPr>
            <p:cNvPr id="111" name="Google Shape;111;p2"/>
            <p:cNvCxnSpPr/>
            <p:nvPr/>
          </p:nvCxnSpPr>
          <p:spPr>
            <a:xfrm rot="10800000">
              <a:off x="10127848" y="3429000"/>
              <a:ext cx="648182" cy="1014354"/>
            </a:xfrm>
            <a:prstGeom prst="straightConnector1">
              <a:avLst/>
            </a:prstGeom>
            <a:noFill/>
            <a:ln cap="flat" cmpd="sng" w="152400">
              <a:solidFill>
                <a:srgbClr val="0070C0">
                  <a:alpha val="81960"/>
                </a:srgbClr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</p:grpSp>
      <p:sp>
        <p:nvSpPr>
          <p:cNvPr id="112" name="Google Shape;112;p2"/>
          <p:cNvSpPr txBox="1"/>
          <p:nvPr/>
        </p:nvSpPr>
        <p:spPr>
          <a:xfrm>
            <a:off x="61899" y="6034388"/>
            <a:ext cx="11956648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=&gt; </a:t>
            </a: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stronger winds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off the coast of South America, </a:t>
            </a: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more upwelling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of cold deep water off the coast of Peru &amp; Ecuador, surface waters are </a:t>
            </a: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colder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and have </a:t>
            </a: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more nutrient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(great for fishing)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3"/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 Niña impacts in North America</a:t>
            </a:r>
            <a:endParaRPr/>
          </a:p>
        </p:txBody>
      </p:sp>
      <p:pic>
        <p:nvPicPr>
          <p:cNvPr id="118" name="Google Shape;118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91380" y="756568"/>
            <a:ext cx="10047045" cy="57021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" name="Google Shape;123;p4"/>
          <p:cNvPicPr preferRelativeResize="0"/>
          <p:nvPr/>
        </p:nvPicPr>
        <p:blipFill rotWithShape="1">
          <a:blip r:embed="rId3">
            <a:alphaModFix/>
          </a:blip>
          <a:srcRect b="3419" l="0" r="0" t="6743"/>
          <a:stretch/>
        </p:blipFill>
        <p:spPr>
          <a:xfrm>
            <a:off x="2824180" y="421100"/>
            <a:ext cx="6543640" cy="6003758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24" name="Google Shape;124;p4"/>
          <p:cNvSpPr txBox="1"/>
          <p:nvPr/>
        </p:nvSpPr>
        <p:spPr>
          <a:xfrm>
            <a:off x="0" y="0"/>
            <a:ext cx="1842448" cy="12003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Global La Niña climate impacts</a:t>
            </a:r>
            <a:endParaRPr/>
          </a:p>
        </p:txBody>
      </p:sp>
      <p:sp>
        <p:nvSpPr>
          <p:cNvPr id="125" name="Google Shape;125;p4"/>
          <p:cNvSpPr txBox="1"/>
          <p:nvPr/>
        </p:nvSpPr>
        <p:spPr>
          <a:xfrm>
            <a:off x="127728" y="1563193"/>
            <a:ext cx="2488108" cy="17543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https://www.climate.gov/news-features/featured-images/global-impacts-el-ni%C3%B1o-and-la-ni%C3%B1a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5"/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What if the Walker pattern moves EAST? (El Niño)</a:t>
            </a:r>
            <a:endParaRPr/>
          </a:p>
        </p:txBody>
      </p:sp>
      <p:pic>
        <p:nvPicPr>
          <p:cNvPr descr="El nino GIF - Find on GIFER" id="131" name="Google Shape;131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899" y="565839"/>
            <a:ext cx="11965116" cy="5541655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5"/>
          <p:cNvSpPr txBox="1"/>
          <p:nvPr/>
        </p:nvSpPr>
        <p:spPr>
          <a:xfrm>
            <a:off x="-689115" y="5616890"/>
            <a:ext cx="615194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https://i.gifer.com/Rcep.gif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5"/>
          <p:cNvSpPr txBox="1"/>
          <p:nvPr/>
        </p:nvSpPr>
        <p:spPr>
          <a:xfrm>
            <a:off x="8125427" y="3657598"/>
            <a:ext cx="2754775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Chilean High ------&gt;</a:t>
            </a:r>
            <a:endParaRPr/>
          </a:p>
        </p:txBody>
      </p:sp>
      <p:sp>
        <p:nvSpPr>
          <p:cNvPr id="134" name="Google Shape;134;p5"/>
          <p:cNvSpPr txBox="1"/>
          <p:nvPr/>
        </p:nvSpPr>
        <p:spPr>
          <a:xfrm>
            <a:off x="3671102" y="2808445"/>
            <a:ext cx="3169535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Nauru Low ------&gt;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6"/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Eastward-shifted semipermanent synoptic systems during El Niño, and consequences</a:t>
            </a:r>
            <a:endParaRPr b="1" i="1"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6"/>
          <p:cNvSpPr txBox="1"/>
          <p:nvPr/>
        </p:nvSpPr>
        <p:spPr>
          <a:xfrm>
            <a:off x="8310622" y="3877520"/>
            <a:ext cx="62503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High</a:t>
            </a:r>
            <a:endParaRPr/>
          </a:p>
        </p:txBody>
      </p:sp>
      <p:sp>
        <p:nvSpPr>
          <p:cNvPr id="141" name="Google Shape;141;p6"/>
          <p:cNvSpPr txBox="1"/>
          <p:nvPr/>
        </p:nvSpPr>
        <p:spPr>
          <a:xfrm>
            <a:off x="3358586" y="2976624"/>
            <a:ext cx="62503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Low</a:t>
            </a:r>
            <a:endParaRPr/>
          </a:p>
        </p:txBody>
      </p:sp>
      <p:grpSp>
        <p:nvGrpSpPr>
          <p:cNvPr id="142" name="Google Shape;142;p6"/>
          <p:cNvGrpSpPr/>
          <p:nvPr/>
        </p:nvGrpSpPr>
        <p:grpSpPr>
          <a:xfrm>
            <a:off x="-1" y="486564"/>
            <a:ext cx="11401063" cy="5201736"/>
            <a:chOff x="-1" y="1007432"/>
            <a:chExt cx="11401063" cy="5201736"/>
          </a:xfrm>
        </p:grpSpPr>
        <p:pic>
          <p:nvPicPr>
            <p:cNvPr id="143" name="Google Shape;143;p6"/>
            <p:cNvPicPr preferRelativeResize="0"/>
            <p:nvPr/>
          </p:nvPicPr>
          <p:blipFill rotWithShape="1">
            <a:blip r:embed="rId3">
              <a:alphaModFix/>
            </a:blip>
            <a:srcRect b="8722" l="0" r="0" t="11668"/>
            <a:stretch/>
          </p:blipFill>
          <p:spPr>
            <a:xfrm>
              <a:off x="-1" y="1516285"/>
              <a:ext cx="11401063" cy="469288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4" name="Google Shape;144;p6"/>
            <p:cNvSpPr txBox="1"/>
            <p:nvPr/>
          </p:nvSpPr>
          <p:spPr>
            <a:xfrm>
              <a:off x="7581416" y="1007433"/>
              <a:ext cx="2083444" cy="83099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Ex-Chilean High</a:t>
              </a:r>
              <a:endParaRPr/>
            </a:p>
          </p:txBody>
        </p:sp>
        <p:sp>
          <p:nvSpPr>
            <p:cNvPr id="145" name="Google Shape;145;p6"/>
            <p:cNvSpPr txBox="1"/>
            <p:nvPr/>
          </p:nvSpPr>
          <p:spPr>
            <a:xfrm>
              <a:off x="5700530" y="1007432"/>
              <a:ext cx="1531716" cy="83099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Ex-Nauru Low</a:t>
              </a:r>
              <a:endParaRPr/>
            </a:p>
          </p:txBody>
        </p:sp>
      </p:grpSp>
      <p:sp>
        <p:nvSpPr>
          <p:cNvPr id="146" name="Google Shape;146;p6"/>
          <p:cNvSpPr txBox="1"/>
          <p:nvPr/>
        </p:nvSpPr>
        <p:spPr>
          <a:xfrm>
            <a:off x="0" y="5621887"/>
            <a:ext cx="11956648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=&gt; </a:t>
            </a: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rainier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in the central Pacific, </a:t>
            </a: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less upwelling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of that cold deep water off the coast of Peru &amp; Ecuador, </a:t>
            </a: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warmer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and </a:t>
            </a: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less nutritious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surface waters (bad for fishing)</a:t>
            </a:r>
            <a:endParaRPr/>
          </a:p>
        </p:txBody>
      </p:sp>
      <p:sp>
        <p:nvSpPr>
          <p:cNvPr id="147" name="Google Shape;147;p6"/>
          <p:cNvSpPr txBox="1"/>
          <p:nvPr/>
        </p:nvSpPr>
        <p:spPr>
          <a:xfrm>
            <a:off x="112854" y="557425"/>
            <a:ext cx="342900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https://www.climate.gov/news-features/blogs/enso/walker-circulation-ensos-atmospheric-buddy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7"/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Temperature anomalies in the Pacific Ocean due to El Niño</a:t>
            </a:r>
            <a:endParaRPr/>
          </a:p>
        </p:txBody>
      </p:sp>
      <p:pic>
        <p:nvPicPr>
          <p:cNvPr id="153" name="Google Shape;153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51008" y="577522"/>
            <a:ext cx="9097282" cy="5117221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7"/>
          <p:cNvSpPr txBox="1"/>
          <p:nvPr/>
        </p:nvSpPr>
        <p:spPr>
          <a:xfrm>
            <a:off x="3805178" y="5891987"/>
            <a:ext cx="6151944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https://www.noaa.gov/education/resource-collections/weather-atmosphere/el-nino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8"/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 Niño impacts in North America</a:t>
            </a:r>
            <a:endParaRPr/>
          </a:p>
        </p:txBody>
      </p:sp>
      <p:pic>
        <p:nvPicPr>
          <p:cNvPr id="160" name="Google Shape;160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80217" y="756569"/>
            <a:ext cx="10075071" cy="57021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9"/>
          <p:cNvSpPr txBox="1"/>
          <p:nvPr/>
        </p:nvSpPr>
        <p:spPr>
          <a:xfrm>
            <a:off x="0" y="0"/>
            <a:ext cx="1842448" cy="12003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Global El Niño climate impacts</a:t>
            </a:r>
            <a:endParaRPr/>
          </a:p>
        </p:txBody>
      </p:sp>
      <p:pic>
        <p:nvPicPr>
          <p:cNvPr descr="El Nino Climate Impacts" id="166" name="Google Shape;166;p9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3977"/>
          <a:stretch/>
        </p:blipFill>
        <p:spPr>
          <a:xfrm>
            <a:off x="2824180" y="103040"/>
            <a:ext cx="6898554" cy="6549877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2020-01-23T15:38:57Z</dcterms:created>
  <dc:creator>Steven</dc:creator>
</cp:coreProperties>
</file>