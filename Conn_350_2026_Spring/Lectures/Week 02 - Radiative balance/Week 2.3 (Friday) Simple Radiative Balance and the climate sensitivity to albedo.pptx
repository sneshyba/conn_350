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95" r:id="rId3"/>
    <p:sldId id="296" r:id="rId4"/>
    <p:sldId id="297" r:id="rId5"/>
    <p:sldId id="298" r:id="rId6"/>
    <p:sldId id="315" r:id="rId7"/>
    <p:sldId id="299" r:id="rId8"/>
    <p:sldId id="316" r:id="rId9"/>
    <p:sldId id="303" r:id="rId10"/>
    <p:sldId id="306" r:id="rId11"/>
    <p:sldId id="307" r:id="rId12"/>
    <p:sldId id="314" r:id="rId13"/>
    <p:sldId id="305" r:id="rId14"/>
    <p:sldId id="311" r:id="rId15"/>
    <p:sldId id="310" r:id="rId16"/>
    <p:sldId id="312" r:id="rId17"/>
    <p:sldId id="308" r:id="rId18"/>
    <p:sldId id="290" r:id="rId19"/>
    <p:sldId id="313" r:id="rId20"/>
    <p:sldId id="282" r:id="rId21"/>
    <p:sldId id="302" r:id="rId22"/>
    <p:sldId id="30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03"/>
    <p:restoredTop sz="95958"/>
  </p:normalViewPr>
  <p:slideViewPr>
    <p:cSldViewPr snapToGrid="0" snapToObjects="1">
      <p:cViewPr varScale="1">
        <p:scale>
          <a:sx n="110" d="100"/>
          <a:sy n="110" d="100"/>
        </p:scale>
        <p:origin x="20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E4465-0999-1943-84E3-301AC209C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F9119-28A3-0043-A10E-0F283268B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FF9C9-DBBF-B447-B522-E097DFFE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D36D0-628E-4E41-92B8-F54DFD191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922FB-EEBD-8B42-836A-A65346279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65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BF4-6F64-9F4E-B6F5-EFCE9D35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6C8F6-2FEC-B64C-A5EB-916D81B61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7A5D1-E159-9749-A430-FA2637144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B339A-1F8C-194C-9709-75C2C73D0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40F84-F672-4548-AA5B-31B216B7B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796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B3BA-B8AE-8D44-885D-9DA7E6FD9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32129-6FAA-534B-B007-4B149DB51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AAE81-02D0-8B46-BF6B-94C8F3C67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75983-480A-2849-90A3-BF2B5BD0B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237F2-919E-7345-A995-98840B59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69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58288-C6EB-3048-8441-79A43B9A6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18B2A-8718-1041-A9B8-A74334BB6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17DF96-3975-2B4C-97BD-BC5CEC261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47E2C-98C1-3D46-B552-E05C06EA9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BDE3B-0F61-024E-B3C2-F6EE792C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AB704-8CF0-C34F-ACFD-60AC1860A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43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79DCD-6D6A-2A45-86C2-09BB4126C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4846A-0615-5F4A-B35C-6B3EC9499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B8D24-72FB-F44E-B5F0-A7C0EC0C0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35079-B4B8-554B-8E60-D7D8FD468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5B0FBF-23DA-004F-B215-CF533926CE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0E991F-7AE9-9249-896D-980C76B8D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9872C6-C40E-684C-B568-25683401D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A95FFE-F184-754F-9B68-D8EBBFA4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CBED-22C9-984B-B6A8-57270F19A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E9EF2B-4B68-0B4A-AF02-44010319C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76475-3224-6C4B-8355-DF950A22F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9DEF9-AFF4-E84B-A95E-E01978AA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9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6D1177-C281-D342-90DD-C3D42600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F8B6CB-D3EF-0442-81B5-6A6C15AD2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6EE79-BDBE-9B4E-B31D-B12F8D6EB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66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1D60E-C7EE-B84A-A9A6-C20D01D4E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570A9-97D8-9745-8200-966C84661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68C5D-5DDB-E844-A6CC-5DA59CEBF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ECBB8-92B6-BC4E-BF27-B40525601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F0B47-FA10-2948-AF70-C41ACF400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B28F2-2B93-514E-B960-D946E8DA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084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3BDE7-79BB-894E-83BF-61F435933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B53049-9A4B-9E49-A349-602A09B031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BB9A9-4A76-0247-96DC-8CB0EB1B7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59164-4BC1-124D-844B-0BDA425D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74B91-76C4-4947-9ED2-50520C90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796A9-BBF4-6743-AA7F-3DEBBF9A9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61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C9F5A-2D01-E344-A5CF-650A7DDA8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5CD9B-B4C2-7140-A992-5D9C17AC6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4400C-D9E6-9C4E-99FF-51F1932A3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832FD-1800-B246-948F-8C33BB6DC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4D68D-5DF0-F84E-AB78-A13D64636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34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3834D9-0820-1F44-94B3-BC2DA6C75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DB684-CC9D-3544-A730-BBC27635D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3730F-91D2-7B4F-A795-C5CD3B0E8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48EB-8E81-304D-A006-F8BF9379A06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63FFD-C23A-0A47-ACCB-AAEF1C20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B3C73-D2B5-5842-99EF-3382F86EB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99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2B78C-DC01-1840-A44F-7E5EB2C4E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F45AD-D5B5-834F-8620-45EEC75F2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DA4A4-C406-5942-8CA7-673D9A4028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B48EB-8E81-304D-A006-F8BF9379A065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CBDE3-F68C-CA47-B927-BBC0A6A8DA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DF24A-B34F-EF42-AC2E-D7C8846E2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88667-ECC6-3F4B-B9F9-18063AECF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24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1530F0-7D3E-3F98-B564-000F4A67DAB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SW flux, albedo, LW flux, and radiative balance</a:t>
            </a:r>
          </a:p>
        </p:txBody>
      </p:sp>
      <p:pic>
        <p:nvPicPr>
          <p:cNvPr id="3" name="Picture 2" descr="What Happens to Insolation That Reaches the Surface?">
            <a:extLst>
              <a:ext uri="{FF2B5EF4-FFF2-40B4-BE49-F238E27FC236}">
                <a16:creationId xmlns:a16="http://schemas.microsoft.com/office/drawing/2014/main" id="{6806E046-BFC7-7733-42AC-DF4EEF713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4164" y="674700"/>
            <a:ext cx="3687836" cy="2950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AAFF8C-0AB3-E138-5F09-00D4777AC9C5}"/>
              </a:ext>
            </a:extLst>
          </p:cNvPr>
          <p:cNvSpPr txBox="1"/>
          <p:nvPr/>
        </p:nvSpPr>
        <p:spPr>
          <a:xfrm>
            <a:off x="240486" y="4003712"/>
            <a:ext cx="4481985" cy="2677656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Energy leaves the earth as longwave (</a:t>
            </a:r>
            <a:r>
              <a:rPr lang="en-US" sz="2400" b="1" dirty="0"/>
              <a:t>LW</a:t>
            </a:r>
            <a:r>
              <a:rPr lang="en-US" sz="2400" dirty="0"/>
              <a:t>) radiation emitted by the earth itself. The LW emitted by Earth is invisible to human eyes, but you’re familiar with the basic idea, because you’ve seen glowing coils on a stove top. </a:t>
            </a:r>
          </a:p>
        </p:txBody>
      </p:sp>
      <p:pic>
        <p:nvPicPr>
          <p:cNvPr id="9" name="Picture 2" descr="Emini Vanilli: CAJ Geoengineering - Introduction">
            <a:extLst>
              <a:ext uri="{FF2B5EF4-FFF2-40B4-BE49-F238E27FC236}">
                <a16:creationId xmlns:a16="http://schemas.microsoft.com/office/drawing/2014/main" id="{DA70131B-8145-75C6-002F-7DE3C33B7C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92"/>
          <a:stretch/>
        </p:blipFill>
        <p:spPr bwMode="auto">
          <a:xfrm>
            <a:off x="240486" y="545964"/>
            <a:ext cx="2236496" cy="311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9239CF-A4AD-817A-6765-A92B312C9014}"/>
              </a:ext>
            </a:extLst>
          </p:cNvPr>
          <p:cNvSpPr txBox="1"/>
          <p:nvPr/>
        </p:nvSpPr>
        <p:spPr>
          <a:xfrm>
            <a:off x="2832569" y="751344"/>
            <a:ext cx="5521124" cy="267765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Energy comes to the earth in the form of shortwave (</a:t>
            </a:r>
            <a:r>
              <a:rPr lang="en-US" sz="2400" b="1" dirty="0"/>
              <a:t>SW</a:t>
            </a:r>
            <a:r>
              <a:rPr lang="en-US" sz="2400" dirty="0"/>
              <a:t>) radiation from the sun, of which a good chunk is visible light. About 30% is reflected away – we say the </a:t>
            </a:r>
            <a:r>
              <a:rPr lang="en-US" sz="2400" b="1" dirty="0"/>
              <a:t>albedo</a:t>
            </a:r>
            <a:r>
              <a:rPr lang="en-US" sz="2400" dirty="0"/>
              <a:t> is 0.3 – without heating anything. The remaining 70% is responsible for heating the planet.</a:t>
            </a:r>
          </a:p>
        </p:txBody>
      </p:sp>
      <p:pic>
        <p:nvPicPr>
          <p:cNvPr id="12" name="Picture 2" descr="How to Clean Electric Stove Coil Tops - Perfect Stove">
            <a:extLst>
              <a:ext uri="{FF2B5EF4-FFF2-40B4-BE49-F238E27FC236}">
                <a16:creationId xmlns:a16="http://schemas.microsoft.com/office/drawing/2014/main" id="{E86339DF-52A7-243A-3434-547A1FAD4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274" y="4155311"/>
            <a:ext cx="2967237" cy="222234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5455C77-1400-0B81-021E-477B31EC718B}"/>
              </a:ext>
            </a:extLst>
          </p:cNvPr>
          <p:cNvSpPr txBox="1"/>
          <p:nvPr/>
        </p:nvSpPr>
        <p:spPr>
          <a:xfrm>
            <a:off x="8353693" y="4323971"/>
            <a:ext cx="3687836" cy="156966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When SW and LW energy fluxes are exactly the same, we say Earth is in </a:t>
            </a:r>
            <a:r>
              <a:rPr lang="en-US" sz="2400" b="1" dirty="0"/>
              <a:t>radiative balance</a:t>
            </a:r>
            <a:r>
              <a:rPr lang="en-US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09325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 construct a quantitative model, we’ll start with the outgoing LW radiance, or </a:t>
            </a:r>
            <a:r>
              <a:rPr lang="en-US" sz="2400" b="1" i="1" dirty="0"/>
              <a:t>OLR</a:t>
            </a:r>
            <a:endParaRPr lang="en-US" sz="24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8F6099-3A99-2F6D-1465-867009F1B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74" y="1646777"/>
            <a:ext cx="3118556" cy="10023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DFD855-9D22-765D-64D9-9F1E8212D25D}"/>
                  </a:ext>
                </a:extLst>
              </p:cNvPr>
              <p:cNvSpPr txBox="1"/>
              <p:nvPr/>
            </p:nvSpPr>
            <p:spPr>
              <a:xfrm>
                <a:off x="4452994" y="1003335"/>
                <a:ext cx="7631575" cy="299517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is the temperature of the Earth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400" dirty="0"/>
                  <a:t> = longwave energy coming off Earth’s surface (“Stefan-Boltzmann Law”, w/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=5.67 ×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−8</m:t>
                        </m:r>
                      </m:sup>
                    </m:sSup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=0.614</m:t>
                    </m:r>
                  </m:oMath>
                </a14:m>
                <a:r>
                  <a:rPr lang="en-US" sz="2400" dirty="0"/>
                  <a:t> = fraction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400" dirty="0"/>
                  <a:t> that makes it out to space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r>
                  <a:rPr lang="en-US" sz="2400" b="1" dirty="0"/>
                  <a:t>Example</a:t>
                </a:r>
                <a:r>
                  <a:rPr lang="en-US" sz="2400" dirty="0"/>
                  <a:t>: at Earth’s pre-industrial temperature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𝟐𝟖𝟕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dirty="0"/>
                  <a:t>, what was the OLR? </a:t>
                </a:r>
                <a:r>
                  <a:rPr lang="en-US" sz="2400" b="1" dirty="0"/>
                  <a:t>Answer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𝜅𝜎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𝟐𝟑𝟗</m:t>
                    </m:r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𝑾</m:t>
                        </m:r>
                      </m:num>
                      <m:den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e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DFD855-9D22-765D-64D9-9F1E8212D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994" y="1003335"/>
                <a:ext cx="7631575" cy="2995179"/>
              </a:xfrm>
              <a:prstGeom prst="rect">
                <a:avLst/>
              </a:prstGeom>
              <a:blipFill>
                <a:blip r:embed="rId3"/>
                <a:stretch>
                  <a:fillRect l="-995" t="-840" r="-995" b="-84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 descr="What Happens to Insolation That Reaches the Surface?">
            <a:extLst>
              <a:ext uri="{FF2B5EF4-FFF2-40B4-BE49-F238E27FC236}">
                <a16:creationId xmlns:a16="http://schemas.microsoft.com/office/drawing/2014/main" id="{86C1DA52-0DAE-5E81-822A-EE2E919D5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00" y="3429000"/>
            <a:ext cx="3871562" cy="3097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9A80E3-A053-168D-7F71-77CB36733FE3}"/>
                  </a:ext>
                </a:extLst>
              </p:cNvPr>
              <p:cNvSpPr txBox="1"/>
              <p:nvPr/>
            </p:nvSpPr>
            <p:spPr>
              <a:xfrm>
                <a:off x="1857481" y="5382228"/>
                <a:ext cx="914400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5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35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9A80E3-A053-168D-7F71-77CB36733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481" y="5382228"/>
                <a:ext cx="914400" cy="6309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3A167E4-8F68-C5AC-5FD4-2F6458A05D28}"/>
              </a:ext>
            </a:extLst>
          </p:cNvPr>
          <p:cNvGrpSpPr/>
          <p:nvPr/>
        </p:nvGrpSpPr>
        <p:grpSpPr>
          <a:xfrm>
            <a:off x="4578446" y="4309318"/>
            <a:ext cx="6998730" cy="1791576"/>
            <a:chOff x="4578446" y="4309318"/>
            <a:chExt cx="6998730" cy="1791576"/>
          </a:xfrm>
        </p:grpSpPr>
        <p:pic>
          <p:nvPicPr>
            <p:cNvPr id="1026" name="Picture 2" descr="How to Clean Electric Stove Coil Tops - Perfect Stove">
              <a:extLst>
                <a:ext uri="{FF2B5EF4-FFF2-40B4-BE49-F238E27FC236}">
                  <a16:creationId xmlns:a16="http://schemas.microsoft.com/office/drawing/2014/main" id="{10289FEF-E654-E7EF-B7AD-B2A3DA253E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81918" y="4456734"/>
              <a:ext cx="2195258" cy="164416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B42D03-910E-E4DE-1163-EBD729F2D055}"/>
                </a:ext>
              </a:extLst>
            </p:cNvPr>
            <p:cNvSpPr txBox="1"/>
            <p:nvPr/>
          </p:nvSpPr>
          <p:spPr>
            <a:xfrm>
              <a:off x="4578446" y="4309318"/>
              <a:ext cx="4475488" cy="156966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dirty="0"/>
                <a:t>The Stefan-Boltzmann law quantifies what you already know: a hot object emits more radiant heat than a cold object does.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364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We’ll also need the incoming energy -- the absorbed shortwave radiance, or </a:t>
            </a:r>
            <a:r>
              <a:rPr lang="en-US" sz="2400" b="1" i="1" dirty="0"/>
              <a:t>ASR</a:t>
            </a:r>
            <a:endParaRPr lang="en-US" sz="2400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A578E8-09B3-0BA5-3650-0A2087E896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829"/>
          <a:stretch/>
        </p:blipFill>
        <p:spPr>
          <a:xfrm>
            <a:off x="378900" y="1100359"/>
            <a:ext cx="3749209" cy="1520295"/>
          </a:xfrm>
          <a:prstGeom prst="rect">
            <a:avLst/>
          </a:prstGeom>
        </p:spPr>
      </p:pic>
      <p:pic>
        <p:nvPicPr>
          <p:cNvPr id="3" name="Picture 2" descr="What Happens to Insolation That Reaches the Surface?">
            <a:extLst>
              <a:ext uri="{FF2B5EF4-FFF2-40B4-BE49-F238E27FC236}">
                <a16:creationId xmlns:a16="http://schemas.microsoft.com/office/drawing/2014/main" id="{ADDD4704-0FF4-FD5F-7647-83C50DEBE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815" y="3299086"/>
            <a:ext cx="3871562" cy="3097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F918E6-E943-60CB-24DE-DC8CEF1D9B79}"/>
                  </a:ext>
                </a:extLst>
              </p:cNvPr>
              <p:cNvSpPr txBox="1"/>
              <p:nvPr/>
            </p:nvSpPr>
            <p:spPr>
              <a:xfrm>
                <a:off x="378900" y="3020821"/>
                <a:ext cx="1751830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5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35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lang="en-US" sz="35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F918E6-E943-60CB-24DE-DC8CEF1D9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00" y="3020821"/>
                <a:ext cx="1751830" cy="630942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DF9E8C-288D-E16D-0E73-517247011009}"/>
                  </a:ext>
                </a:extLst>
              </p:cNvPr>
              <p:cNvSpPr txBox="1"/>
              <p:nvPr/>
            </p:nvSpPr>
            <p:spPr>
              <a:xfrm>
                <a:off x="5634390" y="1551948"/>
                <a:ext cx="6310682" cy="616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 is called the </a:t>
                </a:r>
                <a:r>
                  <a:rPr lang="en-US" sz="2400" i="1" dirty="0"/>
                  <a:t>solar constant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1367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)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DF9E8C-288D-E16D-0E73-517247011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390" y="1551948"/>
                <a:ext cx="6310682" cy="616836"/>
              </a:xfrm>
              <a:prstGeom prst="rect">
                <a:avLst/>
              </a:prstGeom>
              <a:blipFill>
                <a:blip r:embed="rId5"/>
                <a:stretch>
                  <a:fillRect l="-1205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746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We’ll also need the incoming energy -- the absorbed shortwave radiance, or </a:t>
            </a:r>
            <a:r>
              <a:rPr lang="en-US" sz="2400" b="1" i="1" dirty="0"/>
              <a:t>ASR</a:t>
            </a:r>
            <a:endParaRPr lang="en-US" sz="2400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A578E8-09B3-0BA5-3650-0A2087E896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829"/>
          <a:stretch/>
        </p:blipFill>
        <p:spPr>
          <a:xfrm>
            <a:off x="378900" y="1100359"/>
            <a:ext cx="3749209" cy="1520295"/>
          </a:xfrm>
          <a:prstGeom prst="rect">
            <a:avLst/>
          </a:prstGeom>
        </p:spPr>
      </p:pic>
      <p:pic>
        <p:nvPicPr>
          <p:cNvPr id="3" name="Picture 2" descr="What Happens to Insolation That Reaches the Surface?">
            <a:extLst>
              <a:ext uri="{FF2B5EF4-FFF2-40B4-BE49-F238E27FC236}">
                <a16:creationId xmlns:a16="http://schemas.microsoft.com/office/drawing/2014/main" id="{ADDD4704-0FF4-FD5F-7647-83C50DEBE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815" y="3299086"/>
            <a:ext cx="3871562" cy="3097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AE9F05-9ABB-89A2-D3F5-34F79CA222AC}"/>
              </a:ext>
            </a:extLst>
          </p:cNvPr>
          <p:cNvCxnSpPr>
            <a:cxnSpLocks/>
          </p:cNvCxnSpPr>
          <p:nvPr/>
        </p:nvCxnSpPr>
        <p:spPr>
          <a:xfrm flipV="1">
            <a:off x="2488557" y="3497875"/>
            <a:ext cx="518088" cy="1664434"/>
          </a:xfrm>
          <a:prstGeom prst="straightConnector1">
            <a:avLst/>
          </a:prstGeom>
          <a:ln w="63500">
            <a:solidFill>
              <a:srgbClr val="FFFF00">
                <a:alpha val="4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63E4B5-E96B-D30D-CD94-EB378D07D99F}"/>
              </a:ext>
            </a:extLst>
          </p:cNvPr>
          <p:cNvCxnSpPr>
            <a:cxnSpLocks/>
          </p:cNvCxnSpPr>
          <p:nvPr/>
        </p:nvCxnSpPr>
        <p:spPr>
          <a:xfrm flipV="1">
            <a:off x="4410843" y="3497875"/>
            <a:ext cx="195881" cy="494296"/>
          </a:xfrm>
          <a:prstGeom prst="straightConnector1">
            <a:avLst/>
          </a:prstGeom>
          <a:ln w="63500">
            <a:solidFill>
              <a:srgbClr val="FFFF00">
                <a:alpha val="4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35D013-599F-5367-19F0-8D8D883FDEE1}"/>
                  </a:ext>
                </a:extLst>
              </p:cNvPr>
              <p:cNvSpPr txBox="1"/>
              <p:nvPr/>
            </p:nvSpPr>
            <p:spPr>
              <a:xfrm>
                <a:off x="378900" y="3020821"/>
                <a:ext cx="1751830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5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35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lang="en-US" sz="35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35D013-599F-5367-19F0-8D8D883FD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00" y="3020821"/>
                <a:ext cx="1751830" cy="630942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6666EA-BCED-9429-9B8F-A1102D2E7DA0}"/>
                  </a:ext>
                </a:extLst>
              </p:cNvPr>
              <p:cNvSpPr txBox="1"/>
              <p:nvPr/>
            </p:nvSpPr>
            <p:spPr>
              <a:xfrm>
                <a:off x="3006645" y="2705350"/>
                <a:ext cx="1751830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5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US" sz="35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6666EA-BCED-9429-9B8F-A1102D2E7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645" y="2705350"/>
                <a:ext cx="1751830" cy="6309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AFDC40-D6B2-A737-B404-AE816DD8BB98}"/>
                  </a:ext>
                </a:extLst>
              </p:cNvPr>
              <p:cNvSpPr txBox="1"/>
              <p:nvPr/>
            </p:nvSpPr>
            <p:spPr>
              <a:xfrm>
                <a:off x="5634390" y="1551948"/>
                <a:ext cx="6310682" cy="986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 is called the </a:t>
                </a:r>
                <a:r>
                  <a:rPr lang="en-US" sz="2400" i="1" dirty="0"/>
                  <a:t>solar constant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1367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)</a:t>
                </a:r>
                <a:endParaRPr lang="en-US" sz="2400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is called the albedo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0.3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AFDC40-D6B2-A737-B404-AE816DD8B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390" y="1551948"/>
                <a:ext cx="6310682" cy="986167"/>
              </a:xfrm>
              <a:prstGeom prst="rect">
                <a:avLst/>
              </a:prstGeom>
              <a:blipFill>
                <a:blip r:embed="rId6"/>
                <a:stretch>
                  <a:fillRect l="-1205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3899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We’ll also need the incoming energy -- the absorbed shortwave radiance, or </a:t>
            </a:r>
            <a:r>
              <a:rPr lang="en-US" sz="2400" b="1" i="1" dirty="0"/>
              <a:t>ASR</a:t>
            </a:r>
            <a:endParaRPr lang="en-US" sz="2400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A578E8-09B3-0BA5-3650-0A2087E896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829"/>
          <a:stretch/>
        </p:blipFill>
        <p:spPr>
          <a:xfrm>
            <a:off x="378900" y="1100359"/>
            <a:ext cx="3749209" cy="152029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2C54FB5-C1D3-BDF7-4FB1-C7C020CAF8AB}"/>
              </a:ext>
            </a:extLst>
          </p:cNvPr>
          <p:cNvGrpSpPr/>
          <p:nvPr/>
        </p:nvGrpSpPr>
        <p:grpSpPr>
          <a:xfrm>
            <a:off x="1254815" y="3299086"/>
            <a:ext cx="3871562" cy="3097249"/>
            <a:chOff x="1254815" y="3299086"/>
            <a:chExt cx="3871562" cy="3097249"/>
          </a:xfrm>
        </p:grpSpPr>
        <p:pic>
          <p:nvPicPr>
            <p:cNvPr id="3" name="Picture 2" descr="What Happens to Insolation That Reaches the Surface?">
              <a:extLst>
                <a:ext uri="{FF2B5EF4-FFF2-40B4-BE49-F238E27FC236}">
                  <a16:creationId xmlns:a16="http://schemas.microsoft.com/office/drawing/2014/main" id="{ADDD4704-0FF4-FD5F-7647-83C50DEBE3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4815" y="3299086"/>
              <a:ext cx="3871562" cy="30972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BAE9F05-9ABB-89A2-D3F5-34F79CA222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8557" y="3497875"/>
              <a:ext cx="518088" cy="1664434"/>
            </a:xfrm>
            <a:prstGeom prst="straightConnector1">
              <a:avLst/>
            </a:prstGeom>
            <a:ln w="63500">
              <a:solidFill>
                <a:srgbClr val="FFFF00">
                  <a:alpha val="49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F63E4B5-E96B-D30D-CD94-EB378D07D9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0843" y="3497875"/>
              <a:ext cx="195881" cy="494296"/>
            </a:xfrm>
            <a:prstGeom prst="straightConnector1">
              <a:avLst/>
            </a:prstGeom>
            <a:ln w="63500">
              <a:solidFill>
                <a:srgbClr val="FFFF00">
                  <a:alpha val="49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35D013-599F-5367-19F0-8D8D883FDEE1}"/>
                  </a:ext>
                </a:extLst>
              </p:cNvPr>
              <p:cNvSpPr txBox="1"/>
              <p:nvPr/>
            </p:nvSpPr>
            <p:spPr>
              <a:xfrm>
                <a:off x="378900" y="3020821"/>
                <a:ext cx="1751830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5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35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lang="en-US" sz="35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35D013-599F-5367-19F0-8D8D883FD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00" y="3020821"/>
                <a:ext cx="1751830" cy="630942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6666EA-BCED-9429-9B8F-A1102D2E7DA0}"/>
                  </a:ext>
                </a:extLst>
              </p:cNvPr>
              <p:cNvSpPr txBox="1"/>
              <p:nvPr/>
            </p:nvSpPr>
            <p:spPr>
              <a:xfrm>
                <a:off x="3006645" y="2705350"/>
                <a:ext cx="1751830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5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US" sz="35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6666EA-BCED-9429-9B8F-A1102D2E7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645" y="2705350"/>
                <a:ext cx="1751830" cy="6309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AFDC40-D6B2-A737-B404-AE816DD8BB98}"/>
                  </a:ext>
                </a:extLst>
              </p:cNvPr>
              <p:cNvSpPr txBox="1"/>
              <p:nvPr/>
            </p:nvSpPr>
            <p:spPr>
              <a:xfrm>
                <a:off x="5634390" y="1551948"/>
                <a:ext cx="6310682" cy="1877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 is called the </a:t>
                </a:r>
                <a:r>
                  <a:rPr lang="en-US" sz="2400" i="1" dirty="0"/>
                  <a:t>solar constant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1367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)</a:t>
                </a:r>
                <a:endParaRPr lang="en-US" sz="2400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is called the albedo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0.3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/>
                  <a:t> is due to the fact that the surface area of a sphere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/>
                  <a:t> the area of a circle.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AFDC40-D6B2-A737-B404-AE816DD8B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390" y="1551948"/>
                <a:ext cx="6310682" cy="1877052"/>
              </a:xfrm>
              <a:prstGeom prst="rect">
                <a:avLst/>
              </a:prstGeom>
              <a:blipFill>
                <a:blip r:embed="rId6"/>
                <a:stretch>
                  <a:fillRect l="-1205" r="-2209" b="-6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8" name="Picture 4" descr="Earth, vector linear globe, sphere with parallels and meridians, spiral planet favicon 2861052 ...">
            <a:extLst>
              <a:ext uri="{FF2B5EF4-FFF2-40B4-BE49-F238E27FC236}">
                <a16:creationId xmlns:a16="http://schemas.microsoft.com/office/drawing/2014/main" id="{2F205212-183B-0397-61C4-06BDEB89C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084" y="4714860"/>
            <a:ext cx="2338717" cy="2338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D61E63AD-FF17-A0DD-1C1B-FC86DBE2BBC1}"/>
              </a:ext>
            </a:extLst>
          </p:cNvPr>
          <p:cNvSpPr/>
          <p:nvPr/>
        </p:nvSpPr>
        <p:spPr>
          <a:xfrm rot="3228238">
            <a:off x="8624127" y="4429321"/>
            <a:ext cx="780206" cy="69448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71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We’ll also need the incoming energy -- the absorbed shortwave radiance, or </a:t>
            </a:r>
            <a:r>
              <a:rPr lang="en-US" sz="2400" b="1" i="1" dirty="0"/>
              <a:t>ASR</a:t>
            </a:r>
            <a:endParaRPr lang="en-US" sz="2400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A578E8-09B3-0BA5-3650-0A2087E896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829"/>
          <a:stretch/>
        </p:blipFill>
        <p:spPr>
          <a:xfrm>
            <a:off x="378900" y="1100359"/>
            <a:ext cx="3749209" cy="152029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2C54FB5-C1D3-BDF7-4FB1-C7C020CAF8AB}"/>
              </a:ext>
            </a:extLst>
          </p:cNvPr>
          <p:cNvGrpSpPr/>
          <p:nvPr/>
        </p:nvGrpSpPr>
        <p:grpSpPr>
          <a:xfrm>
            <a:off x="1254815" y="3299086"/>
            <a:ext cx="3871562" cy="3097249"/>
            <a:chOff x="1254815" y="3299086"/>
            <a:chExt cx="3871562" cy="3097249"/>
          </a:xfrm>
        </p:grpSpPr>
        <p:pic>
          <p:nvPicPr>
            <p:cNvPr id="3" name="Picture 2" descr="What Happens to Insolation That Reaches the Surface?">
              <a:extLst>
                <a:ext uri="{FF2B5EF4-FFF2-40B4-BE49-F238E27FC236}">
                  <a16:creationId xmlns:a16="http://schemas.microsoft.com/office/drawing/2014/main" id="{ADDD4704-0FF4-FD5F-7647-83C50DEBE3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4815" y="3299086"/>
              <a:ext cx="3871562" cy="30972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BAE9F05-9ABB-89A2-D3F5-34F79CA222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8557" y="3497875"/>
              <a:ext cx="518088" cy="1664434"/>
            </a:xfrm>
            <a:prstGeom prst="straightConnector1">
              <a:avLst/>
            </a:prstGeom>
            <a:ln w="63500">
              <a:solidFill>
                <a:srgbClr val="FFFF00">
                  <a:alpha val="49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F63E4B5-E96B-D30D-CD94-EB378D07D9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0843" y="3497875"/>
              <a:ext cx="195881" cy="494296"/>
            </a:xfrm>
            <a:prstGeom prst="straightConnector1">
              <a:avLst/>
            </a:prstGeom>
            <a:ln w="63500">
              <a:solidFill>
                <a:srgbClr val="FFFF00">
                  <a:alpha val="49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35D013-599F-5367-19F0-8D8D883FDEE1}"/>
                  </a:ext>
                </a:extLst>
              </p:cNvPr>
              <p:cNvSpPr txBox="1"/>
              <p:nvPr/>
            </p:nvSpPr>
            <p:spPr>
              <a:xfrm>
                <a:off x="378900" y="3020821"/>
                <a:ext cx="1751830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5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35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lang="en-US" sz="35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35D013-599F-5367-19F0-8D8D883FD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00" y="3020821"/>
                <a:ext cx="1751830" cy="630942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6666EA-BCED-9429-9B8F-A1102D2E7DA0}"/>
                  </a:ext>
                </a:extLst>
              </p:cNvPr>
              <p:cNvSpPr txBox="1"/>
              <p:nvPr/>
            </p:nvSpPr>
            <p:spPr>
              <a:xfrm>
                <a:off x="3006645" y="2705350"/>
                <a:ext cx="1751830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5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US" sz="3500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6666EA-BCED-9429-9B8F-A1102D2E7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645" y="2705350"/>
                <a:ext cx="1751830" cy="6309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AFDC40-D6B2-A737-B404-AE816DD8BB98}"/>
                  </a:ext>
                </a:extLst>
              </p:cNvPr>
              <p:cNvSpPr txBox="1"/>
              <p:nvPr/>
            </p:nvSpPr>
            <p:spPr>
              <a:xfrm>
                <a:off x="5634390" y="1551948"/>
                <a:ext cx="6310682" cy="1877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/>
                  <a:t> is called the </a:t>
                </a:r>
                <a:r>
                  <a:rPr lang="en-US" sz="2400" i="1" dirty="0"/>
                  <a:t>solar constant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1367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)</a:t>
                </a:r>
                <a:endParaRPr lang="en-US" sz="2400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is called the albedo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0.3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/>
                  <a:t> is due to the fact that the surface area of a sphere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/>
                  <a:t> the area of a circle.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AFDC40-D6B2-A737-B404-AE816DD8B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390" y="1551948"/>
                <a:ext cx="6310682" cy="1877052"/>
              </a:xfrm>
              <a:prstGeom prst="rect">
                <a:avLst/>
              </a:prstGeom>
              <a:blipFill>
                <a:blip r:embed="rId6"/>
                <a:stretch>
                  <a:fillRect l="-1205" r="-2209" b="-6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8" name="Picture 4" descr="Earth, vector linear globe, sphere with parallels and meridians, spiral planet favicon 2861052 ...">
            <a:extLst>
              <a:ext uri="{FF2B5EF4-FFF2-40B4-BE49-F238E27FC236}">
                <a16:creationId xmlns:a16="http://schemas.microsoft.com/office/drawing/2014/main" id="{2F205212-183B-0397-61C4-06BDEB89C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084" y="4714860"/>
            <a:ext cx="2338717" cy="2338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1FAA13-60B2-D975-3DF7-6EF0084B00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3319" y="3532864"/>
            <a:ext cx="5449482" cy="13148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07E7A93-9921-2AB8-D2A3-C16186457A63}"/>
              </a:ext>
            </a:extLst>
          </p:cNvPr>
          <p:cNvSpPr txBox="1"/>
          <p:nvPr/>
        </p:nvSpPr>
        <p:spPr>
          <a:xfrm>
            <a:off x="5670763" y="5162309"/>
            <a:ext cx="2615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1367/4 = 342</a:t>
            </a:r>
          </a:p>
        </p:txBody>
      </p:sp>
    </p:spTree>
    <p:extLst>
      <p:ext uri="{BB962C8B-B14F-4D97-AF65-F5344CB8AC3E}">
        <p14:creationId xmlns:p14="http://schemas.microsoft.com/office/powerpoint/2010/main" val="3793142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Now for the dynamics: at any given time, any difference between ASR and OLR represents a “radiative imbalance,” which will result in a temperature change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2F42A3-D120-714D-85FA-0556BDECC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43" y="1073154"/>
            <a:ext cx="3995515" cy="132245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EDF463E-9025-5CC2-5C3D-9B034EA43351}"/>
              </a:ext>
            </a:extLst>
          </p:cNvPr>
          <p:cNvGrpSpPr/>
          <p:nvPr/>
        </p:nvGrpSpPr>
        <p:grpSpPr>
          <a:xfrm>
            <a:off x="275543" y="2913763"/>
            <a:ext cx="3871562" cy="3097249"/>
            <a:chOff x="1254815" y="3299086"/>
            <a:chExt cx="3871562" cy="3097249"/>
          </a:xfrm>
        </p:grpSpPr>
        <p:pic>
          <p:nvPicPr>
            <p:cNvPr id="6" name="Picture 5" descr="What Happens to Insolation That Reaches the Surface?">
              <a:extLst>
                <a:ext uri="{FF2B5EF4-FFF2-40B4-BE49-F238E27FC236}">
                  <a16:creationId xmlns:a16="http://schemas.microsoft.com/office/drawing/2014/main" id="{5B64495E-5C38-6AD1-F28F-E1960592AE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4815" y="3299086"/>
              <a:ext cx="3871562" cy="30972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7E6B82F-FC77-796C-AC8D-748C7D0D36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8557" y="3497875"/>
              <a:ext cx="518088" cy="1664434"/>
            </a:xfrm>
            <a:prstGeom prst="straightConnector1">
              <a:avLst/>
            </a:prstGeom>
            <a:ln w="63500">
              <a:solidFill>
                <a:srgbClr val="FFFF00">
                  <a:alpha val="49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0772607-0161-F2A1-1A0C-7E458871FA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0843" y="3497875"/>
              <a:ext cx="195881" cy="494296"/>
            </a:xfrm>
            <a:prstGeom prst="straightConnector1">
              <a:avLst/>
            </a:prstGeom>
            <a:ln w="63500">
              <a:solidFill>
                <a:srgbClr val="FFFF00">
                  <a:alpha val="49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B234B9-88AC-FE31-6AB4-9FB579C59657}"/>
                  </a:ext>
                </a:extLst>
              </p:cNvPr>
              <p:cNvSpPr txBox="1"/>
              <p:nvPr/>
            </p:nvSpPr>
            <p:spPr>
              <a:xfrm>
                <a:off x="4704049" y="2494861"/>
                <a:ext cx="7212408" cy="2706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is the </a:t>
                </a:r>
                <a:r>
                  <a:rPr lang="en-US" sz="2400" i="1" dirty="0"/>
                  <a:t>time step </a:t>
                </a:r>
                <a:r>
                  <a:rPr lang="en-US" sz="2400" dirty="0"/>
                  <a:t>as we loop over time (While loop in Python)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/>
                  <a:t> is the </a:t>
                </a:r>
                <a:r>
                  <a:rPr lang="en-US" sz="2400" i="1" dirty="0"/>
                  <a:t>heat capacity </a:t>
                </a:r>
                <a:r>
                  <a:rPr lang="en-US" sz="2400" dirty="0"/>
                  <a:t>of the earth’s surface (big =&gt; temperature responds slowly, small =&gt; temperature responds quickly)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is the change in the temperature of the earth in that time step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B234B9-88AC-FE31-6AB4-9FB579C59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049" y="2494861"/>
                <a:ext cx="7212408" cy="2706190"/>
              </a:xfrm>
              <a:prstGeom prst="rect">
                <a:avLst/>
              </a:prstGeom>
              <a:blipFill>
                <a:blip r:embed="rId4"/>
                <a:stretch>
                  <a:fillRect l="-1230" t="-1402" b="-3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5786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This is already set up for you the “Simple Radiative Balance” exercise, in the form of a </a:t>
            </a:r>
            <a:r>
              <a:rPr lang="en-US" sz="2400" b="1" u="sng" dirty="0"/>
              <a:t>function</a:t>
            </a:r>
            <a:r>
              <a:rPr lang="en-US" sz="2400" b="1" dirty="0"/>
              <a:t> called “SRB”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E985BA-DB74-044B-0AFE-6CFA7DED5E2B}"/>
              </a:ext>
            </a:extLst>
          </p:cNvPr>
          <p:cNvSpPr txBox="1"/>
          <p:nvPr/>
        </p:nvSpPr>
        <p:spPr>
          <a:xfrm>
            <a:off x="4629407" y="5689047"/>
            <a:ext cx="254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 more code 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0A0E1B-1AB2-41AD-241C-9E85F16CA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973" y="1206579"/>
            <a:ext cx="7639957" cy="44760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31FB24D-6BCB-8609-B8FE-2F802FEF9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973" y="6174856"/>
            <a:ext cx="5834060" cy="23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57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Here are those constants we were just talking about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E985BA-DB74-044B-0AFE-6CFA7DED5E2B}"/>
              </a:ext>
            </a:extLst>
          </p:cNvPr>
          <p:cNvSpPr txBox="1"/>
          <p:nvPr/>
        </p:nvSpPr>
        <p:spPr>
          <a:xfrm>
            <a:off x="4629407" y="5689047"/>
            <a:ext cx="254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 more code 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0A0E1B-1AB2-41AD-241C-9E85F16CA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973" y="1206579"/>
            <a:ext cx="7639957" cy="44760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31FB24D-6BCB-8609-B8FE-2F802FEF9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973" y="6174856"/>
            <a:ext cx="5834060" cy="237519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CFE61222-7103-1273-9642-6BD794DBD042}"/>
              </a:ext>
            </a:extLst>
          </p:cNvPr>
          <p:cNvSpPr/>
          <p:nvPr/>
        </p:nvSpPr>
        <p:spPr>
          <a:xfrm>
            <a:off x="2905246" y="1458410"/>
            <a:ext cx="4270592" cy="1076445"/>
          </a:xfrm>
          <a:prstGeom prst="frame">
            <a:avLst>
              <a:gd name="adj1" fmla="val 497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377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SRB takes as “inputs”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E985BA-DB74-044B-0AFE-6CFA7DED5E2B}"/>
              </a:ext>
            </a:extLst>
          </p:cNvPr>
          <p:cNvSpPr txBox="1"/>
          <p:nvPr/>
        </p:nvSpPr>
        <p:spPr>
          <a:xfrm>
            <a:off x="4629407" y="5689047"/>
            <a:ext cx="254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 more code 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0A0E1B-1AB2-41AD-241C-9E85F16CA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973" y="1206579"/>
            <a:ext cx="7639957" cy="44760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31FB24D-6BCB-8609-B8FE-2F802FEF9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973" y="6174856"/>
            <a:ext cx="5834060" cy="23751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E93359D-8281-7E53-06C9-3EF9B3C192B7}"/>
              </a:ext>
            </a:extLst>
          </p:cNvPr>
          <p:cNvSpPr/>
          <p:nvPr/>
        </p:nvSpPr>
        <p:spPr>
          <a:xfrm>
            <a:off x="3495554" y="1206579"/>
            <a:ext cx="1875099" cy="182383"/>
          </a:xfrm>
          <a:prstGeom prst="round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1F21E5-7B9F-45C1-1459-C92C26C5FE90}"/>
              </a:ext>
            </a:extLst>
          </p:cNvPr>
          <p:cNvGrpSpPr/>
          <p:nvPr/>
        </p:nvGrpSpPr>
        <p:grpSpPr>
          <a:xfrm>
            <a:off x="3981693" y="557965"/>
            <a:ext cx="7731887" cy="970637"/>
            <a:chOff x="3981693" y="557965"/>
            <a:chExt cx="7731887" cy="9706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9595A23-98BF-48E9-2EE5-BD262273A7BE}"/>
                </a:ext>
              </a:extLst>
            </p:cNvPr>
            <p:cNvSpPr txBox="1"/>
            <p:nvPr/>
          </p:nvSpPr>
          <p:spPr>
            <a:xfrm>
              <a:off x="6872834" y="1066937"/>
              <a:ext cx="4840746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This is what SRB takes as “inputs”</a:t>
              </a:r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D1296700-D845-6EFB-2217-27A31CAE875D}"/>
                </a:ext>
              </a:extLst>
            </p:cNvPr>
            <p:cNvSpPr/>
            <p:nvPr/>
          </p:nvSpPr>
          <p:spPr>
            <a:xfrm flipH="1">
              <a:off x="4997734" y="754703"/>
              <a:ext cx="1875099" cy="568489"/>
            </a:xfrm>
            <a:prstGeom prst="arc">
              <a:avLst>
                <a:gd name="adj1" fmla="val 10780357"/>
                <a:gd name="adj2" fmla="val 0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DD635ACF-6153-2491-F6B8-8B45B4A20C66}"/>
                </a:ext>
              </a:extLst>
            </p:cNvPr>
            <p:cNvSpPr/>
            <p:nvPr/>
          </p:nvSpPr>
          <p:spPr>
            <a:xfrm flipH="1">
              <a:off x="3981693" y="557965"/>
              <a:ext cx="2960590" cy="970637"/>
            </a:xfrm>
            <a:prstGeom prst="arc">
              <a:avLst>
                <a:gd name="adj1" fmla="val 10780357"/>
                <a:gd name="adj2" fmla="val 43514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1428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SRB makes as “outputs”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E985BA-DB74-044B-0AFE-6CFA7DED5E2B}"/>
              </a:ext>
            </a:extLst>
          </p:cNvPr>
          <p:cNvSpPr txBox="1"/>
          <p:nvPr/>
        </p:nvSpPr>
        <p:spPr>
          <a:xfrm>
            <a:off x="4629407" y="5689047"/>
            <a:ext cx="254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 more code 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0A0E1B-1AB2-41AD-241C-9E85F16CA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973" y="1206579"/>
            <a:ext cx="7639957" cy="44760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31FB24D-6BCB-8609-B8FE-2F802FEF9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973" y="6174856"/>
            <a:ext cx="5834060" cy="23751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E93359D-8281-7E53-06C9-3EF9B3C192B7}"/>
              </a:ext>
            </a:extLst>
          </p:cNvPr>
          <p:cNvSpPr/>
          <p:nvPr/>
        </p:nvSpPr>
        <p:spPr>
          <a:xfrm>
            <a:off x="3495554" y="1206579"/>
            <a:ext cx="1875099" cy="182383"/>
          </a:xfrm>
          <a:prstGeom prst="round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F96A26-A66F-E3B2-C153-E8B9BBD553D6}"/>
              </a:ext>
            </a:extLst>
          </p:cNvPr>
          <p:cNvGrpSpPr/>
          <p:nvPr/>
        </p:nvGrpSpPr>
        <p:grpSpPr>
          <a:xfrm>
            <a:off x="6872834" y="4750452"/>
            <a:ext cx="5199095" cy="1307927"/>
            <a:chOff x="6514485" y="1066937"/>
            <a:chExt cx="5199095" cy="130792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EB5ABC8-596B-8C42-FAC0-F7C19408455A}"/>
                </a:ext>
              </a:extLst>
            </p:cNvPr>
            <p:cNvSpPr txBox="1"/>
            <p:nvPr/>
          </p:nvSpPr>
          <p:spPr>
            <a:xfrm>
              <a:off x="6872834" y="1066937"/>
              <a:ext cx="4840746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This is what SRB makes as “outputs”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F7F7AB6-D590-3C46-EECB-E55DE1BE21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485" y="1576015"/>
              <a:ext cx="358349" cy="798849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B0E6CBA-6239-700A-3ED6-FA7E6EB6DC60}"/>
              </a:ext>
            </a:extLst>
          </p:cNvPr>
          <p:cNvCxnSpPr>
            <a:cxnSpLocks/>
          </p:cNvCxnSpPr>
          <p:nvPr/>
        </p:nvCxnSpPr>
        <p:spPr>
          <a:xfrm flipH="1">
            <a:off x="5902622" y="5259530"/>
            <a:ext cx="1272750" cy="798713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065C6BD-07B8-5423-F7DC-551F325E6A73}"/>
              </a:ext>
            </a:extLst>
          </p:cNvPr>
          <p:cNvCxnSpPr>
            <a:cxnSpLocks/>
          </p:cNvCxnSpPr>
          <p:nvPr/>
        </p:nvCxnSpPr>
        <p:spPr>
          <a:xfrm flipH="1">
            <a:off x="4433103" y="5212117"/>
            <a:ext cx="2742269" cy="90450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5EF6087-F71A-6FD2-7891-20A52586D48F}"/>
              </a:ext>
            </a:extLst>
          </p:cNvPr>
          <p:cNvGrpSpPr/>
          <p:nvPr/>
        </p:nvGrpSpPr>
        <p:grpSpPr>
          <a:xfrm>
            <a:off x="3981693" y="557965"/>
            <a:ext cx="7731887" cy="970637"/>
            <a:chOff x="3981693" y="557965"/>
            <a:chExt cx="7731887" cy="97063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59A34C2-F6F9-F892-18D8-4168DA71D2C9}"/>
                </a:ext>
              </a:extLst>
            </p:cNvPr>
            <p:cNvSpPr txBox="1"/>
            <p:nvPr/>
          </p:nvSpPr>
          <p:spPr>
            <a:xfrm>
              <a:off x="6872834" y="1066937"/>
              <a:ext cx="4840746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This is what SRB takes as “inputs”</a:t>
              </a:r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DD807641-20BD-5618-6CF1-AC49D4C0F976}"/>
                </a:ext>
              </a:extLst>
            </p:cNvPr>
            <p:cNvSpPr/>
            <p:nvPr/>
          </p:nvSpPr>
          <p:spPr>
            <a:xfrm flipH="1">
              <a:off x="4997734" y="754703"/>
              <a:ext cx="1875099" cy="568489"/>
            </a:xfrm>
            <a:prstGeom prst="arc">
              <a:avLst>
                <a:gd name="adj1" fmla="val 10780357"/>
                <a:gd name="adj2" fmla="val 0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C2B99FD0-D4DE-002B-5971-8D2E27A60E44}"/>
                </a:ext>
              </a:extLst>
            </p:cNvPr>
            <p:cNvSpPr/>
            <p:nvPr/>
          </p:nvSpPr>
          <p:spPr>
            <a:xfrm flipH="1">
              <a:off x="3981693" y="557965"/>
              <a:ext cx="2960590" cy="970637"/>
            </a:xfrm>
            <a:prstGeom prst="arc">
              <a:avLst>
                <a:gd name="adj1" fmla="val 10780357"/>
                <a:gd name="adj2" fmla="val 43514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1F319A8-0738-C940-ABB1-077C16CA075A}"/>
              </a:ext>
            </a:extLst>
          </p:cNvPr>
          <p:cNvSpPr/>
          <p:nvPr/>
        </p:nvSpPr>
        <p:spPr>
          <a:xfrm>
            <a:off x="3691857" y="6164025"/>
            <a:ext cx="4503019" cy="236775"/>
          </a:xfrm>
          <a:prstGeom prst="roundRect">
            <a:avLst/>
          </a:prstGeom>
          <a:solidFill>
            <a:srgbClr val="C00000">
              <a:alpha val="4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445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Inputs and outputs of SRB</a:t>
            </a:r>
            <a:endParaRPr lang="en-US" sz="2400" dirty="0"/>
          </a:p>
        </p:txBody>
      </p:sp>
      <p:pic>
        <p:nvPicPr>
          <p:cNvPr id="7" name="Picture 6" descr="MuliMIX Electric Apple Grinder (0.8 Ton)">
            <a:extLst>
              <a:ext uri="{FF2B5EF4-FFF2-40B4-BE49-F238E27FC236}">
                <a16:creationId xmlns:a16="http://schemas.microsoft.com/office/drawing/2014/main" id="{7E9D9047-C7AD-0E5B-D52E-BFA504362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788" y="2214643"/>
            <a:ext cx="3435476" cy="3435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17827F-FE3D-77B5-F126-C899ACCAB9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85"/>
          <a:stretch/>
        </p:blipFill>
        <p:spPr>
          <a:xfrm>
            <a:off x="908444" y="1170264"/>
            <a:ext cx="4745737" cy="6813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30AF01-6B32-33D0-27A6-C3553F6C5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597" y="4699686"/>
            <a:ext cx="7772400" cy="476274"/>
          </a:xfrm>
          <a:prstGeom prst="rect">
            <a:avLst/>
          </a:prstGeom>
        </p:spPr>
      </p:pic>
      <p:sp>
        <p:nvSpPr>
          <p:cNvPr id="12" name="Down Arrow 11">
            <a:extLst>
              <a:ext uri="{FF2B5EF4-FFF2-40B4-BE49-F238E27FC236}">
                <a16:creationId xmlns:a16="http://schemas.microsoft.com/office/drawing/2014/main" id="{72DD1C32-AECB-30EB-ECD7-E9E96E096C65}"/>
              </a:ext>
            </a:extLst>
          </p:cNvPr>
          <p:cNvSpPr/>
          <p:nvPr/>
        </p:nvSpPr>
        <p:spPr>
          <a:xfrm>
            <a:off x="2902226" y="1851608"/>
            <a:ext cx="379086" cy="3630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6936EC8E-7E6B-EC99-E788-17EE8B155317}"/>
              </a:ext>
            </a:extLst>
          </p:cNvPr>
          <p:cNvSpPr/>
          <p:nvPr/>
        </p:nvSpPr>
        <p:spPr>
          <a:xfrm rot="19925321">
            <a:off x="3153742" y="4318179"/>
            <a:ext cx="379086" cy="363035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6EA46A-BCB8-9687-58DF-541BA5AC1B57}"/>
              </a:ext>
            </a:extLst>
          </p:cNvPr>
          <p:cNvSpPr txBox="1"/>
          <p:nvPr/>
        </p:nvSpPr>
        <p:spPr>
          <a:xfrm>
            <a:off x="6096000" y="1294712"/>
            <a:ext cx="1775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Two inputs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840B96-D5A4-13AB-782A-A70F0C87E28C}"/>
              </a:ext>
            </a:extLst>
          </p:cNvPr>
          <p:cNvSpPr txBox="1"/>
          <p:nvPr/>
        </p:nvSpPr>
        <p:spPr>
          <a:xfrm>
            <a:off x="5864087" y="4225529"/>
            <a:ext cx="2961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Three outputs</a:t>
            </a:r>
          </a:p>
        </p:txBody>
      </p:sp>
    </p:spTree>
    <p:extLst>
      <p:ext uri="{BB962C8B-B14F-4D97-AF65-F5344CB8AC3E}">
        <p14:creationId xmlns:p14="http://schemas.microsoft.com/office/powerpoint/2010/main" val="1977398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Here’s how you use SRB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7C244A-BAFB-5F20-0106-3AC1074076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747"/>
          <a:stretch/>
        </p:blipFill>
        <p:spPr>
          <a:xfrm>
            <a:off x="195483" y="1076444"/>
            <a:ext cx="7518400" cy="92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927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Here’s how you use SRB … here are the two inputs for this experiment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7C244A-BAFB-5F20-0106-3AC1074076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747"/>
          <a:stretch/>
        </p:blipFill>
        <p:spPr>
          <a:xfrm>
            <a:off x="195483" y="1076444"/>
            <a:ext cx="7518400" cy="925976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67A7ED-ACAF-0BE4-F8E9-D1590E688BCF}"/>
              </a:ext>
            </a:extLst>
          </p:cNvPr>
          <p:cNvSpPr/>
          <p:nvPr/>
        </p:nvSpPr>
        <p:spPr>
          <a:xfrm>
            <a:off x="6782765" y="1657992"/>
            <a:ext cx="717630" cy="286555"/>
          </a:xfrm>
          <a:prstGeom prst="round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993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… and here are the three outputs for this experiment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7C244A-BAFB-5F20-0106-3AC1074076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0759"/>
          <a:stretch/>
        </p:blipFill>
        <p:spPr>
          <a:xfrm>
            <a:off x="195483" y="1076444"/>
            <a:ext cx="7518400" cy="879678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D9AB1C3-EAE8-C818-459A-30A41D1FDAD1}"/>
              </a:ext>
            </a:extLst>
          </p:cNvPr>
          <p:cNvSpPr/>
          <p:nvPr/>
        </p:nvSpPr>
        <p:spPr>
          <a:xfrm>
            <a:off x="6782765" y="1657992"/>
            <a:ext cx="717630" cy="286555"/>
          </a:xfrm>
          <a:prstGeom prst="round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8489B4-0E45-FF19-D797-A8719C1ED3C4}"/>
              </a:ext>
            </a:extLst>
          </p:cNvPr>
          <p:cNvSpPr/>
          <p:nvPr/>
        </p:nvSpPr>
        <p:spPr>
          <a:xfrm>
            <a:off x="241783" y="1669567"/>
            <a:ext cx="5900517" cy="286555"/>
          </a:xfrm>
          <a:prstGeom prst="roundRect">
            <a:avLst/>
          </a:prstGeom>
          <a:solidFill>
            <a:srgbClr val="C00000">
              <a:alpha val="4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032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outputs are actually arrays that we can graph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7C244A-BAFB-5F20-0106-3AC107407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83" y="1076444"/>
            <a:ext cx="7518400" cy="457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0FD00E-80D7-69A3-9FC4-CDDC4D34A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437" y="1076444"/>
            <a:ext cx="3742314" cy="56044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D9AB1C3-EAE8-C818-459A-30A41D1FDAD1}"/>
              </a:ext>
            </a:extLst>
          </p:cNvPr>
          <p:cNvSpPr/>
          <p:nvPr/>
        </p:nvSpPr>
        <p:spPr>
          <a:xfrm>
            <a:off x="6782765" y="1657992"/>
            <a:ext cx="717630" cy="286555"/>
          </a:xfrm>
          <a:prstGeom prst="round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8489B4-0E45-FF19-D797-A8719C1ED3C4}"/>
              </a:ext>
            </a:extLst>
          </p:cNvPr>
          <p:cNvSpPr/>
          <p:nvPr/>
        </p:nvSpPr>
        <p:spPr>
          <a:xfrm>
            <a:off x="241783" y="1669567"/>
            <a:ext cx="5900517" cy="286555"/>
          </a:xfrm>
          <a:prstGeom prst="roundRect">
            <a:avLst/>
          </a:prstGeom>
          <a:solidFill>
            <a:srgbClr val="C00000">
              <a:alpha val="4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038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Question: in this experiment, at the beginning, was there more SW energy coming in, or more LW going out? How about the end of the timeline?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7C244A-BAFB-5F20-0106-3AC107407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83" y="1076444"/>
            <a:ext cx="7518400" cy="457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0FD00E-80D7-69A3-9FC4-CDDC4D34A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437" y="1076444"/>
            <a:ext cx="3742314" cy="56044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73371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1530F0-7D3E-3F98-B564-000F4A67DAB7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“Stable homeostasis” (or just homeostasis for short) means the resulting state is not sensitive to initial conditions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3B99BE-D040-B8F0-05C5-7022987B9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506" y="998517"/>
            <a:ext cx="8584596" cy="545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99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about the nuts and bolts of SRB … all written for you, but some engagement is requested </a:t>
            </a:r>
            <a:endParaRPr lang="en-US" sz="2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924A4A-FCD5-0569-F847-E3B41312287B}"/>
              </a:ext>
            </a:extLst>
          </p:cNvPr>
          <p:cNvGrpSpPr/>
          <p:nvPr/>
        </p:nvGrpSpPr>
        <p:grpSpPr>
          <a:xfrm>
            <a:off x="308657" y="998235"/>
            <a:ext cx="7639957" cy="5205796"/>
            <a:chOff x="2449973" y="1206579"/>
            <a:chExt cx="7639957" cy="520579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E985BA-DB74-044B-0AFE-6CFA7DED5E2B}"/>
                </a:ext>
              </a:extLst>
            </p:cNvPr>
            <p:cNvSpPr txBox="1"/>
            <p:nvPr/>
          </p:nvSpPr>
          <p:spPr>
            <a:xfrm>
              <a:off x="4629407" y="5689047"/>
              <a:ext cx="2546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… more code …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30A0E1B-1AB2-41AD-241C-9E85F16CA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9973" y="1206579"/>
              <a:ext cx="7639957" cy="4476082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1FB24D-6BCB-8609-B8FE-2F802FEF9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49973" y="6174856"/>
              <a:ext cx="5834060" cy="237519"/>
            </a:xfrm>
            <a:prstGeom prst="rect">
              <a:avLst/>
            </a:prstGeom>
          </p:spPr>
        </p:pic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1E93359D-8281-7E53-06C9-3EF9B3C192B7}"/>
                </a:ext>
              </a:extLst>
            </p:cNvPr>
            <p:cNvSpPr/>
            <p:nvPr/>
          </p:nvSpPr>
          <p:spPr>
            <a:xfrm>
              <a:off x="3495554" y="1206579"/>
              <a:ext cx="1875099" cy="182383"/>
            </a:xfrm>
            <a:prstGeom prst="roundRect">
              <a:avLst/>
            </a:prstGeom>
            <a:solidFill>
              <a:schemeClr val="accent1">
                <a:alpha val="41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C1F319A8-0738-C940-ABB1-077C16CA075A}"/>
                </a:ext>
              </a:extLst>
            </p:cNvPr>
            <p:cNvSpPr/>
            <p:nvPr/>
          </p:nvSpPr>
          <p:spPr>
            <a:xfrm>
              <a:off x="3691857" y="6164025"/>
              <a:ext cx="4503019" cy="236775"/>
            </a:xfrm>
            <a:prstGeom prst="roundRect">
              <a:avLst/>
            </a:prstGeom>
            <a:solidFill>
              <a:srgbClr val="C00000">
                <a:alpha val="41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AEB485C-4635-7AE9-AD57-77B860FFD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421" y="1383683"/>
            <a:ext cx="5120375" cy="5349158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623BBD54-8B5D-A330-2EFC-BB0872CC36D6}"/>
              </a:ext>
            </a:extLst>
          </p:cNvPr>
          <p:cNvCxnSpPr/>
          <p:nvPr/>
        </p:nvCxnSpPr>
        <p:spPr>
          <a:xfrm rot="10800000" flipV="1">
            <a:off x="4259485" y="4058261"/>
            <a:ext cx="2592729" cy="1607107"/>
          </a:xfrm>
          <a:prstGeom prst="curvedConnector3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612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There’s also the climate sensitivity to forcing due to changes in Earth’s albedo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8C7B05-720A-1346-AA07-B2080C32DA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16"/>
          <a:stretch/>
        </p:blipFill>
        <p:spPr>
          <a:xfrm>
            <a:off x="367772" y="461665"/>
            <a:ext cx="10222470" cy="261131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4D31E76-571C-66BE-D5BF-9068AE5BF2E9}"/>
              </a:ext>
            </a:extLst>
          </p:cNvPr>
          <p:cNvGrpSpPr/>
          <p:nvPr/>
        </p:nvGrpSpPr>
        <p:grpSpPr>
          <a:xfrm>
            <a:off x="644726" y="3222921"/>
            <a:ext cx="8888925" cy="3347528"/>
            <a:chOff x="644726" y="549174"/>
            <a:chExt cx="8888925" cy="3347528"/>
          </a:xfrm>
        </p:grpSpPr>
        <p:pic>
          <p:nvPicPr>
            <p:cNvPr id="4" name="Picture 6">
              <a:extLst>
                <a:ext uri="{FF2B5EF4-FFF2-40B4-BE49-F238E27FC236}">
                  <a16:creationId xmlns:a16="http://schemas.microsoft.com/office/drawing/2014/main" id="{A3D24DE3-3160-807E-5097-825CF95928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726" y="549174"/>
              <a:ext cx="4471284" cy="33475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>
              <a:extLst>
                <a:ext uri="{FF2B5EF4-FFF2-40B4-BE49-F238E27FC236}">
                  <a16:creationId xmlns:a16="http://schemas.microsoft.com/office/drawing/2014/main" id="{DA0991C2-FF94-9DFE-FB60-199F4F2F0D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2366" y="549174"/>
              <a:ext cx="4471285" cy="33475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56967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B10EF6-44FA-9305-9377-1C8AA81132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818" r="50434" b="2016"/>
          <a:stretch/>
        </p:blipFill>
        <p:spPr>
          <a:xfrm>
            <a:off x="468280" y="1701477"/>
            <a:ext cx="4589857" cy="5671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D78E1-A9B8-08F5-072E-0602321D0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475" y="2672143"/>
            <a:ext cx="9513050" cy="262906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83588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If you finish early, you can try the </a:t>
            </a:r>
            <a:r>
              <a:rPr lang="en-US" sz="2400" b="1" dirty="0">
                <a:solidFill>
                  <a:srgbClr val="7030A0"/>
                </a:solidFill>
              </a:rPr>
              <a:t>challenge</a:t>
            </a:r>
            <a:r>
              <a:rPr lang="en-US" sz="2400" b="1" dirty="0"/>
              <a:t> </a:t>
            </a:r>
            <a:endParaRPr lang="en-US"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DF463E-9025-5CC2-5C3D-9B034EA43351}"/>
              </a:ext>
            </a:extLst>
          </p:cNvPr>
          <p:cNvGrpSpPr/>
          <p:nvPr/>
        </p:nvGrpSpPr>
        <p:grpSpPr>
          <a:xfrm>
            <a:off x="275543" y="2913763"/>
            <a:ext cx="3871562" cy="3097249"/>
            <a:chOff x="1254815" y="3299086"/>
            <a:chExt cx="3871562" cy="3097249"/>
          </a:xfrm>
        </p:grpSpPr>
        <p:pic>
          <p:nvPicPr>
            <p:cNvPr id="6" name="Picture 5" descr="What Happens to Insolation That Reaches the Surface?">
              <a:extLst>
                <a:ext uri="{FF2B5EF4-FFF2-40B4-BE49-F238E27FC236}">
                  <a16:creationId xmlns:a16="http://schemas.microsoft.com/office/drawing/2014/main" id="{5B64495E-5C38-6AD1-F28F-E1960592AE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4815" y="3299086"/>
              <a:ext cx="3871562" cy="30972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7E6B82F-FC77-796C-AC8D-748C7D0D36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8557" y="3497875"/>
              <a:ext cx="518088" cy="1664434"/>
            </a:xfrm>
            <a:prstGeom prst="straightConnector1">
              <a:avLst/>
            </a:prstGeom>
            <a:ln w="63500">
              <a:solidFill>
                <a:srgbClr val="FFFF00">
                  <a:alpha val="49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0772607-0161-F2A1-1A0C-7E458871FA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0843" y="3497875"/>
              <a:ext cx="195881" cy="494296"/>
            </a:xfrm>
            <a:prstGeom prst="straightConnector1">
              <a:avLst/>
            </a:prstGeom>
            <a:ln w="63500">
              <a:solidFill>
                <a:srgbClr val="FFFF00">
                  <a:alpha val="49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D977759-C8D9-D0B1-E817-D63B49887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367" y="2018484"/>
            <a:ext cx="5534357" cy="35471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41C6F7C-A4E3-C84F-4B1D-B330C8D02566}"/>
              </a:ext>
            </a:extLst>
          </p:cNvPr>
          <p:cNvSpPr/>
          <p:nvPr/>
        </p:nvSpPr>
        <p:spPr>
          <a:xfrm>
            <a:off x="9638411" y="2591713"/>
            <a:ext cx="237611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Goldilocks temperature (when ASR = OLR)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133C63-E437-6BB4-FC71-AC9901C42F56}"/>
                  </a:ext>
                </a:extLst>
              </p:cNvPr>
              <p:cNvSpPr txBox="1"/>
              <p:nvPr/>
            </p:nvSpPr>
            <p:spPr>
              <a:xfrm>
                <a:off x="88739" y="778098"/>
                <a:ext cx="1201452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challenge … </a:t>
                </a:r>
              </a:p>
              <a:p>
                <a:r>
                  <a:rPr lang="en-US" sz="2400" dirty="0"/>
                  <a:t>Algebraically equate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𝐴𝑆𝑅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𝑂𝐿𝑅</m:t>
                    </m:r>
                  </m:oMath>
                </a14:m>
                <a:r>
                  <a:rPr lang="en-US" sz="2400" dirty="0"/>
                  <a:t> and solve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. The result should be the Goldilocks temperature.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133C63-E437-6BB4-FC71-AC9901C42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39" y="778098"/>
                <a:ext cx="12014522" cy="1200329"/>
              </a:xfrm>
              <a:prstGeom prst="rect">
                <a:avLst/>
              </a:prstGeom>
              <a:blipFill>
                <a:blip r:embed="rId4"/>
                <a:stretch>
                  <a:fillRect l="-846" t="-4211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2915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1612</TotalTime>
  <Words>771</Words>
  <Application>Microsoft Macintosh PowerPoint</Application>
  <PresentationFormat>Widescreen</PresentationFormat>
  <Paragraphs>65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53</cp:revision>
  <dcterms:created xsi:type="dcterms:W3CDTF">2021-09-08T17:18:14Z</dcterms:created>
  <dcterms:modified xsi:type="dcterms:W3CDTF">2026-01-30T16:21:18Z</dcterms:modified>
</cp:coreProperties>
</file>