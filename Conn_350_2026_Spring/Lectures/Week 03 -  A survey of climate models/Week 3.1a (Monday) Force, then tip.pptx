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jTHnJsvfaqYz6sw2J0ttcCz6j0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5"/>
  </p:normalViewPr>
  <p:slideViewPr>
    <p:cSldViewPr snapToGrid="0">
      <p:cViewPr varScale="1">
        <p:scale>
          <a:sx n="105" d="100"/>
          <a:sy n="105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ΔT/Δα = (283 K - 288 K) / (0.35 - 0.3) = (-5 K)/(.05) = -100 K</a:t>
            </a: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ed.ucar.edu/sites/default/files/styles/extra_large/public/images/tippingpoint_CC_rauter.png.webp?itok=jjVx9OvH" TargetMode="Externa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What Happens to Insolation That Reaches the Surface?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340" y="1018797"/>
            <a:ext cx="7236733" cy="57893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"/>
          <p:cNvGrpSpPr/>
          <p:nvPr/>
        </p:nvGrpSpPr>
        <p:grpSpPr>
          <a:xfrm>
            <a:off x="8430038" y="2133313"/>
            <a:ext cx="1650497" cy="1879972"/>
            <a:chOff x="7115588" y="2201893"/>
            <a:chExt cx="1650497" cy="1879972"/>
          </a:xfrm>
        </p:grpSpPr>
        <p:grpSp>
          <p:nvGrpSpPr>
            <p:cNvPr id="90" name="Google Shape;90;p1"/>
            <p:cNvGrpSpPr/>
            <p:nvPr/>
          </p:nvGrpSpPr>
          <p:grpSpPr>
            <a:xfrm>
              <a:off x="7138737" y="2754774"/>
              <a:ext cx="1614793" cy="1327091"/>
              <a:chOff x="6724245" y="2997054"/>
              <a:chExt cx="1614793" cy="1327091"/>
            </a:xfrm>
          </p:grpSpPr>
          <p:sp>
            <p:nvSpPr>
              <p:cNvPr id="91" name="Google Shape;91;p1"/>
              <p:cNvSpPr/>
              <p:nvPr/>
            </p:nvSpPr>
            <p:spPr>
              <a:xfrm rot="10800000" flipH="1">
                <a:off x="6724245" y="2997054"/>
                <a:ext cx="768096" cy="1327091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rgbClr val="FFFF00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7570942" y="3097603"/>
                <a:ext cx="768096" cy="118033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rgbClr val="C55A11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3" name="Google Shape;93;p1"/>
            <p:cNvSpPr txBox="1"/>
            <p:nvPr/>
          </p:nvSpPr>
          <p:spPr>
            <a:xfrm>
              <a:off x="7115588" y="2201893"/>
              <a:ext cx="768096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ASR</a:t>
              </a:r>
              <a:endParaRPr/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7997989" y="2201893"/>
              <a:ext cx="768096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OLR</a:t>
              </a:r>
              <a:endParaRPr/>
            </a:p>
          </p:txBody>
        </p:sp>
      </p:grpSp>
      <p:sp>
        <p:nvSpPr>
          <p:cNvPr id="95" name="Google Shape;95;p1"/>
          <p:cNvSpPr txBox="1"/>
          <p:nvPr/>
        </p:nvSpPr>
        <p:spPr>
          <a:xfrm>
            <a:off x="12028" y="0"/>
            <a:ext cx="12179971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Recap: Simple Radiative Balance</a:t>
            </a:r>
            <a:endParaRPr sz="2400"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/>
        </p:nvSpPr>
        <p:spPr>
          <a:xfrm>
            <a:off x="12028" y="0"/>
            <a:ext cx="12179971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727" t="-10808" b="-2702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01" name="Google Shape;101;p2"/>
          <p:cNvGrpSpPr/>
          <p:nvPr/>
        </p:nvGrpSpPr>
        <p:grpSpPr>
          <a:xfrm>
            <a:off x="719835" y="1593273"/>
            <a:ext cx="9919854" cy="3027356"/>
            <a:chOff x="1620982" y="1593273"/>
            <a:chExt cx="9919854" cy="3027356"/>
          </a:xfrm>
        </p:grpSpPr>
        <p:sp>
          <p:nvSpPr>
            <p:cNvPr id="102" name="Google Shape;102;p2"/>
            <p:cNvSpPr txBox="1"/>
            <p:nvPr/>
          </p:nvSpPr>
          <p:spPr>
            <a:xfrm>
              <a:off x="1620982" y="1593273"/>
              <a:ext cx="9919854" cy="1355628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l="-1022" t="-370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grpSp>
          <p:nvGrpSpPr>
            <p:cNvPr id="103" name="Google Shape;103;p2"/>
            <p:cNvGrpSpPr/>
            <p:nvPr/>
          </p:nvGrpSpPr>
          <p:grpSpPr>
            <a:xfrm>
              <a:off x="2075446" y="3110397"/>
              <a:ext cx="2393795" cy="1510232"/>
              <a:chOff x="2267950" y="2460694"/>
              <a:chExt cx="2393795" cy="1510232"/>
            </a:xfrm>
          </p:grpSpPr>
          <p:sp>
            <p:nvSpPr>
              <p:cNvPr id="104" name="Google Shape;104;p2"/>
              <p:cNvSpPr txBox="1"/>
              <p:nvPr/>
            </p:nvSpPr>
            <p:spPr>
              <a:xfrm>
                <a:off x="2602123" y="3354090"/>
                <a:ext cx="2059622" cy="616836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l="-4293" b="-10203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05" name="Google Shape;105;p2"/>
              <p:cNvCxnSpPr/>
              <p:nvPr/>
            </p:nvCxnSpPr>
            <p:spPr>
              <a:xfrm rot="10800000">
                <a:off x="2267950" y="2579569"/>
                <a:ext cx="789575" cy="620831"/>
              </a:xfrm>
              <a:prstGeom prst="straightConnector1">
                <a:avLst/>
              </a:prstGeom>
              <a:noFill/>
              <a:ln w="635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106" name="Google Shape;106;p2"/>
              <p:cNvCxnSpPr/>
              <p:nvPr/>
            </p:nvCxnSpPr>
            <p:spPr>
              <a:xfrm rot="10800000" flipH="1">
                <a:off x="3243263" y="2460694"/>
                <a:ext cx="1280608" cy="739706"/>
              </a:xfrm>
              <a:prstGeom prst="straightConnector1">
                <a:avLst/>
              </a:prstGeom>
              <a:noFill/>
              <a:ln w="635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</p:grpSp>
      <p:sp>
        <p:nvSpPr>
          <p:cNvPr id="107" name="Google Shape;107;p2"/>
          <p:cNvSpPr txBox="1"/>
          <p:nvPr/>
        </p:nvSpPr>
        <p:spPr>
          <a:xfrm>
            <a:off x="5008979" y="1720840"/>
            <a:ext cx="7229857" cy="378565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403" t="-1002" b="-26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 rot="10800000" flipH="1">
            <a:off x="841755" y="603232"/>
            <a:ext cx="454464" cy="86014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3588994" y="603232"/>
            <a:ext cx="454464" cy="86014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C55A1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Recap: Simple Radiative Balance vocabulary: </a:t>
            </a:r>
            <a:r>
              <a:rPr lang="en-US" sz="24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Homeostasis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96695" y="922593"/>
            <a:ext cx="3650281" cy="1208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6934" y="2388290"/>
            <a:ext cx="5534357" cy="35471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/>
          <p:nvPr/>
        </p:nvSpPr>
        <p:spPr>
          <a:xfrm>
            <a:off x="5510784" y="2890579"/>
            <a:ext cx="6449568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Homeostasis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ASR = OLR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Leads to the idea of a “Goldilocks Temperature”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Doesn’t depend on the earth’s starting temperature.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Recap: Climate sensitivity to forcings that result from changes in Earth’s albedo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231648" y="4199851"/>
            <a:ext cx="11803190" cy="24727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58" t="-1530" r="-1288" b="-459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885ADCD-8B68-1E7C-423D-FB066CD0CC30}"/>
              </a:ext>
            </a:extLst>
          </p:cNvPr>
          <p:cNvGrpSpPr/>
          <p:nvPr/>
        </p:nvGrpSpPr>
        <p:grpSpPr>
          <a:xfrm>
            <a:off x="644726" y="549174"/>
            <a:ext cx="8964205" cy="3347528"/>
            <a:chOff x="644726" y="549174"/>
            <a:chExt cx="8964205" cy="3347528"/>
          </a:xfrm>
        </p:grpSpPr>
        <p:pic>
          <p:nvPicPr>
            <p:cNvPr id="124" name="Google Shape;124;p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44726" y="549174"/>
              <a:ext cx="4471284" cy="33475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62366" y="549174"/>
              <a:ext cx="4471286" cy="33475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4"/>
            <p:cNvSpPr txBox="1"/>
            <p:nvPr/>
          </p:nvSpPr>
          <p:spPr>
            <a:xfrm>
              <a:off x="2818075" y="1414744"/>
              <a:ext cx="2244300" cy="95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lang="en-US" sz="28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≈ 288 K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7364631" y="1477518"/>
              <a:ext cx="2244300" cy="95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lang="en-US" sz="28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≈ 283 K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 and cons to predicting climate changes using a “Climate sensitivity” formulation like this</a:t>
            </a:r>
            <a:endParaRPr/>
          </a:p>
        </p:txBody>
      </p:sp>
      <p:grpSp>
        <p:nvGrpSpPr>
          <p:cNvPr id="133" name="Google Shape;133;p5"/>
          <p:cNvGrpSpPr/>
          <p:nvPr/>
        </p:nvGrpSpPr>
        <p:grpSpPr>
          <a:xfrm>
            <a:off x="1645517" y="989715"/>
            <a:ext cx="8493906" cy="5237464"/>
            <a:chOff x="1645517" y="989715"/>
            <a:chExt cx="8493906" cy="5237464"/>
          </a:xfrm>
        </p:grpSpPr>
        <p:pic>
          <p:nvPicPr>
            <p:cNvPr id="134" name="Google Shape;134;p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45517" y="989715"/>
              <a:ext cx="8493906" cy="52374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5"/>
            <p:cNvSpPr/>
            <p:nvPr/>
          </p:nvSpPr>
          <p:spPr>
            <a:xfrm>
              <a:off x="4363656" y="3471287"/>
              <a:ext cx="274320" cy="27432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6" name="Google Shape;136;p5"/>
            <p:cNvCxnSpPr/>
            <p:nvPr/>
          </p:nvCxnSpPr>
          <p:spPr>
            <a:xfrm rot="10800000" flipH="1">
              <a:off x="4109013" y="3831220"/>
              <a:ext cx="254643" cy="442437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dash"/>
              <a:miter lim="800000"/>
              <a:headEnd type="none" w="sm" len="sm"/>
              <a:tailEnd type="triangle" w="med" len="med"/>
            </a:ln>
          </p:spPr>
        </p:cxnSp>
        <p:sp>
          <p:nvSpPr>
            <p:cNvPr id="137" name="Google Shape;137;p5"/>
            <p:cNvSpPr txBox="1"/>
            <p:nvPr/>
          </p:nvSpPr>
          <p:spPr>
            <a:xfrm>
              <a:off x="3426106" y="3683106"/>
              <a:ext cx="9375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forcing</a:t>
              </a:r>
              <a:endParaRPr/>
            </a:p>
          </p:txBody>
        </p:sp>
      </p:grpSp>
      <p:sp>
        <p:nvSpPr>
          <p:cNvPr id="138" name="Google Shape;138;p5"/>
          <p:cNvSpPr/>
          <p:nvPr/>
        </p:nvSpPr>
        <p:spPr>
          <a:xfrm>
            <a:off x="4573930" y="3172273"/>
            <a:ext cx="274320" cy="274320"/>
          </a:xfrm>
          <a:prstGeom prst="ellipse">
            <a:avLst/>
          </a:prstGeom>
          <a:solidFill>
            <a:srgbClr val="B3C6E7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453324" y="5865664"/>
            <a:ext cx="7981725" cy="8309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109" t="-4477" b="-14924"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4363656" y="4907666"/>
            <a:ext cx="484594" cy="721485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7776663" y="1602613"/>
            <a:ext cx="4041089" cy="156966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as we get close to a 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tipping point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even tiny forcings can send us over into a new climate regime.</a:t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8435050" y="6033663"/>
            <a:ext cx="28965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https://scied.ucar.edu/sites/default/files/styles/extra_large/public/images/tippingpoint_CC_rauter.png.webp?itok=jjVx9OvH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Microsoft Macintosh PowerPoint</Application>
  <PresentationFormat>Widescreen</PresentationFormat>
  <Paragraphs>22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</cp:revision>
  <dcterms:created xsi:type="dcterms:W3CDTF">2020-01-23T15:38:57Z</dcterms:created>
  <dcterms:modified xsi:type="dcterms:W3CDTF">2026-04-20T13:57:15Z</dcterms:modified>
</cp:coreProperties>
</file>