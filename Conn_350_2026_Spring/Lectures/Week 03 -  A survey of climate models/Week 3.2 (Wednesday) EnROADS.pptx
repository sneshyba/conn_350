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Fn1VQm7M0Eb2mRfx+XnxYNxQn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fe7a7ee1_0_1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cfe7a7ee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Note – Use the En-ROADS control panel guide to help orient participants to their decision variables e.g., 18 levers. Use this time to also briefly orient people to the actual En-ROADS simulator, and show how this Guide relates to the En-ROADS simulator.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cfe7a7ee1_0_4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bcfe7a7ee1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cfe7a7ee1_0_4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bcfe7a7ee1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cfe7a7ee1_0_3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bcfe7a7ee1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fe7a7ee1_0_3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bcfe7a7ee1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cfe7a7ee1_0_3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cfe7a7ee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cfe7a7ee1_0_4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bcfe7a7ee1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cfe7a7ee1_0_3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bcfe7a7ee1_0_28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" name="Google Shape;13;g3bcfe7a7ee1_0_28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4" name="Google Shape;14;g3bcfe7a7ee1_0_28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cfe7a7ee1_0_28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" name="Google Shape;17;g3bcfe7a7ee1_0_28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" name="Google Shape;18;g3bcfe7a7ee1_0_28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" name="Google Shape;19;g3bcfe7a7ee1_0_28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cfe7a7ee1_0_27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2" name="Google Shape;22;g3bcfe7a7ee1_0_27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3" name="Google Shape;23;g3bcfe7a7ee1_0_2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cfe7a7ee1_0_280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3bcfe7a7ee1_0_2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cfe7a7ee1_0_29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g3bcfe7a7ee1_0_29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cfe7a7ee1_0_295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" name="Google Shape;32;g3bcfe7a7ee1_0_295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g3bcfe7a7ee1_0_29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cfe7a7ee1_0_299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6" name="Google Shape;36;g3bcfe7a7ee1_0_29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cfe7a7ee1_0_30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bcfe7a7ee1_0_302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0" name="Google Shape;40;g3bcfe7a7ee1_0_302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g3bcfe7a7ee1_0_302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2" name="Google Shape;42;g3bcfe7a7ee1_0_3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cfe7a7ee1_0_308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5" name="Google Shape;45;g3bcfe7a7ee1_0_3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cfe7a7ee1_0_3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g3bcfe7a7ee1_0_3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9" name="Google Shape;49;g3bcfe7a7ee1_0_3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cfe7a7ee1_0_27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bcfe7a7ee1_0_27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bcfe7a7ee1_0_2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earth.nullschool.net/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EnROADS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39"/>
            <a:ext cx="12192000" cy="6716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EnROADS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57897"/>
            <a:ext cx="12191999" cy="3135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bcfe7a7ee1_0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474" y="0"/>
            <a:ext cx="1016111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cfe7a7ee1_0_438"/>
          <p:cNvSpPr txBox="1"/>
          <p:nvPr>
            <p:ph type="title"/>
          </p:nvPr>
        </p:nvSpPr>
        <p:spPr>
          <a:xfrm>
            <a:off x="415650" y="681745"/>
            <a:ext cx="11360700" cy="5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434"/>
              <a:buNone/>
            </a:pPr>
            <a:r>
              <a:rPr lang="en-US" sz="4400"/>
              <a:t>Mission 1: </a:t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434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434"/>
              <a:buNone/>
            </a:pPr>
            <a:r>
              <a:rPr lang="en-US" sz="4400"/>
              <a:t>We’d like to be able to evaluate the scientific basis, thent a given model has built in. Our method will be to evaluate the “Equilibrium Climate Sensitivity” built into the model</a:t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434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434"/>
              <a:buNone/>
            </a:pPr>
            <a:r>
              <a:rPr lang="en-US" sz="4400"/>
              <a:t>ECS = (△T</a:t>
            </a:r>
            <a:r>
              <a:rPr baseline="-25000" lang="en-US" sz="4400"/>
              <a:t>OBS</a:t>
            </a:r>
            <a:r>
              <a:rPr lang="en-US" sz="4400"/>
              <a:t>/△C</a:t>
            </a:r>
            <a:r>
              <a:rPr baseline="-25000" lang="en-US" sz="4400"/>
              <a:t>CO2</a:t>
            </a:r>
            <a:r>
              <a:rPr lang="en-US" sz="4400"/>
              <a:t>) x 290</a:t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15650" y="681745"/>
            <a:ext cx="11360700" cy="5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4000"/>
              <a:t>Mission 1: 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4000"/>
              <a:t>Create a scenario that (barely) limits warming to 2°C and calculate equilibrium climate sensitivity (ECS)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4000"/>
              <a:t>ECS = (△T</a:t>
            </a:r>
            <a:r>
              <a:rPr baseline="-25000" lang="en-US" sz="4000"/>
              <a:t>OBS</a:t>
            </a:r>
            <a:r>
              <a:rPr lang="en-US" sz="4000"/>
              <a:t>/△C</a:t>
            </a:r>
            <a:r>
              <a:rPr baseline="-25000" lang="en-US" sz="4000"/>
              <a:t>CO2</a:t>
            </a:r>
            <a:r>
              <a:rPr lang="en-US" sz="4000"/>
              <a:t>) x 290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15650" y="681745"/>
            <a:ext cx="4814718" cy="5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3600"/>
              <a:t>Mission 1: 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3600"/>
              <a:t>ECS = (△T</a:t>
            </a:r>
            <a:r>
              <a:rPr baseline="-25000" lang="en-US" sz="3600"/>
              <a:t>OBS</a:t>
            </a:r>
            <a:r>
              <a:rPr lang="en-US" sz="3600"/>
              <a:t>/△C</a:t>
            </a:r>
            <a:r>
              <a:rPr baseline="-25000" lang="en-US" sz="3600"/>
              <a:t>CO2</a:t>
            </a:r>
            <a:r>
              <a:rPr lang="en-US" sz="3600"/>
              <a:t>) x 290</a:t>
            </a:r>
            <a:endParaRPr sz="3600"/>
          </a:p>
        </p:txBody>
      </p:sp>
      <p:grpSp>
        <p:nvGrpSpPr>
          <p:cNvPr id="82" name="Google Shape;82;p5"/>
          <p:cNvGrpSpPr/>
          <p:nvPr/>
        </p:nvGrpSpPr>
        <p:grpSpPr>
          <a:xfrm>
            <a:off x="5230368" y="967688"/>
            <a:ext cx="6754368" cy="4226746"/>
            <a:chOff x="5145024" y="859404"/>
            <a:chExt cx="6754368" cy="4226746"/>
          </a:xfrm>
        </p:grpSpPr>
        <p:grpSp>
          <p:nvGrpSpPr>
            <p:cNvPr id="83" name="Google Shape;83;p5"/>
            <p:cNvGrpSpPr/>
            <p:nvPr/>
          </p:nvGrpSpPr>
          <p:grpSpPr>
            <a:xfrm>
              <a:off x="5145024" y="859404"/>
              <a:ext cx="6754368" cy="4226746"/>
              <a:chOff x="5145024" y="859404"/>
              <a:chExt cx="6754368" cy="4226746"/>
            </a:xfrm>
          </p:grpSpPr>
          <p:pic>
            <p:nvPicPr>
              <p:cNvPr id="84" name="Google Shape;84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45024" y="859404"/>
                <a:ext cx="6754368" cy="42267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" name="Google Shape;8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966962" y="4486910"/>
                <a:ext cx="1188974" cy="429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6" name="Google Shape;86;p5"/>
            <p:cNvSpPr/>
            <p:nvPr/>
          </p:nvSpPr>
          <p:spPr>
            <a:xfrm>
              <a:off x="9136251" y="4572000"/>
              <a:ext cx="898902" cy="232475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B38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415650" y="681745"/>
            <a:ext cx="4814718" cy="5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3600"/>
              <a:t>Mission 1: 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3600"/>
              <a:t>ECS = (△T</a:t>
            </a:r>
            <a:r>
              <a:rPr baseline="-25000" lang="en-US" sz="3600"/>
              <a:t>OBS</a:t>
            </a:r>
            <a:r>
              <a:rPr lang="en-US" sz="3600"/>
              <a:t>/△C</a:t>
            </a:r>
            <a:r>
              <a:rPr baseline="-25000" lang="en-US" sz="3600"/>
              <a:t>CO2</a:t>
            </a:r>
            <a:r>
              <a:rPr lang="en-US" sz="3600"/>
              <a:t>) x 290</a:t>
            </a:r>
            <a:endParaRPr sz="3600"/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0368" y="967688"/>
            <a:ext cx="6754368" cy="4226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cfe7a7ee1_0_430"/>
          <p:cNvSpPr txBox="1"/>
          <p:nvPr>
            <p:ph type="title"/>
          </p:nvPr>
        </p:nvSpPr>
        <p:spPr>
          <a:xfrm>
            <a:off x="901888" y="457770"/>
            <a:ext cx="4630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Co-Benefits</a:t>
            </a:r>
            <a:endParaRPr/>
          </a:p>
        </p:txBody>
      </p:sp>
      <p:sp>
        <p:nvSpPr>
          <p:cNvPr id="98" name="Google Shape;98;g3bcfe7a7ee1_0_430"/>
          <p:cNvSpPr txBox="1"/>
          <p:nvPr>
            <p:ph idx="1" type="body"/>
          </p:nvPr>
        </p:nvSpPr>
        <p:spPr>
          <a:xfrm>
            <a:off x="901888" y="1249970"/>
            <a:ext cx="4396800" cy="4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3300"/>
              <a:t>Positive “side effects” of actions to reduce greenhouse gas emissions. </a:t>
            </a:r>
            <a:endParaRPr sz="3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</a:pPr>
            <a:r>
              <a:rPr lang="en-US" sz="3300"/>
              <a:t>*Effects often felt sooner than slow climate effects. </a:t>
            </a:r>
            <a:endParaRPr sz="3300"/>
          </a:p>
        </p:txBody>
      </p:sp>
      <p:sp>
        <p:nvSpPr>
          <p:cNvPr id="99" name="Google Shape;99;g3bcfe7a7ee1_0_430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cfe7a7ee1_0_323"/>
          <p:cNvSpPr txBox="1"/>
          <p:nvPr>
            <p:ph type="title"/>
          </p:nvPr>
        </p:nvSpPr>
        <p:spPr>
          <a:xfrm>
            <a:off x="901888" y="457770"/>
            <a:ext cx="4630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Co-Benefits</a:t>
            </a:r>
            <a:endParaRPr/>
          </a:p>
        </p:txBody>
      </p:sp>
      <p:sp>
        <p:nvSpPr>
          <p:cNvPr id="105" name="Google Shape;105;g3bcfe7a7ee1_0_323"/>
          <p:cNvSpPr txBox="1"/>
          <p:nvPr>
            <p:ph idx="1" type="body"/>
          </p:nvPr>
        </p:nvSpPr>
        <p:spPr>
          <a:xfrm>
            <a:off x="901888" y="1249970"/>
            <a:ext cx="4396800" cy="4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3300"/>
              <a:t>Positive “side effects” of actions to reduce greenhouse gas emissions. </a:t>
            </a:r>
            <a:endParaRPr sz="3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</a:pPr>
            <a:r>
              <a:rPr lang="en-US" sz="3300"/>
              <a:t>*Effects often felt sooner than slow climate effects. </a:t>
            </a:r>
            <a:endParaRPr sz="3300"/>
          </a:p>
        </p:txBody>
      </p:sp>
      <p:sp>
        <p:nvSpPr>
          <p:cNvPr id="106" name="Google Shape;106;g3bcfe7a7ee1_0_323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g3bcfe7a7ee1_0_323"/>
          <p:cNvSpPr txBox="1"/>
          <p:nvPr>
            <p:ph idx="2" type="body"/>
          </p:nvPr>
        </p:nvSpPr>
        <p:spPr>
          <a:xfrm>
            <a:off x="6182300" y="1249975"/>
            <a:ext cx="5107800" cy="477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900"/>
              <a:buNone/>
            </a:pPr>
            <a:r>
              <a:rPr lang="en-US" sz="3300"/>
              <a:t>Climate change solutions rooted in justice that produce co-benefits in health, resilience, and well-being while also protecting the climate.</a:t>
            </a:r>
            <a:endParaRPr sz="3300"/>
          </a:p>
        </p:txBody>
      </p:sp>
      <p:sp>
        <p:nvSpPr>
          <p:cNvPr id="108" name="Google Shape;108;g3bcfe7a7ee1_0_323"/>
          <p:cNvSpPr txBox="1"/>
          <p:nvPr>
            <p:ph type="title"/>
          </p:nvPr>
        </p:nvSpPr>
        <p:spPr>
          <a:xfrm>
            <a:off x="6182288" y="457770"/>
            <a:ext cx="3790500" cy="52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Multi-Solving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fe7a7ee1_0_331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g3bcfe7a7ee1_0_331"/>
          <p:cNvSpPr txBox="1"/>
          <p:nvPr>
            <p:ph type="title"/>
          </p:nvPr>
        </p:nvSpPr>
        <p:spPr>
          <a:xfrm>
            <a:off x="554133" y="791156"/>
            <a:ext cx="15147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One Action - Multiple Outcomes</a:t>
            </a:r>
            <a:endParaRPr/>
          </a:p>
        </p:txBody>
      </p:sp>
      <p:sp>
        <p:nvSpPr>
          <p:cNvPr id="115" name="Google Shape;115;g3bcfe7a7ee1_0_331"/>
          <p:cNvSpPr/>
          <p:nvPr/>
        </p:nvSpPr>
        <p:spPr>
          <a:xfrm>
            <a:off x="5036200" y="2727567"/>
            <a:ext cx="2119500" cy="2070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Burn Less Coal </a:t>
            </a:r>
            <a:endParaRPr b="1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bcfe7a7ee1_0_331"/>
          <p:cNvSpPr/>
          <p:nvPr/>
        </p:nvSpPr>
        <p:spPr>
          <a:xfrm>
            <a:off x="1140400" y="2727567"/>
            <a:ext cx="2119500" cy="20703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Greenhouse Gas Emissions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g3bcfe7a7ee1_0_331"/>
          <p:cNvCxnSpPr>
            <a:stCxn id="115" idx="1"/>
            <a:endCxn id="116" idx="3"/>
          </p:cNvCxnSpPr>
          <p:nvPr/>
        </p:nvCxnSpPr>
        <p:spPr>
          <a:xfrm rot="10800000">
            <a:off x="3259900" y="3762717"/>
            <a:ext cx="17763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g3bcfe7a7ee1_0_331"/>
          <p:cNvSpPr txBox="1"/>
          <p:nvPr/>
        </p:nvSpPr>
        <p:spPr>
          <a:xfrm>
            <a:off x="709533" y="5211833"/>
            <a:ext cx="3227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Long Term Benefit for the Global Climate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cfe7a7ee1_0_340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g3bcfe7a7ee1_0_340"/>
          <p:cNvSpPr txBox="1"/>
          <p:nvPr>
            <p:ph type="title"/>
          </p:nvPr>
        </p:nvSpPr>
        <p:spPr>
          <a:xfrm>
            <a:off x="554133" y="791156"/>
            <a:ext cx="15147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One Action - Multiple Outcomes</a:t>
            </a:r>
            <a:endParaRPr/>
          </a:p>
        </p:txBody>
      </p:sp>
      <p:sp>
        <p:nvSpPr>
          <p:cNvPr id="125" name="Google Shape;125;g3bcfe7a7ee1_0_340"/>
          <p:cNvSpPr/>
          <p:nvPr/>
        </p:nvSpPr>
        <p:spPr>
          <a:xfrm>
            <a:off x="5036200" y="2727567"/>
            <a:ext cx="2119500" cy="2070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Burn Less Coal </a:t>
            </a:r>
            <a:endParaRPr b="1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bcfe7a7ee1_0_340"/>
          <p:cNvSpPr/>
          <p:nvPr/>
        </p:nvSpPr>
        <p:spPr>
          <a:xfrm>
            <a:off x="1140400" y="2727567"/>
            <a:ext cx="2119500" cy="20703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Greenhouse Gas Emissions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g3bcfe7a7ee1_0_340"/>
          <p:cNvCxnSpPr>
            <a:stCxn id="125" idx="1"/>
            <a:endCxn id="126" idx="3"/>
          </p:cNvCxnSpPr>
          <p:nvPr/>
        </p:nvCxnSpPr>
        <p:spPr>
          <a:xfrm rot="10800000">
            <a:off x="3259900" y="3762717"/>
            <a:ext cx="17763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g3bcfe7a7ee1_0_340"/>
          <p:cNvSpPr txBox="1"/>
          <p:nvPr/>
        </p:nvSpPr>
        <p:spPr>
          <a:xfrm>
            <a:off x="709533" y="5211833"/>
            <a:ext cx="3227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Long Term Benefit for the Global Climate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bcfe7a7ee1_0_340"/>
          <p:cNvSpPr/>
          <p:nvPr/>
        </p:nvSpPr>
        <p:spPr>
          <a:xfrm>
            <a:off x="8932000" y="2727575"/>
            <a:ext cx="2119500" cy="207030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Air Quality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bcfe7a7ee1_0_340"/>
          <p:cNvSpPr txBox="1"/>
          <p:nvPr/>
        </p:nvSpPr>
        <p:spPr>
          <a:xfrm>
            <a:off x="8217000" y="4901159"/>
            <a:ext cx="354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 human health in places where there is pollution from coal powered energy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" name="Google Shape;131;g3bcfe7a7ee1_0_340"/>
          <p:cNvCxnSpPr>
            <a:endCxn id="129" idx="1"/>
          </p:cNvCxnSpPr>
          <p:nvPr/>
        </p:nvCxnSpPr>
        <p:spPr>
          <a:xfrm>
            <a:off x="7155700" y="3762725"/>
            <a:ext cx="17763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415650" y="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We’ve seen the pollution problem in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Earth.nullschool.net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5776" y="763500"/>
            <a:ext cx="9168384" cy="587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cfe7a7ee1_0_448"/>
          <p:cNvSpPr txBox="1"/>
          <p:nvPr>
            <p:ph type="title"/>
          </p:nvPr>
        </p:nvSpPr>
        <p:spPr>
          <a:xfrm>
            <a:off x="415650" y="947100"/>
            <a:ext cx="11360700" cy="49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4400"/>
              <a:t>Mission 2: </a:t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4400"/>
              <a:t>Adjust your sliders to maximize co-benefits, multi-solving, and feasibility. Once you are done, pitch your imagined reality to a classmate near you!</a:t>
            </a:r>
            <a:endParaRPr sz="4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let’s get started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54" y="1687738"/>
            <a:ext cx="6981944" cy="382610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 txBox="1"/>
          <p:nvPr/>
        </p:nvSpPr>
        <p:spPr>
          <a:xfrm>
            <a:off x="7099525" y="462638"/>
            <a:ext cx="5092500" cy="6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Mission 1: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scenario that (barely) limits warming to 2°C and calculate equilibrium climate sensitivity (ECS)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ECS = (△T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/△C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x 290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does this tell us about the model?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Pessimistic if ECS &gt; 3°C/2xCO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Optimistic if ECS &lt; 3°C/2xCO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Mission 2: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your sliders to maximize co-benefits, multi-solving, and feasibility. Once you are done, pitch your imaged reality to a classmate near you!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2023-09-18T14:47:06Z</dcterms:created>
  <dc:creator>Steven</dc:creator>
</cp:coreProperties>
</file>