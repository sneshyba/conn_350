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887" r:id="rId2"/>
    <p:sldId id="1940" r:id="rId3"/>
    <p:sldId id="1891" r:id="rId4"/>
    <p:sldId id="1915" r:id="rId5"/>
    <p:sldId id="1914" r:id="rId6"/>
    <p:sldId id="1942" r:id="rId7"/>
    <p:sldId id="1902" r:id="rId8"/>
    <p:sldId id="1930" r:id="rId9"/>
    <p:sldId id="1931" r:id="rId10"/>
    <p:sldId id="1932" r:id="rId11"/>
    <p:sldId id="1934" r:id="rId12"/>
    <p:sldId id="1935" r:id="rId13"/>
    <p:sldId id="1933" r:id="rId14"/>
    <p:sldId id="1936" r:id="rId15"/>
    <p:sldId id="1937" r:id="rId16"/>
    <p:sldId id="1888" r:id="rId17"/>
    <p:sldId id="1944" r:id="rId18"/>
    <p:sldId id="1943" r:id="rId19"/>
    <p:sldId id="44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64"/>
  </p:normalViewPr>
  <p:slideViewPr>
    <p:cSldViewPr snapToGrid="0" showGuides="1">
      <p:cViewPr>
        <p:scale>
          <a:sx n="97" d="100"/>
          <a:sy n="97" d="100"/>
        </p:scale>
        <p:origin x="106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4CFE-6060-472C-1EA9-B9F3E8667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997E3-D8E6-E565-5824-81D3B2B4C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79FFB-3621-192F-3318-621B79E0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AB2DA-9688-8BE6-0DB1-DE4C42E8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F7A24-01F9-E50D-FB07-B88C86DF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0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E501-1508-8947-C631-7B13AC1B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EEA4E-E4BC-A723-B52B-42700B1B4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3FA35-779E-9B30-9D95-95D98A26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4B9EB-D08A-79CE-0718-7F4CF65D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B8D3-2FAF-B2E7-98B0-A5B9A3CB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70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B291-07C0-4BE3-E728-FF8DDAF1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D571C-C421-641C-3B49-EBC066EE3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AE279-E561-7E46-101F-F4C78FD6A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B0297-84D1-CAFD-816A-390D31AD3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F9989-43F9-5153-9A45-7C112CCA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3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6CCF-0EAA-60D8-1638-C2F8A19A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DFD90-479D-35EC-D635-E4E8378E8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1D8DD-EA50-41F8-59B3-972FAD67D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FAD30-BEAB-8903-5281-B382C502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AB90D-EA78-8D93-CD44-952BDC45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701C0-2E47-151D-45B5-332E3E60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1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F3CD-B0FA-BF10-58FF-91F7AA9A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363C8-3F94-5045-F7BC-BE397877C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24BD7-D927-EDF3-239F-04BF94BAB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B79E3-B730-5EA3-958B-1AE30BE82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988CE-45E0-466B-78B3-17A60E0D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58C7D4-12CA-4C0E-06D0-05EAFD97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B00E41-03DC-6CB9-F549-0BF9B9EC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B687D-6F6F-5052-D56D-FD500960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0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A545-A393-3962-87A1-DA919992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17B57-0A0C-4E01-5449-8F821BD6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244F1-BA1D-DBBD-015C-D847E12DC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55394-7E2D-5444-DBB9-6A45485F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55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10D7B4-4F8B-2A27-25CD-3E71AE56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476BE-CFD1-E8B6-B68E-B9F59A4A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55331-A553-15BC-27D3-A4EDF233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5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1CA7-038F-2634-2EFB-99A175F2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5A4B2-2A55-F05B-BF58-876D9434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823CB-6C5B-30AD-FBF4-0C050BC24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69D5E-1085-6A8E-FFE7-D740A38A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45849-E510-04B6-6D00-A6D29E1A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C96F2-68BB-1327-2539-1E0A6132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2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9F9C-D55C-3D0C-875F-D2BA670F3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034D4-2FD5-5D75-FF70-D10474B78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CF0D6-D69C-9D30-FB00-66DAAA2F2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4BBCE-7F42-3AA3-12B2-1E6C74E7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AAEDA-A367-5CD4-65C2-5833A508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BD99-9DAF-2A13-A6DD-932B1BE7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13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D82D-4824-5AE3-0E29-22735565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10361-0DB4-9324-78B3-C5FE12D46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00496-9D88-7A23-C3F3-7AA68200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7732B-F16C-2083-02F5-0466D57F6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A4900-86CA-1459-AE6D-D699F98D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31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F3F31-676D-24E7-E270-DD3CEB2F9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C3749-4AD2-4C92-47B9-7EE95D2B1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6FF90-8713-9A61-3300-92F0E011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B5512-D5BB-9996-8C79-F7A3884A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259AB-2507-2550-539F-F16F486AF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4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3A1B5-6D9B-B1AA-D09D-C2375DD4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448B5-8329-7469-8039-7815504FF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C6AEC-8B2C-BD80-0604-F6CE0FB07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5963E-AA4E-634D-A2F6-97830CD8E52D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BF090-70D1-C85B-2B82-9EBB45164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9FB76-1A07-0D7A-E092-CA6DC831E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2BE62-6713-7F4B-818E-492AE1483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6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.nasa.gov/earth/earth-observatory/the-carbon-cycle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ambio.fly.dev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0.png"/><Relationship Id="rId7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0.png"/><Relationship Id="rId7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Homeostasis of a living planet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08F53F-D918-C49B-4ACF-921B1E4539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366"/>
          <a:stretch/>
        </p:blipFill>
        <p:spPr>
          <a:xfrm>
            <a:off x="3785028" y="657256"/>
            <a:ext cx="3702310" cy="2771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90AB2D-F4FE-E571-9A77-4F3C4F187DF6}"/>
              </a:ext>
            </a:extLst>
          </p:cNvPr>
          <p:cNvSpPr txBox="1"/>
          <p:nvPr/>
        </p:nvSpPr>
        <p:spPr>
          <a:xfrm>
            <a:off x="170971" y="1258298"/>
            <a:ext cx="3614057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Last week: Earth has mechanisms for correcting radiative imbalance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temperature homeostasis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B57F3AF4-AF79-70CD-7C77-53670FED3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450" y="4055117"/>
            <a:ext cx="3218440" cy="214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8BC053-16E1-2F44-5AA3-DC973912C665}"/>
              </a:ext>
            </a:extLst>
          </p:cNvPr>
          <p:cNvSpPr txBox="1"/>
          <p:nvPr/>
        </p:nvSpPr>
        <p:spPr>
          <a:xfrm>
            <a:off x="170970" y="4446785"/>
            <a:ext cx="3614057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Next: Earth also has mechanisms for correcting  carbon imbalances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carbon homeostasis</a:t>
            </a:r>
          </a:p>
        </p:txBody>
      </p:sp>
      <p:grpSp>
        <p:nvGrpSpPr>
          <p:cNvPr id="9" name="Google Shape;189;p11">
            <a:extLst>
              <a:ext uri="{FF2B5EF4-FFF2-40B4-BE49-F238E27FC236}">
                <a16:creationId xmlns:a16="http://schemas.microsoft.com/office/drawing/2014/main" id="{FD9C6A56-8217-6822-9EDA-13359D77A3DD}"/>
              </a:ext>
            </a:extLst>
          </p:cNvPr>
          <p:cNvGrpSpPr/>
          <p:nvPr/>
        </p:nvGrpSpPr>
        <p:grpSpPr>
          <a:xfrm>
            <a:off x="7239503" y="1120716"/>
            <a:ext cx="4781527" cy="1569620"/>
            <a:chOff x="6562199" y="2389334"/>
            <a:chExt cx="4970274" cy="2494381"/>
          </a:xfrm>
        </p:grpSpPr>
        <p:sp>
          <p:nvSpPr>
            <p:cNvPr id="10" name="Google Shape;190;p11">
              <a:extLst>
                <a:ext uri="{FF2B5EF4-FFF2-40B4-BE49-F238E27FC236}">
                  <a16:creationId xmlns:a16="http://schemas.microsoft.com/office/drawing/2014/main" id="{13538C00-38DA-A7A2-FACF-3EBE03B7CD9C}"/>
                </a:ext>
              </a:extLst>
            </p:cNvPr>
            <p:cNvSpPr/>
            <p:nvPr/>
          </p:nvSpPr>
          <p:spPr>
            <a:xfrm rot="10800000" flipH="1">
              <a:off x="6562199" y="3125847"/>
              <a:ext cx="768096" cy="1198299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91;p11">
              <a:extLst>
                <a:ext uri="{FF2B5EF4-FFF2-40B4-BE49-F238E27FC236}">
                  <a16:creationId xmlns:a16="http://schemas.microsoft.com/office/drawing/2014/main" id="{1E2686C4-5A84-EC89-66EE-5F0E3E8677DF}"/>
                </a:ext>
              </a:extLst>
            </p:cNvPr>
            <p:cNvSpPr/>
            <p:nvPr/>
          </p:nvSpPr>
          <p:spPr>
            <a:xfrm>
              <a:off x="7570942" y="3316223"/>
              <a:ext cx="768096" cy="961709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C00000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92;p11">
              <a:extLst>
                <a:ext uri="{FF2B5EF4-FFF2-40B4-BE49-F238E27FC236}">
                  <a16:creationId xmlns:a16="http://schemas.microsoft.com/office/drawing/2014/main" id="{B159998E-8FB9-BB67-6500-C6DC1E16C43A}"/>
                </a:ext>
              </a:extLst>
            </p:cNvPr>
            <p:cNvSpPr txBox="1"/>
            <p:nvPr/>
          </p:nvSpPr>
          <p:spPr>
            <a:xfrm>
              <a:off x="8579686" y="2389334"/>
              <a:ext cx="2952787" cy="2494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E.g., if Earth is too cold, net radiative flux is </a:t>
              </a:r>
              <a:r>
                <a:rPr lang="en-US" sz="2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positive</a:t>
              </a:r>
              <a:r>
                <a:rPr lang="en-US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, so Earth will heat up!</a:t>
              </a:r>
              <a:endParaRPr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88E8E0F-1FFF-DBC5-84DF-1CA0D0F726E4}"/>
              </a:ext>
            </a:extLst>
          </p:cNvPr>
          <p:cNvSpPr txBox="1"/>
          <p:nvPr/>
        </p:nvSpPr>
        <p:spPr>
          <a:xfrm>
            <a:off x="7326882" y="1028938"/>
            <a:ext cx="555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74D1D0-4DB6-1435-E76B-6F8499D8B57A}"/>
              </a:ext>
            </a:extLst>
          </p:cNvPr>
          <p:cNvSpPr txBox="1"/>
          <p:nvPr/>
        </p:nvSpPr>
        <p:spPr>
          <a:xfrm>
            <a:off x="8308894" y="1028938"/>
            <a:ext cx="555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LW</a:t>
            </a:r>
          </a:p>
        </p:txBody>
      </p:sp>
      <p:sp>
        <p:nvSpPr>
          <p:cNvPr id="15" name="Google Shape;191;p11">
            <a:extLst>
              <a:ext uri="{FF2B5EF4-FFF2-40B4-BE49-F238E27FC236}">
                <a16:creationId xmlns:a16="http://schemas.microsoft.com/office/drawing/2014/main" id="{4C390CCB-24F4-177F-8C78-7D89722AA4CA}"/>
              </a:ext>
            </a:extLst>
          </p:cNvPr>
          <p:cNvSpPr/>
          <p:nvPr/>
        </p:nvSpPr>
        <p:spPr>
          <a:xfrm>
            <a:off x="8217308" y="1514472"/>
            <a:ext cx="738927" cy="605167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00000">
              <a:alpha val="35000"/>
            </a:srgbClr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92;p11">
            <a:extLst>
              <a:ext uri="{FF2B5EF4-FFF2-40B4-BE49-F238E27FC236}">
                <a16:creationId xmlns:a16="http://schemas.microsoft.com/office/drawing/2014/main" id="{49AB762B-7B51-CAAB-BFC7-7CF3DE4986FF}"/>
              </a:ext>
            </a:extLst>
          </p:cNvPr>
          <p:cNvSpPr txBox="1"/>
          <p:nvPr/>
        </p:nvSpPr>
        <p:spPr>
          <a:xfrm>
            <a:off x="7760048" y="4157232"/>
            <a:ext cx="3921411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if any of the three carbon reservoirs on Earth get too much, transfers (carbon fluxes) will kick in to offset it.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5472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We’ll use the Houghton Carbon Balance (HCB) scheme to do get at this</a:t>
            </a:r>
          </a:p>
        </p:txBody>
      </p:sp>
      <p:pic>
        <p:nvPicPr>
          <p:cNvPr id="8" name="Picture 2" descr="Draft diagram of the carbon cycle.">
            <a:extLst>
              <a:ext uri="{FF2B5EF4-FFF2-40B4-BE49-F238E27FC236}">
                <a16:creationId xmlns:a16="http://schemas.microsoft.com/office/drawing/2014/main" id="{07680167-DE17-13B9-1A80-E77D8942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099" y="598506"/>
            <a:ext cx="8491481" cy="566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DC982B-7DD9-A6C7-8D4A-AE2833C05219}"/>
              </a:ext>
            </a:extLst>
          </p:cNvPr>
          <p:cNvSpPr txBox="1"/>
          <p:nvPr/>
        </p:nvSpPr>
        <p:spPr>
          <a:xfrm>
            <a:off x="2191226" y="6396782"/>
            <a:ext cx="7809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science.nasa.gov</a:t>
            </a:r>
            <a:r>
              <a:rPr lang="en-US" dirty="0">
                <a:hlinkClick r:id="rId3"/>
              </a:rPr>
              <a:t>/earth/earth-observatory/the-carbon-cycle/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53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Reservoirs and reservoir amounts of carbon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/>
              <p:nvPr/>
            </p:nvSpPr>
            <p:spPr>
              <a:xfrm>
                <a:off x="223526" y="742358"/>
                <a:ext cx="6124885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Let’s talk about the </a:t>
                </a:r>
                <a:r>
                  <a:rPr lang="en-US" sz="2200" b="1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reservoir</a:t>
                </a:r>
                <a:r>
                  <a:rPr lang="en-US" sz="22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b="1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amounts</a:t>
                </a:r>
                <a:r>
                  <a:rPr lang="en-US" sz="22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𝑎𝑡𝑚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𝑜𝑐𝑒𝑎𝑛</m:t>
                        </m:r>
                      </m:sub>
                    </m:sSub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in units </a:t>
                </a:r>
                <a14:m>
                  <m:oMath xmlns:m="http://schemas.openxmlformats.org/officeDocument/2006/math">
                    <m:r>
                      <a:rPr lang="en-US" sz="2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𝑮𝒕𝑪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(billion tonnes of Carbon) </a:t>
                </a:r>
              </a:p>
              <a:p>
                <a:endParaRPr lang="en-US" sz="22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Back in </a:t>
                </a:r>
                <a:r>
                  <a:rPr lang="en-US" sz="2200" b="1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preindustrial times </a:t>
                </a:r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(like the year </a:t>
                </a:r>
                <a:r>
                  <a:rPr lang="en-US" sz="2200" b="1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1750</a:t>
                </a:r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), these numbers were: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𝑎𝑡𝑚</m:t>
                        </m:r>
                      </m:sub>
                    </m:sSub>
                    <m:r>
                      <a:rPr lang="en-US" sz="2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𝟓𝟗𝟎</m:t>
                    </m:r>
                    <m:r>
                      <a:rPr lang="en-US" sz="22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2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𝑮𝒕𝑪</m:t>
                    </m:r>
                  </m:oMath>
                </a14:m>
                <a:r>
                  <a:rPr lang="en-US" sz="2200" i="1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𝑜𝑐𝑒𝑎𝑛</m:t>
                        </m:r>
                      </m:sub>
                    </m:sSub>
                    <m:r>
                      <a:rPr lang="en-US" sz="22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2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𝟒𝟏𝟎</m:t>
                    </m:r>
                    <m:r>
                      <a:rPr lang="en-US" sz="2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𝑮𝒕𝑪</m:t>
                    </m:r>
                  </m:oMath>
                </a14:m>
                <a:r>
                  <a:rPr lang="en-US" sz="2200" i="1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200" i="1" kern="1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the year </a:t>
                </a:r>
                <a:r>
                  <a:rPr lang="en-US" sz="2200" b="1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2003</a:t>
                </a:r>
                <a:r>
                  <a:rPr lang="en-US" sz="22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these numbers are bigger: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𝑎𝑡𝑚</m:t>
                        </m:r>
                      </m:sub>
                    </m:sSub>
                    <m:r>
                      <a:rPr lang="en-US" sz="2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2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𝟖𝟎𝟎</m:t>
                    </m:r>
                    <m:r>
                      <a:rPr lang="en-US" sz="22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2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𝑮𝒕𝑪</m:t>
                    </m:r>
                  </m:oMath>
                </a14:m>
                <a:r>
                  <a:rPr lang="en-US" sz="2200" b="1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(see upper-right of figure)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b="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𝑜𝑐𝑒𝑎𝑛</m:t>
                        </m:r>
                      </m:sub>
                    </m:sSub>
                    <m:r>
                      <a:rPr lang="en-US" sz="22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2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𝟓𝟒𝟎</m:t>
                    </m:r>
                    <m:r>
                      <a:rPr lang="en-US" sz="2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200" b="1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𝑮𝒕𝑪</m:t>
                    </m:r>
                  </m:oMath>
                </a14:m>
                <a:endParaRPr lang="en-US" sz="22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2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742358"/>
                <a:ext cx="6124885" cy="4154984"/>
              </a:xfrm>
              <a:prstGeom prst="rect">
                <a:avLst/>
              </a:prstGeom>
              <a:blipFill>
                <a:blip r:embed="rId3"/>
                <a:stretch>
                  <a:fillRect l="-1242" t="-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038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About that human emission flux …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CF8395-4BFE-D9CD-A0F2-179B693A4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550972"/>
            <a:ext cx="5943600" cy="400725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23C8CB4-CAD0-5575-6637-B4D3BCB7118D}"/>
              </a:ext>
            </a:extLst>
          </p:cNvPr>
          <p:cNvSpPr/>
          <p:nvPr/>
        </p:nvSpPr>
        <p:spPr>
          <a:xfrm>
            <a:off x="3844470" y="2107110"/>
            <a:ext cx="148590" cy="1485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D7E390-EC08-62CF-FF25-5DA698DC954E}"/>
              </a:ext>
            </a:extLst>
          </p:cNvPr>
          <p:cNvSpPr txBox="1"/>
          <p:nvPr/>
        </p:nvSpPr>
        <p:spPr>
          <a:xfrm>
            <a:off x="3251108" y="5063163"/>
            <a:ext cx="13353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Year 2003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D5BEF7-A8AD-46A9-5ED1-39F1B94E1C56}"/>
                  </a:ext>
                </a:extLst>
              </p:cNvPr>
              <p:cNvSpPr txBox="1"/>
              <p:nvPr/>
            </p:nvSpPr>
            <p:spPr>
              <a:xfrm>
                <a:off x="1474122" y="1888124"/>
                <a:ext cx="2199333" cy="7694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Emissions in 2003 were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𝑮𝒕𝑪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𝒚𝒓</m:t>
                    </m:r>
                  </m:oMath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D5BEF7-A8AD-46A9-5ED1-39F1B94E1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122" y="1888124"/>
                <a:ext cx="2199333" cy="769441"/>
              </a:xfrm>
              <a:prstGeom prst="rect">
                <a:avLst/>
              </a:prstGeom>
              <a:blipFill>
                <a:blip r:embed="rId4"/>
                <a:stretch>
                  <a:fillRect l="-3429" t="-4839" r="-5714" b="-1451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CA621C-2CF3-E1CD-8640-587B6AD05984}"/>
              </a:ext>
            </a:extLst>
          </p:cNvPr>
          <p:cNvCxnSpPr/>
          <p:nvPr/>
        </p:nvCxnSpPr>
        <p:spPr>
          <a:xfrm flipV="1">
            <a:off x="3918858" y="4458606"/>
            <a:ext cx="0" cy="62139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386839-CA5D-ED8D-6BE8-22FE6963B852}"/>
              </a:ext>
            </a:extLst>
          </p:cNvPr>
          <p:cNvSpPr txBox="1"/>
          <p:nvPr/>
        </p:nvSpPr>
        <p:spPr>
          <a:xfrm>
            <a:off x="152400" y="5057721"/>
            <a:ext cx="24793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Preindustrial times, when we didn’t emit much carbon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691AFD-DD01-54F8-1CD4-AA2F956D7525}"/>
              </a:ext>
            </a:extLst>
          </p:cNvPr>
          <p:cNvSpPr txBox="1"/>
          <p:nvPr/>
        </p:nvSpPr>
        <p:spPr>
          <a:xfrm>
            <a:off x="5205811" y="5494050"/>
            <a:ext cx="3150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B050"/>
                </a:solidFill>
              </a:rPr>
              <a:t>A future when we don’t emit much carbon again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0CB877-FEF2-02C6-9E0D-E7DA5187EB8E}"/>
              </a:ext>
            </a:extLst>
          </p:cNvPr>
          <p:cNvCxnSpPr>
            <a:cxnSpLocks/>
          </p:cNvCxnSpPr>
          <p:nvPr/>
        </p:nvCxnSpPr>
        <p:spPr>
          <a:xfrm flipH="1" flipV="1">
            <a:off x="5205811" y="4178300"/>
            <a:ext cx="529147" cy="107097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A38D86-AB85-05B5-DFC0-25EF989FF27E}"/>
              </a:ext>
            </a:extLst>
          </p:cNvPr>
          <p:cNvCxnSpPr>
            <a:cxnSpLocks/>
          </p:cNvCxnSpPr>
          <p:nvPr/>
        </p:nvCxnSpPr>
        <p:spPr>
          <a:xfrm flipV="1">
            <a:off x="838732" y="4185102"/>
            <a:ext cx="0" cy="8726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39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777D57-3A78-A54F-BAE7-8DF853AA552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Now let’s talk about the fluxes (Units are </a:t>
                </a:r>
                <a14:m>
                  <m:oMath xmlns:m="http://schemas.openxmlformats.org/officeDocument/2006/math">
                    <m:r>
                      <a:rPr lang="en-US" sz="24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𝑮𝒕𝑪</m:t>
                    </m:r>
                    <m:r>
                      <a:rPr lang="en-US" sz="24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4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𝒚𝒓</m:t>
                    </m:r>
                  </m:oMath>
                </a14:m>
                <a:r>
                  <a:rPr lang="en-US" sz="2400" b="1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777D57-3A78-A54F-BAE7-8DF853AA5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/>
              <p:nvPr/>
            </p:nvSpPr>
            <p:spPr>
              <a:xfrm>
                <a:off x="223526" y="742358"/>
                <a:ext cx="6234424" cy="4493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Back in </a:t>
                </a:r>
                <a:r>
                  <a:rPr lang="en-US" sz="2200" b="1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preindustrial times </a:t>
                </a:r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(like the year </a:t>
                </a:r>
                <a:r>
                  <a:rPr lang="en-US" sz="2200" b="1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1750</a:t>
                </a:r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),</a:t>
                </a:r>
                <a:endParaRPr lang="en-US" sz="2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200" kern="1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2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the year </a:t>
                </a:r>
                <a:r>
                  <a:rPr lang="en-US" sz="2200" b="1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2003</a:t>
                </a:r>
                <a:endParaRPr lang="en-US" sz="2200" kern="1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=120+</m:t>
                    </m:r>
                    <m:r>
                      <a:rPr lang="en-US" sz="22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200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=123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=60+60=120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=90+</m:t>
                    </m:r>
                    <m:r>
                      <a:rPr lang="en-US" sz="22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=92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b="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742358"/>
                <a:ext cx="6234424" cy="4493538"/>
              </a:xfrm>
              <a:prstGeom prst="rect">
                <a:avLst/>
              </a:prstGeom>
              <a:blipFill>
                <a:blip r:embed="rId4"/>
                <a:stretch>
                  <a:fillRect l="-1220" t="-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110B349-9C29-80BC-6FF0-629E3CF539B6}"/>
              </a:ext>
            </a:extLst>
          </p:cNvPr>
          <p:cNvSpPr txBox="1"/>
          <p:nvPr/>
        </p:nvSpPr>
        <p:spPr>
          <a:xfrm>
            <a:off x="2263140" y="4591936"/>
            <a:ext cx="9705334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So … </a:t>
            </a:r>
          </a:p>
          <a:p>
            <a:r>
              <a:rPr lang="en-US" sz="2200" dirty="0"/>
              <a:t>Back in 1750, the carbon budget was </a:t>
            </a:r>
            <a:r>
              <a:rPr lang="en-US" sz="2200" b="1" dirty="0"/>
              <a:t>in</a:t>
            </a:r>
            <a:r>
              <a:rPr lang="en-US" sz="2200" dirty="0"/>
              <a:t> </a:t>
            </a:r>
            <a:r>
              <a:rPr lang="en-US" sz="2200" b="1" dirty="0"/>
              <a:t>homeostasis</a:t>
            </a:r>
            <a:r>
              <a:rPr lang="en-US" sz="2200" dirty="0"/>
              <a:t> (equal fluxes between reservoirs).</a:t>
            </a:r>
          </a:p>
          <a:p>
            <a:endParaRPr lang="en-US" sz="2200" dirty="0"/>
          </a:p>
          <a:p>
            <a:r>
              <a:rPr lang="en-US" sz="2200" dirty="0"/>
              <a:t>By 2003, the carbon budget was </a:t>
            </a:r>
            <a:r>
              <a:rPr lang="en-US" sz="2200" b="1" dirty="0"/>
              <a:t>out of homeostasis </a:t>
            </a:r>
            <a:r>
              <a:rPr lang="en-US" sz="2200" dirty="0"/>
              <a:t>because humans had been emitting carbon to the atmosphere for a long time (since 1750).</a:t>
            </a:r>
          </a:p>
        </p:txBody>
      </p:sp>
    </p:spTree>
    <p:extLst>
      <p:ext uri="{BB962C8B-B14F-4D97-AF65-F5344CB8AC3E}">
        <p14:creationId xmlns:p14="http://schemas.microsoft.com/office/powerpoint/2010/main" val="1124199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02A7B80A-96E0-3E71-356B-FCDC2F3D5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175" y="-2898"/>
            <a:ext cx="4831081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dirty="0">
                <a:latin typeface="+mn-lt"/>
              </a:rPr>
              <a:t>OK, let’s get started!</a:t>
            </a:r>
            <a:endParaRPr lang="en-US" altLang="en-US" sz="2400" b="1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860BB2-ABF2-4190-B40F-1ED7ABA751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293"/>
          <a:stretch/>
        </p:blipFill>
        <p:spPr>
          <a:xfrm>
            <a:off x="236782" y="1277688"/>
            <a:ext cx="4624792" cy="25227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C86249-0B35-ACC9-FB8F-86948404244E}"/>
              </a:ext>
            </a:extLst>
          </p:cNvPr>
          <p:cNvSpPr txBox="1"/>
          <p:nvPr/>
        </p:nvSpPr>
        <p:spPr>
          <a:xfrm>
            <a:off x="5340626" y="151179"/>
            <a:ext cx="6614592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For the year 1900 (not quite preindustrial, but it’s as far as we can get on the web app):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What % of anthropogenic emission that year was sequestered by the land?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What % of anthropogenic emission was sequestered by the oceans?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r>
              <a:rPr lang="en-US" sz="2000" dirty="0"/>
              <a:t>For the year 2003 (the year of the HCB figure):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Is the anthropogenic emission in that year consistent with the HCB figure?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What % of anthropogenic emission that year was sequestered by the land?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What % of anthropogenic emission was sequestered by the oceans?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What’s the </a:t>
            </a:r>
            <a:r>
              <a:rPr lang="en-US" sz="2000" b="1" dirty="0"/>
              <a:t>time delay </a:t>
            </a:r>
            <a:r>
              <a:rPr lang="en-US" sz="2000" dirty="0"/>
              <a:t>between the year of maximum emission and the year of maximum CO2 in the atmosphere?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r>
              <a:rPr lang="en-US" sz="2000" dirty="0"/>
              <a:t>Formulate a hypothesis as to a mechanism for both forms of sequestration. If you have time, also formulate a hypothesis as to why there’s that time delay.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0E147FE6-D20D-5D2C-732C-B598337FB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82" y="3842809"/>
            <a:ext cx="4522787" cy="301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59BC6E-5044-A73A-826B-0B08CD0580CD}"/>
              </a:ext>
            </a:extLst>
          </p:cNvPr>
          <p:cNvSpPr txBox="1"/>
          <p:nvPr/>
        </p:nvSpPr>
        <p:spPr>
          <a:xfrm>
            <a:off x="236782" y="528959"/>
            <a:ext cx="483108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The web version of Cambio is at </a:t>
            </a:r>
            <a:r>
              <a:rPr lang="en-US" sz="2000" dirty="0">
                <a:hlinkClick r:id="rId4"/>
              </a:rPr>
              <a:t>https://cambio.fly.dev/</a:t>
            </a:r>
            <a:r>
              <a:rPr lang="en-US" sz="2000" dirty="0"/>
              <a:t>.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C3029E-25CF-379B-A7CB-591506EA4FBD}"/>
              </a:ext>
            </a:extLst>
          </p:cNvPr>
          <p:cNvSpPr/>
          <p:nvPr/>
        </p:nvSpPr>
        <p:spPr>
          <a:xfrm>
            <a:off x="2988255" y="2790768"/>
            <a:ext cx="72079" cy="766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74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the year 2003 … what percentage of human emissions were sequestered by the land?  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/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=120+</m:t>
                    </m:r>
                    <m:r>
                      <a:rPr lang="en-US" sz="22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200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=123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=60+60=120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=90+</m:t>
                    </m:r>
                    <m:r>
                      <a:rPr lang="en-US" sz="22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=92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D70DD77-3FFC-0E53-0F9A-6A11AA06AF19}"/>
              </a:ext>
            </a:extLst>
          </p:cNvPr>
          <p:cNvGrpSpPr/>
          <p:nvPr/>
        </p:nvGrpSpPr>
        <p:grpSpPr>
          <a:xfrm>
            <a:off x="2892275" y="825295"/>
            <a:ext cx="1570984" cy="572914"/>
            <a:chOff x="2811780" y="3461057"/>
            <a:chExt cx="1570984" cy="572914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F6044C05-E7E4-6454-2310-0196AD4B455D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11867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the year 2003 … what percentage of human emissions were sequestered by the land?  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D93D6A-AFF7-ADC9-25B6-51EE31A213E3}"/>
                  </a:ext>
                </a:extLst>
              </p:cNvPr>
              <p:cNvSpPr txBox="1"/>
              <p:nvPr/>
            </p:nvSpPr>
            <p:spPr>
              <a:xfrm>
                <a:off x="223526" y="2926080"/>
                <a:ext cx="55029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But … </a:t>
                </a:r>
                <a:r>
                  <a:rPr lang="en-US" sz="2400" b="1" dirty="0"/>
                  <a:t>why</a:t>
                </a:r>
                <a:r>
                  <a:rPr lang="en-US" sz="2400" dirty="0"/>
                  <a:t> is more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sequestered by the land when there’s more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in the atmosphere?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D93D6A-AFF7-ADC9-25B6-51EE31A21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2926080"/>
                <a:ext cx="5502904" cy="1200329"/>
              </a:xfrm>
              <a:prstGeom prst="rect">
                <a:avLst/>
              </a:prstGeom>
              <a:blipFill>
                <a:blip r:embed="rId5"/>
                <a:stretch>
                  <a:fillRect l="-1613" t="-315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03D2B21E-9A58-8F56-2CFD-43A4DD649B4A}"/>
              </a:ext>
            </a:extLst>
          </p:cNvPr>
          <p:cNvGrpSpPr/>
          <p:nvPr/>
        </p:nvGrpSpPr>
        <p:grpSpPr>
          <a:xfrm>
            <a:off x="223526" y="742358"/>
            <a:ext cx="6234424" cy="1785104"/>
            <a:chOff x="223526" y="742358"/>
            <a:chExt cx="6234424" cy="17851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9B0BBDAB-992B-2F44-69CB-884A05F3C09A}"/>
                    </a:ext>
                  </a:extLst>
                </p:cNvPr>
                <p:cNvSpPr txBox="1"/>
                <p:nvPr/>
              </p:nvSpPr>
              <p:spPr>
                <a:xfrm>
                  <a:off x="223526" y="742358"/>
                  <a:ext cx="6234424" cy="17851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𝑎𝑙</m:t>
                          </m:r>
                        </m:sub>
                      </m:sSub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=120+</m:t>
                      </m:r>
                      <m:r>
                        <a:rPr lang="en-US" sz="220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sz="2200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=123</m:t>
                      </m:r>
                    </m:oMath>
                  </a14:m>
                  <a:r>
                    <a:rPr lang="en-US" sz="2200" kern="1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𝑙𝑎</m:t>
                          </m:r>
                        </m:sub>
                      </m:sSub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=60+60=120</m:t>
                      </m:r>
                    </m:oMath>
                  </a14:m>
                  <a:r>
                    <a:rPr lang="en-US" sz="2200" kern="1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𝑎𝑜</m:t>
                          </m:r>
                        </m:sub>
                      </m:sSub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=90+</m:t>
                      </m:r>
                      <m:r>
                        <a:rPr lang="en-US" sz="220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=92</m:t>
                      </m:r>
                    </m:oMath>
                  </a14:m>
                  <a:r>
                    <a:rPr lang="en-US" sz="2200" kern="1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𝑜𝑎</m:t>
                          </m:r>
                        </m:sub>
                      </m:sSub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=90</m:t>
                      </m:r>
                    </m:oMath>
                  </a14:m>
                  <a:r>
                    <a:rPr lang="en-US" sz="2200" kern="1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h𝑎</m:t>
                          </m:r>
                        </m:sub>
                      </m:sSub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=9</m:t>
                      </m:r>
                    </m:oMath>
                  </a14:m>
                  <a:r>
                    <a:rPr lang="en-US" sz="2200" kern="1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9B0BBDAB-992B-2F44-69CB-884A05F3C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26" y="742358"/>
                  <a:ext cx="6234424" cy="178510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7CA149-FE1A-2396-2848-3094CE4C04EE}"/>
                </a:ext>
              </a:extLst>
            </p:cNvPr>
            <p:cNvGrpSpPr/>
            <p:nvPr/>
          </p:nvGrpSpPr>
          <p:grpSpPr>
            <a:xfrm>
              <a:off x="2892275" y="825295"/>
              <a:ext cx="1570984" cy="572914"/>
              <a:chOff x="2811780" y="3461057"/>
              <a:chExt cx="1570984" cy="572914"/>
            </a:xfrm>
          </p:grpSpPr>
          <p:sp>
            <p:nvSpPr>
              <p:cNvPr id="10" name="Right Brace 9">
                <a:extLst>
                  <a:ext uri="{FF2B5EF4-FFF2-40B4-BE49-F238E27FC236}">
                    <a16:creationId xmlns:a16="http://schemas.microsoft.com/office/drawing/2014/main" id="{38742EED-0456-8C38-2E1C-CEB0CCFF8F96}"/>
                  </a:ext>
                </a:extLst>
              </p:cNvPr>
              <p:cNvSpPr/>
              <p:nvPr/>
            </p:nvSpPr>
            <p:spPr>
              <a:xfrm>
                <a:off x="2811780" y="3520440"/>
                <a:ext cx="194310" cy="461665"/>
              </a:xfrm>
              <a:prstGeom prst="rightBrac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7112913A-D81B-35C4-82E9-F93428D331D6}"/>
                      </a:ext>
                    </a:extLst>
                  </p:cNvPr>
                  <p:cNvSpPr txBox="1"/>
                  <p:nvPr/>
                </p:nvSpPr>
                <p:spPr>
                  <a:xfrm>
                    <a:off x="3097530" y="3461057"/>
                    <a:ext cx="1285234" cy="57291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≈30%</m:t>
                        </m:r>
                      </m:oMath>
                    </a14:m>
                    <a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B65F7A5-542A-DD24-E8AA-17C03932F5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7530" y="3461057"/>
                    <a:ext cx="1285234" cy="57291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569357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the year 2003 … what percentage of human emissions were sequestered by the land?  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D93D6A-AFF7-ADC9-25B6-51EE31A213E3}"/>
                  </a:ext>
                </a:extLst>
              </p:cNvPr>
              <p:cNvSpPr txBox="1"/>
              <p:nvPr/>
            </p:nvSpPr>
            <p:spPr>
              <a:xfrm>
                <a:off x="223526" y="2926080"/>
                <a:ext cx="55029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But … </a:t>
                </a:r>
                <a:r>
                  <a:rPr lang="en-US" sz="2400" b="1" dirty="0"/>
                  <a:t>why</a:t>
                </a:r>
                <a:r>
                  <a:rPr lang="en-US" sz="2400" dirty="0"/>
                  <a:t> is more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sequestered by the land when there’s more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in the atmosphere?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D93D6A-AFF7-ADC9-25B6-51EE31A21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2926080"/>
                <a:ext cx="5502904" cy="1200329"/>
              </a:xfrm>
              <a:prstGeom prst="rect">
                <a:avLst/>
              </a:prstGeom>
              <a:blipFill>
                <a:blip r:embed="rId5"/>
                <a:stretch>
                  <a:fillRect l="-1613" t="-315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016BD94-F553-A070-7042-EFD5617048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1710" y="4126409"/>
            <a:ext cx="4500094" cy="241421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170549D-C93E-AA9C-6CD2-7A8810653A30}"/>
              </a:ext>
            </a:extLst>
          </p:cNvPr>
          <p:cNvGrpSpPr/>
          <p:nvPr/>
        </p:nvGrpSpPr>
        <p:grpSpPr>
          <a:xfrm>
            <a:off x="223526" y="742358"/>
            <a:ext cx="6234424" cy="1785104"/>
            <a:chOff x="223526" y="742358"/>
            <a:chExt cx="6234424" cy="17851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BEB2D89-BD1B-515F-6515-B859D05F40AE}"/>
                    </a:ext>
                  </a:extLst>
                </p:cNvPr>
                <p:cNvSpPr txBox="1"/>
                <p:nvPr/>
              </p:nvSpPr>
              <p:spPr>
                <a:xfrm>
                  <a:off x="223526" y="742358"/>
                  <a:ext cx="6234424" cy="17851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𝑎𝑙</m:t>
                          </m:r>
                        </m:sub>
                      </m:sSub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=120+</m:t>
                      </m:r>
                      <m:r>
                        <a:rPr lang="en-US" sz="220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sz="2200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=123</m:t>
                      </m:r>
                    </m:oMath>
                  </a14:m>
                  <a:r>
                    <a:rPr lang="en-US" sz="2200" kern="1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𝑙𝑎</m:t>
                          </m:r>
                        </m:sub>
                      </m:sSub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=60+60=120</m:t>
                      </m:r>
                    </m:oMath>
                  </a14:m>
                  <a:r>
                    <a:rPr lang="en-US" sz="2200" kern="1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𝑎𝑜</m:t>
                          </m:r>
                        </m:sub>
                      </m:sSub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=90+</m:t>
                      </m:r>
                      <m:r>
                        <a:rPr lang="en-US" sz="220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=92</m:t>
                      </m:r>
                    </m:oMath>
                  </a14:m>
                  <a:r>
                    <a:rPr lang="en-US" sz="2200" kern="1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𝑜𝑎</m:t>
                          </m:r>
                        </m:sub>
                      </m:sSub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=90</m:t>
                      </m:r>
                    </m:oMath>
                  </a14:m>
                  <a:r>
                    <a:rPr lang="en-US" sz="2200" kern="1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h𝑎</m:t>
                          </m:r>
                        </m:sub>
                      </m:sSub>
                      <m:r>
                        <a:rPr lang="en-US" sz="2200" i="1" kern="10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=9</m:t>
                      </m:r>
                    </m:oMath>
                  </a14:m>
                  <a:r>
                    <a:rPr lang="en-US" sz="2200" kern="1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BEB2D89-BD1B-515F-6515-B859D05F40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26" y="742358"/>
                  <a:ext cx="6234424" cy="178510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7D1B8EE-8C44-CBD1-85E9-C9DAB5A4C521}"/>
                </a:ext>
              </a:extLst>
            </p:cNvPr>
            <p:cNvGrpSpPr/>
            <p:nvPr/>
          </p:nvGrpSpPr>
          <p:grpSpPr>
            <a:xfrm>
              <a:off x="2892275" y="825295"/>
              <a:ext cx="1570984" cy="572914"/>
              <a:chOff x="2811780" y="3461057"/>
              <a:chExt cx="1570984" cy="572914"/>
            </a:xfrm>
          </p:grpSpPr>
          <p:sp>
            <p:nvSpPr>
              <p:cNvPr id="17" name="Right Brace 16">
                <a:extLst>
                  <a:ext uri="{FF2B5EF4-FFF2-40B4-BE49-F238E27FC236}">
                    <a16:creationId xmlns:a16="http://schemas.microsoft.com/office/drawing/2014/main" id="{77288D2A-FC54-C483-55C5-EAAC9C3F7FDC}"/>
                  </a:ext>
                </a:extLst>
              </p:cNvPr>
              <p:cNvSpPr/>
              <p:nvPr/>
            </p:nvSpPr>
            <p:spPr>
              <a:xfrm>
                <a:off x="2811780" y="3520440"/>
                <a:ext cx="194310" cy="461665"/>
              </a:xfrm>
              <a:prstGeom prst="rightBrac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334282D8-7F74-2D53-75D7-80FE82D0CEBE}"/>
                      </a:ext>
                    </a:extLst>
                  </p:cNvPr>
                  <p:cNvSpPr txBox="1"/>
                  <p:nvPr/>
                </p:nvSpPr>
                <p:spPr>
                  <a:xfrm>
                    <a:off x="3097530" y="3461057"/>
                    <a:ext cx="1285234" cy="57291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≈30%</m:t>
                        </m:r>
                      </m:oMath>
                    </a14:m>
                    <a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B65F7A5-542A-DD24-E8AA-17C03932F5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7530" y="3461057"/>
                    <a:ext cx="1285234" cy="57291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46009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the year 2003 … what percentage of human emissions were sequestered by the </a:t>
            </a:r>
            <a:r>
              <a:rPr lang="en-US" sz="2400" b="1" i="1" dirty="0"/>
              <a:t>oceans</a:t>
            </a:r>
            <a:r>
              <a:rPr lang="en-US" sz="2400" b="1" dirty="0"/>
              <a:t>?  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/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=123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𝐺𝑡𝐶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𝑦𝑟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=92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D70DD77-3FFC-0E53-0F9A-6A11AA06AF19}"/>
              </a:ext>
            </a:extLst>
          </p:cNvPr>
          <p:cNvGrpSpPr/>
          <p:nvPr/>
        </p:nvGrpSpPr>
        <p:grpSpPr>
          <a:xfrm>
            <a:off x="2709395" y="825295"/>
            <a:ext cx="1570984" cy="572914"/>
            <a:chOff x="2811780" y="3461057"/>
            <a:chExt cx="1570984" cy="572914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F6044C05-E7E4-6454-2310-0196AD4B455D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043CBAC-C9E0-6DD2-F363-CA940FF693B2}"/>
              </a:ext>
            </a:extLst>
          </p:cNvPr>
          <p:cNvGrpSpPr/>
          <p:nvPr/>
        </p:nvGrpSpPr>
        <p:grpSpPr>
          <a:xfrm>
            <a:off x="2714954" y="1452522"/>
            <a:ext cx="1570984" cy="572914"/>
            <a:chOff x="2811780" y="3461057"/>
            <a:chExt cx="1570984" cy="572914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C8F989B-5966-EDD9-940D-8DC6BA7F7600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9164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the year 2003 … what percentage of human emissions were sequestered by the </a:t>
            </a:r>
            <a:r>
              <a:rPr lang="en-US" sz="2400" b="1" i="1" dirty="0"/>
              <a:t>oceans</a:t>
            </a:r>
            <a:r>
              <a:rPr lang="en-US" sz="2400" b="1" dirty="0"/>
              <a:t>?  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/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=123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𝐺𝑡𝐶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𝑦𝑟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=92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D70DD77-3FFC-0E53-0F9A-6A11AA06AF19}"/>
              </a:ext>
            </a:extLst>
          </p:cNvPr>
          <p:cNvGrpSpPr/>
          <p:nvPr/>
        </p:nvGrpSpPr>
        <p:grpSpPr>
          <a:xfrm>
            <a:off x="2709395" y="825295"/>
            <a:ext cx="1570984" cy="572914"/>
            <a:chOff x="2811780" y="3461057"/>
            <a:chExt cx="1570984" cy="572914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F6044C05-E7E4-6454-2310-0196AD4B455D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043CBAC-C9E0-6DD2-F363-CA940FF693B2}"/>
              </a:ext>
            </a:extLst>
          </p:cNvPr>
          <p:cNvGrpSpPr/>
          <p:nvPr/>
        </p:nvGrpSpPr>
        <p:grpSpPr>
          <a:xfrm>
            <a:off x="2714954" y="1452522"/>
            <a:ext cx="1570984" cy="572914"/>
            <a:chOff x="2811780" y="3461057"/>
            <a:chExt cx="1570984" cy="572914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C8F989B-5966-EDD9-940D-8DC6BA7F7600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25441E-AC76-34C0-C7CD-21EA9849CACA}"/>
                  </a:ext>
                </a:extLst>
              </p:cNvPr>
              <p:cNvSpPr txBox="1"/>
              <p:nvPr/>
            </p:nvSpPr>
            <p:spPr>
              <a:xfrm>
                <a:off x="223526" y="2926080"/>
                <a:ext cx="55029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But … </a:t>
                </a:r>
                <a:r>
                  <a:rPr lang="en-US" sz="2400" b="1" dirty="0"/>
                  <a:t>why</a:t>
                </a:r>
                <a:r>
                  <a:rPr lang="en-US" sz="2400" dirty="0"/>
                  <a:t> is more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sequestered by the oceans when there’s more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in the atmosphere?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25441E-AC76-34C0-C7CD-21EA9849C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2926080"/>
                <a:ext cx="5502904" cy="1200329"/>
              </a:xfrm>
              <a:prstGeom prst="rect">
                <a:avLst/>
              </a:prstGeom>
              <a:blipFill>
                <a:blip r:embed="rId6"/>
                <a:stretch>
                  <a:fillRect l="-1613" t="-315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047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the year 2003 … what percentage of human emissions were sequestered by the </a:t>
            </a:r>
            <a:r>
              <a:rPr lang="en-US" sz="2400" b="1" i="1" dirty="0"/>
              <a:t>oceans</a:t>
            </a:r>
            <a:r>
              <a:rPr lang="en-US" sz="2400" b="1" dirty="0"/>
              <a:t>?  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/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=123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𝐺𝑡𝐶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𝑦𝑟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=92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D70DD77-3FFC-0E53-0F9A-6A11AA06AF19}"/>
              </a:ext>
            </a:extLst>
          </p:cNvPr>
          <p:cNvGrpSpPr/>
          <p:nvPr/>
        </p:nvGrpSpPr>
        <p:grpSpPr>
          <a:xfrm>
            <a:off x="2709395" y="825295"/>
            <a:ext cx="1570984" cy="572914"/>
            <a:chOff x="2811780" y="3461057"/>
            <a:chExt cx="1570984" cy="572914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F6044C05-E7E4-6454-2310-0196AD4B455D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043CBAC-C9E0-6DD2-F363-CA940FF693B2}"/>
              </a:ext>
            </a:extLst>
          </p:cNvPr>
          <p:cNvGrpSpPr/>
          <p:nvPr/>
        </p:nvGrpSpPr>
        <p:grpSpPr>
          <a:xfrm>
            <a:off x="2714954" y="1452522"/>
            <a:ext cx="1570984" cy="572914"/>
            <a:chOff x="2811780" y="3461057"/>
            <a:chExt cx="1570984" cy="572914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C8F989B-5966-EDD9-940D-8DC6BA7F7600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25441E-AC76-34C0-C7CD-21EA9849CACA}"/>
                  </a:ext>
                </a:extLst>
              </p:cNvPr>
              <p:cNvSpPr txBox="1"/>
              <p:nvPr/>
            </p:nvSpPr>
            <p:spPr>
              <a:xfrm>
                <a:off x="223526" y="2926080"/>
                <a:ext cx="55029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But … </a:t>
                </a:r>
                <a:r>
                  <a:rPr lang="en-US" sz="2400" b="1" dirty="0"/>
                  <a:t>why</a:t>
                </a:r>
                <a:r>
                  <a:rPr lang="en-US" sz="2400" dirty="0"/>
                  <a:t> is more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sequestered by the oceans when there’s more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in the atmosphere?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025441E-AC76-34C0-C7CD-21EA9849C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2926080"/>
                <a:ext cx="5502904" cy="1200329"/>
              </a:xfrm>
              <a:prstGeom prst="rect">
                <a:avLst/>
              </a:prstGeom>
              <a:blipFill>
                <a:blip r:embed="rId6"/>
                <a:stretch>
                  <a:fillRect l="-1613" t="-315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3CA5445-AFBC-6A92-77EF-C23BD1E8CE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632" y="4566112"/>
            <a:ext cx="8545012" cy="21299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513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Combined effect of land AND oceans  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/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=123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𝐺𝑡𝐶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𝑦𝑟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=92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D70DD77-3FFC-0E53-0F9A-6A11AA06AF19}"/>
              </a:ext>
            </a:extLst>
          </p:cNvPr>
          <p:cNvGrpSpPr/>
          <p:nvPr/>
        </p:nvGrpSpPr>
        <p:grpSpPr>
          <a:xfrm>
            <a:off x="2709395" y="825295"/>
            <a:ext cx="1570984" cy="572914"/>
            <a:chOff x="2811780" y="3461057"/>
            <a:chExt cx="1570984" cy="572914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F6044C05-E7E4-6454-2310-0196AD4B455D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043CBAC-C9E0-6DD2-F363-CA940FF693B2}"/>
              </a:ext>
            </a:extLst>
          </p:cNvPr>
          <p:cNvGrpSpPr/>
          <p:nvPr/>
        </p:nvGrpSpPr>
        <p:grpSpPr>
          <a:xfrm>
            <a:off x="2714954" y="1452522"/>
            <a:ext cx="1570984" cy="572914"/>
            <a:chOff x="2811780" y="3461057"/>
            <a:chExt cx="1570984" cy="572914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C8F989B-5966-EDD9-940D-8DC6BA7F7600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582B3E-979C-E866-59A8-E4AA507ADF49}"/>
              </a:ext>
            </a:extLst>
          </p:cNvPr>
          <p:cNvGrpSpPr/>
          <p:nvPr/>
        </p:nvGrpSpPr>
        <p:grpSpPr>
          <a:xfrm>
            <a:off x="4360389" y="972462"/>
            <a:ext cx="1540351" cy="914399"/>
            <a:chOff x="2811780" y="3265913"/>
            <a:chExt cx="1540351" cy="914399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8EEF5EFA-4FBE-884B-7A2B-10A3222791BD}"/>
                </a:ext>
              </a:extLst>
            </p:cNvPr>
            <p:cNvSpPr/>
            <p:nvPr/>
          </p:nvSpPr>
          <p:spPr>
            <a:xfrm>
              <a:off x="2811780" y="3265913"/>
              <a:ext cx="188267" cy="914399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E18058A-11F0-AC89-A021-63D64C0F03D4}"/>
                    </a:ext>
                  </a:extLst>
                </p:cNvPr>
                <p:cNvSpPr txBox="1"/>
                <p:nvPr/>
              </p:nvSpPr>
              <p:spPr>
                <a:xfrm>
                  <a:off x="3028950" y="3403907"/>
                  <a:ext cx="1323181" cy="577722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5 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9 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≈50%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E18058A-11F0-AC89-A021-63D64C0F0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50" y="3403907"/>
                  <a:ext cx="1323181" cy="577722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147CB2-AE03-02B1-6BC7-8FBC6942D494}"/>
                  </a:ext>
                </a:extLst>
              </p:cNvPr>
              <p:cNvSpPr txBox="1"/>
              <p:nvPr/>
            </p:nvSpPr>
            <p:spPr>
              <a:xfrm>
                <a:off x="69221" y="2670995"/>
                <a:ext cx="6191873" cy="178510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In the year 2003, by removing 50% of the anthropogenic input to the atmosphere, these processes (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fertilization, Le </a:t>
                </a:r>
                <a:r>
                  <a:rPr lang="en-US" sz="2200" dirty="0" err="1"/>
                  <a:t>Chatelier’s</a:t>
                </a:r>
                <a:r>
                  <a:rPr lang="en-US" sz="2200" dirty="0"/>
                  <a:t> effect) provide a </a:t>
                </a:r>
                <a:r>
                  <a:rPr lang="en-US" sz="2200" b="1" dirty="0"/>
                  <a:t>significant natural ecosystem service </a:t>
                </a:r>
                <a:r>
                  <a:rPr lang="en-US" sz="2200" dirty="0"/>
                  <a:t>to human activities.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147CB2-AE03-02B1-6BC7-8FBC6942D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1" y="2670995"/>
                <a:ext cx="6191873" cy="1785104"/>
              </a:xfrm>
              <a:prstGeom prst="rect">
                <a:avLst/>
              </a:prstGeom>
              <a:blipFill>
                <a:blip r:embed="rId7"/>
                <a:stretch>
                  <a:fillRect l="-1020" t="-1399" b="-55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374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Combined effect of land AND oceans  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/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=123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𝐺𝑡𝐶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𝑦𝑟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=92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D70DD77-3FFC-0E53-0F9A-6A11AA06AF19}"/>
              </a:ext>
            </a:extLst>
          </p:cNvPr>
          <p:cNvGrpSpPr/>
          <p:nvPr/>
        </p:nvGrpSpPr>
        <p:grpSpPr>
          <a:xfrm>
            <a:off x="2709395" y="825295"/>
            <a:ext cx="1570984" cy="572914"/>
            <a:chOff x="2811780" y="3461057"/>
            <a:chExt cx="1570984" cy="572914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F6044C05-E7E4-6454-2310-0196AD4B455D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043CBAC-C9E0-6DD2-F363-CA940FF693B2}"/>
              </a:ext>
            </a:extLst>
          </p:cNvPr>
          <p:cNvGrpSpPr/>
          <p:nvPr/>
        </p:nvGrpSpPr>
        <p:grpSpPr>
          <a:xfrm>
            <a:off x="2714954" y="1452522"/>
            <a:ext cx="1570984" cy="572914"/>
            <a:chOff x="2811780" y="3461057"/>
            <a:chExt cx="1570984" cy="572914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C8F989B-5966-EDD9-940D-8DC6BA7F7600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582B3E-979C-E866-59A8-E4AA507ADF49}"/>
              </a:ext>
            </a:extLst>
          </p:cNvPr>
          <p:cNvGrpSpPr/>
          <p:nvPr/>
        </p:nvGrpSpPr>
        <p:grpSpPr>
          <a:xfrm>
            <a:off x="4360389" y="972462"/>
            <a:ext cx="1540351" cy="914399"/>
            <a:chOff x="2811780" y="3265913"/>
            <a:chExt cx="1540351" cy="914399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8EEF5EFA-4FBE-884B-7A2B-10A3222791BD}"/>
                </a:ext>
              </a:extLst>
            </p:cNvPr>
            <p:cNvSpPr/>
            <p:nvPr/>
          </p:nvSpPr>
          <p:spPr>
            <a:xfrm>
              <a:off x="2811780" y="3265913"/>
              <a:ext cx="188267" cy="914399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E18058A-11F0-AC89-A021-63D64C0F03D4}"/>
                    </a:ext>
                  </a:extLst>
                </p:cNvPr>
                <p:cNvSpPr txBox="1"/>
                <p:nvPr/>
              </p:nvSpPr>
              <p:spPr>
                <a:xfrm>
                  <a:off x="3028950" y="3403907"/>
                  <a:ext cx="1323181" cy="577722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5 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9 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≈50%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E18058A-11F0-AC89-A021-63D64C0F0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50" y="3403907"/>
                  <a:ext cx="1323181" cy="577722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5EC17-2DF7-9180-84D4-D2782AB2590E}"/>
                  </a:ext>
                </a:extLst>
              </p:cNvPr>
              <p:cNvSpPr txBox="1"/>
              <p:nvPr/>
            </p:nvSpPr>
            <p:spPr>
              <a:xfrm>
                <a:off x="301310" y="4636037"/>
                <a:ext cx="11589379" cy="7694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If those processes didn’t operate, global warming would happen twice as fast (i.e., we’d be 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warming right now instead of the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1.5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we’ve actually experienced).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5EC17-2DF7-9180-84D4-D2782AB25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10" y="4636037"/>
                <a:ext cx="11589379" cy="769441"/>
              </a:xfrm>
              <a:prstGeom prst="rect">
                <a:avLst/>
              </a:prstGeom>
              <a:blipFill>
                <a:blip r:embed="rId7"/>
                <a:stretch>
                  <a:fillRect l="-656" t="-4762" b="-126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B41E4F-904F-08F1-C270-791B3416BDC3}"/>
                  </a:ext>
                </a:extLst>
              </p:cNvPr>
              <p:cNvSpPr txBox="1"/>
              <p:nvPr/>
            </p:nvSpPr>
            <p:spPr>
              <a:xfrm>
                <a:off x="69221" y="2670995"/>
                <a:ext cx="6191873" cy="178510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In the year 2003, by removing 50% of the anthropogenic input to the atmosphere, these processes (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fertilization, Le </a:t>
                </a:r>
                <a:r>
                  <a:rPr lang="en-US" sz="2200" dirty="0" err="1"/>
                  <a:t>Chatelier’s</a:t>
                </a:r>
                <a:r>
                  <a:rPr lang="en-US" sz="2200" dirty="0"/>
                  <a:t> effect) provide a </a:t>
                </a:r>
                <a:r>
                  <a:rPr lang="en-US" sz="2200" b="1" dirty="0"/>
                  <a:t>significant natural ecosystem service </a:t>
                </a:r>
                <a:r>
                  <a:rPr lang="en-US" sz="2200" dirty="0"/>
                  <a:t>to human activities.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B41E4F-904F-08F1-C270-791B3416B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1" y="2670995"/>
                <a:ext cx="6191873" cy="1785104"/>
              </a:xfrm>
              <a:prstGeom prst="rect">
                <a:avLst/>
              </a:prstGeom>
              <a:blipFill>
                <a:blip r:embed="rId8"/>
                <a:stretch>
                  <a:fillRect l="-1020" t="-1399" b="-55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517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Combined effect of land AND oceans  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1" y="550972"/>
            <a:ext cx="5774368" cy="384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/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=123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𝐺𝑡𝐶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200" b="0" i="1" kern="1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𝑦𝑟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=120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𝑎𝑜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=92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=90</m:t>
                    </m:r>
                  </m:oMath>
                </a14:m>
                <a:r>
                  <a:rPr lang="en-US" sz="22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h𝑎</m:t>
                        </m:r>
                      </m:sub>
                    </m:sSub>
                    <m:r>
                      <a:rPr lang="en-US" sz="2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</m:t>
                    </m:r>
                  </m:oMath>
                </a14:m>
                <a:r>
                  <a:rPr lang="en-US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0BBDAB-992B-2F44-69CB-884A05F3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6" y="742358"/>
                <a:ext cx="6234424" cy="1785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D70DD77-3FFC-0E53-0F9A-6A11AA06AF19}"/>
              </a:ext>
            </a:extLst>
          </p:cNvPr>
          <p:cNvGrpSpPr/>
          <p:nvPr/>
        </p:nvGrpSpPr>
        <p:grpSpPr>
          <a:xfrm>
            <a:off x="2709395" y="825295"/>
            <a:ext cx="1570984" cy="572914"/>
            <a:chOff x="2811780" y="3461057"/>
            <a:chExt cx="1570984" cy="572914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F6044C05-E7E4-6454-2310-0196AD4B455D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B65F7A5-542A-DD24-E8AA-17C03932F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043CBAC-C9E0-6DD2-F363-CA940FF693B2}"/>
              </a:ext>
            </a:extLst>
          </p:cNvPr>
          <p:cNvGrpSpPr/>
          <p:nvPr/>
        </p:nvGrpSpPr>
        <p:grpSpPr>
          <a:xfrm>
            <a:off x="2714954" y="1452522"/>
            <a:ext cx="1570984" cy="572914"/>
            <a:chOff x="2811780" y="3461057"/>
            <a:chExt cx="1570984" cy="572914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C8F989B-5966-EDD9-940D-8DC6BA7F7600}"/>
                </a:ext>
              </a:extLst>
            </p:cNvPr>
            <p:cNvSpPr/>
            <p:nvPr/>
          </p:nvSpPr>
          <p:spPr>
            <a:xfrm>
              <a:off x="2811780" y="3520440"/>
              <a:ext cx="194310" cy="461665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/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E8697C-C460-D723-1BDB-121C4FE13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0" y="3461057"/>
                  <a:ext cx="1285234" cy="572914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582B3E-979C-E866-59A8-E4AA507ADF49}"/>
              </a:ext>
            </a:extLst>
          </p:cNvPr>
          <p:cNvGrpSpPr/>
          <p:nvPr/>
        </p:nvGrpSpPr>
        <p:grpSpPr>
          <a:xfrm>
            <a:off x="4360389" y="972462"/>
            <a:ext cx="1540351" cy="914399"/>
            <a:chOff x="2811780" y="3265913"/>
            <a:chExt cx="1540351" cy="914399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8EEF5EFA-4FBE-884B-7A2B-10A3222791BD}"/>
                </a:ext>
              </a:extLst>
            </p:cNvPr>
            <p:cNvSpPr/>
            <p:nvPr/>
          </p:nvSpPr>
          <p:spPr>
            <a:xfrm>
              <a:off x="2811780" y="3265913"/>
              <a:ext cx="188267" cy="914399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E18058A-11F0-AC89-A021-63D64C0F03D4}"/>
                    </a:ext>
                  </a:extLst>
                </p:cNvPr>
                <p:cNvSpPr txBox="1"/>
                <p:nvPr/>
              </p:nvSpPr>
              <p:spPr>
                <a:xfrm>
                  <a:off x="3028950" y="3403907"/>
                  <a:ext cx="1323181" cy="577722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5 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9 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≈50%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E18058A-11F0-AC89-A021-63D64C0F0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50" y="3403907"/>
                  <a:ext cx="1323181" cy="577722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8AE56C5-8BBB-CC9E-5256-62DE73472D7A}"/>
              </a:ext>
            </a:extLst>
          </p:cNvPr>
          <p:cNvSpPr txBox="1"/>
          <p:nvPr/>
        </p:nvSpPr>
        <p:spPr>
          <a:xfrm>
            <a:off x="1066526" y="5640965"/>
            <a:ext cx="9668427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/>
              <a:t>Another way of saying this: the oceans, and a robustly photosynthesizing terrestrial biosphere, act as powerful </a:t>
            </a:r>
            <a:r>
              <a:rPr lang="en-US" sz="2200" b="1" dirty="0"/>
              <a:t>negative (i.e., mitigating) feedbacks </a:t>
            </a:r>
            <a:r>
              <a:rPr lang="en-US" sz="2200" dirty="0"/>
              <a:t>on the anthropogenic carbon budget.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5EC17-2DF7-9180-84D4-D2782AB2590E}"/>
                  </a:ext>
                </a:extLst>
              </p:cNvPr>
              <p:cNvSpPr txBox="1"/>
              <p:nvPr/>
            </p:nvSpPr>
            <p:spPr>
              <a:xfrm>
                <a:off x="301310" y="4636037"/>
                <a:ext cx="11589379" cy="7694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If those processes didn’t operate, global warming would happen twice as fast (i.e., we’d be 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warming right now instead of the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1.5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we’ve actually experienced).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5EC17-2DF7-9180-84D4-D2782AB25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10" y="4636037"/>
                <a:ext cx="11589379" cy="769441"/>
              </a:xfrm>
              <a:prstGeom prst="rect">
                <a:avLst/>
              </a:prstGeom>
              <a:blipFill>
                <a:blip r:embed="rId7"/>
                <a:stretch>
                  <a:fillRect l="-656" t="-4762" b="-126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46FE74-E728-4D84-FA65-A68A23B60D17}"/>
                  </a:ext>
                </a:extLst>
              </p:cNvPr>
              <p:cNvSpPr txBox="1"/>
              <p:nvPr/>
            </p:nvSpPr>
            <p:spPr>
              <a:xfrm>
                <a:off x="69221" y="2670995"/>
                <a:ext cx="6191873" cy="178510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In the year 2003, by removing 50% of the anthropogenic input to the atmosphere, these processes (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fertilization, Le </a:t>
                </a:r>
                <a:r>
                  <a:rPr lang="en-US" sz="2200" dirty="0" err="1"/>
                  <a:t>Chatelier’s</a:t>
                </a:r>
                <a:r>
                  <a:rPr lang="en-US" sz="2200" dirty="0"/>
                  <a:t> effect) provide a </a:t>
                </a:r>
                <a:r>
                  <a:rPr lang="en-US" sz="2200" b="1" dirty="0"/>
                  <a:t>significant natural ecosystem service </a:t>
                </a:r>
                <a:r>
                  <a:rPr lang="en-US" sz="2200" dirty="0"/>
                  <a:t>to human activities.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46FE74-E728-4D84-FA65-A68A23B60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1" y="2670995"/>
                <a:ext cx="6191873" cy="1785104"/>
              </a:xfrm>
              <a:prstGeom prst="rect">
                <a:avLst/>
              </a:prstGeom>
              <a:blipFill>
                <a:blip r:embed="rId8"/>
                <a:stretch>
                  <a:fillRect l="-1020" t="-1399" b="-55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805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there’s that time delay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AEEE9C-25B6-C595-122D-2C8106F37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57018"/>
            <a:ext cx="7772400" cy="47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92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there’s that time delay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AB6EE4-824A-5E43-E6C5-7764C77D3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108" y="751016"/>
            <a:ext cx="8961783" cy="571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60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Negative feedbacks in a feedback diagram (shown with </a:t>
            </a:r>
            <a:r>
              <a:rPr lang="en-US" sz="2400" b="1" dirty="0">
                <a:solidFill>
                  <a:schemeClr val="accent1"/>
                </a:solidFill>
              </a:rPr>
              <a:t>blue dashed lines</a:t>
            </a:r>
            <a:r>
              <a:rPr lang="en-US" sz="2400" b="1" dirty="0"/>
              <a:t>)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AD15E-5B60-F4F6-E5C1-EE3314FF0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6" y="979864"/>
            <a:ext cx="6655542" cy="51580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2" descr="Draft diagram of the carbon cycle.">
            <a:extLst>
              <a:ext uri="{FF2B5EF4-FFF2-40B4-BE49-F238E27FC236}">
                <a16:creationId xmlns:a16="http://schemas.microsoft.com/office/drawing/2014/main" id="{07680167-DE17-13B9-1A80-E77D8942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556" y="979864"/>
            <a:ext cx="4724704" cy="31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562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02A7B80A-96E0-3E71-356B-FCDC2F3D5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175" y="-2898"/>
            <a:ext cx="12184745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dirty="0">
                <a:latin typeface="+mn-lt"/>
              </a:rPr>
              <a:t>OK, let’s get started!</a:t>
            </a:r>
            <a:endParaRPr lang="en-US" altLang="en-US" sz="2400" b="1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3808E-32B3-C923-9CAA-8ABEE07FA2DB}"/>
              </a:ext>
            </a:extLst>
          </p:cNvPr>
          <p:cNvSpPr txBox="1"/>
          <p:nvPr/>
        </p:nvSpPr>
        <p:spPr>
          <a:xfrm>
            <a:off x="236781" y="637395"/>
            <a:ext cx="1155765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There’s also a short </a:t>
            </a:r>
            <a:r>
              <a:rPr lang="en-US" sz="2400" b="1" dirty="0"/>
              <a:t>CGI</a:t>
            </a:r>
            <a:r>
              <a:rPr lang="en-US" sz="2400" dirty="0"/>
              <a:t>, Week_03a.ConcentrationAndFlux, to help you get used to units.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FE4F5F-F51D-7547-1DEF-CAE28C5DB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56" y="1394947"/>
            <a:ext cx="7772400" cy="37765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4A8A92-0A5E-FAE2-E96F-F579B9A8B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118" y="5463053"/>
            <a:ext cx="7747000" cy="1155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4187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1176</Words>
  <Application>Microsoft Macintosh PowerPoint</Application>
  <PresentationFormat>Widescreen</PresentationFormat>
  <Paragraphs>142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75</cp:revision>
  <dcterms:created xsi:type="dcterms:W3CDTF">2023-09-11T02:27:07Z</dcterms:created>
  <dcterms:modified xsi:type="dcterms:W3CDTF">2026-02-06T16:33:07Z</dcterms:modified>
</cp:coreProperties>
</file>