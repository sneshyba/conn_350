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1991" r:id="rId2"/>
    <p:sldId id="2012" r:id="rId3"/>
    <p:sldId id="2013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58"/>
  </p:normalViewPr>
  <p:slideViewPr>
    <p:cSldViewPr snapToGrid="0">
      <p:cViewPr varScale="1">
        <p:scale>
          <a:sx n="112" d="100"/>
          <a:sy n="112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74773-AB2D-FF4D-AA62-4C13D5A2023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12BE1-E76A-B342-9142-77912CD9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39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4DD9-13C6-E03A-CAFD-8DEFC8CE8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308E4-FC70-8A51-3143-697029056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ED0F6-07A4-2A01-C0CD-AB70A02D1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46090-79A8-8243-796D-0A9C1FA4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6BCED-CCBF-4A52-42D6-1B60F041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0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E79E-8744-D5BF-7FEB-DFD0B75FC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AC825-FA81-9FCA-3200-62A60E233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E87FD-A316-4A1A-1F38-B7CEF110C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F6028-8D7A-607C-8CD5-B70B47D3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0E0BB-E3D7-BB2E-D46A-181D1F93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86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A065-8C60-F8E3-B3F8-747C41EC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2C4A0-179D-7930-583D-8597CEF55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51135-44E5-AF34-933D-068CB920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26839-F206-A336-E010-8FB0E3395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6A4C4-3DE0-DA9E-07DF-BB47A6F7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3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781B-C67D-2FED-4007-773585DC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43F02-4B2C-8001-FAC7-908D7335E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862A4-EFA8-71FA-FA64-56F8DE37B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05A33-BA8E-2838-5F64-62EB7F5F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F7255-790D-6562-1902-7AB370034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351A9-1EE9-E412-BBBC-B480A46D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4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067E-EED1-6F31-9C45-72C169BF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D313-6087-CE36-824F-DAAF56F23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660ED-A801-1654-FC81-1DFA0321F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53228-9FDD-D1C9-8AA2-9EB380690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CDC25-A152-AD5B-A684-12CE2136D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269776-485C-ADBD-D854-B4DBACB5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B0EB8-383C-A885-AEAC-477F38A6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E252B-BEB5-81AE-BC7B-0DCC6C2D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15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9199-93AB-45A0-3989-F16405C3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06A57-D3FC-4395-46BA-0C73FCFB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B72FB-EE88-CA67-2E59-6CFE1449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055D-F828-9BDD-3573-DFDEFB09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62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B2514-6B95-E06D-5C7F-AADA1E6F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D8A98-DA29-1BA5-C1FD-187B4E01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ED1AC-9448-9997-1BAA-AEDCB7EA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2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2215-3E88-2751-6824-905E0383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1FAD0-A660-7156-968A-A32CA926D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28000-675A-FD01-F8AB-49B1D31E6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43DD4-BD57-0D82-596A-7645406B3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91614-E40D-5860-FBC1-434A8F04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223C5-0BB7-E51D-51DC-3B2D54C5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1D93-B246-328D-DE54-53B20F626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9FF14-E039-7EA8-21E8-562B138DF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D2BF3-C512-9D9E-440E-267C4A619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958A6-0EA5-1226-8412-DD912534C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E5580-9DE1-18E6-4FE7-79723E8BA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005DB-2EB5-7AA4-C79D-284C8E84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A3B77-A657-6546-5A79-E7B00C59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52B25-2221-5EFE-DD95-3BE4566DD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3FD5B-332C-B28B-E49E-D1FC18DA6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419DB-9B83-865A-CE09-2D93E067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B4298-AB23-6E2B-E8E3-999B2F7A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1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C40B8-EB2D-AF8F-8603-2FD5D9719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BDFE7-7D7C-7313-7564-B513EB6F5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85203-5C97-E4A7-1F4C-1B8676A8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DBA2D-AA2F-D91E-FE86-8C353564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21100-370C-8586-EE5D-6395DD8A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2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44A09-A727-A207-595A-DE1EC93E6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6A88B-8718-228C-941D-71C47F0A3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51F8F-DD13-4745-4CD1-9776C75BA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3EA19-5188-5047-B099-038B889E10E9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1641E-2950-86A0-933E-94EA3F5E0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BAB7C-F09E-B565-444F-5E5193866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limate.gov/news-features/featured-images/global-impacts-el-ni%C3%B1o-and-la-ni%C3%B1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el.noaa.gov/elnino/impacts-of-el-nin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B4F300-CE60-A74D-A60A-3371E304E42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Last time: Paradigms for anticipating regional climate change impacts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120AA-1323-9EE1-6A3D-BA1E74650066}"/>
              </a:ext>
            </a:extLst>
          </p:cNvPr>
          <p:cNvSpPr txBox="1"/>
          <p:nvPr/>
        </p:nvSpPr>
        <p:spPr>
          <a:xfrm>
            <a:off x="1000125" y="1357313"/>
            <a:ext cx="1011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The WWDD hypothesis/paradigm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The Francis/</a:t>
            </a:r>
            <a:r>
              <a:rPr lang="en-US" sz="2400" dirty="0" err="1"/>
              <a:t>Vavrus</a:t>
            </a:r>
            <a:r>
              <a:rPr lang="en-US" sz="2400" dirty="0"/>
              <a:t> jet stream hypothesis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ENSO (empirical observations)</a:t>
            </a:r>
          </a:p>
        </p:txBody>
      </p:sp>
    </p:spTree>
    <p:extLst>
      <p:ext uri="{BB962C8B-B14F-4D97-AF65-F5344CB8AC3E}">
        <p14:creationId xmlns:p14="http://schemas.microsoft.com/office/powerpoint/2010/main" val="125813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B4F300-CE60-A74D-A60A-3371E304E42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3. ENSO (introduced in Week 2)</a:t>
            </a:r>
          </a:p>
        </p:txBody>
      </p:sp>
      <p:grpSp>
        <p:nvGrpSpPr>
          <p:cNvPr id="2" name="Google Shape;93;p1">
            <a:extLst>
              <a:ext uri="{FF2B5EF4-FFF2-40B4-BE49-F238E27FC236}">
                <a16:creationId xmlns:a16="http://schemas.microsoft.com/office/drawing/2014/main" id="{78A144D6-497D-ECE9-778F-8C18BDAD3D78}"/>
              </a:ext>
            </a:extLst>
          </p:cNvPr>
          <p:cNvGrpSpPr/>
          <p:nvPr/>
        </p:nvGrpSpPr>
        <p:grpSpPr>
          <a:xfrm>
            <a:off x="61899" y="565839"/>
            <a:ext cx="12510136" cy="5541655"/>
            <a:chOff x="61899" y="565839"/>
            <a:chExt cx="12510136" cy="5541655"/>
          </a:xfrm>
        </p:grpSpPr>
        <p:pic>
          <p:nvPicPr>
            <p:cNvPr id="3" name="Google Shape;94;p1" descr="El nino GIF - Find on GIFER">
              <a:extLst>
                <a:ext uri="{FF2B5EF4-FFF2-40B4-BE49-F238E27FC236}">
                  <a16:creationId xmlns:a16="http://schemas.microsoft.com/office/drawing/2014/main" id="{238408B2-FC10-E9DC-34C3-B0A557EDB76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1899" y="565839"/>
              <a:ext cx="11965116" cy="55416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Google Shape;95;p1">
              <a:extLst>
                <a:ext uri="{FF2B5EF4-FFF2-40B4-BE49-F238E27FC236}">
                  <a16:creationId xmlns:a16="http://schemas.microsoft.com/office/drawing/2014/main" id="{F8F87CD5-0C1D-7401-7F25-2239B0101750}"/>
                </a:ext>
              </a:extLst>
            </p:cNvPr>
            <p:cNvGrpSpPr/>
            <p:nvPr/>
          </p:nvGrpSpPr>
          <p:grpSpPr>
            <a:xfrm>
              <a:off x="10266744" y="3657598"/>
              <a:ext cx="2305291" cy="1616753"/>
              <a:chOff x="10266744" y="3657598"/>
              <a:chExt cx="2305291" cy="1616753"/>
            </a:xfrm>
          </p:grpSpPr>
          <p:sp>
            <p:nvSpPr>
              <p:cNvPr id="6" name="Google Shape;96;p1">
                <a:extLst>
                  <a:ext uri="{FF2B5EF4-FFF2-40B4-BE49-F238E27FC236}">
                    <a16:creationId xmlns:a16="http://schemas.microsoft.com/office/drawing/2014/main" id="{CC05AEF4-22D7-B57C-6698-6C038573D5AC}"/>
                  </a:ext>
                </a:extLst>
              </p:cNvPr>
              <p:cNvSpPr txBox="1"/>
              <p:nvPr/>
            </p:nvSpPr>
            <p:spPr>
              <a:xfrm>
                <a:off x="10569615" y="4443354"/>
                <a:ext cx="200242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Upwelling water</a:t>
                </a:r>
                <a:endParaRPr/>
              </a:p>
            </p:txBody>
          </p:sp>
          <p:cxnSp>
            <p:nvCxnSpPr>
              <p:cNvPr id="7" name="Google Shape;97;p1">
                <a:extLst>
                  <a:ext uri="{FF2B5EF4-FFF2-40B4-BE49-F238E27FC236}">
                    <a16:creationId xmlns:a16="http://schemas.microsoft.com/office/drawing/2014/main" id="{2A182F91-3499-1007-B058-B6DDE5F9B0BF}"/>
                  </a:ext>
                </a:extLst>
              </p:cNvPr>
              <p:cNvCxnSpPr/>
              <p:nvPr/>
            </p:nvCxnSpPr>
            <p:spPr>
              <a:xfrm rot="10800000">
                <a:off x="10266744" y="3657598"/>
                <a:ext cx="509286" cy="785756"/>
              </a:xfrm>
              <a:prstGeom prst="straightConnector1">
                <a:avLst/>
              </a:prstGeom>
              <a:noFill/>
              <a:ln w="127000" cap="flat" cmpd="sng">
                <a:solidFill>
                  <a:srgbClr val="0070C0">
                    <a:alpha val="50980"/>
                  </a:srgbClr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</p:grpSp>
      <p:sp>
        <p:nvSpPr>
          <p:cNvPr id="10" name="Google Shape;92;p1">
            <a:extLst>
              <a:ext uri="{FF2B5EF4-FFF2-40B4-BE49-F238E27FC236}">
                <a16:creationId xmlns:a16="http://schemas.microsoft.com/office/drawing/2014/main" id="{2713A338-D1B0-031F-92F0-9B85BFA75C85}"/>
              </a:ext>
            </a:extLst>
          </p:cNvPr>
          <p:cNvSpPr txBox="1"/>
          <p:nvPr/>
        </p:nvSpPr>
        <p:spPr>
          <a:xfrm>
            <a:off x="61899" y="6062253"/>
            <a:ext cx="1213010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El Niño / La Niña shifts are referred to as ENSO (for El Niño / Southern Oscillation). Lots of work has shown that there are teleconnections (impacts in other places) of ENSO.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714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t="6743" b="3419"/>
          <a:stretch/>
        </p:blipFill>
        <p:spPr>
          <a:xfrm>
            <a:off x="2824180" y="421100"/>
            <a:ext cx="6543640" cy="600375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4" name="Google Shape;124;p4"/>
          <p:cNvSpPr txBox="1"/>
          <p:nvPr/>
        </p:nvSpPr>
        <p:spPr>
          <a:xfrm>
            <a:off x="-1" y="0"/>
            <a:ext cx="2488107" cy="8309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Teleconnections of La Niña</a:t>
            </a:r>
            <a:endParaRPr dirty="0"/>
          </a:p>
        </p:txBody>
      </p:sp>
      <p:sp>
        <p:nvSpPr>
          <p:cNvPr id="125" name="Google Shape;125;p4"/>
          <p:cNvSpPr txBox="1"/>
          <p:nvPr/>
        </p:nvSpPr>
        <p:spPr>
          <a:xfrm>
            <a:off x="127728" y="1563193"/>
            <a:ext cx="2488108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https://www.climate.gov/news-features/featured-images/global-impacts-el-ni%C3%B1o-and-la-ni%C3%B1a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9" descr="El Nino Climate Impacts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t="3977"/>
          <a:stretch/>
        </p:blipFill>
        <p:spPr>
          <a:xfrm>
            <a:off x="2824180" y="103040"/>
            <a:ext cx="6898554" cy="654987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Google Shape;124;p4">
            <a:extLst>
              <a:ext uri="{FF2B5EF4-FFF2-40B4-BE49-F238E27FC236}">
                <a16:creationId xmlns:a16="http://schemas.microsoft.com/office/drawing/2014/main" id="{4E556F85-A12C-56A3-37AA-B05E23424509}"/>
              </a:ext>
            </a:extLst>
          </p:cNvPr>
          <p:cNvSpPr txBox="1"/>
          <p:nvPr/>
        </p:nvSpPr>
        <p:spPr>
          <a:xfrm>
            <a:off x="-1" y="0"/>
            <a:ext cx="2488107" cy="8309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Teleconnections of El Niño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104</Words>
  <Application>Microsoft Macintosh PowerPoint</Application>
  <PresentationFormat>Widescreen</PresentationFormat>
  <Paragraphs>10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49</cp:revision>
  <dcterms:created xsi:type="dcterms:W3CDTF">2024-11-09T18:22:06Z</dcterms:created>
  <dcterms:modified xsi:type="dcterms:W3CDTF">2026-03-30T19:47:17Z</dcterms:modified>
</cp:coreProperties>
</file>