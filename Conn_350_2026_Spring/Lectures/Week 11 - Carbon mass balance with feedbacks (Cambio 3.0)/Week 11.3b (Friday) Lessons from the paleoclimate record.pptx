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015" r:id="rId2"/>
    <p:sldId id="1879" r:id="rId3"/>
    <p:sldId id="2018" r:id="rId4"/>
    <p:sldId id="2019" r:id="rId5"/>
    <p:sldId id="2014" r:id="rId6"/>
    <p:sldId id="328" r:id="rId7"/>
    <p:sldId id="2020" r:id="rId8"/>
    <p:sldId id="454" r:id="rId9"/>
    <p:sldId id="4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94"/>
  </p:normalViewPr>
  <p:slideViewPr>
    <p:cSldViewPr snapToGrid="0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D95A-E49F-7E20-A83D-A953BAB6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0B077-F9AC-D14A-E9CE-7004F4315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9EF2D-8767-B2A2-FBED-F244C4D5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66DE-B1FF-CC45-5855-D4B718CF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A7EFC-D83A-213C-AD93-20088D62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00DE3-9BCD-327B-07EB-ACFA812A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E49F-AFDF-17E8-7AB2-132568F09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705DD-8EB0-5529-1767-0F5189B1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53B3-3451-C680-2467-A190F60F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9DAE-FFEB-DAE7-4146-761C579B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8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4062-CB5D-1E83-EA74-6634AF59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F5BB-F28A-38B7-5417-52D571B1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8216A-71AA-23F4-1F2E-AADC32B9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A5EF6-7907-C534-7794-0A2AEC00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0ED8A-7E91-5236-FCC1-F30115BF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5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D8AC-772F-3413-EFDC-BE13D8CB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8A7A6-9D41-DFB9-0534-80A74FEBC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60EF3-8D39-F866-996B-5A114F619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3088C-2C13-D64C-8B6E-71F24F0A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52C9A-8BF9-9E4A-79DC-4481F064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DFDDD-72ED-1ECD-7ABD-D82FDFD4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8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17E4-C35B-9D05-E2AF-A2C78C81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F3417-D284-4616-BF19-156E80D61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32FA9-6D86-9C04-502F-E704BE69D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D0E25-6DDA-EA05-A837-A3CC907DC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39164-4CFA-EADE-4F88-DB6963EA8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44F9C-25B1-CD28-60AC-25CBB54B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9B00F-6E29-8ADB-3AB7-859FF85F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999076-AC17-D01B-39FE-4D30A7C4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6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5F34-39DC-1669-3ADB-B129CF9D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6F2FE-6AE5-A3C8-0CFD-367A364C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C9E5E-5906-9826-70DB-BF2F07C6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DA341-BC37-562A-8010-20B587C9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1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D879E-DD6D-B6F7-49B0-CA8DA9C0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84BF2-0D45-627E-B59A-C284324D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C04A-68CB-6143-8C7D-FC6A46A9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A69E-82F7-2F29-956F-F60A992E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EF7A-67D6-CD44-FF9D-C548F4DDE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B3744-144A-816C-0114-2FFDF905D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7D1D6-9069-070D-DDE2-F4E63738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78610-43C7-DCD4-A6CA-A32026F2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B35CC-5037-148A-5AF9-366A91E1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0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9822-0441-BFD5-5ED0-F030BD63F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A5EFB-C275-D413-E3B6-DAF4CB370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2829E-A46B-5393-0F29-402F18EA1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84986-06F1-706A-590E-DB9303AF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2D117-70F3-DF2C-E5B5-C9FD4F6C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0EA4D-FD47-FA08-63A3-700A09A1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0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9FA6-B040-AA7F-9915-FF95AAAD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BF7A5-C294-4A50-BEF8-046EDDC1A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45392-A8C9-4257-5ECA-32F62DB4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716C1-2015-6CC7-564C-74AF6FE1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501D-4A20-6E6A-6830-D964E2C2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F6C79-20E6-D448-31AD-88870F325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54702-D549-ED19-70C8-E901245C5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000BA-D9B7-1452-6148-0D249CB9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6CEE7-0BF4-358A-12C3-397B5515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3B67-B47C-B0BF-9F19-887009A5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C4A44-F381-3E95-5B11-E3F6FE64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0322A-D647-0F83-217A-1455301BE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AC16-334D-CE15-CB11-C3452BE95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A7AB6-81BE-C24B-BE45-02DF90242BF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4BCF1-0BD3-499B-D2CC-02D7723D8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F3201-3E3C-5E27-2FB4-5314938F3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168BD-804F-7740-85E4-B8A3E6B3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93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kDzSZfWFAQ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learn from the paleoclimate record?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4A6A9-58A5-0143-D846-16A49C0207F4}"/>
              </a:ext>
            </a:extLst>
          </p:cNvPr>
          <p:cNvSpPr txBox="1"/>
          <p:nvPr/>
        </p:nvSpPr>
        <p:spPr>
          <a:xfrm>
            <a:off x="1000125" y="1357313"/>
            <a:ext cx="1011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Lessons from the Pleistocene (3 million years back)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Lessons from the Eocene (55 million years back)</a:t>
            </a:r>
          </a:p>
        </p:txBody>
      </p:sp>
    </p:spTree>
    <p:extLst>
      <p:ext uri="{BB962C8B-B14F-4D97-AF65-F5344CB8AC3E}">
        <p14:creationId xmlns:p14="http://schemas.microsoft.com/office/powerpoint/2010/main" val="139754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Remember the big lesson from the </a:t>
            </a:r>
            <a:r>
              <a:rPr lang="en-US" sz="2400" b="1" dirty="0">
                <a:latin typeface="+mn-lt"/>
              </a:rPr>
              <a:t>Pleistocene we talked about in Week 4?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18173" y="881049"/>
            <a:ext cx="8736395" cy="5016831"/>
            <a:chOff x="520655" y="584200"/>
            <a:chExt cx="10925303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520655" y="584200"/>
              <a:ext cx="10925303" cy="6273800"/>
              <a:chOff x="520655" y="584200"/>
              <a:chExt cx="10925303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1047033" y="3396266"/>
                <a:ext cx="3653972" cy="518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799295" y="1863977"/>
              <a:ext cx="6324026" cy="1454522"/>
              <a:chOff x="507195" y="1736977"/>
              <a:chExt cx="6324026" cy="1454522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507195" y="1736977"/>
                    <a:ext cx="6324026" cy="5901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During the Pleistocene, slope was a whopping </a:t>
                    </a:r>
                    <a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290 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𝑝𝑝𝑚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dirty="0"/>
                      <a:t>  </a:t>
                    </a: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195" y="1736977"/>
                    <a:ext cx="6324026" cy="59019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5128" b="-743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133360" y="4185368"/>
              <a:ext cx="5979922" cy="1214040"/>
              <a:chOff x="1364760" y="1325381"/>
              <a:chExt cx="5979922" cy="1214040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667824" y="-122082"/>
                <a:ext cx="266702" cy="3161627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364760" y="1638072"/>
                    <a:ext cx="5979922" cy="9013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Over the last 150 years, slope has been a mere</a:t>
                    </a:r>
                    <a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290 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𝑝𝑝𝑚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760" y="1638072"/>
                    <a:ext cx="5979922" cy="90134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3448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4650EA6-B870-E99B-1C1A-074762BB0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91207"/>
            <a:ext cx="4532803" cy="30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Remember the big lesson from the </a:t>
            </a:r>
            <a:r>
              <a:rPr lang="en-US" sz="2400" b="1" dirty="0">
                <a:latin typeface="+mn-lt"/>
              </a:rPr>
              <a:t>Pleistocene we talked about in Week 4?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34C06-12DC-1C1F-C4CD-C3F7EFE4BC52}"/>
              </a:ext>
            </a:extLst>
          </p:cNvPr>
          <p:cNvGrpSpPr>
            <a:grpSpLocks noChangeAspect="1"/>
          </p:cNvGrpSpPr>
          <p:nvPr/>
        </p:nvGrpSpPr>
        <p:grpSpPr>
          <a:xfrm>
            <a:off x="218173" y="881049"/>
            <a:ext cx="8736395" cy="5016831"/>
            <a:chOff x="520655" y="584200"/>
            <a:chExt cx="10925303" cy="62738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93D28A-C48F-1B46-B9AC-91814114A164}"/>
                </a:ext>
              </a:extLst>
            </p:cNvPr>
            <p:cNvSpPr txBox="1"/>
            <p:nvPr/>
          </p:nvSpPr>
          <p:spPr>
            <a:xfrm>
              <a:off x="6779660" y="5997039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112246C-F1E4-9B4D-9BA6-904EDBEA354B}"/>
                </a:ext>
              </a:extLst>
            </p:cNvPr>
            <p:cNvGrpSpPr/>
            <p:nvPr/>
          </p:nvGrpSpPr>
          <p:grpSpPr>
            <a:xfrm>
              <a:off x="520655" y="584200"/>
              <a:ext cx="10925303" cy="6273800"/>
              <a:chOff x="520655" y="584200"/>
              <a:chExt cx="10925303" cy="6273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36E9971-22CA-0545-9B08-B95E1ADA6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519"/>
              <a:stretch/>
            </p:blipFill>
            <p:spPr>
              <a:xfrm>
                <a:off x="746042" y="584200"/>
                <a:ext cx="10699916" cy="62738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1A32B-6EF8-F248-AF60-46981D0CFB52}"/>
                  </a:ext>
                </a:extLst>
              </p:cNvPr>
              <p:cNvSpPr txBox="1"/>
              <p:nvPr/>
            </p:nvSpPr>
            <p:spPr>
              <a:xfrm rot="16200000">
                <a:off x="-1047033" y="3396266"/>
                <a:ext cx="3653972" cy="518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</a:rPr>
                  <a:t>T (relative to 1960)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4400071-091C-094C-8A43-2155362BB97D}"/>
                </a:ext>
              </a:extLst>
            </p:cNvPr>
            <p:cNvGrpSpPr/>
            <p:nvPr/>
          </p:nvGrpSpPr>
          <p:grpSpPr>
            <a:xfrm>
              <a:off x="799295" y="1863977"/>
              <a:ext cx="6324026" cy="1454522"/>
              <a:chOff x="507195" y="1736977"/>
              <a:chExt cx="6324026" cy="1454522"/>
            </a:xfrm>
          </p:grpSpPr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A4CCB3AD-CD51-DC42-B1EF-3AA0552CB60C}"/>
                  </a:ext>
                </a:extLst>
              </p:cNvPr>
              <p:cNvSpPr/>
              <p:nvPr/>
            </p:nvSpPr>
            <p:spPr>
              <a:xfrm rot="5400000">
                <a:off x="3357350" y="1673849"/>
                <a:ext cx="266700" cy="2768600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/>
                  <p:nvPr/>
                </p:nvSpPr>
                <p:spPr>
                  <a:xfrm>
                    <a:off x="507195" y="1736977"/>
                    <a:ext cx="6324026" cy="5901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During the Pleistocene, slope was a whopping </a:t>
                    </a:r>
                    <a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290 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𝑝𝑝𝑚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dirty="0"/>
                      <a:t>  </a:t>
                    </a: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4B92C70-4748-B749-8050-98466FF35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195" y="1736977"/>
                    <a:ext cx="6324026" cy="59019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5128" b="-743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2BEC49-E646-8A46-A544-1E7C55E5C86B}"/>
                </a:ext>
              </a:extLst>
            </p:cNvPr>
            <p:cNvGrpSpPr/>
            <p:nvPr/>
          </p:nvGrpSpPr>
          <p:grpSpPr>
            <a:xfrm>
              <a:off x="4133360" y="4185368"/>
              <a:ext cx="5979922" cy="1214040"/>
              <a:chOff x="1364760" y="1325381"/>
              <a:chExt cx="5979922" cy="1214040"/>
            </a:xfrm>
          </p:grpSpPr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ADDACCEE-6974-7E4D-98B1-861D6D92F388}"/>
                  </a:ext>
                </a:extLst>
              </p:cNvPr>
              <p:cNvSpPr/>
              <p:nvPr/>
            </p:nvSpPr>
            <p:spPr>
              <a:xfrm rot="5400000" flipH="1">
                <a:off x="3667824" y="-122082"/>
                <a:ext cx="266702" cy="3161627"/>
              </a:xfrm>
              <a:prstGeom prst="leftBrac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364760" y="1638072"/>
                    <a:ext cx="5979922" cy="9013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Over the last 150 years, slope has been a mere</a:t>
                    </a:r>
                    <a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℃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290 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𝑝𝑝𝑚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dirty="0"/>
                      <a:t> </a:t>
                    </a:r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8929FCF-126D-9042-BDAA-EBF78B887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760" y="1638072"/>
                    <a:ext cx="5979922" cy="90134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3448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560F60-B4D1-2245-8A35-82DB2A86A279}"/>
                </a:ext>
              </a:extLst>
            </p:cNvPr>
            <p:cNvSpPr txBox="1"/>
            <p:nvPr/>
          </p:nvSpPr>
          <p:spPr>
            <a:xfrm>
              <a:off x="7549701" y="6348448"/>
              <a:ext cx="3896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Courtesy Penny Rowe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4650EA6-B870-E99B-1C1A-074762BB0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91207"/>
            <a:ext cx="4532803" cy="3055444"/>
          </a:xfrm>
          <a:prstGeom prst="rect">
            <a:avLst/>
          </a:prstGeom>
        </p:spPr>
      </p:pic>
      <p:sp>
        <p:nvSpPr>
          <p:cNvPr id="11" name="Down Arrow 10">
            <a:extLst>
              <a:ext uri="{FF2B5EF4-FFF2-40B4-BE49-F238E27FC236}">
                <a16:creationId xmlns:a16="http://schemas.microsoft.com/office/drawing/2014/main" id="{CA28AEE4-31A9-0E26-AA0A-2FDB2600333D}"/>
              </a:ext>
            </a:extLst>
          </p:cNvPr>
          <p:cNvSpPr/>
          <p:nvPr/>
        </p:nvSpPr>
        <p:spPr>
          <a:xfrm rot="17666926">
            <a:off x="8355461" y="4323992"/>
            <a:ext cx="324918" cy="8382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01198-E726-6E53-8114-5DE619CA82AB}"/>
              </a:ext>
            </a:extLst>
          </p:cNvPr>
          <p:cNvSpPr txBox="1"/>
          <p:nvPr/>
        </p:nvSpPr>
        <p:spPr>
          <a:xfrm>
            <a:off x="9015685" y="4572252"/>
            <a:ext cx="2958142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We should be worried about whether our models have enough feedbacks </a:t>
            </a:r>
          </a:p>
        </p:txBody>
      </p:sp>
    </p:spTree>
    <p:extLst>
      <p:ext uri="{BB962C8B-B14F-4D97-AF65-F5344CB8AC3E}">
        <p14:creationId xmlns:p14="http://schemas.microsoft.com/office/powerpoint/2010/main" val="190867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can learn from the paleoclimate record?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4A6A9-58A5-0143-D846-16A49C0207F4}"/>
              </a:ext>
            </a:extLst>
          </p:cNvPr>
          <p:cNvSpPr txBox="1"/>
          <p:nvPr/>
        </p:nvSpPr>
        <p:spPr>
          <a:xfrm>
            <a:off x="1000125" y="1357313"/>
            <a:ext cx="10115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Lessons from the Pleistocene (3 million years back)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Lessons from the Eocene (55 million years back)</a:t>
            </a:r>
          </a:p>
        </p:txBody>
      </p:sp>
    </p:spTree>
    <p:extLst>
      <p:ext uri="{BB962C8B-B14F-4D97-AF65-F5344CB8AC3E}">
        <p14:creationId xmlns:p14="http://schemas.microsoft.com/office/powerpoint/2010/main" val="271304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55 million years ago, we were in a “Hothouse Earth” climate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4F28CA-FA0A-3D6F-3B0D-108D5EFCD515}"/>
              </a:ext>
            </a:extLst>
          </p:cNvPr>
          <p:cNvGrpSpPr/>
          <p:nvPr/>
        </p:nvGrpSpPr>
        <p:grpSpPr>
          <a:xfrm rot="10800000">
            <a:off x="1461141" y="891354"/>
            <a:ext cx="2594656" cy="611323"/>
            <a:chOff x="3087987" y="926209"/>
            <a:chExt cx="2594656" cy="611323"/>
          </a:xfrm>
        </p:grpSpPr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43FCE138-EFEF-BDDF-420B-FBBFC52E0211}"/>
                </a:ext>
              </a:extLst>
            </p:cNvPr>
            <p:cNvSpPr/>
            <p:nvPr/>
          </p:nvSpPr>
          <p:spPr>
            <a:xfrm rot="10800000">
              <a:off x="3087987" y="926209"/>
              <a:ext cx="2594656" cy="611323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2E0734-59CD-1CA9-8AED-99F5FDFE923A}"/>
                </a:ext>
              </a:extLst>
            </p:cNvPr>
            <p:cNvSpPr txBox="1"/>
            <p:nvPr/>
          </p:nvSpPr>
          <p:spPr>
            <a:xfrm rot="10800000">
              <a:off x="3773144" y="1053079"/>
              <a:ext cx="821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39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40E7A-89F9-1747-B829-EA71C5FFAB14}"/>
              </a:ext>
            </a:extLst>
          </p:cNvPr>
          <p:cNvSpPr txBox="1"/>
          <p:nvPr/>
        </p:nvSpPr>
        <p:spPr>
          <a:xfrm>
            <a:off x="5181755" y="5668233"/>
            <a:ext cx="3717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Collision video</a:t>
            </a:r>
            <a:r>
              <a:rPr lang="en-US" sz="24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Then, collision of India with Asia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61FDD03-45A6-204D-B320-F7C42625F775}"/>
              </a:ext>
            </a:extLst>
          </p:cNvPr>
          <p:cNvSpPr/>
          <p:nvPr/>
        </p:nvSpPr>
        <p:spPr>
          <a:xfrm rot="5400000">
            <a:off x="6033769" y="2836015"/>
            <a:ext cx="347241" cy="4891232"/>
          </a:xfrm>
          <a:prstGeom prst="rightBrac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BF1F75B-7703-9802-9A2C-BCF6947765DD}"/>
              </a:ext>
            </a:extLst>
          </p:cNvPr>
          <p:cNvGrpSpPr/>
          <p:nvPr/>
        </p:nvGrpSpPr>
        <p:grpSpPr>
          <a:xfrm rot="10800000">
            <a:off x="1461141" y="891354"/>
            <a:ext cx="2594656" cy="611323"/>
            <a:chOff x="3087987" y="926209"/>
            <a:chExt cx="2594656" cy="611323"/>
          </a:xfrm>
        </p:grpSpPr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EAE3A458-30B5-32AE-CEB1-F8360455B488}"/>
                </a:ext>
              </a:extLst>
            </p:cNvPr>
            <p:cNvSpPr/>
            <p:nvPr/>
          </p:nvSpPr>
          <p:spPr>
            <a:xfrm rot="10800000">
              <a:off x="3087987" y="926209"/>
              <a:ext cx="2594656" cy="611323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21D0E5-47D5-4967-81CB-0DCDD7BD9E86}"/>
                </a:ext>
              </a:extLst>
            </p:cNvPr>
            <p:cNvSpPr txBox="1"/>
            <p:nvPr/>
          </p:nvSpPr>
          <p:spPr>
            <a:xfrm rot="10800000">
              <a:off x="3773144" y="1053079"/>
              <a:ext cx="821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44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15072-2519-5E4C-B012-1812C8FC9907}"/>
              </a:ext>
            </a:extLst>
          </p:cNvPr>
          <p:cNvCxnSpPr>
            <a:cxnSpLocks/>
            <a:endCxn id="15366" idx="2"/>
          </p:cNvCxnSpPr>
          <p:nvPr/>
        </p:nvCxnSpPr>
        <p:spPr>
          <a:xfrm flipV="1">
            <a:off x="2361235" y="3629151"/>
            <a:ext cx="1563993" cy="135953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1AB4E8-C68B-FB4B-96A0-A41203F95BC6}"/>
              </a:ext>
            </a:extLst>
          </p:cNvPr>
          <p:cNvSpPr txBox="1"/>
          <p:nvPr/>
        </p:nvSpPr>
        <p:spPr>
          <a:xfrm>
            <a:off x="309939" y="5077929"/>
            <a:ext cx="234554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Permanent ice formed in the East Antarctic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0EF6FA-246A-9A43-97D7-31C09E3A693E}"/>
              </a:ext>
            </a:extLst>
          </p:cNvPr>
          <p:cNvGrpSpPr/>
          <p:nvPr/>
        </p:nvGrpSpPr>
        <p:grpSpPr>
          <a:xfrm>
            <a:off x="5707031" y="744639"/>
            <a:ext cx="4984028" cy="2592834"/>
            <a:chOff x="6304345" y="1266472"/>
            <a:chExt cx="4984028" cy="25928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EE1942-A88F-8B44-9817-A3E4673E4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1276" y="1821061"/>
              <a:ext cx="598258" cy="2038245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B8624A-35D0-3B43-A58E-2A4E992F0015}"/>
                </a:ext>
              </a:extLst>
            </p:cNvPr>
            <p:cNvSpPr/>
            <p:nvPr/>
          </p:nvSpPr>
          <p:spPr>
            <a:xfrm>
              <a:off x="6304345" y="1266472"/>
              <a:ext cx="4984028" cy="4616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Permanent ice formed in Greenland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C012E-3E8E-439C-AC05-C4B1F81D0DDC}"/>
              </a:ext>
            </a:extLst>
          </p:cNvPr>
          <p:cNvGrpSpPr/>
          <p:nvPr/>
        </p:nvGrpSpPr>
        <p:grpSpPr>
          <a:xfrm>
            <a:off x="6382220" y="1335915"/>
            <a:ext cx="5756440" cy="2293236"/>
            <a:chOff x="6039908" y="1266472"/>
            <a:chExt cx="5756440" cy="229323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570F766-1BD9-5160-7E8C-963CC28330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9908" y="1821061"/>
              <a:ext cx="939626" cy="1738647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1AF7BF-F650-19FD-0942-E3368A17190C}"/>
                </a:ext>
              </a:extLst>
            </p:cNvPr>
            <p:cNvSpPr/>
            <p:nvPr/>
          </p:nvSpPr>
          <p:spPr>
            <a:xfrm>
              <a:off x="6085628" y="1266472"/>
              <a:ext cx="5710720" cy="4616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Arctic ice persisted throughout the summer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9E88FC5-9D0F-8F3F-8213-54E4F6DF0D6C}"/>
              </a:ext>
            </a:extLst>
          </p:cNvPr>
          <p:cNvGrpSpPr/>
          <p:nvPr/>
        </p:nvGrpSpPr>
        <p:grpSpPr>
          <a:xfrm rot="10800000">
            <a:off x="1461141" y="891354"/>
            <a:ext cx="2594656" cy="611323"/>
            <a:chOff x="3087987" y="926209"/>
            <a:chExt cx="2594656" cy="61132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11B7B38-688E-9D5B-F750-B03BBC946B66}"/>
                </a:ext>
              </a:extLst>
            </p:cNvPr>
            <p:cNvSpPr/>
            <p:nvPr/>
          </p:nvSpPr>
          <p:spPr>
            <a:xfrm rot="10800000">
              <a:off x="3087987" y="926209"/>
              <a:ext cx="2594656" cy="611323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EDB27C-666A-CC38-D7C5-93BA26ABC82C}"/>
                </a:ext>
              </a:extLst>
            </p:cNvPr>
            <p:cNvSpPr txBox="1"/>
            <p:nvPr/>
          </p:nvSpPr>
          <p:spPr>
            <a:xfrm rot="10800000">
              <a:off x="3773144" y="1053079"/>
              <a:ext cx="821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A27A108-89B6-373A-D9DA-A86658E1C61A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Lowered atmospheric CO2 enabled a high-albedo, “Icehouse Earth” planet</a:t>
            </a:r>
          </a:p>
        </p:txBody>
      </p:sp>
    </p:spTree>
    <p:extLst>
      <p:ext uri="{BB962C8B-B14F-4D97-AF65-F5344CB8AC3E}">
        <p14:creationId xmlns:p14="http://schemas.microsoft.com/office/powerpoint/2010/main" val="132140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ll palaeotemps.svg">
            <a:extLst>
              <a:ext uri="{FF2B5EF4-FFF2-40B4-BE49-F238E27FC236}">
                <a16:creationId xmlns:a16="http://schemas.microsoft.com/office/drawing/2014/main" id="{0E4D0B87-BC6C-E44D-8B89-CFB1C7DE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 t="11171" r="752" b="899"/>
          <a:stretch/>
        </p:blipFill>
        <p:spPr bwMode="auto">
          <a:xfrm>
            <a:off x="162046" y="1821061"/>
            <a:ext cx="11632557" cy="3017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3D195-1465-9F40-956A-DCB7216EA0E8}"/>
              </a:ext>
            </a:extLst>
          </p:cNvPr>
          <p:cNvCxnSpPr>
            <a:cxnSpLocks/>
          </p:cNvCxnSpPr>
          <p:nvPr/>
        </p:nvCxnSpPr>
        <p:spPr>
          <a:xfrm flipV="1">
            <a:off x="750107" y="3112740"/>
            <a:ext cx="10456433" cy="45063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5" name="Rectangle 12">
            <a:extLst>
              <a:ext uri="{FF2B5EF4-FFF2-40B4-BE49-F238E27FC236}">
                <a16:creationId xmlns:a16="http://schemas.microsoft.com/office/drawing/2014/main" id="{8E6EEF18-3A47-504A-93BE-134EDC23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922" y="2625333"/>
            <a:ext cx="2106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Hothouse Earth</a:t>
            </a:r>
          </a:p>
        </p:txBody>
      </p:sp>
      <p:sp>
        <p:nvSpPr>
          <p:cNvPr id="15366" name="Rectangle 13">
            <a:extLst>
              <a:ext uri="{FF2B5EF4-FFF2-40B4-BE49-F238E27FC236}">
                <a16:creationId xmlns:a16="http://schemas.microsoft.com/office/drawing/2014/main" id="{6F696AB0-C054-1B40-8AF9-7B2ECE68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784" y="3167189"/>
            <a:ext cx="2020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Icehouse Earth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15072-2519-5E4C-B012-1812C8FC9907}"/>
              </a:ext>
            </a:extLst>
          </p:cNvPr>
          <p:cNvCxnSpPr>
            <a:cxnSpLocks/>
            <a:endCxn id="15366" idx="2"/>
          </p:cNvCxnSpPr>
          <p:nvPr/>
        </p:nvCxnSpPr>
        <p:spPr>
          <a:xfrm flipV="1">
            <a:off x="2361235" y="3629151"/>
            <a:ext cx="1563993" cy="135953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1AB4E8-C68B-FB4B-96A0-A41203F95BC6}"/>
                  </a:ext>
                </a:extLst>
              </p:cNvPr>
              <p:cNvSpPr txBox="1"/>
              <p:nvPr/>
            </p:nvSpPr>
            <p:spPr>
              <a:xfrm>
                <a:off x="309939" y="5077929"/>
                <a:ext cx="2345540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We’ll lose permanent ice in East Antarctica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SL rise)</a:t>
                </a:r>
                <a:endParaRPr lang="en-US" sz="24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1AB4E8-C68B-FB4B-96A0-A41203F95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39" y="5077929"/>
                <a:ext cx="2345540" cy="1569660"/>
              </a:xfrm>
              <a:prstGeom prst="rect">
                <a:avLst/>
              </a:prstGeom>
              <a:blipFill>
                <a:blip r:embed="rId3"/>
                <a:stretch>
                  <a:fillRect l="-4301" t="-2400" r="-1075" b="-8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40EF6FA-246A-9A43-97D7-31C09E3A693E}"/>
              </a:ext>
            </a:extLst>
          </p:cNvPr>
          <p:cNvGrpSpPr/>
          <p:nvPr/>
        </p:nvGrpSpPr>
        <p:grpSpPr>
          <a:xfrm>
            <a:off x="5707031" y="744639"/>
            <a:ext cx="5277200" cy="2592834"/>
            <a:chOff x="6304345" y="1266472"/>
            <a:chExt cx="5277200" cy="25928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EE1942-A88F-8B44-9817-A3E4673E4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1276" y="1821061"/>
              <a:ext cx="598258" cy="2038245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4B8624A-35D0-3B43-A58E-2A4E992F0015}"/>
                    </a:ext>
                  </a:extLst>
                </p:cNvPr>
                <p:cNvSpPr/>
                <p:nvPr/>
              </p:nvSpPr>
              <p:spPr>
                <a:xfrm>
                  <a:off x="6304345" y="1266472"/>
                  <a:ext cx="5277200" cy="461665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We’ll lose Greenland ice (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sz="2400" dirty="0"/>
                    <a:t> SL rise)</a:t>
                  </a:r>
                </a:p>
              </p:txBody>
            </p:sp>
          </mc:Choice>
          <mc:Fallback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4B8624A-35D0-3B43-A58E-2A4E992F00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4345" y="1266472"/>
                  <a:ext cx="527720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675" t="-7895" b="-2894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C012E-3E8E-439C-AC05-C4B1F81D0DDC}"/>
              </a:ext>
            </a:extLst>
          </p:cNvPr>
          <p:cNvGrpSpPr/>
          <p:nvPr/>
        </p:nvGrpSpPr>
        <p:grpSpPr>
          <a:xfrm>
            <a:off x="6382220" y="1335915"/>
            <a:ext cx="4602011" cy="2293236"/>
            <a:chOff x="6039908" y="1266472"/>
            <a:chExt cx="4602011" cy="229323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570F766-1BD9-5160-7E8C-963CC28330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9908" y="1821061"/>
              <a:ext cx="939626" cy="1738647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B1AF7BF-F650-19FD-0942-E3368A17190C}"/>
                </a:ext>
              </a:extLst>
            </p:cNvPr>
            <p:cNvSpPr/>
            <p:nvPr/>
          </p:nvSpPr>
          <p:spPr>
            <a:xfrm>
              <a:off x="6304345" y="1266472"/>
              <a:ext cx="4337574" cy="4616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We’ll lose summertime Arctic ice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4247002-2C13-ADA5-3A76-E984BEF3E314}"/>
              </a:ext>
            </a:extLst>
          </p:cNvPr>
          <p:cNvGrpSpPr/>
          <p:nvPr/>
        </p:nvGrpSpPr>
        <p:grpSpPr>
          <a:xfrm rot="10800000">
            <a:off x="1461141" y="891354"/>
            <a:ext cx="2594656" cy="611323"/>
            <a:chOff x="3087987" y="926209"/>
            <a:chExt cx="2594656" cy="61132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329E04F5-6B00-765C-0637-8A8733A0E13B}"/>
                </a:ext>
              </a:extLst>
            </p:cNvPr>
            <p:cNvSpPr/>
            <p:nvPr/>
          </p:nvSpPr>
          <p:spPr>
            <a:xfrm>
              <a:off x="3087987" y="926209"/>
              <a:ext cx="2594656" cy="611323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22F972-56A7-BB9F-1A37-3DBC28161320}"/>
                </a:ext>
              </a:extLst>
            </p:cNvPr>
            <p:cNvSpPr txBox="1"/>
            <p:nvPr/>
          </p:nvSpPr>
          <p:spPr>
            <a:xfrm rot="10800000">
              <a:off x="3773144" y="1053079"/>
              <a:ext cx="8218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9AB388-8CD8-5FBF-1C60-1848FFC9FC63}"/>
              </a:ext>
            </a:extLst>
          </p:cNvPr>
          <p:cNvSpPr txBox="1"/>
          <p:nvPr/>
        </p:nvSpPr>
        <p:spPr>
          <a:xfrm>
            <a:off x="-12909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Therefore higher atmospheric CO2 will enable a low-albedo, “Hothouse Earth” planet</a:t>
            </a:r>
          </a:p>
        </p:txBody>
      </p:sp>
    </p:spTree>
    <p:extLst>
      <p:ext uri="{BB962C8B-B14F-4D97-AF65-F5344CB8AC3E}">
        <p14:creationId xmlns:p14="http://schemas.microsoft.com/office/powerpoint/2010/main" val="361259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03E8A-F0B7-F54B-8644-79BBE1B22C1B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strategy of “Earth System Stewardship” formulated in Hothouse/Icehouse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489B3-CC9D-064F-B447-E8BEAE51BABC}"/>
              </a:ext>
            </a:extLst>
          </p:cNvPr>
          <p:cNvSpPr txBox="1"/>
          <p:nvPr/>
        </p:nvSpPr>
        <p:spPr>
          <a:xfrm>
            <a:off x="7658101" y="824611"/>
            <a:ext cx="439530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warmer it gets, the more likely we slip irreversibly into “Hothouse Earth” mode.</a:t>
            </a:r>
          </a:p>
          <a:p>
            <a:endParaRPr lang="en-US" sz="2200" dirty="0"/>
          </a:p>
          <a:p>
            <a:r>
              <a:rPr lang="en-US" sz="2200" dirty="0"/>
              <a:t>The goal would be to bring us to a “Stabilized Earth” that looks intermediate between Icehouse and Hothouse Earth.</a:t>
            </a:r>
          </a:p>
          <a:p>
            <a:endParaRPr lang="en-US" sz="2200" dirty="0"/>
          </a:p>
          <a:p>
            <a:r>
              <a:rPr lang="en-US" sz="2200" dirty="0"/>
              <a:t>This week we’re investigating ice/albedo feedback (Cambio 3.0). Coming up is an investigation into the health of the terrestrial CO2 feedback itself.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2B778-3DDF-7549-A20B-A468B71CF983}"/>
              </a:ext>
            </a:extLst>
          </p:cNvPr>
          <p:cNvGrpSpPr/>
          <p:nvPr/>
        </p:nvGrpSpPr>
        <p:grpSpPr>
          <a:xfrm>
            <a:off x="1" y="1269779"/>
            <a:ext cx="7658100" cy="4548091"/>
            <a:chOff x="0" y="1269779"/>
            <a:chExt cx="8705861" cy="55552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B4012CA-C478-BD4E-AC9E-29289F235445}"/>
                </a:ext>
              </a:extLst>
            </p:cNvPr>
            <p:cNvGrpSpPr/>
            <p:nvPr/>
          </p:nvGrpSpPr>
          <p:grpSpPr>
            <a:xfrm>
              <a:off x="0" y="1269779"/>
              <a:ext cx="8705861" cy="5555291"/>
              <a:chOff x="1392072" y="1261300"/>
              <a:chExt cx="8705861" cy="5555291"/>
            </a:xfrm>
          </p:grpSpPr>
          <p:pic>
            <p:nvPicPr>
              <p:cNvPr id="3074" name="Picture 2" descr="https://www.pnas.org/content/pnas/115/33/8252/F2.large.jpg?width=800&amp;height=600&amp;carousel=1">
                <a:extLst>
                  <a:ext uri="{FF2B5EF4-FFF2-40B4-BE49-F238E27FC236}">
                    <a16:creationId xmlns:a16="http://schemas.microsoft.com/office/drawing/2014/main" id="{36BF57C5-3654-4C46-81A2-6A7397C996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2072" y="1261300"/>
                <a:ext cx="8705861" cy="55552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B2FDAAA-4E16-AC4E-A94A-770FB6CCDD23}"/>
                  </a:ext>
                </a:extLst>
              </p:cNvPr>
              <p:cNvGrpSpPr/>
              <p:nvPr/>
            </p:nvGrpSpPr>
            <p:grpSpPr>
              <a:xfrm>
                <a:off x="4308724" y="1666593"/>
                <a:ext cx="4522099" cy="664495"/>
                <a:chOff x="4308724" y="1666593"/>
                <a:chExt cx="4522099" cy="66449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A33D9AB-53D1-C142-B677-E358B26A0424}"/>
                    </a:ext>
                  </a:extLst>
                </p:cNvPr>
                <p:cNvSpPr txBox="1"/>
                <p:nvPr/>
              </p:nvSpPr>
              <p:spPr>
                <a:xfrm>
                  <a:off x="5970635" y="1666593"/>
                  <a:ext cx="28601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/>
                    <a:t>*</a:t>
                  </a:r>
                </a:p>
              </p:txBody>
            </p:sp>
            <p:sp>
              <p:nvSpPr>
                <p:cNvPr id="8" name="Up-Down Arrow 7">
                  <a:extLst>
                    <a:ext uri="{FF2B5EF4-FFF2-40B4-BE49-F238E27FC236}">
                      <a16:creationId xmlns:a16="http://schemas.microsoft.com/office/drawing/2014/main" id="{83A0B123-C1B9-9C49-9867-EFA45C6817F2}"/>
                    </a:ext>
                  </a:extLst>
                </p:cNvPr>
                <p:cNvSpPr/>
                <p:nvPr/>
              </p:nvSpPr>
              <p:spPr>
                <a:xfrm rot="5400000">
                  <a:off x="4804955" y="1678497"/>
                  <a:ext cx="153431" cy="1145894"/>
                </a:xfrm>
                <a:prstGeom prst="upDownArrow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" name="Up-Down Arrow 9">
                  <a:extLst>
                    <a:ext uri="{FF2B5EF4-FFF2-40B4-BE49-F238E27FC236}">
                      <a16:creationId xmlns:a16="http://schemas.microsoft.com/office/drawing/2014/main" id="{30F7732D-FE17-2A4D-BB81-98BAF83AC665}"/>
                    </a:ext>
                  </a:extLst>
                </p:cNvPr>
                <p:cNvSpPr/>
                <p:nvPr/>
              </p:nvSpPr>
              <p:spPr>
                <a:xfrm rot="5400000">
                  <a:off x="5788280" y="2024930"/>
                  <a:ext cx="153431" cy="450075"/>
                </a:xfrm>
                <a:prstGeom prst="upDownArrow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Up-Down Arrow 10">
                  <a:extLst>
                    <a:ext uri="{FF2B5EF4-FFF2-40B4-BE49-F238E27FC236}">
                      <a16:creationId xmlns:a16="http://schemas.microsoft.com/office/drawing/2014/main" id="{97694507-9010-8C46-A425-64D53A9E4F74}"/>
                    </a:ext>
                  </a:extLst>
                </p:cNvPr>
                <p:cNvSpPr/>
                <p:nvPr/>
              </p:nvSpPr>
              <p:spPr>
                <a:xfrm rot="5400000">
                  <a:off x="6734984" y="1785597"/>
                  <a:ext cx="153432" cy="937550"/>
                </a:xfrm>
                <a:prstGeom prst="upDownArrow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4222F1-4B01-B747-9851-5DC3BBE0CF93}"/>
                </a:ext>
              </a:extLst>
            </p:cNvPr>
            <p:cNvSpPr/>
            <p:nvPr/>
          </p:nvSpPr>
          <p:spPr>
            <a:xfrm>
              <a:off x="550899" y="4937471"/>
              <a:ext cx="2030256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/>
                <a:t>Steffen et al, PNAS 2018: https://</a:t>
              </a:r>
              <a:r>
                <a:rPr lang="en-US" sz="1000" dirty="0" err="1"/>
                <a:t>www.pnas.org</a:t>
              </a:r>
              <a:r>
                <a:rPr lang="en-US" sz="1000" dirty="0"/>
                <a:t>/content/115/33/8252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03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376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</cp:revision>
  <dcterms:created xsi:type="dcterms:W3CDTF">2026-03-30T19:45:57Z</dcterms:created>
  <dcterms:modified xsi:type="dcterms:W3CDTF">2026-04-03T04:03:51Z</dcterms:modified>
</cp:coreProperties>
</file>