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82"/>
  </p:normalViewPr>
  <p:slideViewPr>
    <p:cSldViewPr snapToGrid="0">
      <p:cViewPr>
        <p:scale>
          <a:sx n="105" d="100"/>
          <a:sy n="105" d="100"/>
        </p:scale>
        <p:origin x="74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324E-0966-B664-74DC-EF01A8A74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EDDEE-902D-2B5C-614B-E2E22B9F2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5A9CE-1E94-0E8B-08A2-0ED28DC1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2E533-41A2-F30B-7DDE-BBB61553D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56B68-81B4-B4E6-735E-C8EBEF4E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8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945E-6F4B-66D6-1EE9-F38B8A7C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A9D6-E0BE-37BA-7C53-416B1C4D6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7155-E34A-B943-E8A2-CC4335FA0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2348-C01E-69B4-04FC-C4AE8EB3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CAAE8-7C51-94D2-7584-C3C49140A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7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D056-E9D5-CD43-4AFF-AC5700407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3CB98-0E25-1EA9-0F0D-E2EAFECF9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060E3-1BD6-2A81-C502-1678679E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C51C9-0232-640B-D1AC-446D930F9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A8E60-E2BE-9DBF-79D1-BABA3FF65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6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0CCF-69B4-D169-ABF7-3258E070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994BA-802E-4579-1855-D22EBF2CE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B445E-22C0-3F0D-1627-1C2F54607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09172-4400-60DF-0E3F-034F19D0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1488D-39CB-48BB-C129-DC32F6BA3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F8682-ACB4-CBCD-67CB-8160368D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17B9-0F34-693D-1434-1A118D47F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741D7-FD14-CF37-0443-B20E65FC9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90F53-AD64-0990-9635-7DEE6757F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4B2FB-5C58-B564-9B77-F19C1A909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E8B343-3092-DA25-E960-0118BC679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1E8F6-091A-570C-125E-E287EED41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62B12-A519-98D8-3D63-FEDC35AD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9BDDF-668A-A0F5-B347-055A059F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4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CE60-32C0-6D18-525B-D12E95070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4D7AB-BA69-B901-FA7D-03C38AB4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339D6-A4D0-391A-0534-94CB7232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3C08B-C4A3-0750-A90D-ADC86186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2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0BC43-C9A2-ADE8-4820-ED0DFEE7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24E6A-3C88-89AC-8AF3-C0DAAF2F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27E0E-7408-66A2-EC3C-D7AF06CE6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0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B9F8-C786-56DE-58D6-8DA871673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218A3-0763-CFE6-1D7F-15696AB70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66C73-34A6-A015-4A69-20114AF0C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76947-6698-B459-444D-F59F77BF6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FE2ED-5B57-A206-80A7-772CD21E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583DC-AB30-45DE-BD51-6D54CAEB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8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64C6-AA98-90A9-7A2F-E9F8442E1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38E192-BCB0-67FF-7BB1-26BFE0FE4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DBA34-05CB-C9E6-36E9-54803C3F2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CBC68-FF15-85C6-0E41-18C9C601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FB300-6EEA-CA64-672C-BEC93EB3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A78C4-8085-03CF-71A4-C3A9050F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82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5971-326B-CC7B-DE69-E9AAD1B0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ABDFA-44D2-07A9-3838-0D4F196FF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D596C-68FD-BCE0-60C2-99D8A8A2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621A7-B432-8DD1-5383-68D194C0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718B4-CEC2-1A2C-984E-409579A4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7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B2EFA-3E1F-9FB3-4E86-5ABA00380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D2A76-C40E-C3E8-E250-2C826C72E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6CFB9-196B-1B96-6304-084390E7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5D78D-C541-9A9C-D16F-716040BC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390CF-5602-7763-F859-E00E4E0B7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2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3C1D8-B9DA-6395-FFA8-3A03A58CC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ED3AD-2E15-D498-5FA8-4A0E0DA8D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5599B-2B79-4B76-4459-6C388B77B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C6C94-658D-8542-BDC2-A40A0B9A646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08A36-E67C-4521-D57B-C8DC5498F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2D3EE-9E15-0BE0-D274-391FEFEA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3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11B8FD0E-8E8D-BF88-BD8E-3B56F4A59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35683"/>
            <a:ext cx="5416291" cy="406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41D608-97C6-3D42-5147-68E5156A160C}"/>
                  </a:ext>
                </a:extLst>
              </p:cNvPr>
              <p:cNvSpPr txBox="1"/>
              <p:nvPr/>
            </p:nvSpPr>
            <p:spPr>
              <a:xfrm>
                <a:off x="0" y="-3338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Lessons from Cambio 3.0: lowered albedo bumps up warming by about  0.4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sz="24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41D608-97C6-3D42-5147-68E5156A1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3338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AD03C5A9-858C-60D6-F6E1-53B400FC66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865"/>
          <a:stretch/>
        </p:blipFill>
        <p:spPr>
          <a:xfrm>
            <a:off x="387711" y="1931670"/>
            <a:ext cx="5301993" cy="345424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433EE40-BBF0-46D2-9426-FBFA1EF85349}"/>
              </a:ext>
            </a:extLst>
          </p:cNvPr>
          <p:cNvCxnSpPr/>
          <p:nvPr/>
        </p:nvCxnSpPr>
        <p:spPr>
          <a:xfrm>
            <a:off x="891540" y="2090166"/>
            <a:ext cx="4411980" cy="0"/>
          </a:xfrm>
          <a:prstGeom prst="line">
            <a:avLst/>
          </a:prstGeom>
          <a:ln w="635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F5D7F21-C2DB-E862-8FEC-CF0759EEAC18}"/>
              </a:ext>
            </a:extLst>
          </p:cNvPr>
          <p:cNvSpPr txBox="1"/>
          <p:nvPr/>
        </p:nvSpPr>
        <p:spPr>
          <a:xfrm>
            <a:off x="1889763" y="1552204"/>
            <a:ext cx="3246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Cambio 2.0 (fixed albedo)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28DEA6-B453-4C3E-19D5-5E4E3C95A819}"/>
              </a:ext>
            </a:extLst>
          </p:cNvPr>
          <p:cNvSpPr txBox="1"/>
          <p:nvPr/>
        </p:nvSpPr>
        <p:spPr>
          <a:xfrm>
            <a:off x="1501140" y="3240344"/>
            <a:ext cx="2680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Cambio 3.0 </a:t>
            </a:r>
          </a:p>
          <a:p>
            <a:pPr algn="ctr"/>
            <a:r>
              <a:rPr lang="en-US" dirty="0"/>
              <a:t>(w/ice-albedo feedback)</a:t>
            </a:r>
          </a:p>
        </p:txBody>
      </p:sp>
    </p:spTree>
    <p:extLst>
      <p:ext uri="{BB962C8B-B14F-4D97-AF65-F5344CB8AC3E}">
        <p14:creationId xmlns:p14="http://schemas.microsoft.com/office/powerpoint/2010/main" val="162770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21172B96-840F-B244-83EE-B22845928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302" y="1153942"/>
            <a:ext cx="5455023" cy="409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CD5ACC-D2DA-B105-C9C1-BF63ED3F985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Another project idea: What if the albedo tipping point happens at a lower temperature?</a:t>
            </a:r>
          </a:p>
        </p:txBody>
      </p:sp>
      <p:pic>
        <p:nvPicPr>
          <p:cNvPr id="5" name="Picture 2" descr="Draft diagram of the carbon cycle.">
            <a:extLst>
              <a:ext uri="{FF2B5EF4-FFF2-40B4-BE49-F238E27FC236}">
                <a16:creationId xmlns:a16="http://schemas.microsoft.com/office/drawing/2014/main" id="{06401E36-2294-CF1A-9ABB-7E3610CF5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30" y="1610659"/>
            <a:ext cx="5455023" cy="363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Left Arrow 1">
            <a:extLst>
              <a:ext uri="{FF2B5EF4-FFF2-40B4-BE49-F238E27FC236}">
                <a16:creationId xmlns:a16="http://schemas.microsoft.com/office/drawing/2014/main" id="{F49B98E8-A8BB-B125-36D9-7D13A4EEADC3}"/>
              </a:ext>
            </a:extLst>
          </p:cNvPr>
          <p:cNvSpPr/>
          <p:nvPr/>
        </p:nvSpPr>
        <p:spPr>
          <a:xfrm>
            <a:off x="8680704" y="3169920"/>
            <a:ext cx="682752" cy="25908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263C8C-9BDF-80E3-DB5A-E8B04F6AA670}"/>
                  </a:ext>
                </a:extLst>
              </p:cNvPr>
              <p:cNvSpPr txBox="1"/>
              <p:nvPr/>
            </p:nvSpPr>
            <p:spPr>
              <a:xfrm>
                <a:off x="9612630" y="3114794"/>
                <a:ext cx="22706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𝑎𝑙𝑏𝑒𝑑𝑜</m:t>
                        </m:r>
                      </m:sub>
                      <m:sup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degrees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263C8C-9BDF-80E3-DB5A-E8B04F6AA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630" y="3114794"/>
                <a:ext cx="2270695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91C90B-9B14-DC42-4BEA-104141C91641}"/>
                  </a:ext>
                </a:extLst>
              </p:cNvPr>
              <p:cNvSpPr txBox="1"/>
              <p:nvPr/>
            </p:nvSpPr>
            <p:spPr>
              <a:xfrm>
                <a:off x="7147626" y="3772781"/>
                <a:ext cx="1702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𝑎𝑙𝑏𝑒𝑑𝑜</m:t>
                          </m:r>
                        </m:sub>
                        <m:sup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=1.5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91C90B-9B14-DC42-4BEA-104141C91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626" y="3772781"/>
                <a:ext cx="1702346" cy="369332"/>
              </a:xfrm>
              <a:prstGeom prst="rect">
                <a:avLst/>
              </a:prstGeom>
              <a:blipFill>
                <a:blip r:embed="rId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006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51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5</cp:revision>
  <dcterms:created xsi:type="dcterms:W3CDTF">2025-11-03T04:01:08Z</dcterms:created>
  <dcterms:modified xsi:type="dcterms:W3CDTF">2026-04-03T04:16:24Z</dcterms:modified>
</cp:coreProperties>
</file>