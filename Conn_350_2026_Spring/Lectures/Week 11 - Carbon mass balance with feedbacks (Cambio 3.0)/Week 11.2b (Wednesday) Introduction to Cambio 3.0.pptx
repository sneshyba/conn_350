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071" r:id="rId3"/>
    <p:sldId id="2072" r:id="rId4"/>
    <p:sldId id="2069" r:id="rId5"/>
    <p:sldId id="258" r:id="rId6"/>
    <p:sldId id="2070" r:id="rId7"/>
    <p:sldId id="2073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joZbYbmDv+gfKvdWukmMWU4rQw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3"/>
  </p:normalViewPr>
  <p:slideViewPr>
    <p:cSldViewPr snapToGrid="0">
      <p:cViewPr varScale="1">
        <p:scale>
          <a:sx n="105" d="100"/>
          <a:sy n="105" d="100"/>
        </p:scale>
        <p:origin x="7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7086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0" y="2574"/>
            <a:ext cx="12192000" cy="8309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designers of Cambio (Neshyba,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Eklof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et al) used Wunderling et al to figure out how much albedo reduction will result from a given amount of warming. </a:t>
            </a:r>
            <a:endParaRPr dirty="0"/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1079511"/>
            <a:ext cx="6960870" cy="4384684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Cambio 3.0 accounts for ice-albedo feedback inside the propagator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5C09343-BE38-F262-89CD-A943B86708AB}"/>
              </a:ext>
            </a:extLst>
          </p:cNvPr>
          <p:cNvGrpSpPr/>
          <p:nvPr/>
        </p:nvGrpSpPr>
        <p:grpSpPr>
          <a:xfrm>
            <a:off x="2240960" y="3362280"/>
            <a:ext cx="9449316" cy="3434180"/>
            <a:chOff x="2240960" y="3362280"/>
            <a:chExt cx="9449316" cy="343418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C2475E8-4F3E-E750-B0D5-D72FDA9C710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40960" y="3362280"/>
              <a:ext cx="9449316" cy="3434180"/>
              <a:chOff x="330960" y="1740196"/>
              <a:chExt cx="11362452" cy="4129475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D68EDA08-4C82-9151-AC88-0E0F9EFE88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14463" y="3895747"/>
                <a:ext cx="2060462" cy="802935"/>
              </a:xfrm>
              <a:prstGeom prst="straightConnector1">
                <a:avLst/>
              </a:prstGeom>
              <a:ln>
                <a:noFill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7E9A1BA-2ADA-A10E-FFF4-C6942745C5A5}"/>
                  </a:ext>
                </a:extLst>
              </p:cNvPr>
              <p:cNvSpPr/>
              <p:nvPr/>
            </p:nvSpPr>
            <p:spPr>
              <a:xfrm>
                <a:off x="330960" y="1740196"/>
                <a:ext cx="11362452" cy="412947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EAE47F8-4630-F317-EC19-AEA911683D19}"/>
                  </a:ext>
                </a:extLst>
              </p:cNvPr>
              <p:cNvGrpSpPr/>
              <p:nvPr/>
            </p:nvGrpSpPr>
            <p:grpSpPr>
              <a:xfrm>
                <a:off x="330960" y="1740196"/>
                <a:ext cx="11362452" cy="1451291"/>
                <a:chOff x="330960" y="1740196"/>
                <a:chExt cx="11362452" cy="1451291"/>
              </a:xfrm>
              <a:noFill/>
            </p:grpSpPr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68422D4D-90B0-352D-8287-19D17BB4C8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30960" y="1740196"/>
                  <a:ext cx="11362452" cy="979170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31C9743-CEE9-8105-BDB3-352531EDAEEE}"/>
                    </a:ext>
                  </a:extLst>
                </p:cNvPr>
                <p:cNvSpPr txBox="1"/>
                <p:nvPr/>
              </p:nvSpPr>
              <p:spPr>
                <a:xfrm>
                  <a:off x="845820" y="2729822"/>
                  <a:ext cx="2183130" cy="461665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…</a:t>
                  </a:r>
                </a:p>
              </p:txBody>
            </p:sp>
          </p:grp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E7BE2FA-6DBE-55C3-7CF6-F8D8FC3CA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9131" y="4701363"/>
              <a:ext cx="6562240" cy="2004231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9E1F1D5-9638-7726-71F2-88A049E12B8D}"/>
              </a:ext>
            </a:extLst>
          </p:cNvPr>
          <p:cNvGrpSpPr/>
          <p:nvPr/>
        </p:nvGrpSpPr>
        <p:grpSpPr>
          <a:xfrm>
            <a:off x="626765" y="760751"/>
            <a:ext cx="3202285" cy="2532039"/>
            <a:chOff x="626765" y="760751"/>
            <a:chExt cx="3202285" cy="253203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F9D1D2F-D5D0-C8E4-61C3-A0FB25C36CF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6765" y="760751"/>
              <a:ext cx="3202285" cy="2532039"/>
              <a:chOff x="602181" y="1124056"/>
              <a:chExt cx="5493819" cy="4343949"/>
            </a:xfrm>
          </p:grpSpPr>
          <p:grpSp>
            <p:nvGrpSpPr>
              <p:cNvPr id="3" name="Google Shape;165;p7">
                <a:extLst>
                  <a:ext uri="{FF2B5EF4-FFF2-40B4-BE49-F238E27FC236}">
                    <a16:creationId xmlns:a16="http://schemas.microsoft.com/office/drawing/2014/main" id="{59A6D83B-585F-D0F7-4476-BD52B05FEBAC}"/>
                  </a:ext>
                </a:extLst>
              </p:cNvPr>
              <p:cNvGrpSpPr/>
              <p:nvPr/>
            </p:nvGrpSpPr>
            <p:grpSpPr>
              <a:xfrm>
                <a:off x="602181" y="1124056"/>
                <a:ext cx="5493819" cy="4343949"/>
                <a:chOff x="602181" y="1124056"/>
                <a:chExt cx="5493819" cy="4343949"/>
              </a:xfrm>
            </p:grpSpPr>
            <p:pic>
              <p:nvPicPr>
                <p:cNvPr id="7" name="Google Shape;166;p7">
                  <a:extLst>
                    <a:ext uri="{FF2B5EF4-FFF2-40B4-BE49-F238E27FC236}">
                      <a16:creationId xmlns:a16="http://schemas.microsoft.com/office/drawing/2014/main" id="{7F13EF8E-CCA6-852C-29D7-88B68636E89B}"/>
                    </a:ext>
                  </a:extLst>
                </p:cNvPr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602181" y="1124056"/>
                  <a:ext cx="5493819" cy="4343949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</p:pic>
            <p:sp>
              <p:nvSpPr>
                <p:cNvPr id="8" name="Google Shape;167;p7">
                  <a:extLst>
                    <a:ext uri="{FF2B5EF4-FFF2-40B4-BE49-F238E27FC236}">
                      <a16:creationId xmlns:a16="http://schemas.microsoft.com/office/drawing/2014/main" id="{ECBB9DEC-A2F1-C4BA-6F2A-7F7D0F6559B5}"/>
                    </a:ext>
                  </a:extLst>
                </p:cNvPr>
                <p:cNvSpPr/>
                <p:nvPr/>
              </p:nvSpPr>
              <p:spPr>
                <a:xfrm rot="1661086">
                  <a:off x="4433737" y="2346786"/>
                  <a:ext cx="756205" cy="2206866"/>
                </a:xfrm>
                <a:prstGeom prst="arc">
                  <a:avLst>
                    <a:gd name="adj1" fmla="val 16677855"/>
                    <a:gd name="adj2" fmla="val 4191882"/>
                  </a:avLst>
                </a:prstGeom>
                <a:noFill/>
                <a:ln w="63500" cap="flat" cmpd="sng">
                  <a:solidFill>
                    <a:srgbClr val="FF0000"/>
                  </a:solidFill>
                  <a:prstDash val="sysDash"/>
                  <a:miter lim="800000"/>
                  <a:headEnd type="none" w="sm" len="sm"/>
                  <a:tailEnd type="triangle" w="med" len="med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" name="Google Shape;168;p7">
                <a:extLst>
                  <a:ext uri="{FF2B5EF4-FFF2-40B4-BE49-F238E27FC236}">
                    <a16:creationId xmlns:a16="http://schemas.microsoft.com/office/drawing/2014/main" id="{FD2BA120-4949-568C-D84C-65E59BE8638D}"/>
                  </a:ext>
                </a:extLst>
              </p:cNvPr>
              <p:cNvSpPr/>
              <p:nvPr/>
            </p:nvSpPr>
            <p:spPr>
              <a:xfrm rot="8381796">
                <a:off x="1702178" y="2739358"/>
                <a:ext cx="756205" cy="1963741"/>
              </a:xfrm>
              <a:prstGeom prst="arc">
                <a:avLst>
                  <a:gd name="adj1" fmla="val 19169319"/>
                  <a:gd name="adj2" fmla="val 4343601"/>
                </a:avLst>
              </a:prstGeom>
              <a:noFill/>
              <a:ln w="635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" name="Google Shape;167;p7">
              <a:extLst>
                <a:ext uri="{FF2B5EF4-FFF2-40B4-BE49-F238E27FC236}">
                  <a16:creationId xmlns:a16="http://schemas.microsoft.com/office/drawing/2014/main" id="{8AD909DA-A684-81E4-6FE3-7F39C2FACEE9}"/>
                </a:ext>
              </a:extLst>
            </p:cNvPr>
            <p:cNvSpPr/>
            <p:nvPr/>
          </p:nvSpPr>
          <p:spPr>
            <a:xfrm rot="18384306">
              <a:off x="2255065" y="865973"/>
              <a:ext cx="1091526" cy="1410941"/>
            </a:xfrm>
            <a:prstGeom prst="arc">
              <a:avLst>
                <a:gd name="adj1" fmla="val 18542003"/>
                <a:gd name="adj2" fmla="val 2547941"/>
              </a:avLst>
            </a:prstGeom>
            <a:noFill/>
            <a:ln w="63500" cap="flat" cmpd="sng">
              <a:solidFill>
                <a:srgbClr val="FF0000"/>
              </a:solidFill>
              <a:prstDash val="sysDot"/>
              <a:miter lim="800000"/>
              <a:headEnd type="none" w="sm" len="sm"/>
              <a:tailEnd type="triangl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0D1B26-8B7D-1C96-4738-72C97F6B79F9}"/>
                </a:ext>
              </a:extLst>
            </p:cNvPr>
            <p:cNvSpPr txBox="1"/>
            <p:nvPr/>
          </p:nvSpPr>
          <p:spPr>
            <a:xfrm>
              <a:off x="2974404" y="802473"/>
              <a:ext cx="524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0C50036-6169-4A33-EF76-69FF4AF77250}"/>
                </a:ext>
              </a:extLst>
            </p:cNvPr>
            <p:cNvSpPr txBox="1"/>
            <p:nvPr/>
          </p:nvSpPr>
          <p:spPr>
            <a:xfrm>
              <a:off x="3226294" y="1950030"/>
              <a:ext cx="524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766ABF-7B45-9BBC-1879-6CF2E416206F}"/>
                </a:ext>
              </a:extLst>
            </p:cNvPr>
            <p:cNvSpPr txBox="1"/>
            <p:nvPr/>
          </p:nvSpPr>
          <p:spPr>
            <a:xfrm>
              <a:off x="824941" y="2288245"/>
              <a:ext cx="524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663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 Step 1, we get the temperature anomaly from the dictionary of the previous state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5C09343-BE38-F262-89CD-A943B86708AB}"/>
              </a:ext>
            </a:extLst>
          </p:cNvPr>
          <p:cNvGrpSpPr/>
          <p:nvPr/>
        </p:nvGrpSpPr>
        <p:grpSpPr>
          <a:xfrm>
            <a:off x="2240960" y="3362280"/>
            <a:ext cx="9449316" cy="3434180"/>
            <a:chOff x="2240960" y="3362280"/>
            <a:chExt cx="9449316" cy="343418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C2475E8-4F3E-E750-B0D5-D72FDA9C710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40960" y="3362280"/>
              <a:ext cx="9449316" cy="3434180"/>
              <a:chOff x="330960" y="1740196"/>
              <a:chExt cx="11362452" cy="4129475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D68EDA08-4C82-9151-AC88-0E0F9EFE88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14463" y="3895747"/>
                <a:ext cx="2060462" cy="802935"/>
              </a:xfrm>
              <a:prstGeom prst="straightConnector1">
                <a:avLst/>
              </a:prstGeom>
              <a:ln>
                <a:noFill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7E9A1BA-2ADA-A10E-FFF4-C6942745C5A5}"/>
                  </a:ext>
                </a:extLst>
              </p:cNvPr>
              <p:cNvSpPr/>
              <p:nvPr/>
            </p:nvSpPr>
            <p:spPr>
              <a:xfrm>
                <a:off x="330960" y="1740196"/>
                <a:ext cx="11362452" cy="412947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EAE47F8-4630-F317-EC19-AEA911683D19}"/>
                  </a:ext>
                </a:extLst>
              </p:cNvPr>
              <p:cNvGrpSpPr/>
              <p:nvPr/>
            </p:nvGrpSpPr>
            <p:grpSpPr>
              <a:xfrm>
                <a:off x="330960" y="1740196"/>
                <a:ext cx="11362452" cy="1451291"/>
                <a:chOff x="330960" y="1740196"/>
                <a:chExt cx="11362452" cy="1451291"/>
              </a:xfrm>
              <a:noFill/>
            </p:grpSpPr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68422D4D-90B0-352D-8287-19D17BB4C8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30960" y="1740196"/>
                  <a:ext cx="11362452" cy="979170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31C9743-CEE9-8105-BDB3-352531EDAEEE}"/>
                    </a:ext>
                  </a:extLst>
                </p:cNvPr>
                <p:cNvSpPr txBox="1"/>
                <p:nvPr/>
              </p:nvSpPr>
              <p:spPr>
                <a:xfrm>
                  <a:off x="845820" y="2729822"/>
                  <a:ext cx="2183130" cy="461665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…</a:t>
                  </a:r>
                </a:p>
              </p:txBody>
            </p:sp>
          </p:grp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E7BE2FA-6DBE-55C3-7CF6-F8D8FC3CA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9131" y="4701363"/>
              <a:ext cx="6562240" cy="2004231"/>
            </a:xfrm>
            <a:prstGeom prst="rect">
              <a:avLst/>
            </a:prstGeom>
          </p:spPr>
        </p:pic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1251585-CD14-136F-417B-AF18AF7D5766}"/>
              </a:ext>
            </a:extLst>
          </p:cNvPr>
          <p:cNvCxnSpPr>
            <a:cxnSpLocks/>
          </p:cNvCxnSpPr>
          <p:nvPr/>
        </p:nvCxnSpPr>
        <p:spPr>
          <a:xfrm>
            <a:off x="990600" y="5060635"/>
            <a:ext cx="1595942" cy="0"/>
          </a:xfrm>
          <a:prstGeom prst="straightConnector1">
            <a:avLst/>
          </a:prstGeom>
          <a:ln w="635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DA061B8-96B3-CDE9-034D-76E4E374D528}"/>
              </a:ext>
            </a:extLst>
          </p:cNvPr>
          <p:cNvSpPr txBox="1"/>
          <p:nvPr/>
        </p:nvSpPr>
        <p:spPr>
          <a:xfrm>
            <a:off x="434741" y="4829802"/>
            <a:ext cx="52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B7888A8-4462-7C9D-ADD6-996E704111CC}"/>
              </a:ext>
            </a:extLst>
          </p:cNvPr>
          <p:cNvGrpSpPr/>
          <p:nvPr/>
        </p:nvGrpSpPr>
        <p:grpSpPr>
          <a:xfrm>
            <a:off x="626765" y="760751"/>
            <a:ext cx="3202285" cy="2532039"/>
            <a:chOff x="626765" y="760751"/>
            <a:chExt cx="3202285" cy="253203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F9D1D2F-D5D0-C8E4-61C3-A0FB25C36CF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6765" y="760751"/>
              <a:ext cx="3202285" cy="2532039"/>
              <a:chOff x="602181" y="1124056"/>
              <a:chExt cx="5493819" cy="4343949"/>
            </a:xfrm>
          </p:grpSpPr>
          <p:grpSp>
            <p:nvGrpSpPr>
              <p:cNvPr id="3" name="Google Shape;165;p7">
                <a:extLst>
                  <a:ext uri="{FF2B5EF4-FFF2-40B4-BE49-F238E27FC236}">
                    <a16:creationId xmlns:a16="http://schemas.microsoft.com/office/drawing/2014/main" id="{59A6D83B-585F-D0F7-4476-BD52B05FEBAC}"/>
                  </a:ext>
                </a:extLst>
              </p:cNvPr>
              <p:cNvGrpSpPr/>
              <p:nvPr/>
            </p:nvGrpSpPr>
            <p:grpSpPr>
              <a:xfrm>
                <a:off x="602181" y="1124056"/>
                <a:ext cx="5493819" cy="4343949"/>
                <a:chOff x="602181" y="1124056"/>
                <a:chExt cx="5493819" cy="4343949"/>
              </a:xfrm>
            </p:grpSpPr>
            <p:pic>
              <p:nvPicPr>
                <p:cNvPr id="7" name="Google Shape;166;p7">
                  <a:extLst>
                    <a:ext uri="{FF2B5EF4-FFF2-40B4-BE49-F238E27FC236}">
                      <a16:creationId xmlns:a16="http://schemas.microsoft.com/office/drawing/2014/main" id="{7F13EF8E-CCA6-852C-29D7-88B68636E89B}"/>
                    </a:ext>
                  </a:extLst>
                </p:cNvPr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602181" y="1124056"/>
                  <a:ext cx="5493819" cy="4343949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</p:pic>
            <p:sp>
              <p:nvSpPr>
                <p:cNvPr id="8" name="Google Shape;167;p7">
                  <a:extLst>
                    <a:ext uri="{FF2B5EF4-FFF2-40B4-BE49-F238E27FC236}">
                      <a16:creationId xmlns:a16="http://schemas.microsoft.com/office/drawing/2014/main" id="{ECBB9DEC-A2F1-C4BA-6F2A-7F7D0F6559B5}"/>
                    </a:ext>
                  </a:extLst>
                </p:cNvPr>
                <p:cNvSpPr/>
                <p:nvPr/>
              </p:nvSpPr>
              <p:spPr>
                <a:xfrm rot="1661086">
                  <a:off x="4433737" y="2346786"/>
                  <a:ext cx="756205" cy="2206866"/>
                </a:xfrm>
                <a:prstGeom prst="arc">
                  <a:avLst>
                    <a:gd name="adj1" fmla="val 16677855"/>
                    <a:gd name="adj2" fmla="val 4191882"/>
                  </a:avLst>
                </a:prstGeom>
                <a:noFill/>
                <a:ln w="63500" cap="flat" cmpd="sng">
                  <a:solidFill>
                    <a:srgbClr val="FF0000"/>
                  </a:solidFill>
                  <a:prstDash val="sysDash"/>
                  <a:miter lim="800000"/>
                  <a:headEnd type="none" w="sm" len="sm"/>
                  <a:tailEnd type="triangle" w="med" len="med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" name="Google Shape;168;p7">
                <a:extLst>
                  <a:ext uri="{FF2B5EF4-FFF2-40B4-BE49-F238E27FC236}">
                    <a16:creationId xmlns:a16="http://schemas.microsoft.com/office/drawing/2014/main" id="{FD2BA120-4949-568C-D84C-65E59BE8638D}"/>
                  </a:ext>
                </a:extLst>
              </p:cNvPr>
              <p:cNvSpPr/>
              <p:nvPr/>
            </p:nvSpPr>
            <p:spPr>
              <a:xfrm rot="8381796">
                <a:off x="1702178" y="2739358"/>
                <a:ext cx="756205" cy="1963741"/>
              </a:xfrm>
              <a:prstGeom prst="arc">
                <a:avLst>
                  <a:gd name="adj1" fmla="val 19169319"/>
                  <a:gd name="adj2" fmla="val 4343601"/>
                </a:avLst>
              </a:prstGeom>
              <a:noFill/>
              <a:ln w="635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" name="Google Shape;167;p7">
              <a:extLst>
                <a:ext uri="{FF2B5EF4-FFF2-40B4-BE49-F238E27FC236}">
                  <a16:creationId xmlns:a16="http://schemas.microsoft.com/office/drawing/2014/main" id="{8AD909DA-A684-81E4-6FE3-7F39C2FACEE9}"/>
                </a:ext>
              </a:extLst>
            </p:cNvPr>
            <p:cNvSpPr/>
            <p:nvPr/>
          </p:nvSpPr>
          <p:spPr>
            <a:xfrm rot="18384306">
              <a:off x="2255065" y="865973"/>
              <a:ext cx="1091526" cy="1410941"/>
            </a:xfrm>
            <a:prstGeom prst="arc">
              <a:avLst>
                <a:gd name="adj1" fmla="val 18542003"/>
                <a:gd name="adj2" fmla="val 2547941"/>
              </a:avLst>
            </a:prstGeom>
            <a:noFill/>
            <a:ln w="63500" cap="flat" cmpd="sng">
              <a:solidFill>
                <a:srgbClr val="FF0000"/>
              </a:solidFill>
              <a:prstDash val="sysDot"/>
              <a:miter lim="800000"/>
              <a:headEnd type="none" w="sm" len="sm"/>
              <a:tailEnd type="triangl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0D1B26-8B7D-1C96-4738-72C97F6B79F9}"/>
                </a:ext>
              </a:extLst>
            </p:cNvPr>
            <p:cNvSpPr txBox="1"/>
            <p:nvPr/>
          </p:nvSpPr>
          <p:spPr>
            <a:xfrm>
              <a:off x="2974404" y="802473"/>
              <a:ext cx="524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0C50036-6169-4A33-EF76-69FF4AF77250}"/>
                </a:ext>
              </a:extLst>
            </p:cNvPr>
            <p:cNvSpPr txBox="1"/>
            <p:nvPr/>
          </p:nvSpPr>
          <p:spPr>
            <a:xfrm>
              <a:off x="3226294" y="1950030"/>
              <a:ext cx="524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766ABF-7B45-9BBC-1879-6CF2E416206F}"/>
                </a:ext>
              </a:extLst>
            </p:cNvPr>
            <p:cNvSpPr txBox="1"/>
            <p:nvPr/>
          </p:nvSpPr>
          <p:spPr>
            <a:xfrm>
              <a:off x="824941" y="2288245"/>
              <a:ext cx="524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1572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 Step 2, we compute an albedo from that temperature anomaly 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760EFF3-4012-E68F-6E01-0AC78AA79A9C}"/>
              </a:ext>
            </a:extLst>
          </p:cNvPr>
          <p:cNvGrpSpPr/>
          <p:nvPr/>
        </p:nvGrpSpPr>
        <p:grpSpPr>
          <a:xfrm>
            <a:off x="990600" y="3362280"/>
            <a:ext cx="10699676" cy="3434180"/>
            <a:chOff x="990600" y="3362280"/>
            <a:chExt cx="10699676" cy="343418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5C09343-BE38-F262-89CD-A943B86708AB}"/>
                </a:ext>
              </a:extLst>
            </p:cNvPr>
            <p:cNvGrpSpPr/>
            <p:nvPr/>
          </p:nvGrpSpPr>
          <p:grpSpPr>
            <a:xfrm>
              <a:off x="2240960" y="3362280"/>
              <a:ext cx="9449316" cy="3434180"/>
              <a:chOff x="2240960" y="3362280"/>
              <a:chExt cx="9449316" cy="343418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DC2475E8-4F3E-E750-B0D5-D72FDA9C710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240960" y="3362280"/>
                <a:ext cx="9449316" cy="3434180"/>
                <a:chOff x="330960" y="1740196"/>
                <a:chExt cx="11362452" cy="4129475"/>
              </a:xfrm>
            </p:grpSpPr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D68EDA08-4C82-9151-AC88-0E0F9EFE88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14463" y="3895747"/>
                  <a:ext cx="2060462" cy="802935"/>
                </a:xfrm>
                <a:prstGeom prst="straightConnector1">
                  <a:avLst/>
                </a:prstGeom>
                <a:ln>
                  <a:noFill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27E9A1BA-2ADA-A10E-FFF4-C6942745C5A5}"/>
                    </a:ext>
                  </a:extLst>
                </p:cNvPr>
                <p:cNvSpPr/>
                <p:nvPr/>
              </p:nvSpPr>
              <p:spPr>
                <a:xfrm>
                  <a:off x="330960" y="1740196"/>
                  <a:ext cx="11362452" cy="4129475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1EAE47F8-4630-F317-EC19-AEA911683D19}"/>
                    </a:ext>
                  </a:extLst>
                </p:cNvPr>
                <p:cNvGrpSpPr/>
                <p:nvPr/>
              </p:nvGrpSpPr>
              <p:grpSpPr>
                <a:xfrm>
                  <a:off x="330960" y="1740196"/>
                  <a:ext cx="11362452" cy="1451291"/>
                  <a:chOff x="330960" y="1740196"/>
                  <a:chExt cx="11362452" cy="1451291"/>
                </a:xfrm>
                <a:noFill/>
              </p:grpSpPr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68422D4D-90B0-352D-8287-19D17BB4C8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330960" y="1740196"/>
                    <a:ext cx="11362452" cy="97917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</p:pic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B31C9743-CEE9-8105-BDB3-352531EDAEEE}"/>
                      </a:ext>
                    </a:extLst>
                  </p:cNvPr>
                  <p:cNvSpPr txBox="1"/>
                  <p:nvPr/>
                </p:nvSpPr>
                <p:spPr>
                  <a:xfrm>
                    <a:off x="845820" y="2729822"/>
                    <a:ext cx="2183130" cy="461665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…</a:t>
                    </a:r>
                  </a:p>
                </p:txBody>
              </p:sp>
            </p:grpSp>
          </p:grp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FE7BE2FA-6DBE-55C3-7CF6-F8D8FC3CAA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69131" y="4701363"/>
                <a:ext cx="6562240" cy="2004231"/>
              </a:xfrm>
              <a:prstGeom prst="rect">
                <a:avLst/>
              </a:prstGeom>
            </p:spPr>
          </p:pic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14B3754-8FF5-540A-AD5C-2A168C4A0612}"/>
                </a:ext>
              </a:extLst>
            </p:cNvPr>
            <p:cNvCxnSpPr>
              <a:cxnSpLocks/>
            </p:cNvCxnSpPr>
            <p:nvPr/>
          </p:nvCxnSpPr>
          <p:spPr>
            <a:xfrm>
              <a:off x="990600" y="5786059"/>
              <a:ext cx="1595942" cy="0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65543DD-0ED1-78EC-1CA7-11ACE68F69BC}"/>
              </a:ext>
            </a:extLst>
          </p:cNvPr>
          <p:cNvSpPr txBox="1"/>
          <p:nvPr/>
        </p:nvSpPr>
        <p:spPr>
          <a:xfrm>
            <a:off x="466344" y="5515441"/>
            <a:ext cx="52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2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1861A8-6428-F3FA-AE29-8A960A86DB0E}"/>
              </a:ext>
            </a:extLst>
          </p:cNvPr>
          <p:cNvGrpSpPr/>
          <p:nvPr/>
        </p:nvGrpSpPr>
        <p:grpSpPr>
          <a:xfrm>
            <a:off x="626765" y="760751"/>
            <a:ext cx="3202285" cy="2532039"/>
            <a:chOff x="626765" y="760751"/>
            <a:chExt cx="3202285" cy="253203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F9D1D2F-D5D0-C8E4-61C3-A0FB25C36CF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6765" y="760751"/>
              <a:ext cx="3202285" cy="2532039"/>
              <a:chOff x="602181" y="1124056"/>
              <a:chExt cx="5493819" cy="4343949"/>
            </a:xfrm>
          </p:grpSpPr>
          <p:grpSp>
            <p:nvGrpSpPr>
              <p:cNvPr id="3" name="Google Shape;165;p7">
                <a:extLst>
                  <a:ext uri="{FF2B5EF4-FFF2-40B4-BE49-F238E27FC236}">
                    <a16:creationId xmlns:a16="http://schemas.microsoft.com/office/drawing/2014/main" id="{59A6D83B-585F-D0F7-4476-BD52B05FEBAC}"/>
                  </a:ext>
                </a:extLst>
              </p:cNvPr>
              <p:cNvGrpSpPr/>
              <p:nvPr/>
            </p:nvGrpSpPr>
            <p:grpSpPr>
              <a:xfrm>
                <a:off x="602181" y="1124056"/>
                <a:ext cx="5493819" cy="4343949"/>
                <a:chOff x="602181" y="1124056"/>
                <a:chExt cx="5493819" cy="4343949"/>
              </a:xfrm>
            </p:grpSpPr>
            <p:pic>
              <p:nvPicPr>
                <p:cNvPr id="7" name="Google Shape;166;p7">
                  <a:extLst>
                    <a:ext uri="{FF2B5EF4-FFF2-40B4-BE49-F238E27FC236}">
                      <a16:creationId xmlns:a16="http://schemas.microsoft.com/office/drawing/2014/main" id="{7F13EF8E-CCA6-852C-29D7-88B68636E89B}"/>
                    </a:ext>
                  </a:extLst>
                </p:cNvPr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602181" y="1124056"/>
                  <a:ext cx="5493819" cy="4343949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</p:pic>
            <p:sp>
              <p:nvSpPr>
                <p:cNvPr id="8" name="Google Shape;167;p7">
                  <a:extLst>
                    <a:ext uri="{FF2B5EF4-FFF2-40B4-BE49-F238E27FC236}">
                      <a16:creationId xmlns:a16="http://schemas.microsoft.com/office/drawing/2014/main" id="{ECBB9DEC-A2F1-C4BA-6F2A-7F7D0F6559B5}"/>
                    </a:ext>
                  </a:extLst>
                </p:cNvPr>
                <p:cNvSpPr/>
                <p:nvPr/>
              </p:nvSpPr>
              <p:spPr>
                <a:xfrm rot="1661086">
                  <a:off x="4433737" y="2346786"/>
                  <a:ext cx="756205" cy="2206866"/>
                </a:xfrm>
                <a:prstGeom prst="arc">
                  <a:avLst>
                    <a:gd name="adj1" fmla="val 16677855"/>
                    <a:gd name="adj2" fmla="val 4191882"/>
                  </a:avLst>
                </a:prstGeom>
                <a:noFill/>
                <a:ln w="63500" cap="flat" cmpd="sng">
                  <a:solidFill>
                    <a:srgbClr val="FF0000"/>
                  </a:solidFill>
                  <a:prstDash val="sysDash"/>
                  <a:miter lim="800000"/>
                  <a:headEnd type="none" w="sm" len="sm"/>
                  <a:tailEnd type="triangle" w="med" len="med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" name="Google Shape;168;p7">
                <a:extLst>
                  <a:ext uri="{FF2B5EF4-FFF2-40B4-BE49-F238E27FC236}">
                    <a16:creationId xmlns:a16="http://schemas.microsoft.com/office/drawing/2014/main" id="{FD2BA120-4949-568C-D84C-65E59BE8638D}"/>
                  </a:ext>
                </a:extLst>
              </p:cNvPr>
              <p:cNvSpPr/>
              <p:nvPr/>
            </p:nvSpPr>
            <p:spPr>
              <a:xfrm rot="8381796">
                <a:off x="1702178" y="2739358"/>
                <a:ext cx="756205" cy="1963741"/>
              </a:xfrm>
              <a:prstGeom prst="arc">
                <a:avLst>
                  <a:gd name="adj1" fmla="val 19169319"/>
                  <a:gd name="adj2" fmla="val 4343601"/>
                </a:avLst>
              </a:prstGeom>
              <a:noFill/>
              <a:ln w="635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" name="Google Shape;167;p7">
              <a:extLst>
                <a:ext uri="{FF2B5EF4-FFF2-40B4-BE49-F238E27FC236}">
                  <a16:creationId xmlns:a16="http://schemas.microsoft.com/office/drawing/2014/main" id="{8AD909DA-A684-81E4-6FE3-7F39C2FACEE9}"/>
                </a:ext>
              </a:extLst>
            </p:cNvPr>
            <p:cNvSpPr/>
            <p:nvPr/>
          </p:nvSpPr>
          <p:spPr>
            <a:xfrm rot="18384306">
              <a:off x="2255065" y="865973"/>
              <a:ext cx="1091526" cy="1410941"/>
            </a:xfrm>
            <a:prstGeom prst="arc">
              <a:avLst>
                <a:gd name="adj1" fmla="val 18542003"/>
                <a:gd name="adj2" fmla="val 2547941"/>
              </a:avLst>
            </a:prstGeom>
            <a:noFill/>
            <a:ln w="63500" cap="flat" cmpd="sng">
              <a:solidFill>
                <a:srgbClr val="FF0000"/>
              </a:solidFill>
              <a:prstDash val="sysDot"/>
              <a:miter lim="800000"/>
              <a:headEnd type="none" w="sm" len="sm"/>
              <a:tailEnd type="triangl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0D1B26-8B7D-1C96-4738-72C97F6B79F9}"/>
                </a:ext>
              </a:extLst>
            </p:cNvPr>
            <p:cNvSpPr txBox="1"/>
            <p:nvPr/>
          </p:nvSpPr>
          <p:spPr>
            <a:xfrm>
              <a:off x="2974404" y="802473"/>
              <a:ext cx="524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0C50036-6169-4A33-EF76-69FF4AF77250}"/>
                </a:ext>
              </a:extLst>
            </p:cNvPr>
            <p:cNvSpPr txBox="1"/>
            <p:nvPr/>
          </p:nvSpPr>
          <p:spPr>
            <a:xfrm>
              <a:off x="3226294" y="1950030"/>
              <a:ext cx="524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766ABF-7B45-9BBC-1879-6CF2E416206F}"/>
                </a:ext>
              </a:extLst>
            </p:cNvPr>
            <p:cNvSpPr txBox="1"/>
            <p:nvPr/>
          </p:nvSpPr>
          <p:spPr>
            <a:xfrm>
              <a:off x="824941" y="2288245"/>
              <a:ext cx="524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0447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0" y="2574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Code, graphics, and math of Step 2 …</a:t>
            </a:r>
            <a:endParaRPr lang="en-US" sz="2400" dirty="0"/>
          </a:p>
        </p:txBody>
      </p:sp>
      <p:grpSp>
        <p:nvGrpSpPr>
          <p:cNvPr id="106" name="Google Shape;106;p3"/>
          <p:cNvGrpSpPr/>
          <p:nvPr/>
        </p:nvGrpSpPr>
        <p:grpSpPr>
          <a:xfrm>
            <a:off x="769014" y="1956519"/>
            <a:ext cx="5410028" cy="3588831"/>
            <a:chOff x="6274919" y="2647500"/>
            <a:chExt cx="5410028" cy="3588831"/>
          </a:xfrm>
        </p:grpSpPr>
        <p:grpSp>
          <p:nvGrpSpPr>
            <p:cNvPr id="107" name="Google Shape;107;p3"/>
            <p:cNvGrpSpPr/>
            <p:nvPr/>
          </p:nvGrpSpPr>
          <p:grpSpPr>
            <a:xfrm>
              <a:off x="6744781" y="2647500"/>
              <a:ext cx="4940166" cy="3588831"/>
              <a:chOff x="6992754" y="1795093"/>
              <a:chExt cx="4940166" cy="3588831"/>
            </a:xfrm>
          </p:grpSpPr>
          <p:pic>
            <p:nvPicPr>
              <p:cNvPr id="108" name="Google Shape;108;p3"/>
              <p:cNvPicPr preferRelativeResize="0"/>
              <p:nvPr/>
            </p:nvPicPr>
            <p:blipFill rotWithShape="1">
              <a:blip r:embed="rId3">
                <a:alphaModFix/>
              </a:blip>
              <a:srcRect l="3527"/>
              <a:stretch/>
            </p:blipFill>
            <p:spPr>
              <a:xfrm>
                <a:off x="6992754" y="1795093"/>
                <a:ext cx="4940166" cy="328226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9" name="Google Shape;109;p3"/>
              <p:cNvSpPr txBox="1"/>
              <p:nvPr/>
            </p:nvSpPr>
            <p:spPr>
              <a:xfrm>
                <a:off x="8790345" y="4985417"/>
                <a:ext cx="1171575" cy="398507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l="-7527" r="-6452" b="-21212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sp>
          <p:nvSpPr>
            <p:cNvPr id="110" name="Google Shape;110;p3"/>
            <p:cNvSpPr txBox="1"/>
            <p:nvPr/>
          </p:nvSpPr>
          <p:spPr>
            <a:xfrm>
              <a:off x="6274919" y="3876448"/>
              <a:ext cx="262571" cy="36933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l="-13636" r="-909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dirty="0"/>
            </a:p>
          </p:txBody>
        </p:sp>
      </p:grpSp>
      <p:sp>
        <p:nvSpPr>
          <p:cNvPr id="111" name="Google Shape;111;p3"/>
          <p:cNvSpPr txBox="1"/>
          <p:nvPr/>
        </p:nvSpPr>
        <p:spPr>
          <a:xfrm>
            <a:off x="644793" y="6058794"/>
            <a:ext cx="6719917" cy="39895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t="-3030" b="-27272"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12" name="Google Shape;112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4793" y="793607"/>
            <a:ext cx="7200900" cy="685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AE0894-94DC-86B5-A617-FC00A7021C8E}"/>
              </a:ext>
            </a:extLst>
          </p:cNvPr>
          <p:cNvSpPr txBox="1"/>
          <p:nvPr/>
        </p:nvSpPr>
        <p:spPr>
          <a:xfrm>
            <a:off x="8364689" y="721008"/>
            <a:ext cx="25041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Here’s the code we just saw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B1C721-C084-5711-10FA-A4960386A3B7}"/>
              </a:ext>
            </a:extLst>
          </p:cNvPr>
          <p:cNvSpPr txBox="1"/>
          <p:nvPr/>
        </p:nvSpPr>
        <p:spPr>
          <a:xfrm>
            <a:off x="6593624" y="3152405"/>
            <a:ext cx="2867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Here’s what it does graphically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46AF2-F5C3-C18F-C522-F82A7CE81C89}"/>
              </a:ext>
            </a:extLst>
          </p:cNvPr>
          <p:cNvSpPr txBox="1"/>
          <p:nvPr/>
        </p:nvSpPr>
        <p:spPr>
          <a:xfrm>
            <a:off x="7845692" y="5842772"/>
            <a:ext cx="38098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Here’s what it does mathematically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 Step 3, we compute a temperature anomaly from the (new) albedo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760EFF3-4012-E68F-6E01-0AC78AA79A9C}"/>
              </a:ext>
            </a:extLst>
          </p:cNvPr>
          <p:cNvGrpSpPr/>
          <p:nvPr/>
        </p:nvGrpSpPr>
        <p:grpSpPr>
          <a:xfrm>
            <a:off x="990600" y="3362280"/>
            <a:ext cx="10699676" cy="3434180"/>
            <a:chOff x="990600" y="3362280"/>
            <a:chExt cx="10699676" cy="343418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5C09343-BE38-F262-89CD-A943B86708AB}"/>
                </a:ext>
              </a:extLst>
            </p:cNvPr>
            <p:cNvGrpSpPr/>
            <p:nvPr/>
          </p:nvGrpSpPr>
          <p:grpSpPr>
            <a:xfrm>
              <a:off x="2240960" y="3362280"/>
              <a:ext cx="9449316" cy="3434180"/>
              <a:chOff x="2240960" y="3362280"/>
              <a:chExt cx="9449316" cy="343418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DC2475E8-4F3E-E750-B0D5-D72FDA9C710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240960" y="3362280"/>
                <a:ext cx="9449316" cy="3434180"/>
                <a:chOff x="330960" y="1740196"/>
                <a:chExt cx="11362452" cy="4129475"/>
              </a:xfrm>
            </p:grpSpPr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D68EDA08-4C82-9151-AC88-0E0F9EFE88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14463" y="3895747"/>
                  <a:ext cx="2060462" cy="802935"/>
                </a:xfrm>
                <a:prstGeom prst="straightConnector1">
                  <a:avLst/>
                </a:prstGeom>
                <a:ln>
                  <a:noFill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27E9A1BA-2ADA-A10E-FFF4-C6942745C5A5}"/>
                    </a:ext>
                  </a:extLst>
                </p:cNvPr>
                <p:cNvSpPr/>
                <p:nvPr/>
              </p:nvSpPr>
              <p:spPr>
                <a:xfrm>
                  <a:off x="330960" y="1740196"/>
                  <a:ext cx="11362452" cy="4129475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1EAE47F8-4630-F317-EC19-AEA911683D19}"/>
                    </a:ext>
                  </a:extLst>
                </p:cNvPr>
                <p:cNvGrpSpPr/>
                <p:nvPr/>
              </p:nvGrpSpPr>
              <p:grpSpPr>
                <a:xfrm>
                  <a:off x="330960" y="1740196"/>
                  <a:ext cx="11362452" cy="1451291"/>
                  <a:chOff x="330960" y="1740196"/>
                  <a:chExt cx="11362452" cy="1451291"/>
                </a:xfrm>
                <a:noFill/>
              </p:grpSpPr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68422D4D-90B0-352D-8287-19D17BB4C8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330960" y="1740196"/>
                    <a:ext cx="11362452" cy="97917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</p:pic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B31C9743-CEE9-8105-BDB3-352531EDAEEE}"/>
                      </a:ext>
                    </a:extLst>
                  </p:cNvPr>
                  <p:cNvSpPr txBox="1"/>
                  <p:nvPr/>
                </p:nvSpPr>
                <p:spPr>
                  <a:xfrm>
                    <a:off x="845820" y="2729822"/>
                    <a:ext cx="2183130" cy="461665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…</a:t>
                    </a:r>
                  </a:p>
                </p:txBody>
              </p:sp>
            </p:grpSp>
          </p:grp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FE7BE2FA-6DBE-55C3-7CF6-F8D8FC3CAA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69131" y="4701363"/>
                <a:ext cx="6562240" cy="2004231"/>
              </a:xfrm>
              <a:prstGeom prst="rect">
                <a:avLst/>
              </a:prstGeom>
            </p:spPr>
          </p:pic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8CABF35-0C14-A465-056B-C8AC5B6FA41C}"/>
                </a:ext>
              </a:extLst>
            </p:cNvPr>
            <p:cNvCxnSpPr>
              <a:cxnSpLocks/>
            </p:cNvCxnSpPr>
            <p:nvPr/>
          </p:nvCxnSpPr>
          <p:spPr>
            <a:xfrm>
              <a:off x="990600" y="6471699"/>
              <a:ext cx="1595942" cy="0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DCDF7F8-0E2F-0DCE-9D45-8212D4208C6E}"/>
              </a:ext>
            </a:extLst>
          </p:cNvPr>
          <p:cNvSpPr txBox="1"/>
          <p:nvPr/>
        </p:nvSpPr>
        <p:spPr>
          <a:xfrm>
            <a:off x="459418" y="6201080"/>
            <a:ext cx="52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3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E9DDAA-01C4-731E-EBA3-D90965E29032}"/>
              </a:ext>
            </a:extLst>
          </p:cNvPr>
          <p:cNvGrpSpPr/>
          <p:nvPr/>
        </p:nvGrpSpPr>
        <p:grpSpPr>
          <a:xfrm>
            <a:off x="626765" y="760751"/>
            <a:ext cx="3202285" cy="2532039"/>
            <a:chOff x="626765" y="760751"/>
            <a:chExt cx="3202285" cy="253203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F9D1D2F-D5D0-C8E4-61C3-A0FB25C36CF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6765" y="760751"/>
              <a:ext cx="3202285" cy="2532039"/>
              <a:chOff x="602181" y="1124056"/>
              <a:chExt cx="5493819" cy="4343949"/>
            </a:xfrm>
          </p:grpSpPr>
          <p:grpSp>
            <p:nvGrpSpPr>
              <p:cNvPr id="3" name="Google Shape;165;p7">
                <a:extLst>
                  <a:ext uri="{FF2B5EF4-FFF2-40B4-BE49-F238E27FC236}">
                    <a16:creationId xmlns:a16="http://schemas.microsoft.com/office/drawing/2014/main" id="{59A6D83B-585F-D0F7-4476-BD52B05FEBAC}"/>
                  </a:ext>
                </a:extLst>
              </p:cNvPr>
              <p:cNvGrpSpPr/>
              <p:nvPr/>
            </p:nvGrpSpPr>
            <p:grpSpPr>
              <a:xfrm>
                <a:off x="602181" y="1124056"/>
                <a:ext cx="5493819" cy="4343949"/>
                <a:chOff x="602181" y="1124056"/>
                <a:chExt cx="5493819" cy="4343949"/>
              </a:xfrm>
            </p:grpSpPr>
            <p:pic>
              <p:nvPicPr>
                <p:cNvPr id="7" name="Google Shape;166;p7">
                  <a:extLst>
                    <a:ext uri="{FF2B5EF4-FFF2-40B4-BE49-F238E27FC236}">
                      <a16:creationId xmlns:a16="http://schemas.microsoft.com/office/drawing/2014/main" id="{7F13EF8E-CCA6-852C-29D7-88B68636E89B}"/>
                    </a:ext>
                  </a:extLst>
                </p:cNvPr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602181" y="1124056"/>
                  <a:ext cx="5493819" cy="4343949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</p:pic>
            <p:sp>
              <p:nvSpPr>
                <p:cNvPr id="8" name="Google Shape;167;p7">
                  <a:extLst>
                    <a:ext uri="{FF2B5EF4-FFF2-40B4-BE49-F238E27FC236}">
                      <a16:creationId xmlns:a16="http://schemas.microsoft.com/office/drawing/2014/main" id="{ECBB9DEC-A2F1-C4BA-6F2A-7F7D0F6559B5}"/>
                    </a:ext>
                  </a:extLst>
                </p:cNvPr>
                <p:cNvSpPr/>
                <p:nvPr/>
              </p:nvSpPr>
              <p:spPr>
                <a:xfrm rot="1661086">
                  <a:off x="4433737" y="2346786"/>
                  <a:ext cx="756205" cy="2206866"/>
                </a:xfrm>
                <a:prstGeom prst="arc">
                  <a:avLst>
                    <a:gd name="adj1" fmla="val 16677855"/>
                    <a:gd name="adj2" fmla="val 4191882"/>
                  </a:avLst>
                </a:prstGeom>
                <a:noFill/>
                <a:ln w="63500" cap="flat" cmpd="sng">
                  <a:solidFill>
                    <a:srgbClr val="FF0000"/>
                  </a:solidFill>
                  <a:prstDash val="sysDash"/>
                  <a:miter lim="800000"/>
                  <a:headEnd type="none" w="sm" len="sm"/>
                  <a:tailEnd type="triangle" w="med" len="med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" name="Google Shape;168;p7">
                <a:extLst>
                  <a:ext uri="{FF2B5EF4-FFF2-40B4-BE49-F238E27FC236}">
                    <a16:creationId xmlns:a16="http://schemas.microsoft.com/office/drawing/2014/main" id="{FD2BA120-4949-568C-D84C-65E59BE8638D}"/>
                  </a:ext>
                </a:extLst>
              </p:cNvPr>
              <p:cNvSpPr/>
              <p:nvPr/>
            </p:nvSpPr>
            <p:spPr>
              <a:xfrm rot="8381796">
                <a:off x="1702178" y="2739358"/>
                <a:ext cx="756205" cy="1963741"/>
              </a:xfrm>
              <a:prstGeom prst="arc">
                <a:avLst>
                  <a:gd name="adj1" fmla="val 19169319"/>
                  <a:gd name="adj2" fmla="val 4343601"/>
                </a:avLst>
              </a:prstGeom>
              <a:noFill/>
              <a:ln w="635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" name="Google Shape;167;p7">
              <a:extLst>
                <a:ext uri="{FF2B5EF4-FFF2-40B4-BE49-F238E27FC236}">
                  <a16:creationId xmlns:a16="http://schemas.microsoft.com/office/drawing/2014/main" id="{8AD909DA-A684-81E4-6FE3-7F39C2FACEE9}"/>
                </a:ext>
              </a:extLst>
            </p:cNvPr>
            <p:cNvSpPr/>
            <p:nvPr/>
          </p:nvSpPr>
          <p:spPr>
            <a:xfrm rot="18384306">
              <a:off x="2255065" y="865973"/>
              <a:ext cx="1091526" cy="1410941"/>
            </a:xfrm>
            <a:prstGeom prst="arc">
              <a:avLst>
                <a:gd name="adj1" fmla="val 18542003"/>
                <a:gd name="adj2" fmla="val 2547941"/>
              </a:avLst>
            </a:prstGeom>
            <a:noFill/>
            <a:ln w="63500" cap="flat" cmpd="sng">
              <a:solidFill>
                <a:srgbClr val="FF0000"/>
              </a:solidFill>
              <a:prstDash val="sysDot"/>
              <a:miter lim="800000"/>
              <a:headEnd type="none" w="sm" len="sm"/>
              <a:tailEnd type="triangl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0D1B26-8B7D-1C96-4738-72C97F6B79F9}"/>
                </a:ext>
              </a:extLst>
            </p:cNvPr>
            <p:cNvSpPr txBox="1"/>
            <p:nvPr/>
          </p:nvSpPr>
          <p:spPr>
            <a:xfrm>
              <a:off x="2974404" y="802473"/>
              <a:ext cx="524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0C50036-6169-4A33-EF76-69FF4AF77250}"/>
                </a:ext>
              </a:extLst>
            </p:cNvPr>
            <p:cNvSpPr txBox="1"/>
            <p:nvPr/>
          </p:nvSpPr>
          <p:spPr>
            <a:xfrm>
              <a:off x="3226294" y="1950030"/>
              <a:ext cx="524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766ABF-7B45-9BBC-1879-6CF2E416206F}"/>
                </a:ext>
              </a:extLst>
            </p:cNvPr>
            <p:cNvSpPr txBox="1"/>
            <p:nvPr/>
          </p:nvSpPr>
          <p:spPr>
            <a:xfrm>
              <a:off x="824941" y="2288245"/>
              <a:ext cx="524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5663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0" y="2574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Code, graphics, and math of Step 3 …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AE0894-94DC-86B5-A617-FC00A7021C8E}"/>
              </a:ext>
            </a:extLst>
          </p:cNvPr>
          <p:cNvSpPr txBox="1"/>
          <p:nvPr/>
        </p:nvSpPr>
        <p:spPr>
          <a:xfrm>
            <a:off x="8608529" y="561826"/>
            <a:ext cx="25041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Here’s the code we just saw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B1C721-C084-5711-10FA-A4960386A3B7}"/>
              </a:ext>
            </a:extLst>
          </p:cNvPr>
          <p:cNvSpPr txBox="1"/>
          <p:nvPr/>
        </p:nvSpPr>
        <p:spPr>
          <a:xfrm>
            <a:off x="7959128" y="2896156"/>
            <a:ext cx="2867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Here’s what it does graphically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46AF2-F5C3-C18F-C522-F82A7CE81C89}"/>
              </a:ext>
            </a:extLst>
          </p:cNvPr>
          <p:cNvSpPr txBox="1"/>
          <p:nvPr/>
        </p:nvSpPr>
        <p:spPr>
          <a:xfrm>
            <a:off x="9207737" y="5805581"/>
            <a:ext cx="38098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Here’s what it does mathematically</a:t>
            </a:r>
          </a:p>
        </p:txBody>
      </p:sp>
      <p:pic>
        <p:nvPicPr>
          <p:cNvPr id="5" name="Google Shape;157;p6">
            <a:extLst>
              <a:ext uri="{FF2B5EF4-FFF2-40B4-BE49-F238E27FC236}">
                <a16:creationId xmlns:a16="http://schemas.microsoft.com/office/drawing/2014/main" id="{8534C001-5141-CAEA-F9DB-B0BF47312B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839" y="5976436"/>
            <a:ext cx="8904134" cy="59918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" name="Google Shape;156;p6">
            <a:extLst>
              <a:ext uri="{FF2B5EF4-FFF2-40B4-BE49-F238E27FC236}">
                <a16:creationId xmlns:a16="http://schemas.microsoft.com/office/drawing/2014/main" id="{6CA6BCFD-997A-BF52-983B-BA9509824F5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1842" y="656197"/>
            <a:ext cx="7772400" cy="65157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7" name="Google Shape;150;p6">
            <a:extLst>
              <a:ext uri="{FF2B5EF4-FFF2-40B4-BE49-F238E27FC236}">
                <a16:creationId xmlns:a16="http://schemas.microsoft.com/office/drawing/2014/main" id="{C6B42894-62C1-1079-6FBD-F6B2970FE8D7}"/>
              </a:ext>
            </a:extLst>
          </p:cNvPr>
          <p:cNvGrpSpPr/>
          <p:nvPr/>
        </p:nvGrpSpPr>
        <p:grpSpPr>
          <a:xfrm>
            <a:off x="451597" y="1551549"/>
            <a:ext cx="6758555" cy="3653436"/>
            <a:chOff x="4757407" y="1565888"/>
            <a:chExt cx="6758555" cy="3653436"/>
          </a:xfrm>
        </p:grpSpPr>
        <p:pic>
          <p:nvPicPr>
            <p:cNvPr id="8" name="Google Shape;151;p6">
              <a:extLst>
                <a:ext uri="{FF2B5EF4-FFF2-40B4-BE49-F238E27FC236}">
                  <a16:creationId xmlns:a16="http://schemas.microsoft.com/office/drawing/2014/main" id="{2666ABAA-E13B-F2C3-EE84-1AB7355D523F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303470" y="1565888"/>
              <a:ext cx="5212492" cy="337764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" name="Google Shape;152;p6">
              <a:extLst>
                <a:ext uri="{FF2B5EF4-FFF2-40B4-BE49-F238E27FC236}">
                  <a16:creationId xmlns:a16="http://schemas.microsoft.com/office/drawing/2014/main" id="{F8D85DBC-DF2F-EF8B-2284-FF619B25195A}"/>
                </a:ext>
              </a:extLst>
            </p:cNvPr>
            <p:cNvGrpSpPr/>
            <p:nvPr/>
          </p:nvGrpSpPr>
          <p:grpSpPr>
            <a:xfrm>
              <a:off x="4757407" y="2676225"/>
              <a:ext cx="4414880" cy="2543099"/>
              <a:chOff x="4757407" y="2893202"/>
              <a:chExt cx="4414880" cy="2543099"/>
            </a:xfrm>
          </p:grpSpPr>
          <p:sp>
            <p:nvSpPr>
              <p:cNvPr id="10" name="Google Shape;153;p6">
                <a:extLst>
                  <a:ext uri="{FF2B5EF4-FFF2-40B4-BE49-F238E27FC236}">
                    <a16:creationId xmlns:a16="http://schemas.microsoft.com/office/drawing/2014/main" id="{6C9DB2B8-2E32-E9E6-122F-EC2742C9572D}"/>
                  </a:ext>
                </a:extLst>
              </p:cNvPr>
              <p:cNvSpPr txBox="1"/>
              <p:nvPr/>
            </p:nvSpPr>
            <p:spPr>
              <a:xfrm>
                <a:off x="8909716" y="5066969"/>
                <a:ext cx="262571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l="-13636" r="-9090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1" name="Google Shape;154;p6">
                <a:extLst>
                  <a:ext uri="{FF2B5EF4-FFF2-40B4-BE49-F238E27FC236}">
                    <a16:creationId xmlns:a16="http://schemas.microsoft.com/office/drawing/2014/main" id="{227E14BD-A4E1-5B50-CDBC-8EDA0EB10308}"/>
                  </a:ext>
                </a:extLst>
              </p:cNvPr>
              <p:cNvSpPr txBox="1"/>
              <p:nvPr/>
            </p:nvSpPr>
            <p:spPr>
              <a:xfrm>
                <a:off x="4757407" y="2893202"/>
                <a:ext cx="1171575" cy="398507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l="-7447" r="-5319" b="-21212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56291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OK, let’s get started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B6305E-54F0-F575-A0C5-52DB837C8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31" y="1035625"/>
            <a:ext cx="10784637" cy="53607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 txBox="1"/>
          <p:nvPr/>
        </p:nvSpPr>
        <p:spPr>
          <a:xfrm>
            <a:off x="0" y="2574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Ice/albedo feedback handout</a:t>
            </a:r>
            <a:endParaRPr/>
          </a:p>
        </p:txBody>
      </p:sp>
      <p:pic>
        <p:nvPicPr>
          <p:cNvPr id="190" name="Google Shape;19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181" y="1124056"/>
            <a:ext cx="5493819" cy="434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9"/>
          <p:cNvPicPr preferRelativeResize="0"/>
          <p:nvPr/>
        </p:nvPicPr>
        <p:blipFill rotWithShape="1">
          <a:blip r:embed="rId4">
            <a:alphaModFix/>
          </a:blip>
          <a:srcRect l="3527"/>
          <a:stretch/>
        </p:blipFill>
        <p:spPr>
          <a:xfrm>
            <a:off x="7612893" y="630491"/>
            <a:ext cx="3977327" cy="23983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" name="Google Shape;196;p9"/>
          <p:cNvGrpSpPr/>
          <p:nvPr/>
        </p:nvGrpSpPr>
        <p:grpSpPr>
          <a:xfrm>
            <a:off x="6030097" y="3848817"/>
            <a:ext cx="5559725" cy="2729756"/>
            <a:chOff x="4569529" y="1847836"/>
            <a:chExt cx="6511322" cy="3371488"/>
          </a:xfrm>
        </p:grpSpPr>
        <p:pic>
          <p:nvPicPr>
            <p:cNvPr id="197" name="Google Shape;197;p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303470" y="1847836"/>
              <a:ext cx="4777381" cy="309569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8" name="Google Shape;198;p9"/>
            <p:cNvGrpSpPr/>
            <p:nvPr/>
          </p:nvGrpSpPr>
          <p:grpSpPr>
            <a:xfrm>
              <a:off x="4569529" y="2841229"/>
              <a:ext cx="4602758" cy="2378095"/>
              <a:chOff x="4569529" y="3058206"/>
              <a:chExt cx="4602758" cy="2378095"/>
            </a:xfrm>
          </p:grpSpPr>
          <p:sp>
            <p:nvSpPr>
              <p:cNvPr id="199" name="Google Shape;199;p9"/>
              <p:cNvSpPr txBox="1"/>
              <p:nvPr/>
            </p:nvSpPr>
            <p:spPr>
              <a:xfrm>
                <a:off x="8909716" y="5066969"/>
                <a:ext cx="262571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l="-21053" r="-21053" b="-25000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dirty="0"/>
              </a:p>
            </p:txBody>
          </p:sp>
          <p:sp>
            <p:nvSpPr>
              <p:cNvPr id="200" name="Google Shape;200;p9"/>
              <p:cNvSpPr txBox="1"/>
              <p:nvPr/>
            </p:nvSpPr>
            <p:spPr>
              <a:xfrm>
                <a:off x="4569529" y="3058206"/>
                <a:ext cx="1791828" cy="492191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-25000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2" name="Google Shape;200;p9">
            <a:extLst>
              <a:ext uri="{FF2B5EF4-FFF2-40B4-BE49-F238E27FC236}">
                <a16:creationId xmlns:a16="http://schemas.microsoft.com/office/drawing/2014/main" id="{8D3C336F-D020-F306-542E-245F45E22B54}"/>
              </a:ext>
            </a:extLst>
          </p:cNvPr>
          <p:cNvSpPr txBox="1"/>
          <p:nvPr/>
        </p:nvSpPr>
        <p:spPr>
          <a:xfrm>
            <a:off x="8836575" y="2955307"/>
            <a:ext cx="1529961" cy="39850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500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" name="Google Shape;199;p9">
            <a:extLst>
              <a:ext uri="{FF2B5EF4-FFF2-40B4-BE49-F238E27FC236}">
                <a16:creationId xmlns:a16="http://schemas.microsoft.com/office/drawing/2014/main" id="{B26F4990-6E22-5433-A0B6-199F453EDC44}"/>
              </a:ext>
            </a:extLst>
          </p:cNvPr>
          <p:cNvSpPr txBox="1"/>
          <p:nvPr/>
        </p:nvSpPr>
        <p:spPr>
          <a:xfrm>
            <a:off x="7230531" y="1399732"/>
            <a:ext cx="224198" cy="29903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21053" r="-21053" b="-2500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174</Words>
  <Application>Microsoft Macintosh PowerPoint</Application>
  <PresentationFormat>Widescreen</PresentationFormat>
  <Paragraphs>43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5</cp:revision>
  <dcterms:created xsi:type="dcterms:W3CDTF">2024-11-09T18:22:06Z</dcterms:created>
  <dcterms:modified xsi:type="dcterms:W3CDTF">2026-04-12T20:05:55Z</dcterms:modified>
</cp:coreProperties>
</file>