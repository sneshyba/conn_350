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00" r:id="rId2"/>
    <p:sldId id="2015" r:id="rId3"/>
    <p:sldId id="299" r:id="rId4"/>
    <p:sldId id="323" r:id="rId5"/>
    <p:sldId id="449" r:id="rId6"/>
    <p:sldId id="493" r:id="rId7"/>
    <p:sldId id="450" r:id="rId8"/>
    <p:sldId id="436" r:id="rId9"/>
    <p:sldId id="483" r:id="rId10"/>
    <p:sldId id="2014" r:id="rId11"/>
    <p:sldId id="2025" r:id="rId12"/>
    <p:sldId id="194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53"/>
    <p:restoredTop sz="94659"/>
  </p:normalViewPr>
  <p:slideViewPr>
    <p:cSldViewPr snapToGrid="0">
      <p:cViewPr varScale="1">
        <p:scale>
          <a:sx n="106" d="100"/>
          <a:sy n="106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35970-34FB-D34A-B888-769264986A4C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2C138-8030-494D-8A75-EC823821F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81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10819-0BA3-625F-B84B-5ADC7A09E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C47DA-5BFB-C221-F5D3-BDA2EEF81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6FFF8-4BA6-BACC-CBF6-1540AA6F3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6A72-8F67-114E-8F8C-3B0C4833CF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17049-7E48-1A6B-06A8-A1B3DA92E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5C8D1-D3DA-8998-D9D1-1B5DD1C1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F964-2CD9-054A-853E-1A2DC46A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8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76063-1AEE-33C4-E6FB-AC9435D24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B1357-09A0-2064-6934-C652546F8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32C38-F7DF-40D9-3C7E-C8EC27FE7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6A72-8F67-114E-8F8C-3B0C4833CF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1A108-51D5-7D3B-8EAA-4898074B1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03EB6-0C1B-7A36-DFA9-DA2525BB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F964-2CD9-054A-853E-1A2DC46A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09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0404-B8AD-85AC-43D3-7899CA587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1CCF3-91DC-B7B3-BDF8-C29002266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C0F6A-E7FB-E85E-6639-05212A3FA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6A72-8F67-114E-8F8C-3B0C4833CF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78C7D-9197-8FE8-DEBC-848E897A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24C17-A203-1999-0620-67532C10C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F964-2CD9-054A-853E-1A2DC46A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03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051E2-31DC-4A6B-E80E-2BDEC499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76D22-F267-D947-5F1D-6A7968C6E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E1CA0-3060-7733-DC88-927D28912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617B8-8870-A6A0-0C33-26E4B0127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6A72-8F67-114E-8F8C-3B0C4833CF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3AB4F-4D44-E132-FEC0-8F2CA4B47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43117-C208-FB14-7D6B-E2A0AD99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F964-2CD9-054A-853E-1A2DC46A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7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3345-1A59-4B61-5711-8960D59C6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24426-38AE-965D-B3BA-5B7E43857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A55AE-0E73-BA18-0497-A790E17FA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21FF2-182E-5528-B2DA-8888782ED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2120B2-4550-194A-3AF5-17C5CADE09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3AF46B-E2F5-6F05-6450-87AAE8242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6A72-8F67-114E-8F8C-3B0C4833CF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CEA768-D724-2697-B466-9E1EE73AC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10E66E-BBAE-3B8A-7CF5-190973EFA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F964-2CD9-054A-853E-1A2DC46A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76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DEA4-B837-DF8C-2CA5-8A741382C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F2D90-5520-D303-3EBB-543E2C8F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6A72-8F67-114E-8F8C-3B0C4833CF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DC41C-F809-B4C6-831F-3F4A8B29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49A1A-B8AF-1DD7-8220-1E7782F3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F964-2CD9-054A-853E-1A2DC46A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7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88C435-3AD7-E8A0-C8C8-DDB7C0E7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6A72-8F67-114E-8F8C-3B0C4833CF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63922-5B1E-C13A-0871-BD73D9150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E5C96-68A0-7746-A04E-72E92916B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F964-2CD9-054A-853E-1A2DC46A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45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AD31-443A-0BC8-B2C1-DCB10ED0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1C1B8-2FBB-B8A6-94D0-3CA15A864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B6C34-467E-DDA4-10B3-56D423A2D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8FE71-C349-008A-5AB8-57D62B96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6A72-8F67-114E-8F8C-3B0C4833CF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84902-0905-1254-04FA-FB65A8933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3A507-5F66-35ED-6106-761FA6B8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F964-2CD9-054A-853E-1A2DC46A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73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88858-4345-E2A1-08C6-7D9601338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D1F2B3-F0D7-500D-A475-18C16F414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61719-8241-49F4-2F15-E7AC6179F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1A20F-0565-8022-EC96-47E74E3FA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6A72-8F67-114E-8F8C-3B0C4833CF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BFD85-850F-E20F-686E-8F49DD555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9EA1C-4382-024A-6870-81F47634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F964-2CD9-054A-853E-1A2DC46A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3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8BCB6-2DC2-8E31-2711-295F39DBE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C592F-3526-CE81-82FB-DB93F4D06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1286A-22CE-CD60-6A6B-1D6C5C30F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6A72-8F67-114E-8F8C-3B0C4833CF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A9C74-C56D-FCFD-00AA-B884CF68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885B7-7979-8CFF-2B85-B130C47B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F964-2CD9-054A-853E-1A2DC46A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42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07CA92-AC72-A0AE-066A-D4E6236BA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51C60-14E8-1C71-485A-D184F390D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C7C4C-E411-422B-0DA4-15052831C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6A72-8F67-114E-8F8C-3B0C4833CF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2A02C-BB16-6469-60FA-C63B50198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85FF1-BE64-35CE-73E2-8A3C18EE4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3F964-2CD9-054A-853E-1A2DC46A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9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9975B-EE1C-CA53-A3D5-678818381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0DA4B-9140-AFBF-2ABB-D81ED93B9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3BB05-F38A-165C-B939-1A79E9AA0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36A72-8F67-114E-8F8C-3B0C4833CFB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C5DF6-33C1-3A1B-D87E-0A7670CDB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61457-2770-334B-00BD-DE20072D9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3F964-2CD9-054A-853E-1A2DC46A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85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://apollo.lsc.vsc.edu/classes/met130/notes/chapter1/graphics/everest.jpg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0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cied.ucar.edu/sites/default/files/styles/extra_large/public/images/tippingpoint_CC_rauter.png.webp?itok=jjVx9OvH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Last time, we talked about the format of the interviews, and some review … </a:t>
            </a:r>
            <a:endParaRPr lang="en-US" sz="2400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6FC49D-968F-03F8-CF78-4D451AC3CDB6}"/>
              </a:ext>
            </a:extLst>
          </p:cNvPr>
          <p:cNvSpPr txBox="1"/>
          <p:nvPr/>
        </p:nvSpPr>
        <p:spPr>
          <a:xfrm>
            <a:off x="284206" y="753761"/>
            <a:ext cx="8237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See Week 6.1a (Monday) Interview preparation - format and tips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EB36E-74E0-7A22-CEC2-A39E1A642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06" y="1215426"/>
            <a:ext cx="3688142" cy="24160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FF78C2-142D-6AD3-73D3-9971E7B8D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06" y="3889429"/>
            <a:ext cx="4508157" cy="23544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770140-96E0-FFEC-7990-CBEA0624F3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082"/>
          <a:stretch/>
        </p:blipFill>
        <p:spPr>
          <a:xfrm>
            <a:off x="4831492" y="1317409"/>
            <a:ext cx="5419296" cy="22166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E942D6-E954-F14C-299D-3F1A0E0DC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376" y="3631490"/>
            <a:ext cx="3688142" cy="28703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83BA33-88FF-2236-671C-A03609FE75D6}"/>
              </a:ext>
            </a:extLst>
          </p:cNvPr>
          <p:cNvSpPr txBox="1"/>
          <p:nvPr/>
        </p:nvSpPr>
        <p:spPr>
          <a:xfrm>
            <a:off x="8768657" y="4389777"/>
            <a:ext cx="313913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Today, we’ll be doing more of the same (filling in some gaps)</a:t>
            </a:r>
          </a:p>
        </p:txBody>
      </p:sp>
    </p:spTree>
    <p:extLst>
      <p:ext uri="{BB962C8B-B14F-4D97-AF65-F5344CB8AC3E}">
        <p14:creationId xmlns:p14="http://schemas.microsoft.com/office/powerpoint/2010/main" val="1757711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1: We also got an introduction to key concepts of Python</a:t>
            </a:r>
            <a:endParaRPr lang="en-US" sz="2400" b="1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75C395-8599-918E-66C4-AD9B0A9A2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44" y="637394"/>
            <a:ext cx="9835780" cy="45452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D60ABE-B9EC-7296-C63E-29528CE8F968}"/>
              </a:ext>
            </a:extLst>
          </p:cNvPr>
          <p:cNvSpPr txBox="1"/>
          <p:nvPr/>
        </p:nvSpPr>
        <p:spPr>
          <a:xfrm>
            <a:off x="5128054" y="4397807"/>
            <a:ext cx="6549081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Plus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Order of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 to construct arrays with </a:t>
            </a:r>
            <a:r>
              <a:rPr lang="en-US" sz="2400" dirty="0" err="1"/>
              <a:t>np.linspace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 to make graphs with labeled x- and y-axes </a:t>
            </a:r>
          </a:p>
        </p:txBody>
      </p:sp>
    </p:spTree>
    <p:extLst>
      <p:ext uri="{BB962C8B-B14F-4D97-AF65-F5344CB8AC3E}">
        <p14:creationId xmlns:p14="http://schemas.microsoft.com/office/powerpoint/2010/main" val="368274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2: SRB showed us how to construct a loop to predict the future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2F42A3-D120-714D-85FA-0556BDECC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541" y="932148"/>
            <a:ext cx="3650281" cy="12081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C97444-7142-7792-CD7B-9B81D5B2C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33" y="618352"/>
            <a:ext cx="5825867" cy="59791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889B9E-7001-28AE-5489-A1BFE5A84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218" y="2610822"/>
            <a:ext cx="5534357" cy="354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8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2: We saw that shifts in semipermanent synoptic systems leads to ENSO variability</a:t>
            </a:r>
            <a:endParaRPr lang="en-US" sz="2400" b="1" i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AEE3AA6-75E6-9777-CCB1-B2592186F8A7}"/>
              </a:ext>
            </a:extLst>
          </p:cNvPr>
          <p:cNvGrpSpPr>
            <a:grpSpLocks noChangeAspect="1"/>
          </p:cNvGrpSpPr>
          <p:nvPr/>
        </p:nvGrpSpPr>
        <p:grpSpPr>
          <a:xfrm>
            <a:off x="115443" y="718239"/>
            <a:ext cx="12510136" cy="5541655"/>
            <a:chOff x="61899" y="565839"/>
            <a:chExt cx="12510136" cy="554165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29D42B-5BBC-12C9-AD5A-586741950399}"/>
                </a:ext>
              </a:extLst>
            </p:cNvPr>
            <p:cNvSpPr txBox="1"/>
            <p:nvPr/>
          </p:nvSpPr>
          <p:spPr>
            <a:xfrm>
              <a:off x="8125428" y="3657598"/>
              <a:ext cx="2002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Chilean High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BEFEEB1-56B6-EAB7-0DC1-3BBA57201B77}"/>
                </a:ext>
              </a:extLst>
            </p:cNvPr>
            <p:cNvSpPr txBox="1"/>
            <p:nvPr/>
          </p:nvSpPr>
          <p:spPr>
            <a:xfrm>
              <a:off x="3671103" y="2808445"/>
              <a:ext cx="17917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Nauru Low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AF39B1-9FB7-F47C-8FD2-D25791AEF94A}"/>
                </a:ext>
              </a:extLst>
            </p:cNvPr>
            <p:cNvGrpSpPr/>
            <p:nvPr/>
          </p:nvGrpSpPr>
          <p:grpSpPr>
            <a:xfrm>
              <a:off x="61899" y="565839"/>
              <a:ext cx="12510136" cy="5541655"/>
              <a:chOff x="61899" y="565839"/>
              <a:chExt cx="12510136" cy="5541655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726C1DF4-9183-8B07-4735-58CF2C947983}"/>
                  </a:ext>
                </a:extLst>
              </p:cNvPr>
              <p:cNvGrpSpPr/>
              <p:nvPr/>
            </p:nvGrpSpPr>
            <p:grpSpPr>
              <a:xfrm>
                <a:off x="61899" y="565839"/>
                <a:ext cx="12510136" cy="5541655"/>
                <a:chOff x="61899" y="565839"/>
                <a:chExt cx="12510136" cy="5541655"/>
              </a:xfrm>
            </p:grpSpPr>
            <p:pic>
              <p:nvPicPr>
                <p:cNvPr id="34" name="Picture 2" descr="El nino GIF - Find on GIFER">
                  <a:extLst>
                    <a:ext uri="{FF2B5EF4-FFF2-40B4-BE49-F238E27FC236}">
                      <a16:creationId xmlns:a16="http://schemas.microsoft.com/office/drawing/2014/main" id="{9C049F93-2DD3-BB73-3262-966CECAE257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1899" y="565839"/>
                  <a:ext cx="11965116" cy="554165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BB4CC096-2C54-E6DF-E03B-FCDE332BC282}"/>
                    </a:ext>
                  </a:extLst>
                </p:cNvPr>
                <p:cNvGrpSpPr/>
                <p:nvPr/>
              </p:nvGrpSpPr>
              <p:grpSpPr>
                <a:xfrm>
                  <a:off x="10266744" y="3657598"/>
                  <a:ext cx="2305291" cy="1616753"/>
                  <a:chOff x="10266744" y="3657598"/>
                  <a:chExt cx="2305291" cy="1616753"/>
                </a:xfrm>
              </p:grpSpPr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B05F5017-B034-A428-37F7-7E26B544F323}"/>
                      </a:ext>
                    </a:extLst>
                  </p:cNvPr>
                  <p:cNvSpPr txBox="1"/>
                  <p:nvPr/>
                </p:nvSpPr>
                <p:spPr>
                  <a:xfrm>
                    <a:off x="10569615" y="4443354"/>
                    <a:ext cx="2002420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/>
                      <a:t>Upwelling water</a:t>
                    </a:r>
                  </a:p>
                </p:txBody>
              </p:sp>
              <p:cxnSp>
                <p:nvCxnSpPr>
                  <p:cNvPr id="37" name="Straight Arrow Connector 36">
                    <a:extLst>
                      <a:ext uri="{FF2B5EF4-FFF2-40B4-BE49-F238E27FC236}">
                        <a16:creationId xmlns:a16="http://schemas.microsoft.com/office/drawing/2014/main" id="{0F84CE01-6F26-ED89-40DE-97C8C90CB6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0266744" y="3657598"/>
                    <a:ext cx="509286" cy="785756"/>
                  </a:xfrm>
                  <a:prstGeom prst="straightConnector1">
                    <a:avLst/>
                  </a:prstGeom>
                  <a:ln w="127000">
                    <a:solidFill>
                      <a:srgbClr val="0070C0">
                        <a:alpha val="51000"/>
                      </a:srgb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9380158-EF2B-0B6B-C4BA-B04F3660D2D8}"/>
                  </a:ext>
                </a:extLst>
              </p:cNvPr>
              <p:cNvSpPr txBox="1"/>
              <p:nvPr/>
            </p:nvSpPr>
            <p:spPr>
              <a:xfrm>
                <a:off x="8117808" y="3649978"/>
                <a:ext cx="2002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Chilean High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93FF26E-A30D-14A0-4BA7-4E1980147B4B}"/>
                  </a:ext>
                </a:extLst>
              </p:cNvPr>
              <p:cNvSpPr txBox="1"/>
              <p:nvPr/>
            </p:nvSpPr>
            <p:spPr>
              <a:xfrm>
                <a:off x="3663483" y="2800825"/>
                <a:ext cx="17917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Nauru Low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643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199E47-F68E-F697-F75E-85DA4B79750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2: We also learned about pressure as a function of altitude, and the “Rule of 5”</a:t>
            </a:r>
          </a:p>
        </p:txBody>
      </p:sp>
      <p:pic>
        <p:nvPicPr>
          <p:cNvPr id="1026" name="Picture 2" descr="Vertical Profile of pressure in the atmosphere">
            <a:hlinkClick r:id="rId2"/>
            <a:extLst>
              <a:ext uri="{FF2B5EF4-FFF2-40B4-BE49-F238E27FC236}">
                <a16:creationId xmlns:a16="http://schemas.microsoft.com/office/drawing/2014/main" id="{E25E76D4-BC72-890F-C3A2-C5FBDBC45A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" t="2251" r="2315" b="7706"/>
          <a:stretch/>
        </p:blipFill>
        <p:spPr bwMode="auto">
          <a:xfrm>
            <a:off x="6923314" y="954596"/>
            <a:ext cx="4233272" cy="414302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550FF0-6FAF-3363-6ED7-1636B3F34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943288"/>
            <a:ext cx="6393180" cy="41253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60583A3-981E-6FD8-F351-AA0523D79E6D}"/>
                  </a:ext>
                </a:extLst>
              </p:cNvPr>
              <p:cNvSpPr txBox="1"/>
              <p:nvPr/>
            </p:nvSpPr>
            <p:spPr>
              <a:xfrm>
                <a:off x="7103422" y="5097623"/>
                <a:ext cx="38730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Pressure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h𝑃𝑎</m:t>
                    </m:r>
                  </m:oMath>
                </a14:m>
                <a:r>
                  <a:rPr lang="en-US" dirty="0"/>
                  <a:t> (AKA </a:t>
                </a:r>
                <a:r>
                  <a:rPr lang="en-US" i="1" dirty="0"/>
                  <a:t>mbar</a:t>
                </a:r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60583A3-981E-6FD8-F351-AA0523D79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422" y="5097623"/>
                <a:ext cx="3873056" cy="369332"/>
              </a:xfrm>
              <a:prstGeom prst="rect">
                <a:avLst/>
              </a:prstGeom>
              <a:blipFill>
                <a:blip r:embed="rId5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3026FCC-A46B-4961-D27B-A0B967886CE9}"/>
                  </a:ext>
                </a:extLst>
              </p:cNvPr>
              <p:cNvSpPr txBox="1"/>
              <p:nvPr/>
            </p:nvSpPr>
            <p:spPr>
              <a:xfrm>
                <a:off x="147145" y="5501986"/>
                <a:ext cx="1189771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“Rule of 5”: At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𝒌𝒎</m:t>
                    </m:r>
                  </m:oMath>
                </a14:m>
                <a:r>
                  <a:rPr lang="en-US" sz="2400" dirty="0"/>
                  <a:t>, the pressure is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en-US" sz="2400" dirty="0"/>
                  <a:t>of what it is at the surface (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𝟓𝟎𝟎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𝒉𝑷𝒂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𝟓𝟎𝟎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𝒎𝒃𝒂𝒓</m:t>
                    </m:r>
                  </m:oMath>
                </a14:m>
                <a:r>
                  <a:rPr lang="en-US" sz="2400" dirty="0"/>
                  <a:t>), and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400" dirty="0"/>
                  <a:t> of Earth’s atmosphere is below you.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3026FCC-A46B-4961-D27B-A0B967886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45" y="5501986"/>
                <a:ext cx="11897710" cy="830997"/>
              </a:xfrm>
              <a:prstGeom prst="rect">
                <a:avLst/>
              </a:prstGeom>
              <a:blipFill>
                <a:blip r:embed="rId6"/>
                <a:stretch>
                  <a:fillRect l="-853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016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2: And we learned how the troposphere and the stratosphere are defined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92677E5-5433-1C4D-B8D9-F95CC23B9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6265"/>
            <a:ext cx="6384052" cy="478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CBF22C-2BB8-DF49-8B5A-0820534A3BBD}"/>
                  </a:ext>
                </a:extLst>
              </p:cNvPr>
              <p:cNvSpPr txBox="1"/>
              <p:nvPr/>
            </p:nvSpPr>
            <p:spPr>
              <a:xfrm>
                <a:off x="6437364" y="1160538"/>
                <a:ext cx="5657137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</a:t>
                </a:r>
                <a:r>
                  <a:rPr lang="en-US" sz="2400" b="1" dirty="0"/>
                  <a:t>troposphere</a:t>
                </a:r>
                <a:r>
                  <a:rPr lang="en-US" sz="2400" dirty="0"/>
                  <a:t> and the </a:t>
                </a:r>
                <a:r>
                  <a:rPr lang="en-US" sz="2400" b="1" dirty="0"/>
                  <a:t>stratosphere</a:t>
                </a:r>
                <a:r>
                  <a:rPr lang="en-US" sz="2400" dirty="0"/>
                  <a:t> are defined by turnarounds in the temperature.</a:t>
                </a:r>
                <a:endParaRPr lang="en-US" sz="2400" b="1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</a:t>
                </a:r>
                <a:r>
                  <a:rPr lang="en-US" sz="2400" b="1" dirty="0"/>
                  <a:t>troposphere</a:t>
                </a:r>
                <a:r>
                  <a:rPr lang="en-US" sz="2400" dirty="0"/>
                  <a:t> is where most of the </a:t>
                </a:r>
                <a:r>
                  <a:rPr lang="en-US" sz="2400" b="1" dirty="0"/>
                  <a:t>weather and climate</a:t>
                </a:r>
                <a:r>
                  <a:rPr lang="en-US" sz="2400" dirty="0"/>
                  <a:t> takes place.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Just below the top of the stratosphere is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ozone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layer</a:t>
                </a:r>
                <a:r>
                  <a:rPr lang="en-US" sz="24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At the </a:t>
                </a:r>
                <a:r>
                  <a:rPr lang="en-US" sz="2400" b="1" dirty="0"/>
                  <a:t>top of the stratosphere </a:t>
                </a:r>
                <a:r>
                  <a:rPr lang="en-US" sz="2400" dirty="0"/>
                  <a:t>(AKA the </a:t>
                </a:r>
                <a:r>
                  <a:rPr lang="en-US" sz="2400" b="1" i="1" dirty="0"/>
                  <a:t>stratopause</a:t>
                </a:r>
                <a:r>
                  <a:rPr lang="en-US" sz="2400" dirty="0"/>
                  <a:t>),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99.9%</m:t>
                    </m:r>
                  </m:oMath>
                </a14:m>
                <a:r>
                  <a:rPr lang="en-US" sz="2400" dirty="0"/>
                  <a:t> of the atmosphere’s mass is below you.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distance from the surface to the top of the stratosphere is about the same as the distance from </a:t>
                </a:r>
                <a:r>
                  <a:rPr lang="en-US" sz="2400" b="1" dirty="0"/>
                  <a:t>Tacoma</a:t>
                </a:r>
                <a:r>
                  <a:rPr lang="en-US" sz="2400" dirty="0"/>
                  <a:t> to </a:t>
                </a:r>
                <a:r>
                  <a:rPr lang="en-US" sz="2400" b="1" dirty="0"/>
                  <a:t>Seattle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CBF22C-2BB8-DF49-8B5A-0820534A3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364" y="1160538"/>
                <a:ext cx="5657137" cy="4893647"/>
              </a:xfrm>
              <a:prstGeom prst="rect">
                <a:avLst/>
              </a:prstGeom>
              <a:blipFill>
                <a:blip r:embed="rId3"/>
                <a:stretch>
                  <a:fillRect l="-1566" t="-1295" r="-2013" b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3624C6B0-A203-F36F-4753-344C8AD91660}"/>
              </a:ext>
            </a:extLst>
          </p:cNvPr>
          <p:cNvGrpSpPr/>
          <p:nvPr/>
        </p:nvGrpSpPr>
        <p:grpSpPr>
          <a:xfrm>
            <a:off x="1959429" y="6217596"/>
            <a:ext cx="3070864" cy="369332"/>
            <a:chOff x="1248229" y="6014395"/>
            <a:chExt cx="3070864" cy="36933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E69E6CC-DF76-F5CD-8CCB-3A0CE023EF3F}"/>
                </a:ext>
              </a:extLst>
            </p:cNvPr>
            <p:cNvSpPr txBox="1"/>
            <p:nvPr/>
          </p:nvSpPr>
          <p:spPr>
            <a:xfrm rot="19718350">
              <a:off x="1248229" y="6014395"/>
              <a:ext cx="18142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/>
                <a:t>Tacoma</a:t>
              </a:r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7E95206-5659-94CD-97FC-98AAE7D87229}"/>
                </a:ext>
              </a:extLst>
            </p:cNvPr>
            <p:cNvSpPr txBox="1"/>
            <p:nvPr/>
          </p:nvSpPr>
          <p:spPr>
            <a:xfrm rot="19624270">
              <a:off x="2504808" y="6014395"/>
              <a:ext cx="18142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/>
                <a:t>Seattle</a:t>
              </a:r>
              <a:endParaRPr lang="en-US" dirty="0"/>
            </a:p>
          </p:txBody>
        </p: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1982417-8959-874F-4736-FBDA440BB8CD}"/>
              </a:ext>
            </a:extLst>
          </p:cNvPr>
          <p:cNvCxnSpPr/>
          <p:nvPr/>
        </p:nvCxnSpPr>
        <p:spPr>
          <a:xfrm>
            <a:off x="856527" y="4027990"/>
            <a:ext cx="420161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144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199E47-F68E-F697-F75E-85DA4B797505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3: We introduced the idea of climate forcings, and the importance of distinguishing perturbations that keep us in one climate regime, vs those that tip us over into another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79E2E9-1A7C-51EC-F70E-59293B901D0B}"/>
              </a:ext>
            </a:extLst>
          </p:cNvPr>
          <p:cNvGrpSpPr/>
          <p:nvPr/>
        </p:nvGrpSpPr>
        <p:grpSpPr>
          <a:xfrm>
            <a:off x="1645517" y="1212141"/>
            <a:ext cx="8493906" cy="5237464"/>
            <a:chOff x="1645517" y="989715"/>
            <a:chExt cx="8493906" cy="523746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9B85FAD-E127-5F4B-EF0C-D88AB3A69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5517" y="989715"/>
              <a:ext cx="8493906" cy="5237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7B15434-10D9-18C0-9DB9-5CAF690B52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63656" y="3471287"/>
              <a:ext cx="274320" cy="2743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2E86ED4A-B86A-B807-2A56-6D781CE4C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9013" y="3831220"/>
              <a:ext cx="254643" cy="442437"/>
            </a:xfrm>
            <a:prstGeom prst="straightConnector1">
              <a:avLst/>
            </a:prstGeom>
            <a:ln w="254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2B7383-DB15-3E47-5EDF-E1A15D964665}"/>
                </a:ext>
              </a:extLst>
            </p:cNvPr>
            <p:cNvSpPr txBox="1"/>
            <p:nvPr/>
          </p:nvSpPr>
          <p:spPr>
            <a:xfrm>
              <a:off x="3426106" y="3683106"/>
              <a:ext cx="937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forcing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F97BC9F9-B1F4-BA0C-1AD4-AFC326DAC51C}"/>
              </a:ext>
            </a:extLst>
          </p:cNvPr>
          <p:cNvSpPr>
            <a:spLocks noChangeAspect="1"/>
          </p:cNvSpPr>
          <p:nvPr/>
        </p:nvSpPr>
        <p:spPr>
          <a:xfrm>
            <a:off x="4573930" y="3172273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034907-5C13-B664-9851-8D3958B349D6}"/>
                  </a:ext>
                </a:extLst>
              </p:cNvPr>
              <p:cNvSpPr txBox="1"/>
              <p:nvPr/>
            </p:nvSpPr>
            <p:spPr>
              <a:xfrm>
                <a:off x="2151952" y="5811680"/>
                <a:ext cx="5118276" cy="8309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Equations like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 work as long as we’re in the same climate regime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034907-5C13-B664-9851-8D3958B34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952" y="5811680"/>
                <a:ext cx="5118276" cy="830997"/>
              </a:xfrm>
              <a:prstGeom prst="rect">
                <a:avLst/>
              </a:prstGeom>
              <a:blipFill>
                <a:blip r:embed="rId3"/>
                <a:stretch>
                  <a:fillRect l="-1724" t="-2941" b="-1323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Up Arrow 7">
            <a:extLst>
              <a:ext uri="{FF2B5EF4-FFF2-40B4-BE49-F238E27FC236}">
                <a16:creationId xmlns:a16="http://schemas.microsoft.com/office/drawing/2014/main" id="{6D603C12-64DA-7EC4-7F61-19BD8897FF00}"/>
              </a:ext>
            </a:extLst>
          </p:cNvPr>
          <p:cNvSpPr/>
          <p:nvPr/>
        </p:nvSpPr>
        <p:spPr>
          <a:xfrm>
            <a:off x="4363656" y="4907666"/>
            <a:ext cx="484594" cy="72148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373FB7-2AE4-4C93-A374-05D439185F77}"/>
              </a:ext>
            </a:extLst>
          </p:cNvPr>
          <p:cNvSpPr txBox="1"/>
          <p:nvPr/>
        </p:nvSpPr>
        <p:spPr>
          <a:xfrm>
            <a:off x="7776663" y="1602613"/>
            <a:ext cx="3665694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As we get close to a new climate regime, even tiny forcings can send us over into it. Very difficult to predict where we’ll end up.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54D303-F6A7-FA61-35E8-02CDA264200B}"/>
              </a:ext>
            </a:extLst>
          </p:cNvPr>
          <p:cNvSpPr txBox="1"/>
          <p:nvPr/>
        </p:nvSpPr>
        <p:spPr>
          <a:xfrm>
            <a:off x="8435050" y="6033663"/>
            <a:ext cx="2896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</a:t>
            </a:r>
            <a:r>
              <a:rPr lang="en-US" sz="1200" dirty="0" err="1">
                <a:hlinkClick r:id="rId4"/>
              </a:rPr>
              <a:t>scied.ucar.edu</a:t>
            </a:r>
            <a:r>
              <a:rPr lang="en-US" sz="1200" dirty="0">
                <a:hlinkClick r:id="rId4"/>
              </a:rPr>
              <a:t>/sites/default/files/styles/</a:t>
            </a:r>
            <a:r>
              <a:rPr lang="en-US" sz="1200" dirty="0" err="1">
                <a:hlinkClick r:id="rId4"/>
              </a:rPr>
              <a:t>extra_large</a:t>
            </a:r>
            <a:r>
              <a:rPr lang="en-US" sz="1200" dirty="0">
                <a:hlinkClick r:id="rId4"/>
              </a:rPr>
              <a:t>/public/images/</a:t>
            </a:r>
            <a:r>
              <a:rPr lang="en-US" sz="1200" dirty="0" err="1">
                <a:hlinkClick r:id="rId4"/>
              </a:rPr>
              <a:t>tippingpoint_CC_rauter.png.webp?itok</a:t>
            </a:r>
            <a:r>
              <a:rPr lang="en-US" sz="1200" dirty="0">
                <a:hlinkClick r:id="rId4"/>
              </a:rPr>
              <a:t>=jjVx9OvH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03259-D3EC-0D8B-9EDE-F4C710218FCA}"/>
              </a:ext>
            </a:extLst>
          </p:cNvPr>
          <p:cNvSpPr txBox="1"/>
          <p:nvPr/>
        </p:nvSpPr>
        <p:spPr>
          <a:xfrm>
            <a:off x="342583" y="1787579"/>
            <a:ext cx="418465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Small perturbations might change climate a little, but the results are still predictable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BF7747-44F1-AE92-556D-8DEDD56EA059}"/>
              </a:ext>
            </a:extLst>
          </p:cNvPr>
          <p:cNvCxnSpPr/>
          <p:nvPr/>
        </p:nvCxnSpPr>
        <p:spPr>
          <a:xfrm>
            <a:off x="1645517" y="3311611"/>
            <a:ext cx="739337" cy="231754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288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A136C2-4D06-B49E-3BA8-05B5588E4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058" y="-510"/>
            <a:ext cx="12199057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dirty="0">
                <a:latin typeface="+mn-lt"/>
              </a:rPr>
              <a:t>Week 3: </a:t>
            </a:r>
            <a:r>
              <a:rPr lang="en-US" altLang="en-US" sz="2400" b="1" dirty="0">
                <a:latin typeface="+mn-lt"/>
              </a:rPr>
              <a:t>Monash gave us geographic &amp; temporal details about possible futures</a:t>
            </a:r>
            <a:endParaRPr lang="en-US" altLang="en-US" sz="2400" b="1" i="1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316F0C-EC84-FD15-15CE-6C3487A6A907}"/>
              </a:ext>
            </a:extLst>
          </p:cNvPr>
          <p:cNvSpPr txBox="1"/>
          <p:nvPr/>
        </p:nvSpPr>
        <p:spPr>
          <a:xfrm>
            <a:off x="6692585" y="1523528"/>
            <a:ext cx="5033977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What kinds of temperature increases might we be looking at?</a:t>
            </a:r>
          </a:p>
          <a:p>
            <a:endParaRPr lang="en-US" sz="2400" dirty="0"/>
          </a:p>
          <a:p>
            <a:r>
              <a:rPr lang="en-US" sz="2400" dirty="0"/>
              <a:t>What kind of impacts on snow/ice cover?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What parts of the world are warming faster than others?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Is the Equilibrium Climate Sensitivity built into these models reasonable?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38878-76C8-DFAD-2540-D87F9DBF1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58" y="949123"/>
            <a:ext cx="6699643" cy="551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74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A136C2-4D06-B49E-3BA8-05B5588E4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058" y="-510"/>
            <a:ext cx="12199057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dirty="0">
                <a:latin typeface="+mn-lt"/>
              </a:rPr>
              <a:t>Week 3: </a:t>
            </a:r>
            <a:r>
              <a:rPr lang="en-US" altLang="en-US" sz="2400" b="1" dirty="0" err="1">
                <a:latin typeface="+mn-lt"/>
              </a:rPr>
              <a:t>EnROADs</a:t>
            </a:r>
            <a:r>
              <a:rPr lang="en-US" altLang="en-US" sz="2400" b="1" dirty="0">
                <a:latin typeface="+mn-lt"/>
              </a:rPr>
              <a:t> showed us possible routes to avoiding some of those possible futures</a:t>
            </a:r>
            <a:endParaRPr lang="en-US" altLang="en-US" sz="2400" b="1" i="1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9051CA-23EC-AD70-1799-7BAA76F0E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32" y="820478"/>
            <a:ext cx="10172754" cy="557466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45478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A136C2-4D06-B49E-3BA8-05B5588E4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058" y="-510"/>
            <a:ext cx="12199057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dirty="0">
                <a:latin typeface="+mn-lt"/>
              </a:rPr>
              <a:t>Week 3: We also got an introduction to the </a:t>
            </a:r>
            <a:r>
              <a:rPr lang="en-US" altLang="en-US" sz="2400" b="1" dirty="0">
                <a:latin typeface="+mn-lt"/>
              </a:rPr>
              <a:t>Cambio web app</a:t>
            </a:r>
            <a:endParaRPr lang="en-US" altLang="en-US" sz="2400" b="1" i="1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DA20E-D26B-5581-922D-73D253FCC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1" y="914402"/>
            <a:ext cx="11747298" cy="523568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70084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n-lt"/>
              </a:rPr>
              <a:t>Week 3: We introduced </a:t>
            </a:r>
            <a:r>
              <a:rPr lang="en-US" sz="2400" b="1" dirty="0"/>
              <a:t>feedback diagrams as a way to depict positive and negative feedbacks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AD15E-5B60-F4F6-E5C1-EE3314FF0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6" y="979864"/>
            <a:ext cx="6655542" cy="51580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2" descr="Draft diagram of the carbon cycle.">
            <a:extLst>
              <a:ext uri="{FF2B5EF4-FFF2-40B4-BE49-F238E27FC236}">
                <a16:creationId xmlns:a16="http://schemas.microsoft.com/office/drawing/2014/main" id="{07680167-DE17-13B9-1A80-E77D89423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556" y="979864"/>
            <a:ext cx="4724704" cy="31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906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n-lt"/>
              </a:rPr>
              <a:t>Week 3: We also learned about the CO2 fertilization effect</a:t>
            </a:r>
            <a:endParaRPr lang="en-US"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A2BE1B-A5B1-8D3E-F13E-CBFDC0161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" y="979864"/>
            <a:ext cx="6623617" cy="35534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Draft diagram of the carbon cycle.">
            <a:extLst>
              <a:ext uri="{FF2B5EF4-FFF2-40B4-BE49-F238E27FC236}">
                <a16:creationId xmlns:a16="http://schemas.microsoft.com/office/drawing/2014/main" id="{8A9E7A5C-6DE7-5A20-E421-09981CB79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556" y="979864"/>
            <a:ext cx="4724704" cy="31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18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530</Words>
  <Application>Microsoft Macintosh PowerPoint</Application>
  <PresentationFormat>Widescreen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115</cp:revision>
  <dcterms:created xsi:type="dcterms:W3CDTF">2022-09-19T15:02:54Z</dcterms:created>
  <dcterms:modified xsi:type="dcterms:W3CDTF">2026-02-25T19:53:56Z</dcterms:modified>
</cp:coreProperties>
</file>