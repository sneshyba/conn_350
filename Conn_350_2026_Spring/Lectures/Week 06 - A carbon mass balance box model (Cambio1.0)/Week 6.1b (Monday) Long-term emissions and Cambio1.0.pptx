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1992" r:id="rId2"/>
    <p:sldId id="1989" r:id="rId3"/>
    <p:sldId id="1981" r:id="rId4"/>
    <p:sldId id="1982" r:id="rId5"/>
    <p:sldId id="1983" r:id="rId6"/>
    <p:sldId id="1984" r:id="rId7"/>
    <p:sldId id="1994" r:id="rId8"/>
    <p:sldId id="1991" r:id="rId9"/>
    <p:sldId id="199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99"/>
    <p:restoredTop sz="96006"/>
  </p:normalViewPr>
  <p:slideViewPr>
    <p:cSldViewPr snapToGrid="0">
      <p:cViewPr>
        <p:scale>
          <a:sx n="116" d="100"/>
          <a:sy n="116" d="100"/>
        </p:scale>
        <p:origin x="2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65815-899F-4E40-92E7-A5BB9A9AC9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956B73-7D1D-09D1-B1BE-FE6FC51460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84930-08BA-5464-7CEF-2F06A6FC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4710-002F-434A-8B05-0AE36E919D93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91BCE-D0A7-4F50-504C-8449D8FB1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D0B3D-7F89-5F01-A495-A61F3FC76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BE34C-3BD5-5A42-854B-6EEB7C27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759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9867B-C71C-1792-D24F-62068A62C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1091A-EF58-DD3E-7CB6-16BAEF7D5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47AF5-22E3-A74E-E518-BCDEF0A6C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4710-002F-434A-8B05-0AE36E919D93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13F1E-A304-CD14-50C2-EC14D3519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CEA10-FAF9-A162-C82E-7F0ED9CA3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BE34C-3BD5-5A42-854B-6EEB7C27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7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C3241-FDB5-FC00-C6C2-43AB70E34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D6C80-C93F-7C9B-5E9C-3681D723A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B4F0F-02F0-7DB3-739A-F2B1996EA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4710-002F-434A-8B05-0AE36E919D93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97DA5-4C53-16AF-A1D7-F3778BCC1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AFA05-4656-14BD-239D-17C11AD1F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BE34C-3BD5-5A42-854B-6EEB7C27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290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DE624-2FA7-6331-DAFB-A9C6675D0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E402E-7279-A1D3-6FED-7756CC5C2B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13C2B-A305-ABF8-E7AF-2CE0CB5AD3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D40DC2-8520-5499-1F95-47E6C88AE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4710-002F-434A-8B05-0AE36E919D93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B88A51-9BB0-647D-6B2E-398CEF2F6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98923F-92E2-0078-7AD8-898B031BB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BE34C-3BD5-5A42-854B-6EEB7C27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595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33840-035B-F670-EAA0-A5CE82A54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66C51-1BD8-2E38-DC52-E0560F31D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23DB11-FA90-413E-971E-7AE25AA228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176465-DC0B-D37C-B305-BD778B2A2C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A16E4E-211B-D653-B79E-342C736B6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BEBFF5-34FB-617E-9013-2559AD585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4710-002F-434A-8B05-0AE36E919D93}" type="datetimeFigureOut">
              <a:rPr lang="en-US" smtClean="0"/>
              <a:t>2/24/26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FEDA3D-0195-62EC-CCF5-45326DD59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B9DB62-28A3-5273-B0AF-557BB1E9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BE34C-3BD5-5A42-854B-6EEB7C27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108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4B172-6034-5664-B64D-C044875C4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40B927-89AE-3C13-CA9A-5BB4CFA3E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4710-002F-434A-8B05-0AE36E919D93}" type="datetimeFigureOut">
              <a:rPr lang="en-US" smtClean="0"/>
              <a:t>2/24/26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C17F0-EF26-B7A2-C74E-F79DE0A51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A5B44E-0C1B-A2E5-FF98-A119EC6C3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BE34C-3BD5-5A42-854B-6EEB7C27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74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76632D-4EAC-4344-36C7-F072D7502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4710-002F-434A-8B05-0AE36E919D93}" type="datetimeFigureOut">
              <a:rPr lang="en-US" smtClean="0"/>
              <a:t>2/24/26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415820-BF1B-68B3-14B0-34C7C865E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D4EB0-8599-1B0E-2111-7461CD62F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BE34C-3BD5-5A42-854B-6EEB7C27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945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33D2B-1D8A-CBB4-C822-0D0E78647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552E6-B20E-D705-8464-F3EC156C6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B2DC6A-72CD-0024-AAF9-77D4384963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3AEEE5-9015-0BC5-A3CA-45485C9A5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4710-002F-434A-8B05-0AE36E919D93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794FC-5541-B91A-CEE3-3B8EADD5E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686D9B-E18C-380F-6AE8-9559E49B7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BE34C-3BD5-5A42-854B-6EEB7C27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631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26A4-1305-9F88-5287-DA4FF6D94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8D4FDA-EE25-E480-2C2E-0D2C9AF509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01FBEE-3CE6-C4C7-6813-D837F13F4C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1B9D75-798F-F250-2AEF-8D5776AE7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4710-002F-434A-8B05-0AE36E919D93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69234-DEA5-2AFB-A606-A2D486F5F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235792-0FEA-DFF7-9006-0AEE6795B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BE34C-3BD5-5A42-854B-6EEB7C27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969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40067-DD40-2402-B55A-3A818A9E6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9F18BD-B825-68AA-498A-F695131C89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C1B9F-B194-7D4C-AA28-5BC2846C0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4710-002F-434A-8B05-0AE36E919D93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89EB7-9D71-E592-C333-91D94A19A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2E596-49F6-29AD-29FE-75D87482C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BE34C-3BD5-5A42-854B-6EEB7C27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905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DDBEF5-8B84-9997-E190-33A8DC1928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741A4E-24CF-1A56-C34C-177262A959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CF4CF-5ABF-ED16-D021-0D9B73971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4710-002F-434A-8B05-0AE36E919D93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A31AA-148A-0B01-8386-CF6B7E640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6DF7F-9D9A-D4DD-D192-BB7AE0EB9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BE34C-3BD5-5A42-854B-6EEB7C27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175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4A2861-4DB4-82F9-6361-572486CF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8779C3-81A6-4CEE-3680-E273C1FA0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D9A76-80CD-4534-959C-10F6C0A27A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114710-002F-434A-8B05-0AE36E919D93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CC069-38A0-ECD6-1660-946ACA69BC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3F025-8458-D77C-8051-F7A3BF19FA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BE34C-3BD5-5A42-854B-6EEB7C27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819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-11575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Long-term emissions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1548742-9E67-DD20-2854-6F0DCEA517FA}"/>
              </a:ext>
            </a:extLst>
          </p:cNvPr>
          <p:cNvGrpSpPr/>
          <p:nvPr/>
        </p:nvGrpSpPr>
        <p:grpSpPr>
          <a:xfrm>
            <a:off x="6050211" y="692232"/>
            <a:ext cx="5968684" cy="3979122"/>
            <a:chOff x="6050211" y="1433011"/>
            <a:chExt cx="5968684" cy="3979122"/>
          </a:xfrm>
        </p:grpSpPr>
        <p:pic>
          <p:nvPicPr>
            <p:cNvPr id="7" name="Picture 2" descr="Draft diagram of the carbon cycle.">
              <a:extLst>
                <a:ext uri="{FF2B5EF4-FFF2-40B4-BE49-F238E27FC236}">
                  <a16:creationId xmlns:a16="http://schemas.microsoft.com/office/drawing/2014/main" id="{61C4C961-6507-334B-9224-D58B8D6156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50211" y="1433011"/>
              <a:ext cx="5968684" cy="3979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1D39349B-3146-4C6E-9133-0E166992C3AE}"/>
                </a:ext>
              </a:extLst>
            </p:cNvPr>
            <p:cNvSpPr/>
            <p:nvPr/>
          </p:nvSpPr>
          <p:spPr>
            <a:xfrm>
              <a:off x="8362924" y="1607452"/>
              <a:ext cx="439838" cy="439838"/>
            </a:xfrm>
            <a:prstGeom prst="ellipse">
              <a:avLst/>
            </a:prstGeom>
            <a:solidFill>
              <a:schemeClr val="tx1">
                <a:alpha val="1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A980849B-9D8C-EF3F-312F-5BA612F38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105" y="692232"/>
            <a:ext cx="5695607" cy="397912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056CBDA-73CC-1999-6032-2B89162E9E9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9012" b="29588"/>
          <a:stretch/>
        </p:blipFill>
        <p:spPr>
          <a:xfrm>
            <a:off x="47139" y="4764168"/>
            <a:ext cx="12097722" cy="18483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55018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0E1EB12-B49F-403E-0757-55CABB78E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340" y="771255"/>
            <a:ext cx="4987572" cy="378454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-11575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Cambio 1.0 fluxes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1548742-9E67-DD20-2854-6F0DCEA517FA}"/>
              </a:ext>
            </a:extLst>
          </p:cNvPr>
          <p:cNvGrpSpPr/>
          <p:nvPr/>
        </p:nvGrpSpPr>
        <p:grpSpPr>
          <a:xfrm>
            <a:off x="987143" y="692232"/>
            <a:ext cx="11031752" cy="3979122"/>
            <a:chOff x="987143" y="1433011"/>
            <a:chExt cx="11031752" cy="3979122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6B18E83-A3B6-647E-FFCE-481748BE08D4}"/>
                </a:ext>
              </a:extLst>
            </p:cNvPr>
            <p:cNvGrpSpPr/>
            <p:nvPr/>
          </p:nvGrpSpPr>
          <p:grpSpPr>
            <a:xfrm>
              <a:off x="987143" y="1433011"/>
              <a:ext cx="11031752" cy="3979122"/>
              <a:chOff x="1348386" y="1585004"/>
              <a:chExt cx="11031752" cy="3979122"/>
            </a:xfrm>
          </p:grpSpPr>
          <p:pic>
            <p:nvPicPr>
              <p:cNvPr id="7" name="Picture 2" descr="Draft diagram of the carbon cycle.">
                <a:extLst>
                  <a:ext uri="{FF2B5EF4-FFF2-40B4-BE49-F238E27FC236}">
                    <a16:creationId xmlns:a16="http://schemas.microsoft.com/office/drawing/2014/main" id="{61C4C961-6507-334B-9224-D58B8D61563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11454" y="1585004"/>
                <a:ext cx="5968684" cy="39791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B66E785E-6119-B918-CA51-1DB4EC169E5D}"/>
                  </a:ext>
                </a:extLst>
              </p:cNvPr>
              <p:cNvSpPr/>
              <p:nvPr/>
            </p:nvSpPr>
            <p:spPr>
              <a:xfrm>
                <a:off x="1348386" y="1793878"/>
                <a:ext cx="3760470" cy="548640"/>
              </a:xfrm>
              <a:prstGeom prst="roundRect">
                <a:avLst/>
              </a:prstGeom>
              <a:solidFill>
                <a:schemeClr val="accent1">
                  <a:alpha val="31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1D39349B-3146-4C6E-9133-0E166992C3AE}"/>
                </a:ext>
              </a:extLst>
            </p:cNvPr>
            <p:cNvSpPr/>
            <p:nvPr/>
          </p:nvSpPr>
          <p:spPr>
            <a:xfrm>
              <a:off x="7685590" y="1551008"/>
              <a:ext cx="439838" cy="439838"/>
            </a:xfrm>
            <a:prstGeom prst="ellipse">
              <a:avLst/>
            </a:prstGeom>
            <a:solidFill>
              <a:schemeClr val="tx1">
                <a:alpha val="1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D13074F-0209-C93F-102A-040A7A53F552}"/>
                </a:ext>
              </a:extLst>
            </p:cNvPr>
            <p:cNvSpPr/>
            <p:nvPr/>
          </p:nvSpPr>
          <p:spPr>
            <a:xfrm>
              <a:off x="7953737" y="2664103"/>
              <a:ext cx="439838" cy="439838"/>
            </a:xfrm>
            <a:prstGeom prst="ellipse">
              <a:avLst/>
            </a:prstGeom>
            <a:solidFill>
              <a:schemeClr val="tx1">
                <a:alpha val="1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EAAAC9A-7E6E-4131-02C5-E4DA6FE4EE86}"/>
              </a:ext>
            </a:extLst>
          </p:cNvPr>
          <p:cNvSpPr txBox="1"/>
          <p:nvPr/>
        </p:nvSpPr>
        <p:spPr>
          <a:xfrm>
            <a:off x="222856" y="5344611"/>
            <a:ext cx="11825713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We’re assuming a constant non-anthropogenic land-to-atmosphere flux</a:t>
            </a:r>
          </a:p>
        </p:txBody>
      </p:sp>
    </p:spTree>
    <p:extLst>
      <p:ext uri="{BB962C8B-B14F-4D97-AF65-F5344CB8AC3E}">
        <p14:creationId xmlns:p14="http://schemas.microsoft.com/office/powerpoint/2010/main" val="3233454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9F93509-284C-57BD-DEB5-5778BE53C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340" y="771255"/>
            <a:ext cx="4987572" cy="378454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-11575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Cambio 1.0 fluxes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1548742-9E67-DD20-2854-6F0DCEA517FA}"/>
              </a:ext>
            </a:extLst>
          </p:cNvPr>
          <p:cNvGrpSpPr/>
          <p:nvPr/>
        </p:nvGrpSpPr>
        <p:grpSpPr>
          <a:xfrm>
            <a:off x="440953" y="669771"/>
            <a:ext cx="11577942" cy="4001583"/>
            <a:chOff x="440953" y="1410550"/>
            <a:chExt cx="11577942" cy="400158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6B18E83-A3B6-647E-FFCE-481748BE08D4}"/>
                </a:ext>
              </a:extLst>
            </p:cNvPr>
            <p:cNvGrpSpPr/>
            <p:nvPr/>
          </p:nvGrpSpPr>
          <p:grpSpPr>
            <a:xfrm>
              <a:off x="440953" y="1433011"/>
              <a:ext cx="11577942" cy="3979122"/>
              <a:chOff x="802196" y="1585004"/>
              <a:chExt cx="11577942" cy="3979122"/>
            </a:xfrm>
          </p:grpSpPr>
          <p:pic>
            <p:nvPicPr>
              <p:cNvPr id="7" name="Picture 2" descr="Draft diagram of the carbon cycle.">
                <a:extLst>
                  <a:ext uri="{FF2B5EF4-FFF2-40B4-BE49-F238E27FC236}">
                    <a16:creationId xmlns:a16="http://schemas.microsoft.com/office/drawing/2014/main" id="{61C4C961-6507-334B-9224-D58B8D61563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11454" y="1585004"/>
                <a:ext cx="5968684" cy="39791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B66E785E-6119-B918-CA51-1DB4EC169E5D}"/>
                  </a:ext>
                </a:extLst>
              </p:cNvPr>
              <p:cNvSpPr/>
              <p:nvPr/>
            </p:nvSpPr>
            <p:spPr>
              <a:xfrm>
                <a:off x="802196" y="2540918"/>
                <a:ext cx="4695491" cy="548640"/>
              </a:xfrm>
              <a:prstGeom prst="roundRect">
                <a:avLst/>
              </a:prstGeom>
              <a:solidFill>
                <a:schemeClr val="accent1">
                  <a:alpha val="31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D13074F-0209-C93F-102A-040A7A53F552}"/>
                </a:ext>
              </a:extLst>
            </p:cNvPr>
            <p:cNvSpPr/>
            <p:nvPr/>
          </p:nvSpPr>
          <p:spPr>
            <a:xfrm>
              <a:off x="6483752" y="1410550"/>
              <a:ext cx="439838" cy="439838"/>
            </a:xfrm>
            <a:prstGeom prst="ellipse">
              <a:avLst/>
            </a:prstGeom>
            <a:solidFill>
              <a:schemeClr val="tx1">
                <a:alpha val="1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A4DACF0-60F2-914D-AE3D-2A6284964120}"/>
                  </a:ext>
                </a:extLst>
              </p:cNvPr>
              <p:cNvSpPr txBox="1"/>
              <p:nvPr/>
            </p:nvSpPr>
            <p:spPr>
              <a:xfrm>
                <a:off x="222856" y="5344611"/>
                <a:ext cx="11825713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This models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fertilization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A4DACF0-60F2-914D-AE3D-2A6284964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856" y="5344611"/>
                <a:ext cx="11825713" cy="461665"/>
              </a:xfrm>
              <a:prstGeom prst="rect">
                <a:avLst/>
              </a:prstGeom>
              <a:blipFill>
                <a:blip r:embed="rId4"/>
                <a:stretch>
                  <a:fillRect t="-5263" b="-2894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1684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571DF56-361C-12D2-F519-57F4B5A9D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340" y="771255"/>
            <a:ext cx="4987572" cy="378454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-11575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Cambio 1.0 fluxes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1548742-9E67-DD20-2854-6F0DCEA517FA}"/>
              </a:ext>
            </a:extLst>
          </p:cNvPr>
          <p:cNvGrpSpPr/>
          <p:nvPr/>
        </p:nvGrpSpPr>
        <p:grpSpPr>
          <a:xfrm>
            <a:off x="467113" y="692232"/>
            <a:ext cx="11551782" cy="3979122"/>
            <a:chOff x="467113" y="1433011"/>
            <a:chExt cx="11551782" cy="3979122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6B18E83-A3B6-647E-FFCE-481748BE08D4}"/>
                </a:ext>
              </a:extLst>
            </p:cNvPr>
            <p:cNvGrpSpPr/>
            <p:nvPr/>
          </p:nvGrpSpPr>
          <p:grpSpPr>
            <a:xfrm>
              <a:off x="467113" y="1433011"/>
              <a:ext cx="11551782" cy="3979122"/>
              <a:chOff x="828356" y="1585004"/>
              <a:chExt cx="11551782" cy="3979122"/>
            </a:xfrm>
          </p:grpSpPr>
          <p:pic>
            <p:nvPicPr>
              <p:cNvPr id="7" name="Picture 2" descr="Draft diagram of the carbon cycle.">
                <a:extLst>
                  <a:ext uri="{FF2B5EF4-FFF2-40B4-BE49-F238E27FC236}">
                    <a16:creationId xmlns:a16="http://schemas.microsoft.com/office/drawing/2014/main" id="{61C4C961-6507-334B-9224-D58B8D61563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11454" y="1585004"/>
                <a:ext cx="5968684" cy="39791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B66E785E-6119-B918-CA51-1DB4EC169E5D}"/>
                  </a:ext>
                </a:extLst>
              </p:cNvPr>
              <p:cNvSpPr/>
              <p:nvPr/>
            </p:nvSpPr>
            <p:spPr>
              <a:xfrm>
                <a:off x="828356" y="3281409"/>
                <a:ext cx="4720667" cy="548640"/>
              </a:xfrm>
              <a:prstGeom prst="roundRect">
                <a:avLst/>
              </a:prstGeom>
              <a:solidFill>
                <a:schemeClr val="accent1">
                  <a:alpha val="31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D13074F-0209-C93F-102A-040A7A53F552}"/>
                </a:ext>
              </a:extLst>
            </p:cNvPr>
            <p:cNvSpPr/>
            <p:nvPr/>
          </p:nvSpPr>
          <p:spPr>
            <a:xfrm>
              <a:off x="10940006" y="2382824"/>
              <a:ext cx="439838" cy="439838"/>
            </a:xfrm>
            <a:prstGeom prst="ellipse">
              <a:avLst/>
            </a:prstGeom>
            <a:solidFill>
              <a:schemeClr val="tx1">
                <a:alpha val="1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C92B872-698E-3841-6563-2CA57B379E9B}"/>
                  </a:ext>
                </a:extLst>
              </p:cNvPr>
              <p:cNvSpPr txBox="1"/>
              <p:nvPr/>
            </p:nvSpPr>
            <p:spPr>
              <a:xfrm>
                <a:off x="588597" y="5215955"/>
                <a:ext cx="10923227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The more concentrated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is in the water, the faster it will come out!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C92B872-698E-3841-6563-2CA57B379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597" y="5215955"/>
                <a:ext cx="10923227" cy="461665"/>
              </a:xfrm>
              <a:prstGeom prst="rect">
                <a:avLst/>
              </a:prstGeom>
              <a:blipFill>
                <a:blip r:embed="rId4"/>
                <a:stretch>
                  <a:fillRect t="-5263" b="-26316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6619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2A42E8F-4714-1985-1F56-1EC862982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340" y="771255"/>
            <a:ext cx="4987572" cy="378454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-11575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Cambio 1.0 fluxes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1548742-9E67-DD20-2854-6F0DCEA517FA}"/>
              </a:ext>
            </a:extLst>
          </p:cNvPr>
          <p:cNvGrpSpPr/>
          <p:nvPr/>
        </p:nvGrpSpPr>
        <p:grpSpPr>
          <a:xfrm>
            <a:off x="584098" y="692232"/>
            <a:ext cx="11434797" cy="3979122"/>
            <a:chOff x="584098" y="1433011"/>
            <a:chExt cx="11434797" cy="3979122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6B18E83-A3B6-647E-FFCE-481748BE08D4}"/>
                </a:ext>
              </a:extLst>
            </p:cNvPr>
            <p:cNvGrpSpPr/>
            <p:nvPr/>
          </p:nvGrpSpPr>
          <p:grpSpPr>
            <a:xfrm>
              <a:off x="584098" y="1433011"/>
              <a:ext cx="11434797" cy="3979122"/>
              <a:chOff x="945341" y="1585004"/>
              <a:chExt cx="11434797" cy="3979122"/>
            </a:xfrm>
          </p:grpSpPr>
          <p:pic>
            <p:nvPicPr>
              <p:cNvPr id="7" name="Picture 2" descr="Draft diagram of the carbon cycle.">
                <a:extLst>
                  <a:ext uri="{FF2B5EF4-FFF2-40B4-BE49-F238E27FC236}">
                    <a16:creationId xmlns:a16="http://schemas.microsoft.com/office/drawing/2014/main" id="{61C4C961-6507-334B-9224-D58B8D61563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11454" y="1585004"/>
                <a:ext cx="5968684" cy="39791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B66E785E-6119-B918-CA51-1DB4EC169E5D}"/>
                  </a:ext>
                </a:extLst>
              </p:cNvPr>
              <p:cNvSpPr/>
              <p:nvPr/>
            </p:nvSpPr>
            <p:spPr>
              <a:xfrm>
                <a:off x="945341" y="4043624"/>
                <a:ext cx="4720667" cy="548640"/>
              </a:xfrm>
              <a:prstGeom prst="roundRect">
                <a:avLst/>
              </a:prstGeom>
              <a:solidFill>
                <a:schemeClr val="accent1">
                  <a:alpha val="31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D13074F-0209-C93F-102A-040A7A53F552}"/>
                </a:ext>
              </a:extLst>
            </p:cNvPr>
            <p:cNvSpPr/>
            <p:nvPr/>
          </p:nvSpPr>
          <p:spPr>
            <a:xfrm>
              <a:off x="9817264" y="2336524"/>
              <a:ext cx="439838" cy="439838"/>
            </a:xfrm>
            <a:prstGeom prst="ellipse">
              <a:avLst/>
            </a:prstGeom>
            <a:solidFill>
              <a:schemeClr val="tx1">
                <a:alpha val="1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C92B872-698E-3841-6563-2CA57B379E9B}"/>
                  </a:ext>
                </a:extLst>
              </p:cNvPr>
              <p:cNvSpPr txBox="1"/>
              <p:nvPr/>
            </p:nvSpPr>
            <p:spPr>
              <a:xfrm>
                <a:off x="584098" y="5262255"/>
                <a:ext cx="10923227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The more concentrated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is in the air, the faster it will go into the ocean!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C92B872-698E-3841-6563-2CA57B379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098" y="5262255"/>
                <a:ext cx="10923227" cy="461665"/>
              </a:xfrm>
              <a:prstGeom prst="rect">
                <a:avLst/>
              </a:prstGeom>
              <a:blipFill>
                <a:blip r:embed="rId4"/>
                <a:stretch>
                  <a:fillRect t="-5128" b="-2564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5523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D516B68-D350-CA99-93A5-B8757A097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340" y="771255"/>
            <a:ext cx="4987572" cy="378454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-11575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Cambio 1.0 fluxes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1548742-9E67-DD20-2854-6F0DCEA517FA}"/>
              </a:ext>
            </a:extLst>
          </p:cNvPr>
          <p:cNvGrpSpPr/>
          <p:nvPr/>
        </p:nvGrpSpPr>
        <p:grpSpPr>
          <a:xfrm>
            <a:off x="1030147" y="692232"/>
            <a:ext cx="10988748" cy="3979122"/>
            <a:chOff x="1030147" y="1433011"/>
            <a:chExt cx="10988748" cy="3979122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6B18E83-A3B6-647E-FFCE-481748BE08D4}"/>
                </a:ext>
              </a:extLst>
            </p:cNvPr>
            <p:cNvGrpSpPr/>
            <p:nvPr/>
          </p:nvGrpSpPr>
          <p:grpSpPr>
            <a:xfrm>
              <a:off x="1030147" y="1433011"/>
              <a:ext cx="10988748" cy="3979122"/>
              <a:chOff x="1391390" y="1585004"/>
              <a:chExt cx="10988748" cy="3979122"/>
            </a:xfrm>
          </p:grpSpPr>
          <p:pic>
            <p:nvPicPr>
              <p:cNvPr id="7" name="Picture 2" descr="Draft diagram of the carbon cycle.">
                <a:extLst>
                  <a:ext uri="{FF2B5EF4-FFF2-40B4-BE49-F238E27FC236}">
                    <a16:creationId xmlns:a16="http://schemas.microsoft.com/office/drawing/2014/main" id="{61C4C961-6507-334B-9224-D58B8D61563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11454" y="1585004"/>
                <a:ext cx="5968684" cy="39791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B66E785E-6119-B918-CA51-1DB4EC169E5D}"/>
                  </a:ext>
                </a:extLst>
              </p:cNvPr>
              <p:cNvSpPr/>
              <p:nvPr/>
            </p:nvSpPr>
            <p:spPr>
              <a:xfrm>
                <a:off x="1391390" y="4785259"/>
                <a:ext cx="3576577" cy="548640"/>
              </a:xfrm>
              <a:prstGeom prst="roundRect">
                <a:avLst/>
              </a:prstGeom>
              <a:solidFill>
                <a:schemeClr val="accent1">
                  <a:alpha val="31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D13074F-0209-C93F-102A-040A7A53F552}"/>
                </a:ext>
              </a:extLst>
            </p:cNvPr>
            <p:cNvSpPr/>
            <p:nvPr/>
          </p:nvSpPr>
          <p:spPr>
            <a:xfrm>
              <a:off x="8394864" y="1654940"/>
              <a:ext cx="439838" cy="439838"/>
            </a:xfrm>
            <a:prstGeom prst="ellipse">
              <a:avLst/>
            </a:prstGeom>
            <a:solidFill>
              <a:schemeClr val="tx1">
                <a:alpha val="1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B872-698E-3841-6563-2CA57B379E9B}"/>
              </a:ext>
            </a:extLst>
          </p:cNvPr>
          <p:cNvSpPr txBox="1"/>
          <p:nvPr/>
        </p:nvSpPr>
        <p:spPr>
          <a:xfrm>
            <a:off x="634386" y="5262255"/>
            <a:ext cx="10923227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We know how to use </a:t>
            </a:r>
            <a:r>
              <a:rPr lang="en-US" sz="2400" dirty="0" err="1"/>
              <a:t>ScheduledFlows</a:t>
            </a:r>
            <a:r>
              <a:rPr lang="en-US" sz="2400" dirty="0"/>
              <a:t> and </a:t>
            </a:r>
            <a:r>
              <a:rPr lang="en-US" sz="2400" dirty="0" err="1"/>
              <a:t>ScheduledFlowsLTE</a:t>
            </a:r>
            <a:r>
              <a:rPr lang="en-US" sz="2400" dirty="0"/>
              <a:t> to make this </a:t>
            </a:r>
          </a:p>
        </p:txBody>
      </p:sp>
    </p:spTree>
    <p:extLst>
      <p:ext uri="{BB962C8B-B14F-4D97-AF65-F5344CB8AC3E}">
        <p14:creationId xmlns:p14="http://schemas.microsoft.com/office/powerpoint/2010/main" val="1257542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-11575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Cambio 1.0 puts those fluxes into an Euler loop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1548742-9E67-DD20-2854-6F0DCEA517FA}"/>
              </a:ext>
            </a:extLst>
          </p:cNvPr>
          <p:cNvGrpSpPr/>
          <p:nvPr/>
        </p:nvGrpSpPr>
        <p:grpSpPr>
          <a:xfrm>
            <a:off x="6050211" y="692232"/>
            <a:ext cx="5968684" cy="3979122"/>
            <a:chOff x="6050211" y="1433011"/>
            <a:chExt cx="5968684" cy="3979122"/>
          </a:xfrm>
        </p:grpSpPr>
        <p:pic>
          <p:nvPicPr>
            <p:cNvPr id="7" name="Picture 2" descr="Draft diagram of the carbon cycle.">
              <a:extLst>
                <a:ext uri="{FF2B5EF4-FFF2-40B4-BE49-F238E27FC236}">
                  <a16:creationId xmlns:a16="http://schemas.microsoft.com/office/drawing/2014/main" id="{61C4C961-6507-334B-9224-D58B8D6156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50211" y="1433011"/>
              <a:ext cx="5968684" cy="3979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D13074F-0209-C93F-102A-040A7A53F552}"/>
                </a:ext>
              </a:extLst>
            </p:cNvPr>
            <p:cNvSpPr/>
            <p:nvPr/>
          </p:nvSpPr>
          <p:spPr>
            <a:xfrm>
              <a:off x="9817264" y="2336524"/>
              <a:ext cx="439838" cy="439838"/>
            </a:xfrm>
            <a:prstGeom prst="ellipse">
              <a:avLst/>
            </a:prstGeom>
            <a:solidFill>
              <a:schemeClr val="tx1">
                <a:alpha val="1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67B4A91E-92C7-257B-C7BD-BBC1120F2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340" y="771255"/>
            <a:ext cx="4987572" cy="378454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41333A4-3D45-47D4-8CA7-6C3B1E9FEB26}"/>
              </a:ext>
            </a:extLst>
          </p:cNvPr>
          <p:cNvSpPr txBox="1"/>
          <p:nvPr/>
        </p:nvSpPr>
        <p:spPr>
          <a:xfrm>
            <a:off x="80010" y="4706725"/>
            <a:ext cx="119388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Inside an </a:t>
            </a:r>
            <a:r>
              <a:rPr lang="en-US" sz="2400" i="1" dirty="0"/>
              <a:t>Euler </a:t>
            </a:r>
            <a:r>
              <a:rPr lang="en-US" sz="2400" dirty="0"/>
              <a:t>loop (like the loop you made in </a:t>
            </a:r>
            <a:r>
              <a:rPr lang="en-US" sz="2400" dirty="0" err="1"/>
              <a:t>SimpleRadiativeBalance</a:t>
            </a:r>
            <a:r>
              <a:rPr lang="en-US" sz="2400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E8121A-C2C3-6920-D186-9E0C8F6481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9410" y="5578823"/>
            <a:ext cx="7772400" cy="110586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341432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-11575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Cambio 1.0 puts those fluxes into an Euler loop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1548742-9E67-DD20-2854-6F0DCEA517FA}"/>
              </a:ext>
            </a:extLst>
          </p:cNvPr>
          <p:cNvGrpSpPr/>
          <p:nvPr/>
        </p:nvGrpSpPr>
        <p:grpSpPr>
          <a:xfrm>
            <a:off x="6050211" y="692232"/>
            <a:ext cx="5968684" cy="3979122"/>
            <a:chOff x="6050211" y="1433011"/>
            <a:chExt cx="5968684" cy="3979122"/>
          </a:xfrm>
        </p:grpSpPr>
        <p:pic>
          <p:nvPicPr>
            <p:cNvPr id="7" name="Picture 2" descr="Draft diagram of the carbon cycle.">
              <a:extLst>
                <a:ext uri="{FF2B5EF4-FFF2-40B4-BE49-F238E27FC236}">
                  <a16:creationId xmlns:a16="http://schemas.microsoft.com/office/drawing/2014/main" id="{61C4C961-6507-334B-9224-D58B8D6156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50211" y="1433011"/>
              <a:ext cx="5968684" cy="3979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D13074F-0209-C93F-102A-040A7A53F552}"/>
                </a:ext>
              </a:extLst>
            </p:cNvPr>
            <p:cNvSpPr/>
            <p:nvPr/>
          </p:nvSpPr>
          <p:spPr>
            <a:xfrm>
              <a:off x="9817264" y="2336524"/>
              <a:ext cx="439838" cy="439838"/>
            </a:xfrm>
            <a:prstGeom prst="ellipse">
              <a:avLst/>
            </a:prstGeom>
            <a:solidFill>
              <a:schemeClr val="tx1">
                <a:alpha val="1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67B4A91E-92C7-257B-C7BD-BBC1120F2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340" y="771255"/>
            <a:ext cx="4987572" cy="378454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CE4A8-03C0-2DC6-5FB1-592F271975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8435" y="5559435"/>
            <a:ext cx="8415129" cy="113916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47C3ED-00A3-E91A-EC7C-B3D08E4E78AF}"/>
              </a:ext>
            </a:extLst>
          </p:cNvPr>
          <p:cNvSpPr txBox="1"/>
          <p:nvPr/>
        </p:nvSpPr>
        <p:spPr>
          <a:xfrm>
            <a:off x="80010" y="4706725"/>
            <a:ext cx="119388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Inside an </a:t>
            </a:r>
            <a:r>
              <a:rPr lang="en-US" sz="2400" i="1" dirty="0"/>
              <a:t>Euler </a:t>
            </a:r>
            <a:r>
              <a:rPr lang="en-US" sz="2400" dirty="0"/>
              <a:t>loop (like the loop you made in </a:t>
            </a:r>
            <a:r>
              <a:rPr lang="en-US" sz="2400" dirty="0" err="1"/>
              <a:t>SimpleRadiativeBalance</a:t>
            </a:r>
            <a:r>
              <a:rPr lang="en-US" sz="24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290736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-11575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OK, let’s get started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2445D7-8883-8593-9E40-C9417EF6E5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3248"/>
          <a:stretch/>
        </p:blipFill>
        <p:spPr>
          <a:xfrm>
            <a:off x="1608461" y="4735195"/>
            <a:ext cx="10196037" cy="15071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2260AF-ED2B-3E74-815E-1CC47DCA4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92" y="828023"/>
            <a:ext cx="9095730" cy="334736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42200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8061</TotalTime>
  <Words>125</Words>
  <Application>Microsoft Macintosh PowerPoint</Application>
  <PresentationFormat>Widescreen</PresentationFormat>
  <Paragraphs>16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58</cp:revision>
  <dcterms:created xsi:type="dcterms:W3CDTF">2022-10-03T03:10:13Z</dcterms:created>
  <dcterms:modified xsi:type="dcterms:W3CDTF">2026-02-24T12:15:08Z</dcterms:modified>
</cp:coreProperties>
</file>