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709" r:id="rId2"/>
    <p:sldId id="328" r:id="rId3"/>
    <p:sldId id="420" r:id="rId4"/>
    <p:sldId id="271" r:id="rId5"/>
    <p:sldId id="710" r:id="rId6"/>
    <p:sldId id="257" r:id="rId7"/>
    <p:sldId id="1981" r:id="rId8"/>
    <p:sldId id="1979" r:id="rId9"/>
    <p:sldId id="302" r:id="rId10"/>
    <p:sldId id="1980" r:id="rId11"/>
    <p:sldId id="1982" r:id="rId12"/>
    <p:sldId id="1983" r:id="rId13"/>
    <p:sldId id="1985" r:id="rId14"/>
    <p:sldId id="1984" r:id="rId15"/>
    <p:sldId id="1987" r:id="rId16"/>
    <p:sldId id="1990" r:id="rId17"/>
    <p:sldId id="1988" r:id="rId18"/>
    <p:sldId id="1993" r:id="rId19"/>
    <p:sldId id="1994" r:id="rId20"/>
    <p:sldId id="1992" r:id="rId21"/>
    <p:sldId id="1997" r:id="rId22"/>
    <p:sldId id="199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76"/>
  </p:normalViewPr>
  <p:slideViewPr>
    <p:cSldViewPr snapToGrid="0" showGuides="1">
      <p:cViewPr varScale="1">
        <p:scale>
          <a:sx n="113" d="100"/>
          <a:sy n="113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ACE32-64C6-4C40-96DE-79064EE5C7C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5D8F9-2234-BC44-9D8D-AEFE6A546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9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9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72FB-C946-AE9A-84BE-325C3A413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62D65-0230-DD6C-A101-6D3E9F451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A3459-6825-5067-2AFE-47B87CC1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6A50E-33AC-D04C-D752-6947E2B0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DB33B-0ED5-7A43-F477-F1C40F23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3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76C7-2BDC-3FA2-12B4-E727A781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7DA3D-C636-B8A8-5072-4345CA439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8315D-A06F-FA01-7D3F-C06E8BE1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B5156-3D97-BE00-557D-AA835C6F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7D21-7F4E-78C4-0C67-E0132094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1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6C11-C835-FC8D-0D50-BCEC3D22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57D6D-181C-1AF6-5513-546DB14A2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76ED7-46BE-1EA3-0DDB-FEA698B9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0F2B0-A6BA-A82C-2AF1-82087896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28BCB-5BCF-D175-4B5F-6FD1DC40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AD62-08C1-4263-F621-941CE85E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B18E7-8EC0-1E9A-A110-C36BFE971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8F44-852B-C7C4-9167-9ADF08FEA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07EB0-C84D-61F9-B879-341951DD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3ED0B-054F-FABF-C200-7F3B948F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7D4A9-A400-6539-04EE-86D6D9FD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9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D189-2852-B7C4-893C-3052D663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FCFA2-BE08-9FD0-21A9-641B4355A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51C0B-7E91-AA49-CFAD-8AC69461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BB27B-FEB2-79E2-5771-7E8D266C6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77E58-B11B-6D05-C07D-19504E3FB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21A76-2814-1A19-1412-8E1D7736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F5D23-76ED-D8DD-1C94-4ED20BE4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5DED-C2C4-DAA8-C835-81727A7D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0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35FA-6946-D3EE-5BE5-EDB72A76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F672E-FF34-016B-52A9-2B91403E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14F23-56D0-2E2E-7B90-1ED235C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BC740-F36D-4AA0-8C9B-852D0650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7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E6409-EB30-D71A-7A77-2911024C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3E38C-52BC-570E-B414-F89D8506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7F122-F5F1-17DF-DD25-AD4BFF36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2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621D-5301-91D4-1190-B889D9C2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E5064-CE11-BAB9-EB42-95657C3B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08132-C519-318C-9E88-17A1F94F6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72830-2E22-FC55-7776-F5DF99654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EB1D1-A443-B15A-56F9-DEC3E35E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45572-8FA6-1BD0-31AC-7FA3996E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6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0060-7B28-682A-317B-084C4F7DA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F4C51-1ADE-026D-DCC0-4537CB86B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F6F19-8E53-8430-F5FB-5ECC2853E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1D970-6F09-1C31-FC09-43740685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F98B7-3689-6AF3-6783-729CE272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F23BF-C83F-B3FF-A0B7-7E48E507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AD05-FE60-230B-47C0-71E2E320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2B943-B73F-8349-E0F3-FC1C0F7E0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9D206-DF1B-28B6-F45F-C73CA87E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5C58-72D5-6C59-23C6-9655496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B81CD-4B61-17A0-0CC0-16179743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4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38519-B580-F56D-28BD-2C9B0A628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A54A9-F846-D9DC-8EC5-9CEA290E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8706-889F-20D8-964D-E495E947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B4B5-1764-7EB1-EB80-EA675FC7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9AA60-5534-C044-E20C-862BFA07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4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A63E7-DB9B-154F-E9E5-372D1B0F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35AF5-0AEC-8C1B-9ED6-F5D4E05CF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3327D-0B83-794B-31DE-24C6F0140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9DD6-E97C-7D4B-88AB-24CED1D086A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49D85-0748-9DED-16D6-745F7F66B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27942-8669-2F5E-0C45-F3A0A6442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2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arth.nullschool.ne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het.colorado.edu/sims/cheerpj/greenhouse/latest/greenhouse.html?simulation=greenhous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7C8611-BE62-F45F-7B56-CA8E5F3CC871}"/>
              </a:ext>
            </a:extLst>
          </p:cNvPr>
          <p:cNvSpPr txBox="1"/>
          <p:nvPr/>
        </p:nvSpPr>
        <p:spPr>
          <a:xfrm>
            <a:off x="0" y="0"/>
            <a:ext cx="36576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we’ll be doing during the interview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D2327E-F225-24F9-176C-C6F81D661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688" y="0"/>
            <a:ext cx="5842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9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F65E05-B319-42A9-5F42-23A0490E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1" y="1846432"/>
            <a:ext cx="6292195" cy="373173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F30FEAD-CE33-FEA1-7EC5-AD933D200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40"/>
          <a:stretch/>
        </p:blipFill>
        <p:spPr bwMode="auto">
          <a:xfrm>
            <a:off x="7766948" y="319311"/>
            <a:ext cx="2015593" cy="318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41A046F-1FDC-81BE-D240-D6453C44E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766948" y="3545443"/>
            <a:ext cx="2158930" cy="3238395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c 1">
            <a:extLst>
              <a:ext uri="{FF2B5EF4-FFF2-40B4-BE49-F238E27FC236}">
                <a16:creationId xmlns:a16="http://schemas.microsoft.com/office/drawing/2014/main" id="{55C5EACC-E1FA-306A-C312-ECC53BD3EDCF}"/>
              </a:ext>
            </a:extLst>
          </p:cNvPr>
          <p:cNvSpPr/>
          <p:nvPr/>
        </p:nvSpPr>
        <p:spPr>
          <a:xfrm>
            <a:off x="1895060" y="2826026"/>
            <a:ext cx="1563756" cy="1282148"/>
          </a:xfrm>
          <a:prstGeom prst="arc">
            <a:avLst>
              <a:gd name="adj1" fmla="val 16200000"/>
              <a:gd name="adj2" fmla="val 11955800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7A65C-805D-D771-A3E4-ABB2CEBD37E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prepare: For our canned models, review them, and check out PPT slides about them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0339C-60F3-A01F-49E1-5730438141F8}"/>
              </a:ext>
            </a:extLst>
          </p:cNvPr>
          <p:cNvSpPr txBox="1"/>
          <p:nvPr/>
        </p:nvSpPr>
        <p:spPr>
          <a:xfrm>
            <a:off x="267631" y="5578168"/>
            <a:ext cx="86049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it </a:t>
            </a:r>
            <a:r>
              <a:rPr lang="en-US" sz="2400" b="1" dirty="0"/>
              <a:t>stormy</a:t>
            </a:r>
            <a:r>
              <a:rPr lang="en-US" sz="2400" dirty="0"/>
              <a:t> and </a:t>
            </a:r>
            <a:r>
              <a:rPr lang="en-US" sz="2400" b="1" dirty="0"/>
              <a:t>rainy</a:t>
            </a:r>
            <a:r>
              <a:rPr lang="en-US" sz="2400" dirty="0"/>
              <a:t> here, or </a:t>
            </a:r>
            <a:r>
              <a:rPr lang="en-US" sz="2400" b="1" dirty="0"/>
              <a:t>clear</a:t>
            </a:r>
            <a:r>
              <a:rPr lang="en-US" sz="2400" dirty="0"/>
              <a:t> and </a:t>
            </a:r>
            <a:r>
              <a:rPr lang="en-US" sz="2400" b="1" dirty="0"/>
              <a:t>dry</a:t>
            </a:r>
            <a:r>
              <a:rPr lang="en-US" sz="24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this a </a:t>
            </a:r>
            <a:r>
              <a:rPr lang="en-US" sz="2400" b="1" dirty="0"/>
              <a:t>low-pressure</a:t>
            </a:r>
            <a:r>
              <a:rPr lang="en-US" sz="2400" dirty="0"/>
              <a:t> system or a </a:t>
            </a:r>
            <a:r>
              <a:rPr lang="en-US" sz="2400" b="1" dirty="0"/>
              <a:t>high-pressure</a:t>
            </a:r>
            <a:r>
              <a:rPr lang="en-US" sz="2400" dirty="0"/>
              <a:t> system?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it a </a:t>
            </a:r>
            <a:r>
              <a:rPr lang="en-US" sz="2400" b="1" dirty="0"/>
              <a:t>cyclonic</a:t>
            </a:r>
            <a:r>
              <a:rPr lang="en-US" sz="2400" dirty="0"/>
              <a:t> system or an </a:t>
            </a:r>
            <a:r>
              <a:rPr lang="en-US" sz="2400" b="1" dirty="0"/>
              <a:t>anticyclonic</a:t>
            </a:r>
            <a:r>
              <a:rPr lang="en-US" sz="2400" dirty="0"/>
              <a:t> system?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A297A-AC3B-01CC-9C7C-CDD72373F822}"/>
              </a:ext>
            </a:extLst>
          </p:cNvPr>
          <p:cNvSpPr txBox="1"/>
          <p:nvPr/>
        </p:nvSpPr>
        <p:spPr>
          <a:xfrm>
            <a:off x="995423" y="902825"/>
            <a:ext cx="4699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4"/>
              </a:rPr>
              <a:t>Earth.nullschool.net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29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Review PPT slides that we worked through in class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2041071" y="3640652"/>
            <a:ext cx="6038060" cy="1894736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12ADA9-B575-7D31-9339-9D01401C2B82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5498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445B4A-5F96-F442-9896-395DC684A7E0}"/>
              </a:ext>
            </a:extLst>
          </p:cNvPr>
          <p:cNvSpPr txBox="1"/>
          <p:nvPr/>
        </p:nvSpPr>
        <p:spPr>
          <a:xfrm>
            <a:off x="2948940" y="1006614"/>
            <a:ext cx="910971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kind of light (SW or LW) do GHG molecules absorb?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happens to those molecules when they absorb that light?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178303-35E7-9C55-AE22-A5EF10F15F7B}"/>
              </a:ext>
            </a:extLst>
          </p:cNvPr>
          <p:cNvSpPr/>
          <p:nvPr/>
        </p:nvSpPr>
        <p:spPr>
          <a:xfrm>
            <a:off x="261366" y="5027354"/>
            <a:ext cx="26875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</a:t>
            </a:r>
            <a:r>
              <a:rPr lang="en-US" sz="2000" dirty="0" err="1">
                <a:hlinkClick r:id="rId2"/>
              </a:rPr>
              <a:t>phet.colorado.edu</a:t>
            </a:r>
            <a:r>
              <a:rPr lang="en-US" sz="2000" dirty="0">
                <a:hlinkClick r:id="rId2"/>
              </a:rPr>
              <a:t>/sims/</a:t>
            </a:r>
            <a:r>
              <a:rPr lang="en-US" sz="2000" dirty="0" err="1">
                <a:hlinkClick r:id="rId2"/>
              </a:rPr>
              <a:t>cheerpj</a:t>
            </a:r>
            <a:r>
              <a:rPr lang="en-US" sz="2000" dirty="0">
                <a:hlinkClick r:id="rId2"/>
              </a:rPr>
              <a:t>/greenhouse/latest/</a:t>
            </a:r>
            <a:r>
              <a:rPr lang="en-US" sz="2000" dirty="0" err="1">
                <a:hlinkClick r:id="rId2"/>
              </a:rPr>
              <a:t>greenhouse.html?simulation</a:t>
            </a:r>
            <a:r>
              <a:rPr lang="en-US" sz="2000" dirty="0">
                <a:hlinkClick r:id="rId2"/>
              </a:rPr>
              <a:t>=greenhouse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530F0-7D3E-3F98-B564-000F4A67DAB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Review PPT slides that have questions on them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D1E449-AEAB-2667-5776-5BDBF17B3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63" y="797462"/>
            <a:ext cx="1704594" cy="1249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4AD05-905A-F701-5918-3472450D42BC}"/>
              </a:ext>
            </a:extLst>
          </p:cNvPr>
          <p:cNvSpPr txBox="1"/>
          <p:nvPr/>
        </p:nvSpPr>
        <p:spPr>
          <a:xfrm>
            <a:off x="2948940" y="2853059"/>
            <a:ext cx="910971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Assuming radiative balance, why are there more LW photons leaving Earth than SW photons coming in?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seems to be the homeostatic temperature (in degrees K, C, F) with default settings?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much colder was it  back in 1750 compared to now?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much colder was it during ice ages compared to now?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effect do clouds have on SW photons?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On LW photons?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On temperature?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AA63AE-2E0D-EF6F-154D-6BE58738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09" y="2853059"/>
            <a:ext cx="260120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5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Often, what you did in Python has some take-home messages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E8799-9E88-FC4E-8BAA-2080F711866F}"/>
                  </a:ext>
                </a:extLst>
              </p:cNvPr>
              <p:cNvSpPr txBox="1"/>
              <p:nvPr/>
            </p:nvSpPr>
            <p:spPr>
              <a:xfrm>
                <a:off x="231648" y="4199851"/>
                <a:ext cx="11803190" cy="1734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1" dirty="0"/>
                  <a:t>What if </a:t>
                </a:r>
                <a:r>
                  <a:rPr lang="en-US" sz="2400" dirty="0"/>
                  <a:t>we raise or lower the albedo by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? We found that it causes a change in the final (homeostatic) temperature. The </a:t>
                </a:r>
                <a:r>
                  <a:rPr lang="en-US" sz="2400" b="1" i="1" dirty="0"/>
                  <a:t>sensitivity parameter</a:t>
                </a:r>
                <a:r>
                  <a:rPr lang="en-US" sz="2400" i="1" dirty="0"/>
                  <a:t> </a:t>
                </a:r>
                <a:r>
                  <a:rPr lang="en-US" sz="2400" dirty="0"/>
                  <a:t>for albedo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sz="2400" dirty="0"/>
                  <a:t>) was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−100 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b="1" i="1" dirty="0"/>
                  <a:t>So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+0.05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=−5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E8799-9E88-FC4E-8BAA-2080F7118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8" y="4199851"/>
                <a:ext cx="11803190" cy="1734064"/>
              </a:xfrm>
              <a:prstGeom prst="rect">
                <a:avLst/>
              </a:prstGeom>
              <a:blipFill>
                <a:blip r:embed="rId2"/>
                <a:stretch>
                  <a:fillRect l="-860" t="-2174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4EECDDAF-DA35-0024-256E-C8B81D82D839}"/>
              </a:ext>
            </a:extLst>
          </p:cNvPr>
          <p:cNvGrpSpPr/>
          <p:nvPr/>
        </p:nvGrpSpPr>
        <p:grpSpPr>
          <a:xfrm>
            <a:off x="1510358" y="479721"/>
            <a:ext cx="8888925" cy="3347528"/>
            <a:chOff x="644726" y="549174"/>
            <a:chExt cx="8888925" cy="3347528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22421EB5-E153-6A3D-A382-C4207451F8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726" y="549174"/>
              <a:ext cx="4471284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>
              <a:extLst>
                <a:ext uri="{FF2B5EF4-FFF2-40B4-BE49-F238E27FC236}">
                  <a16:creationId xmlns:a16="http://schemas.microsoft.com/office/drawing/2014/main" id="{EE8A35EB-25F5-FE92-E78E-81C5D281EB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2366" y="549174"/>
              <a:ext cx="4471285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377CC8-448F-8B09-7CBF-0CABCDF08B69}"/>
              </a:ext>
            </a:extLst>
          </p:cNvPr>
          <p:cNvGrpSpPr/>
          <p:nvPr/>
        </p:nvGrpSpPr>
        <p:grpSpPr>
          <a:xfrm>
            <a:off x="4218436" y="2383540"/>
            <a:ext cx="1977189" cy="871724"/>
            <a:chOff x="4218436" y="2383540"/>
            <a:chExt cx="1977189" cy="871724"/>
          </a:xfrm>
        </p:grpSpPr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44387D3F-6D2D-D8DF-E71A-FED8975BD113}"/>
                </a:ext>
              </a:extLst>
            </p:cNvPr>
            <p:cNvSpPr/>
            <p:nvPr/>
          </p:nvSpPr>
          <p:spPr>
            <a:xfrm>
              <a:off x="4218436" y="2383540"/>
              <a:ext cx="1977189" cy="871724"/>
            </a:xfrm>
            <a:prstGeom prst="rightArrow">
              <a:avLst/>
            </a:prstGeom>
            <a:solidFill>
              <a:schemeClr val="accent1">
                <a:alpha val="5611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25BFF8-22E1-BF0E-0463-82D505EAFAC7}"/>
                </a:ext>
              </a:extLst>
            </p:cNvPr>
            <p:cNvSpPr txBox="1"/>
            <p:nvPr/>
          </p:nvSpPr>
          <p:spPr>
            <a:xfrm>
              <a:off x="4459862" y="2619653"/>
              <a:ext cx="14965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i="1" dirty="0"/>
                <a:t>What-if</a:t>
              </a:r>
              <a:r>
                <a:rPr lang="en-US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696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B18F80-9909-6F4D-B9EF-FB229199814D}"/>
              </a:ext>
            </a:extLst>
          </p:cNvPr>
          <p:cNvSpPr txBox="1"/>
          <p:nvPr/>
        </p:nvSpPr>
        <p:spPr>
          <a:xfrm>
            <a:off x="862396" y="1394698"/>
            <a:ext cx="48482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we say this: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/>
              <a:t>xarray</a:t>
            </a:r>
            <a:r>
              <a:rPr lang="en-US" sz="2400" b="1" dirty="0"/>
              <a:t> = </a:t>
            </a:r>
            <a:r>
              <a:rPr lang="en-US" sz="2400" b="1" dirty="0" err="1"/>
              <a:t>np.linspace</a:t>
            </a:r>
            <a:r>
              <a:rPr lang="en-US" sz="2400" b="1" dirty="0"/>
              <a:t>(0,2,100)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rootx</a:t>
            </a:r>
            <a:r>
              <a:rPr lang="en-US" sz="2400" b="1" dirty="0"/>
              <a:t> = </a:t>
            </a:r>
            <a:r>
              <a:rPr lang="en-US" sz="2400" b="1" dirty="0" err="1"/>
              <a:t>xarray</a:t>
            </a:r>
            <a:r>
              <a:rPr lang="en-US" sz="2400" b="1" dirty="0"/>
              <a:t>**(1/2)</a:t>
            </a:r>
          </a:p>
          <a:p>
            <a:endParaRPr lang="en-US" sz="2400" dirty="0"/>
          </a:p>
          <a:p>
            <a:r>
              <a:rPr lang="en-US" sz="2400" dirty="0"/>
              <a:t>Then, which of the following will produce the graph shown at right?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/>
              <a:t>plt.plot</a:t>
            </a:r>
            <a:r>
              <a:rPr lang="en-US" sz="2400" b="1" dirty="0"/>
              <a:t>(</a:t>
            </a:r>
            <a:r>
              <a:rPr lang="en-US" sz="2400" b="1" dirty="0" err="1"/>
              <a:t>xarray,rootx</a:t>
            </a:r>
            <a:r>
              <a:rPr lang="en-US" sz="2400" b="1" dirty="0"/>
              <a:t>)</a:t>
            </a:r>
          </a:p>
          <a:p>
            <a:r>
              <a:rPr lang="en-US" sz="2400" dirty="0"/>
              <a:t>or</a:t>
            </a:r>
          </a:p>
          <a:p>
            <a:r>
              <a:rPr lang="en-US" sz="2400" dirty="0"/>
              <a:t>	</a:t>
            </a:r>
            <a:r>
              <a:rPr lang="en-US" sz="2400" b="1" dirty="0" err="1"/>
              <a:t>plt.plot</a:t>
            </a:r>
            <a:r>
              <a:rPr lang="en-US" sz="2400" b="1" dirty="0"/>
              <a:t>(</a:t>
            </a:r>
            <a:r>
              <a:rPr lang="en-US" sz="2400" b="1" dirty="0" err="1"/>
              <a:t>rootx</a:t>
            </a:r>
            <a:r>
              <a:rPr lang="en-US" sz="2400" b="1" dirty="0"/>
              <a:t>, </a:t>
            </a:r>
            <a:r>
              <a:rPr lang="en-US" sz="2400" b="1" dirty="0" err="1"/>
              <a:t>xarray</a:t>
            </a:r>
            <a:r>
              <a:rPr lang="en-US" sz="2400" b="1" dirty="0"/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8A3C0-1AF1-6940-AC63-1BC535665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060" y="1652290"/>
            <a:ext cx="5335544" cy="38973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ABF5F-4800-6750-1563-17B0F36ACA1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Don’t forget to pay attention to basic Python syntax (especially if you’ve done it a lot)</a:t>
            </a:r>
          </a:p>
        </p:txBody>
      </p:sp>
    </p:spTree>
    <p:extLst>
      <p:ext uri="{BB962C8B-B14F-4D97-AF65-F5344CB8AC3E}">
        <p14:creationId xmlns:p14="http://schemas.microsoft.com/office/powerpoint/2010/main" val="284696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B18F80-9909-6F4D-B9EF-FB229199814D}"/>
              </a:ext>
            </a:extLst>
          </p:cNvPr>
          <p:cNvSpPr txBox="1"/>
          <p:nvPr/>
        </p:nvSpPr>
        <p:spPr>
          <a:xfrm>
            <a:off x="862396" y="1394698"/>
            <a:ext cx="48482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we say this: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/>
              <a:t>xarray</a:t>
            </a:r>
            <a:r>
              <a:rPr lang="en-US" sz="2400" b="1" dirty="0"/>
              <a:t> = </a:t>
            </a:r>
            <a:r>
              <a:rPr lang="en-US" sz="2400" b="1" dirty="0" err="1"/>
              <a:t>np.linspace</a:t>
            </a:r>
            <a:r>
              <a:rPr lang="en-US" sz="2400" b="1" dirty="0"/>
              <a:t>(0,2,100)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rootx</a:t>
            </a:r>
            <a:r>
              <a:rPr lang="en-US" sz="2400" b="1" dirty="0"/>
              <a:t> = </a:t>
            </a:r>
            <a:r>
              <a:rPr lang="en-US" sz="2400" b="1" dirty="0" err="1"/>
              <a:t>xarray</a:t>
            </a:r>
            <a:r>
              <a:rPr lang="en-US" sz="2400" b="1" dirty="0"/>
              <a:t>**(1/2)</a:t>
            </a:r>
          </a:p>
          <a:p>
            <a:endParaRPr lang="en-US" sz="2400" dirty="0"/>
          </a:p>
          <a:p>
            <a:r>
              <a:rPr lang="en-US" sz="2400" dirty="0"/>
              <a:t>Then, which of the following will produce the graph shown at right?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>
                <a:solidFill>
                  <a:srgbClr val="7030A0"/>
                </a:solidFill>
              </a:rPr>
              <a:t>plt.plot</a:t>
            </a:r>
            <a:r>
              <a:rPr lang="en-US" sz="2400" b="1" dirty="0">
                <a:solidFill>
                  <a:srgbClr val="7030A0"/>
                </a:solidFill>
              </a:rPr>
              <a:t>(</a:t>
            </a:r>
            <a:r>
              <a:rPr lang="en-US" sz="2400" b="1" dirty="0" err="1">
                <a:solidFill>
                  <a:srgbClr val="7030A0"/>
                </a:solidFill>
              </a:rPr>
              <a:t>xarray,rootx</a:t>
            </a:r>
            <a:r>
              <a:rPr lang="en-US" sz="24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dirty="0"/>
              <a:t>or</a:t>
            </a:r>
          </a:p>
          <a:p>
            <a:r>
              <a:rPr lang="en-US" sz="2400" dirty="0"/>
              <a:t>	</a:t>
            </a:r>
            <a:r>
              <a:rPr lang="en-US" sz="2400" b="1" dirty="0" err="1"/>
              <a:t>plt.plot</a:t>
            </a:r>
            <a:r>
              <a:rPr lang="en-US" sz="2400" b="1" dirty="0"/>
              <a:t>(</a:t>
            </a:r>
            <a:r>
              <a:rPr lang="en-US" sz="2400" b="1" dirty="0" err="1"/>
              <a:t>rootx</a:t>
            </a:r>
            <a:r>
              <a:rPr lang="en-US" sz="2400" b="1" dirty="0"/>
              <a:t>, </a:t>
            </a:r>
            <a:r>
              <a:rPr lang="en-US" sz="2400" b="1" dirty="0" err="1"/>
              <a:t>xarray</a:t>
            </a:r>
            <a:r>
              <a:rPr lang="en-US" sz="2400" b="1" dirty="0"/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8A3C0-1AF1-6940-AC63-1BC535665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060" y="1652290"/>
            <a:ext cx="5335544" cy="38973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ABF5F-4800-6750-1563-17B0F36ACA1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Don’t forget to pay attention to basic Python syntax (especially if you’ve done it a lot)</a:t>
            </a:r>
          </a:p>
        </p:txBody>
      </p:sp>
    </p:spTree>
    <p:extLst>
      <p:ext uri="{BB962C8B-B14F-4D97-AF65-F5344CB8AC3E}">
        <p14:creationId xmlns:p14="http://schemas.microsoft.com/office/powerpoint/2010/main" val="103215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88952" cy="457200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Also, take note of questions asked in Pause for Analysis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9B5FD7-919A-5509-B765-9472E093C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87091"/>
            <a:ext cx="5942481" cy="44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AA50D3-DE0B-FAD5-F3BE-4C51009ADD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5"/>
          <a:stretch/>
        </p:blipFill>
        <p:spPr>
          <a:xfrm>
            <a:off x="211015" y="1328993"/>
            <a:ext cx="6029662" cy="3973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CABF6-5835-A3B1-6CA6-A7FF87FA3B99}"/>
                  </a:ext>
                </a:extLst>
              </p:cNvPr>
              <p:cNvSpPr txBox="1"/>
              <p:nvPr/>
            </p:nvSpPr>
            <p:spPr>
              <a:xfrm>
                <a:off x="8099385" y="1736732"/>
                <a:ext cx="197059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CABF6-5835-A3B1-6CA6-A7FF87FA3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385" y="1736732"/>
                <a:ext cx="1970590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84DA51-BC4B-E3F1-4856-B2560064B735}"/>
                  </a:ext>
                </a:extLst>
              </p:cNvPr>
              <p:cNvSpPr txBox="1"/>
              <p:nvPr/>
            </p:nvSpPr>
            <p:spPr>
              <a:xfrm>
                <a:off x="2672787" y="5804508"/>
                <a:ext cx="1970590" cy="6109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70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84DA51-BC4B-E3F1-4856-B2560064B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87" y="5804508"/>
                <a:ext cx="1970590" cy="610936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945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CGIs generally have learning goals (often repeated in a PPT slide)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10EF6-44FA-9305-9377-1C8AA811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677"/>
          <a:stretch/>
        </p:blipFill>
        <p:spPr>
          <a:xfrm>
            <a:off x="468280" y="1965959"/>
            <a:ext cx="9260000" cy="5936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D78E1-A9B8-08F5-072E-0602321D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475" y="3088832"/>
            <a:ext cx="9513050" cy="26290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8358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7273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B07733-B29D-4F06-C446-DCE6627DC412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B07733-B29D-4F06-C446-DCE6627DC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069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35FDA08-58DE-2964-B233-34D2BC125962}"/>
              </a:ext>
            </a:extLst>
          </p:cNvPr>
          <p:cNvGrpSpPr/>
          <p:nvPr/>
        </p:nvGrpSpPr>
        <p:grpSpPr>
          <a:xfrm>
            <a:off x="2449830" y="1420052"/>
            <a:ext cx="5728924" cy="4752147"/>
            <a:chOff x="2449830" y="1420052"/>
            <a:chExt cx="5728924" cy="4752147"/>
          </a:xfrm>
        </p:grpSpPr>
        <p:pic>
          <p:nvPicPr>
            <p:cNvPr id="1026" name="Picture 2" descr="PPT - Seasons and Insolation PowerPoint Presentation - ID:760507">
              <a:extLst>
                <a:ext uri="{FF2B5EF4-FFF2-40B4-BE49-F238E27FC236}">
                  <a16:creationId xmlns:a16="http://schemas.microsoft.com/office/drawing/2014/main" id="{0DA12C02-D943-B8FF-2883-5E90FAFB3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830" y="1875506"/>
              <a:ext cx="5728924" cy="4296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06E4F1-E727-1714-12C2-D101F004DC30}"/>
                </a:ext>
              </a:extLst>
            </p:cNvPr>
            <p:cNvSpPr txBox="1"/>
            <p:nvPr/>
          </p:nvSpPr>
          <p:spPr>
            <a:xfrm>
              <a:off x="2449830" y="1420052"/>
              <a:ext cx="572892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Obliquity</a:t>
              </a:r>
              <a:r>
                <a:rPr lang="en-US" sz="2400" dirty="0"/>
                <a:t> reason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/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/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&lt;1367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blipFill>
                <a:blip r:embed="rId6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057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35FDA08-58DE-2964-B233-34D2BC125962}"/>
              </a:ext>
            </a:extLst>
          </p:cNvPr>
          <p:cNvGrpSpPr/>
          <p:nvPr/>
        </p:nvGrpSpPr>
        <p:grpSpPr>
          <a:xfrm>
            <a:off x="2449830" y="1044509"/>
            <a:ext cx="5728924" cy="5127690"/>
            <a:chOff x="2449830" y="1044509"/>
            <a:chExt cx="5728924" cy="5127690"/>
          </a:xfrm>
        </p:grpSpPr>
        <p:pic>
          <p:nvPicPr>
            <p:cNvPr id="1026" name="Picture 2" descr="PPT - Seasons and Insolation PowerPoint Presentation - ID:760507">
              <a:extLst>
                <a:ext uri="{FF2B5EF4-FFF2-40B4-BE49-F238E27FC236}">
                  <a16:creationId xmlns:a16="http://schemas.microsoft.com/office/drawing/2014/main" id="{0DA12C02-D943-B8FF-2883-5E90FAFB3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830" y="1875506"/>
              <a:ext cx="5728924" cy="4296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06E4F1-E727-1714-12C2-D101F004DC30}"/>
                </a:ext>
              </a:extLst>
            </p:cNvPr>
            <p:cNvSpPr txBox="1"/>
            <p:nvPr/>
          </p:nvSpPr>
          <p:spPr>
            <a:xfrm>
              <a:off x="2449830" y="1044509"/>
              <a:ext cx="5728924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Nighttime</a:t>
              </a:r>
              <a:r>
                <a:rPr lang="en-US" sz="2400" dirty="0"/>
                <a:t> reason</a:t>
              </a:r>
            </a:p>
            <a:p>
              <a:pPr algn="ctr"/>
              <a:r>
                <a:rPr lang="en-US" sz="2400" dirty="0"/>
                <a:t>only ½ of Earth gets sun at any given time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/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/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&lt;1367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blipFill>
                <a:blip r:embed="rId6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70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B5247CB-7439-54C6-88A9-A2235B124A48}"/>
              </a:ext>
            </a:extLst>
          </p:cNvPr>
          <p:cNvGrpSpPr/>
          <p:nvPr/>
        </p:nvGrpSpPr>
        <p:grpSpPr>
          <a:xfrm>
            <a:off x="2449830" y="599160"/>
            <a:ext cx="5728924" cy="4676439"/>
            <a:chOff x="2449830" y="1050720"/>
            <a:chExt cx="5728924" cy="467643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06E4F1-E727-1714-12C2-D101F004DC30}"/>
                </a:ext>
              </a:extLst>
            </p:cNvPr>
            <p:cNvSpPr txBox="1"/>
            <p:nvPr/>
          </p:nvSpPr>
          <p:spPr>
            <a:xfrm>
              <a:off x="2449830" y="1050720"/>
              <a:ext cx="5728924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Albedo</a:t>
              </a:r>
              <a:r>
                <a:rPr lang="en-US" sz="2400" dirty="0"/>
                <a:t> reason</a:t>
              </a:r>
            </a:p>
            <a:p>
              <a:pPr algn="ctr"/>
              <a:r>
                <a:rPr lang="en-US" sz="2400" dirty="0"/>
                <a:t>30% of sunlight is reflected </a:t>
              </a:r>
            </a:p>
          </p:txBody>
        </p:sp>
        <p:pic>
          <p:nvPicPr>
            <p:cNvPr id="3074" name="Picture 2" descr="What is Albedo? - WorldAtlas">
              <a:extLst>
                <a:ext uri="{FF2B5EF4-FFF2-40B4-BE49-F238E27FC236}">
                  <a16:creationId xmlns:a16="http://schemas.microsoft.com/office/drawing/2014/main" id="{D955E2E0-42CE-3E95-B684-3CEE3C196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830" y="1881717"/>
              <a:ext cx="5728924" cy="38454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8799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/>
              <p:nvPr/>
            </p:nvSpPr>
            <p:spPr>
              <a:xfrm>
                <a:off x="276577" y="3081867"/>
                <a:ext cx="49163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Question</a:t>
                </a:r>
                <a:r>
                  <a:rPr lang="en-US" sz="2400" dirty="0"/>
                  <a:t>: What does the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mean?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77" y="3081867"/>
                <a:ext cx="4916312" cy="830997"/>
              </a:xfrm>
              <a:prstGeom prst="rect">
                <a:avLst/>
              </a:prstGeom>
              <a:blipFill>
                <a:blip r:embed="rId2"/>
                <a:stretch>
                  <a:fillRect l="-1804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E8184CC-2D46-A3D7-61F0-C49823B2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166" y="1523294"/>
            <a:ext cx="6588479" cy="13523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B06227-26FB-54E8-83F0-D23290AAC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77" y="613128"/>
            <a:ext cx="5029200" cy="1003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51804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/>
              <p:nvPr/>
            </p:nvSpPr>
            <p:spPr>
              <a:xfrm>
                <a:off x="276577" y="3081867"/>
                <a:ext cx="49163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Question</a:t>
                </a:r>
                <a:r>
                  <a:rPr lang="en-US" sz="2400" dirty="0"/>
                  <a:t>: What does the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mean?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77" y="3081867"/>
                <a:ext cx="4916312" cy="830997"/>
              </a:xfrm>
              <a:prstGeom prst="rect">
                <a:avLst/>
              </a:prstGeom>
              <a:blipFill>
                <a:blip r:embed="rId2"/>
                <a:stretch>
                  <a:fillRect l="-1804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E8184CC-2D46-A3D7-61F0-C49823B2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166" y="1523294"/>
            <a:ext cx="6588479" cy="13523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B06227-26FB-54E8-83F0-D23290AAC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77" y="613128"/>
            <a:ext cx="5029200" cy="1003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E568EB-3F6C-8FC6-4A04-7EDA79232742}"/>
              </a:ext>
            </a:extLst>
          </p:cNvPr>
          <p:cNvSpPr/>
          <p:nvPr/>
        </p:nvSpPr>
        <p:spPr>
          <a:xfrm>
            <a:off x="1693333" y="1761067"/>
            <a:ext cx="1230489" cy="835377"/>
          </a:xfrm>
          <a:prstGeom prst="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47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E44BA-6E0B-8653-FCC5-01004A13A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66" y="1523294"/>
            <a:ext cx="6588479" cy="1352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1C4AC-E837-6E51-3F5A-2753065B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77" y="613128"/>
            <a:ext cx="5029200" cy="1003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/>
              <p:nvPr/>
            </p:nvSpPr>
            <p:spPr>
              <a:xfrm>
                <a:off x="276577" y="3081867"/>
                <a:ext cx="49163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Answer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means “I’m thinking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</m:oMath>
                </a14:m>
                <a:r>
                  <a:rPr lang="en-US" sz="2400" dirty="0"/>
                  <a:t>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</m:oMath>
                </a14:m>
                <a:r>
                  <a:rPr lang="en-US" sz="2400" dirty="0"/>
                  <a:t> is on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-axis,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is on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-axis.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77" y="3081867"/>
                <a:ext cx="4916312" cy="1200329"/>
              </a:xfrm>
              <a:prstGeom prst="rect">
                <a:avLst/>
              </a:prstGeom>
              <a:blipFill>
                <a:blip r:embed="rId4"/>
                <a:stretch>
                  <a:fillRect l="-1804" t="-2105" r="-1289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6692834-D824-0C51-8828-5A1229E6E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777" y="3013631"/>
            <a:ext cx="5308600" cy="35239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BE29DF-01A0-EA6D-84F6-EFF31F7FCD6A}"/>
              </a:ext>
            </a:extLst>
          </p:cNvPr>
          <p:cNvSpPr/>
          <p:nvPr/>
        </p:nvSpPr>
        <p:spPr>
          <a:xfrm>
            <a:off x="1693333" y="1761067"/>
            <a:ext cx="1230489" cy="835377"/>
          </a:xfrm>
          <a:prstGeom prst="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33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E44BA-6E0B-8653-FCC5-01004A13A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66" y="1523294"/>
            <a:ext cx="6588479" cy="1352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1C4AC-E837-6E51-3F5A-2753065B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77" y="613128"/>
            <a:ext cx="5029200" cy="1003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/>
              <p:nvPr/>
            </p:nvSpPr>
            <p:spPr>
              <a:xfrm>
                <a:off x="276577" y="3081867"/>
                <a:ext cx="491631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Answer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means “I’m thinking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</m:oMath>
                </a14:m>
                <a:r>
                  <a:rPr lang="en-US" sz="2400" dirty="0"/>
                  <a:t>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</m:oMath>
                </a14:m>
                <a:r>
                  <a:rPr lang="en-US" sz="2400" dirty="0"/>
                  <a:t> is on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-axis,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is on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-axis.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If we had written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it would have been the same equation, 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on the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-axis.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E7F683-E381-7F34-F5D8-921D69D8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77" y="3081867"/>
                <a:ext cx="4916312" cy="2677656"/>
              </a:xfrm>
              <a:prstGeom prst="rect">
                <a:avLst/>
              </a:prstGeom>
              <a:blipFill>
                <a:blip r:embed="rId4"/>
                <a:stretch>
                  <a:fillRect l="-1804" t="-943" r="-1289" b="-4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6692834-D824-0C51-8828-5A1229E6E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777" y="3013631"/>
            <a:ext cx="5308600" cy="35239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BE29DF-01A0-EA6D-84F6-EFF31F7FCD6A}"/>
              </a:ext>
            </a:extLst>
          </p:cNvPr>
          <p:cNvSpPr/>
          <p:nvPr/>
        </p:nvSpPr>
        <p:spPr>
          <a:xfrm>
            <a:off x="1693333" y="1761067"/>
            <a:ext cx="1230489" cy="835377"/>
          </a:xfrm>
          <a:prstGeom prst="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84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7F683-E381-7F34-F5D8-921D69D82773}"/>
              </a:ext>
            </a:extLst>
          </p:cNvPr>
          <p:cNvSpPr txBox="1"/>
          <p:nvPr/>
        </p:nvSpPr>
        <p:spPr>
          <a:xfrm>
            <a:off x="276577" y="3081867"/>
            <a:ext cx="9849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</a:t>
            </a:r>
            <a:r>
              <a:rPr lang="en-US" sz="2400" dirty="0"/>
              <a:t>: What does this notation mean?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6519C3-2E31-14A8-D9AE-31E478709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23" y="1603023"/>
            <a:ext cx="6298036" cy="12446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8DC048-A789-9837-2C7A-79D64126F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76" y="663368"/>
            <a:ext cx="4293485" cy="8309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2A28A3-7BD2-750F-FDCB-1371DF1C47C6}"/>
              </a:ext>
            </a:extLst>
          </p:cNvPr>
          <p:cNvSpPr/>
          <p:nvPr/>
        </p:nvSpPr>
        <p:spPr>
          <a:xfrm>
            <a:off x="1693333" y="1696067"/>
            <a:ext cx="2032000" cy="1151589"/>
          </a:xfrm>
          <a:prstGeom prst="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A4E0B-F8DE-35CE-74FF-393C0AEFD0E3}"/>
              </a:ext>
            </a:extLst>
          </p:cNvPr>
          <p:cNvSpPr/>
          <p:nvPr/>
        </p:nvSpPr>
        <p:spPr>
          <a:xfrm>
            <a:off x="4064000" y="1696066"/>
            <a:ext cx="1851378" cy="1151589"/>
          </a:xfrm>
          <a:prstGeom prst="rect">
            <a:avLst/>
          </a:prstGeom>
          <a:solidFill>
            <a:schemeClr val="accent2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302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7F683-E381-7F34-F5D8-921D69D82773}"/>
              </a:ext>
            </a:extLst>
          </p:cNvPr>
          <p:cNvSpPr txBox="1"/>
          <p:nvPr/>
        </p:nvSpPr>
        <p:spPr>
          <a:xfrm>
            <a:off x="276577" y="3081867"/>
            <a:ext cx="964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</a:t>
            </a:r>
            <a:r>
              <a:rPr lang="en-US" sz="2400" dirty="0"/>
              <a:t>: We wanted to indicate the </a:t>
            </a:r>
            <a:r>
              <a:rPr lang="en-US" sz="2400" i="1" dirty="0"/>
              <a:t>units</a:t>
            </a:r>
            <a:r>
              <a:rPr lang="en-US" sz="2400" dirty="0"/>
              <a:t> of the quantity.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6519C3-2E31-14A8-D9AE-31E478709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23" y="1603023"/>
            <a:ext cx="6298036" cy="12446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8DC048-A789-9837-2C7A-79D64126F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76" y="663368"/>
            <a:ext cx="4293485" cy="8309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2A28A3-7BD2-750F-FDCB-1371DF1C47C6}"/>
              </a:ext>
            </a:extLst>
          </p:cNvPr>
          <p:cNvSpPr/>
          <p:nvPr/>
        </p:nvSpPr>
        <p:spPr>
          <a:xfrm>
            <a:off x="1693333" y="1696067"/>
            <a:ext cx="2032000" cy="1151589"/>
          </a:xfrm>
          <a:prstGeom prst="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8BD2EA-FF3B-7282-1088-7F0BF12E7853}"/>
              </a:ext>
            </a:extLst>
          </p:cNvPr>
          <p:cNvSpPr/>
          <p:nvPr/>
        </p:nvSpPr>
        <p:spPr>
          <a:xfrm>
            <a:off x="4064000" y="1696066"/>
            <a:ext cx="1851378" cy="1151589"/>
          </a:xfrm>
          <a:prstGeom prst="rect">
            <a:avLst/>
          </a:prstGeom>
          <a:solidFill>
            <a:schemeClr val="accent2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535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7F683-E381-7F34-F5D8-921D69D82773}"/>
              </a:ext>
            </a:extLst>
          </p:cNvPr>
          <p:cNvSpPr txBox="1"/>
          <p:nvPr/>
        </p:nvSpPr>
        <p:spPr>
          <a:xfrm>
            <a:off x="276577" y="3081867"/>
            <a:ext cx="964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</a:t>
            </a:r>
            <a:r>
              <a:rPr lang="en-US" sz="2400" dirty="0"/>
              <a:t>: We wanted to indicate the </a:t>
            </a:r>
            <a:r>
              <a:rPr lang="en-US" sz="2400" i="1" dirty="0"/>
              <a:t>units</a:t>
            </a:r>
            <a:r>
              <a:rPr lang="en-US" sz="2400" dirty="0"/>
              <a:t> of the quantity.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6519C3-2E31-14A8-D9AE-31E478709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23" y="1603023"/>
            <a:ext cx="6298036" cy="12446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8DC048-A789-9837-2C7A-79D64126F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76" y="663368"/>
            <a:ext cx="4293485" cy="8309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2A28A3-7BD2-750F-FDCB-1371DF1C47C6}"/>
              </a:ext>
            </a:extLst>
          </p:cNvPr>
          <p:cNvSpPr/>
          <p:nvPr/>
        </p:nvSpPr>
        <p:spPr>
          <a:xfrm>
            <a:off x="1693333" y="1696067"/>
            <a:ext cx="2032000" cy="1151589"/>
          </a:xfrm>
          <a:prstGeom prst="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AE33B8-E77B-2F0C-2C3F-06660D703C28}"/>
              </a:ext>
            </a:extLst>
          </p:cNvPr>
          <p:cNvGrpSpPr/>
          <p:nvPr/>
        </p:nvGrpSpPr>
        <p:grpSpPr>
          <a:xfrm>
            <a:off x="286521" y="3719267"/>
            <a:ext cx="9489658" cy="1257026"/>
            <a:chOff x="286521" y="3572510"/>
            <a:chExt cx="9489658" cy="125702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3F7144-8654-891D-CF96-B2A9892F0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21" y="3572510"/>
              <a:ext cx="9489658" cy="125702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7AE40A1-D24F-548B-807A-CC9AC286D3CC}"/>
                </a:ext>
              </a:extLst>
            </p:cNvPr>
            <p:cNvGrpSpPr/>
            <p:nvPr/>
          </p:nvGrpSpPr>
          <p:grpSpPr>
            <a:xfrm>
              <a:off x="6225821" y="3622007"/>
              <a:ext cx="1769534" cy="1176065"/>
              <a:chOff x="7332133" y="5266266"/>
              <a:chExt cx="1769534" cy="117606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841A55-829D-B14E-4887-DCE50209C7B0}"/>
                  </a:ext>
                </a:extLst>
              </p:cNvPr>
              <p:cNvSpPr/>
              <p:nvPr/>
            </p:nvSpPr>
            <p:spPr>
              <a:xfrm>
                <a:off x="7332133" y="5266266"/>
                <a:ext cx="1157111" cy="417601"/>
              </a:xfrm>
              <a:prstGeom prst="rect">
                <a:avLst/>
              </a:prstGeom>
              <a:solidFill>
                <a:schemeClr val="accent2">
                  <a:alpha val="24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C6B5AA-15CB-3A4D-29AC-C0CD17C78084}"/>
                  </a:ext>
                </a:extLst>
              </p:cNvPr>
              <p:cNvSpPr/>
              <p:nvPr/>
            </p:nvSpPr>
            <p:spPr>
              <a:xfrm>
                <a:off x="7332133" y="6024730"/>
                <a:ext cx="1769534" cy="417601"/>
              </a:xfrm>
              <a:prstGeom prst="rect">
                <a:avLst/>
              </a:prstGeom>
              <a:solidFill>
                <a:schemeClr val="accent1">
                  <a:alpha val="24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C8BD2EA-FF3B-7282-1088-7F0BF12E7853}"/>
              </a:ext>
            </a:extLst>
          </p:cNvPr>
          <p:cNvSpPr/>
          <p:nvPr/>
        </p:nvSpPr>
        <p:spPr>
          <a:xfrm>
            <a:off x="4064000" y="1696066"/>
            <a:ext cx="1851378" cy="1151589"/>
          </a:xfrm>
          <a:prstGeom prst="rect">
            <a:avLst/>
          </a:prstGeom>
          <a:solidFill>
            <a:schemeClr val="accent2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6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some notational conventions that can be tricky (so ask if you’re uncertain)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7F683-E381-7F34-F5D8-921D69D82773}"/>
              </a:ext>
            </a:extLst>
          </p:cNvPr>
          <p:cNvSpPr txBox="1"/>
          <p:nvPr/>
        </p:nvSpPr>
        <p:spPr>
          <a:xfrm>
            <a:off x="276577" y="3081867"/>
            <a:ext cx="964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</a:t>
            </a:r>
            <a:r>
              <a:rPr lang="en-US" sz="2400" dirty="0"/>
              <a:t>: We wanted to indicate the </a:t>
            </a:r>
            <a:r>
              <a:rPr lang="en-US" sz="2400" i="1" dirty="0"/>
              <a:t>units</a:t>
            </a:r>
            <a:r>
              <a:rPr lang="en-US" sz="2400" dirty="0"/>
              <a:t> of the quantity.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6519C3-2E31-14A8-D9AE-31E478709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23" y="1603023"/>
            <a:ext cx="6298036" cy="12446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8DC048-A789-9837-2C7A-79D64126F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76" y="663368"/>
            <a:ext cx="4293485" cy="8309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2A28A3-7BD2-750F-FDCB-1371DF1C47C6}"/>
              </a:ext>
            </a:extLst>
          </p:cNvPr>
          <p:cNvSpPr/>
          <p:nvPr/>
        </p:nvSpPr>
        <p:spPr>
          <a:xfrm>
            <a:off x="1693333" y="1696067"/>
            <a:ext cx="2032000" cy="1151589"/>
          </a:xfrm>
          <a:prstGeom prst="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AE33B8-E77B-2F0C-2C3F-06660D703C28}"/>
              </a:ext>
            </a:extLst>
          </p:cNvPr>
          <p:cNvGrpSpPr/>
          <p:nvPr/>
        </p:nvGrpSpPr>
        <p:grpSpPr>
          <a:xfrm>
            <a:off x="286521" y="3719267"/>
            <a:ext cx="9489658" cy="1257026"/>
            <a:chOff x="286521" y="3572510"/>
            <a:chExt cx="9489658" cy="125702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3F7144-8654-891D-CF96-B2A9892F0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21" y="3572510"/>
              <a:ext cx="9489658" cy="125702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7AE40A1-D24F-548B-807A-CC9AC286D3CC}"/>
                </a:ext>
              </a:extLst>
            </p:cNvPr>
            <p:cNvGrpSpPr/>
            <p:nvPr/>
          </p:nvGrpSpPr>
          <p:grpSpPr>
            <a:xfrm>
              <a:off x="6225821" y="3622007"/>
              <a:ext cx="1769534" cy="1176065"/>
              <a:chOff x="7332133" y="5266266"/>
              <a:chExt cx="1769534" cy="117606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841A55-829D-B14E-4887-DCE50209C7B0}"/>
                  </a:ext>
                </a:extLst>
              </p:cNvPr>
              <p:cNvSpPr/>
              <p:nvPr/>
            </p:nvSpPr>
            <p:spPr>
              <a:xfrm>
                <a:off x="7332133" y="5266266"/>
                <a:ext cx="1157111" cy="417601"/>
              </a:xfrm>
              <a:prstGeom prst="rect">
                <a:avLst/>
              </a:prstGeom>
              <a:solidFill>
                <a:schemeClr val="accent2">
                  <a:alpha val="24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C6B5AA-15CB-3A4D-29AC-C0CD17C78084}"/>
                  </a:ext>
                </a:extLst>
              </p:cNvPr>
              <p:cNvSpPr/>
              <p:nvPr/>
            </p:nvSpPr>
            <p:spPr>
              <a:xfrm>
                <a:off x="7332133" y="6024730"/>
                <a:ext cx="1769534" cy="417601"/>
              </a:xfrm>
              <a:prstGeom prst="rect">
                <a:avLst/>
              </a:prstGeom>
              <a:solidFill>
                <a:schemeClr val="accent1">
                  <a:alpha val="24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C8BD2EA-FF3B-7282-1088-7F0BF12E7853}"/>
              </a:ext>
            </a:extLst>
          </p:cNvPr>
          <p:cNvSpPr/>
          <p:nvPr/>
        </p:nvSpPr>
        <p:spPr>
          <a:xfrm>
            <a:off x="4064000" y="1696066"/>
            <a:ext cx="1851378" cy="1151589"/>
          </a:xfrm>
          <a:prstGeom prst="rect">
            <a:avLst/>
          </a:prstGeom>
          <a:solidFill>
            <a:schemeClr val="accent2"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533832-1179-47E9-1F86-632BEBCD1235}"/>
              </a:ext>
            </a:extLst>
          </p:cNvPr>
          <p:cNvGrpSpPr/>
          <p:nvPr/>
        </p:nvGrpSpPr>
        <p:grpSpPr>
          <a:xfrm>
            <a:off x="286521" y="5015176"/>
            <a:ext cx="11492089" cy="1773499"/>
            <a:chOff x="286521" y="5071621"/>
            <a:chExt cx="11492089" cy="17734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9F611C-C290-20B4-AF1A-C1CE316A34BE}"/>
                    </a:ext>
                  </a:extLst>
                </p:cNvPr>
                <p:cNvSpPr txBox="1"/>
                <p:nvPr/>
              </p:nvSpPr>
              <p:spPr>
                <a:xfrm>
                  <a:off x="286521" y="5071621"/>
                  <a:ext cx="11492089" cy="1773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Also, notice that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𝑦𝑟</m:t>
                          </m:r>
                        </m:den>
                      </m:f>
                    </m:oMath>
                  </a14:m>
                  <a:r>
                    <a:rPr lang="en-US" sz="2400" dirty="0"/>
                    <a:t> is the same as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/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𝑦𝑟</m:t>
                      </m:r>
                    </m:oMath>
                  </a14:m>
                  <a:r>
                    <a:rPr lang="en-US" sz="2400" dirty="0"/>
                    <a:t>. Sometimes we even say it this way: </a:t>
                  </a:r>
                </a:p>
                <a:p>
                  <a:endParaRPr lang="en-US" sz="2400" dirty="0"/>
                </a:p>
                <a:p>
                  <a:pPr algn="ctr"/>
                  <a:r>
                    <a:rPr lang="en-US" sz="2400" dirty="0"/>
                    <a:t>“The 2003 atmosphere-to-land carbon flux was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0.8221</m:t>
                      </m:r>
                    </m:oMath>
                  </a14:m>
                  <a:r>
                    <a:rPr lang="en-US" sz="2400" dirty="0"/>
                    <a:t> kilograms of Carbon per square meter per year”</a:t>
                  </a: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9F611C-C290-20B4-AF1A-C1CE316A3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21" y="5071621"/>
                  <a:ext cx="11492089" cy="1773499"/>
                </a:xfrm>
                <a:prstGeom prst="rect">
                  <a:avLst/>
                </a:prstGeom>
                <a:blipFill>
                  <a:blip r:embed="rId5"/>
                  <a:stretch>
                    <a:fillRect l="-883" t="-714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3CE442-AA6F-A1AF-39BF-7E23729AC6B0}"/>
                </a:ext>
              </a:extLst>
            </p:cNvPr>
            <p:cNvSpPr/>
            <p:nvPr/>
          </p:nvSpPr>
          <p:spPr>
            <a:xfrm>
              <a:off x="653784" y="5954933"/>
              <a:ext cx="10906038" cy="890187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607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1016</Words>
  <Application>Microsoft Macintosh PowerPoint</Application>
  <PresentationFormat>Widescreen</PresentationFormat>
  <Paragraphs>106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Also, take note of questions asked in Pause for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27</cp:revision>
  <dcterms:created xsi:type="dcterms:W3CDTF">2023-09-16T12:23:10Z</dcterms:created>
  <dcterms:modified xsi:type="dcterms:W3CDTF">2026-02-23T15:25:04Z</dcterms:modified>
</cp:coreProperties>
</file>