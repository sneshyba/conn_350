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1943" r:id="rId2"/>
    <p:sldId id="1874" r:id="rId3"/>
    <p:sldId id="2017" r:id="rId4"/>
    <p:sldId id="2022" r:id="rId5"/>
    <p:sldId id="1879" r:id="rId6"/>
    <p:sldId id="1980" r:id="rId7"/>
    <p:sldId id="1858" r:id="rId8"/>
    <p:sldId id="2026" r:id="rId9"/>
    <p:sldId id="2027" r:id="rId10"/>
    <p:sldId id="1999" r:id="rId11"/>
    <p:sldId id="1994" r:id="rId12"/>
    <p:sldId id="1997" r:id="rId13"/>
    <p:sldId id="203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5994"/>
  </p:normalViewPr>
  <p:slideViewPr>
    <p:cSldViewPr snapToGrid="0">
      <p:cViewPr varScale="1">
        <p:scale>
          <a:sx n="112" d="100"/>
          <a:sy n="112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33108-629E-BC46-8E74-88CD3CB0E3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D35C98-A206-5C4C-826B-0C7390DF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80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06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47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31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6AC8-F2E4-F78E-54B5-AD0AB510A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66281-6D7B-8A15-6795-7EEB32D78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649E-C4BA-05A4-9438-598994BE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EC4D-972D-A02B-3335-9200D989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E251B-767F-A53F-C5ED-AED3269C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9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3B3BD-6663-965B-98CB-52C552E1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CA03F-0BA2-FFBE-8E30-95FE169A9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90B85-3EE9-60F7-B563-EBFD788D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70C51-B6A9-DB16-C0B3-8D6B20B7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F18DD-7BB3-067F-1EFC-F0B345FC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9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47AE-F077-D140-6943-DE4D4A18D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EBD83-9416-DC89-124D-BEF1467AB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9D792-737D-56B8-C124-2BD8439B7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40A91-967B-E257-F0F7-DBD8848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27498-BEDB-764F-408D-3969483C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44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A8A4-A379-4775-91A3-E0CD46954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A51F-FCE5-5658-F265-F69E5855B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6DB3E-0CCF-7A35-FE3B-255C6B1DB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7F1ED-EBB0-4E64-26B4-98219304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8C925-C1E9-782A-6585-A1DF652F2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A43A0-7560-6532-53D0-4FF80417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9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5CC5-089E-BD81-840C-D633B0A4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6D291-0774-C32F-8020-2A01C765B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A6923-AFEA-3FEC-14E1-201B2FFD4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5D9C8E-675D-6292-6AE1-E75BC1483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0C07E-B2E1-90AF-D1A3-50F1D374C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23961-8382-1462-4A5D-7C215DBC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86963-E3ED-64F5-CB89-198FAF0B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00C41B-F3E9-A4CE-BD17-DC18C0F22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45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26B8-28A6-CB13-EF43-C2A7A550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50030-ED6C-6E79-9310-0EA91C5A0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F2C2A-328B-09E7-819C-D94C6105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475B3-5183-0550-C157-91A5923C1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8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C9A3F-3DC5-CB48-94A1-5C51878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E5572-E473-9430-8725-4A029A50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FA0FC-1EB3-95D1-71D5-E5599B21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0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8289-6EA3-2EF0-5CCB-518186C6C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227E7-4102-177D-6E2E-56F84CC56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1A658-5D3B-6FD7-4400-E689F7435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393DB-6E5E-FDA3-B554-FF4B9773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8477C-451F-75C5-DAEF-C5F8D4CB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DEDB5-A11A-CD1D-A69E-FBA01816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6F3B-72D6-9A51-2F72-4A4CD1A5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39EE6-05F8-2668-2110-33E672479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563A8-0811-9C22-AEF8-95448E972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89856-9933-E4BA-536D-18C6288A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B724F-F67B-E48A-463D-E2BC1FDA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00031-1C34-5ABE-2EAB-D96F74E2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CFB9E-A2BD-11A4-BD4D-ED9079AE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0FE55-3A3B-9586-914F-E3C98B999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21ECB-D21D-6262-CCD1-F4918F877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131-AE45-F71D-A5B8-AC2B23958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42467-4B84-47AD-686D-A23D580A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6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9AA85-0CDC-0A34-5FF9-2265479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77C3E-9D2B-0E49-6EBC-58990E673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1A8F5-A73C-179A-389D-AF43076E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B9DA2-E459-E21B-3EF7-5FE19DA3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209A-9D66-12FD-5974-B348DC31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5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102DD-DD36-41F7-73BF-5855D47D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410F9-A42D-EB60-22A0-0FF984456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ADCE-BE62-4B30-437C-01720EDB3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CC140-6764-A84C-9C69-986FBF02331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3A8EA-E77D-C21C-965F-4C829BEA3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01005-AB88-3B3F-D226-3639A031F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EAF7E-86A5-DA47-97E5-A76A402F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2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NUL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n-lt"/>
              </a:rPr>
              <a:t>Week 3: We learned about the CO</a:t>
            </a:r>
            <a:r>
              <a:rPr lang="en-US" sz="2400" b="1" baseline="-25000" dirty="0">
                <a:latin typeface="+mn-lt"/>
              </a:rPr>
              <a:t>2</a:t>
            </a:r>
            <a:r>
              <a:rPr lang="en-US" sz="2400" b="1" dirty="0">
                <a:latin typeface="+mn-lt"/>
              </a:rPr>
              <a:t> fertilization effect</a:t>
            </a:r>
            <a:endParaRPr lang="en-US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A2BE1B-A5B1-8D3E-F13E-CBFDC01614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505"/>
          <a:stretch/>
        </p:blipFill>
        <p:spPr>
          <a:xfrm>
            <a:off x="205740" y="1485900"/>
            <a:ext cx="6623617" cy="2327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Draft diagram of the carbon cycle.">
            <a:extLst>
              <a:ext uri="{FF2B5EF4-FFF2-40B4-BE49-F238E27FC236}">
                <a16:creationId xmlns:a16="http://schemas.microsoft.com/office/drawing/2014/main" id="{8A9E7A5C-6DE7-5A20-E421-09981CB79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556" y="979864"/>
            <a:ext cx="4724704" cy="31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56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27E424C-FA60-654C-8DC2-04A60AF61A89}"/>
              </a:ext>
            </a:extLst>
          </p:cNvPr>
          <p:cNvSpPr txBox="1">
            <a:spLocks/>
          </p:cNvSpPr>
          <p:nvPr/>
        </p:nvSpPr>
        <p:spPr>
          <a:xfrm>
            <a:off x="0" y="-12434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Week 4: We made the CO</a:t>
            </a:r>
            <a:r>
              <a:rPr lang="en-US" sz="2400" b="1" baseline="-25000" dirty="0">
                <a:latin typeface="+mn-lt"/>
              </a:rPr>
              <a:t>2</a:t>
            </a:r>
            <a:r>
              <a:rPr lang="en-US" sz="2400" b="1" dirty="0">
                <a:latin typeface="+mn-lt"/>
              </a:rPr>
              <a:t> fertilization effect quantitative </a:t>
            </a:r>
            <a:endParaRPr lang="en-US" sz="2400" b="1" baseline="-2500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6C828B-F3A6-F1DA-8877-6DFB16AD42CD}"/>
              </a:ext>
            </a:extLst>
          </p:cNvPr>
          <p:cNvGrpSpPr>
            <a:grpSpLocks noChangeAspect="1"/>
          </p:cNvGrpSpPr>
          <p:nvPr/>
        </p:nvGrpSpPr>
        <p:grpSpPr>
          <a:xfrm>
            <a:off x="5109210" y="1607242"/>
            <a:ext cx="7037506" cy="4543297"/>
            <a:chOff x="2665677" y="1397503"/>
            <a:chExt cx="7772400" cy="501773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47FAC1E-F654-AB4A-F795-FB52FB2C3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5677" y="1397503"/>
              <a:ext cx="7772400" cy="5017732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DB18142-9B61-CD2E-A26D-316370CF5C85}"/>
                </a:ext>
              </a:extLst>
            </p:cNvPr>
            <p:cNvGrpSpPr/>
            <p:nvPr/>
          </p:nvGrpSpPr>
          <p:grpSpPr>
            <a:xfrm>
              <a:off x="3506496" y="5538589"/>
              <a:ext cx="5963292" cy="407900"/>
              <a:chOff x="3592635" y="5730754"/>
              <a:chExt cx="5963292" cy="4079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3BDC468-2D1F-C7DF-CE49-C2B1CAEB9983}"/>
                  </a:ext>
                </a:extLst>
              </p:cNvPr>
              <p:cNvSpPr/>
              <p:nvPr/>
            </p:nvSpPr>
            <p:spPr>
              <a:xfrm>
                <a:off x="3592635" y="5943150"/>
                <a:ext cx="164486" cy="1664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C6887A2-4DF8-EC0E-24F0-08A6970C6811}"/>
                      </a:ext>
                    </a:extLst>
                  </p:cNvPr>
                  <p:cNvSpPr txBox="1"/>
                  <p:nvPr/>
                </p:nvSpPr>
                <p:spPr>
                  <a:xfrm>
                    <a:off x="3957374" y="5730754"/>
                    <a:ext cx="5598553" cy="4079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590 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𝐺𝑡𝐶</m:t>
                        </m:r>
                      </m:oMath>
                    </a14:m>
                    <a:r>
                      <a:rPr lang="en-US" dirty="0">
                        <a:solidFill>
                          <a:srgbClr val="0070C0"/>
                        </a:solidFill>
                      </a:rPr>
                      <a:t> in pre-industrial times</a:t>
                    </a:r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C6887A2-4DF8-EC0E-24F0-08A6970C68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7374" y="5730754"/>
                    <a:ext cx="5598553" cy="4079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9190B7C-BC42-5B43-A726-E2001D5AAFD5}"/>
                </a:ext>
              </a:extLst>
            </p:cNvPr>
            <p:cNvGrpSpPr/>
            <p:nvPr/>
          </p:nvGrpSpPr>
          <p:grpSpPr>
            <a:xfrm>
              <a:off x="6689561" y="3510712"/>
              <a:ext cx="2933439" cy="407900"/>
              <a:chOff x="4950529" y="4584370"/>
              <a:chExt cx="2933439" cy="4079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5034E51-84DF-87D6-757F-953802A3DDD8}"/>
                  </a:ext>
                </a:extLst>
              </p:cNvPr>
              <p:cNvSpPr/>
              <p:nvPr/>
            </p:nvSpPr>
            <p:spPr>
              <a:xfrm>
                <a:off x="4950529" y="4691092"/>
                <a:ext cx="164485" cy="16648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CDD8344D-8C5B-4FB0-2EB4-AC44567D09FF}"/>
                      </a:ext>
                    </a:extLst>
                  </p:cNvPr>
                  <p:cNvSpPr txBox="1"/>
                  <p:nvPr/>
                </p:nvSpPr>
                <p:spPr>
                  <a:xfrm>
                    <a:off x="5219787" y="4584370"/>
                    <a:ext cx="2664181" cy="4079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800 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𝐺𝑡𝐶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dirty="0">
                        <a:solidFill>
                          <a:schemeClr val="accent6"/>
                        </a:solidFill>
                      </a:rPr>
                      <a:t>in 2003</a:t>
                    </a:r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CDD8344D-8C5B-4FB0-2EB4-AC44567D09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19787" y="4584370"/>
                    <a:ext cx="2664181" cy="4079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667" b="-2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80EBF2E-D4F0-0896-8A58-BBB4F7B6D133}"/>
                </a:ext>
              </a:extLst>
            </p:cNvPr>
            <p:cNvGrpSpPr/>
            <p:nvPr/>
          </p:nvGrpSpPr>
          <p:grpSpPr>
            <a:xfrm>
              <a:off x="6207589" y="2416533"/>
              <a:ext cx="2338882" cy="407900"/>
              <a:chOff x="3734861" y="3870950"/>
              <a:chExt cx="2338882" cy="4079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3B3BC59-1B4A-E285-6D7F-5E93E4A8420E}"/>
                  </a:ext>
                </a:extLst>
              </p:cNvPr>
              <p:cNvSpPr/>
              <p:nvPr/>
            </p:nvSpPr>
            <p:spPr>
              <a:xfrm>
                <a:off x="5845532" y="4009949"/>
                <a:ext cx="164485" cy="166483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5A0FA84-70F6-2A0D-8149-449802D25A58}"/>
                      </a:ext>
                    </a:extLst>
                  </p:cNvPr>
                  <p:cNvSpPr txBox="1"/>
                  <p:nvPr/>
                </p:nvSpPr>
                <p:spPr>
                  <a:xfrm>
                    <a:off x="3734861" y="3870950"/>
                    <a:ext cx="2338882" cy="4079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910 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𝐺𝑡𝐶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dirty="0">
                        <a:solidFill>
                          <a:schemeClr val="accent2"/>
                        </a:solidFill>
                      </a:rPr>
                      <a:t>in 2026 </a:t>
                    </a: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5A0FA84-70F6-2A0D-8149-449802D25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4861" y="3870950"/>
                    <a:ext cx="2338882" cy="4079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3" name="Picture 2" descr="Draft diagram of the carbon cycle.">
            <a:extLst>
              <a:ext uri="{FF2B5EF4-FFF2-40B4-BE49-F238E27FC236}">
                <a16:creationId xmlns:a16="http://schemas.microsoft.com/office/drawing/2014/main" id="{6B846343-813D-EBED-08F9-3C1C4E97C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13" y="3246017"/>
            <a:ext cx="3861311" cy="257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2FE615-399D-2215-F7EE-BCF9DB94CF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213" y="651888"/>
            <a:ext cx="5570287" cy="1060055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1C0381-5588-ACFA-62BC-F6EA87540675}"/>
                  </a:ext>
                </a:extLst>
              </p:cNvPr>
              <p:cNvSpPr txBox="1"/>
              <p:nvPr/>
            </p:nvSpPr>
            <p:spPr>
              <a:xfrm>
                <a:off x="7373255" y="5919707"/>
                <a:ext cx="1977390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1C0381-5588-ACFA-62BC-F6EA87540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255" y="5919707"/>
                <a:ext cx="1977390" cy="584775"/>
              </a:xfrm>
              <a:prstGeom prst="rect">
                <a:avLst/>
              </a:prstGeom>
              <a:blipFill>
                <a:blip r:embed="rId9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B00C75-3E32-F25B-CF04-B2B44F19A83A}"/>
                  </a:ext>
                </a:extLst>
              </p:cNvPr>
              <p:cNvSpPr txBox="1"/>
              <p:nvPr/>
            </p:nvSpPr>
            <p:spPr>
              <a:xfrm>
                <a:off x="4600759" y="2887500"/>
                <a:ext cx="322618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𝑎𝑙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B00C75-3E32-F25B-CF04-B2B44F19A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759" y="2887500"/>
                <a:ext cx="322618" cy="584775"/>
              </a:xfrm>
              <a:prstGeom prst="rect">
                <a:avLst/>
              </a:prstGeom>
              <a:blipFill>
                <a:blip r:embed="rId10"/>
                <a:stretch>
                  <a:fillRect l="-15385" r="-111538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89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1B478CB-9BDC-D32E-6C57-B3564A9AB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211" y="710290"/>
            <a:ext cx="3019756" cy="261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00604CD-36A6-C612-971C-4950450DBBEC}"/>
              </a:ext>
            </a:extLst>
          </p:cNvPr>
          <p:cNvGrpSpPr>
            <a:grpSpLocks noChangeAspect="1"/>
          </p:cNvGrpSpPr>
          <p:nvPr/>
        </p:nvGrpSpPr>
        <p:grpSpPr>
          <a:xfrm>
            <a:off x="317078" y="1384786"/>
            <a:ext cx="5856471" cy="4336392"/>
            <a:chOff x="1004898" y="1598053"/>
            <a:chExt cx="7016358" cy="501564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7A23A2D-0267-85C8-7061-21C9918F1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E2143C-BA38-03CB-DA48-1D766530B3A2}"/>
                </a:ext>
              </a:extLst>
            </p:cNvPr>
            <p:cNvSpPr txBox="1"/>
            <p:nvPr/>
          </p:nvSpPr>
          <p:spPr>
            <a:xfrm>
              <a:off x="2016602" y="1598053"/>
              <a:ext cx="5911748" cy="427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                   </a:t>
              </a:r>
              <a:r>
                <a:rPr lang="en-US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    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pic>
        <p:nvPicPr>
          <p:cNvPr id="16" name="Picture 2">
            <a:extLst>
              <a:ext uri="{FF2B5EF4-FFF2-40B4-BE49-F238E27FC236}">
                <a16:creationId xmlns:a16="http://schemas.microsoft.com/office/drawing/2014/main" id="{7CC58748-E8DA-EA27-3AD6-2BA0A8287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211" y="3771858"/>
            <a:ext cx="3019756" cy="3019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8F0337-3819-C8AF-6EFF-C4BE2301ED5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4: We learned about Earth wobbling and the 100,000-year glacial/interglacial pattern</a:t>
            </a:r>
          </a:p>
        </p:txBody>
      </p:sp>
    </p:spTree>
    <p:extLst>
      <p:ext uri="{BB962C8B-B14F-4D97-AF65-F5344CB8AC3E}">
        <p14:creationId xmlns:p14="http://schemas.microsoft.com/office/powerpoint/2010/main" val="3496915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00604CD-36A6-C612-971C-4950450DBBEC}"/>
              </a:ext>
            </a:extLst>
          </p:cNvPr>
          <p:cNvGrpSpPr>
            <a:grpSpLocks noChangeAspect="1"/>
          </p:cNvGrpSpPr>
          <p:nvPr/>
        </p:nvGrpSpPr>
        <p:grpSpPr>
          <a:xfrm>
            <a:off x="317078" y="1384786"/>
            <a:ext cx="5856471" cy="4336392"/>
            <a:chOff x="1004898" y="1598053"/>
            <a:chExt cx="7016358" cy="501564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7A23A2D-0267-85C8-7061-21C9918F1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E2143C-BA38-03CB-DA48-1D766530B3A2}"/>
                </a:ext>
              </a:extLst>
            </p:cNvPr>
            <p:cNvSpPr txBox="1"/>
            <p:nvPr/>
          </p:nvSpPr>
          <p:spPr>
            <a:xfrm>
              <a:off x="2016602" y="1598053"/>
              <a:ext cx="5911748" cy="427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                   </a:t>
              </a:r>
              <a:r>
                <a:rPr lang="en-US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    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A73E29AD-2A51-7AAC-E935-C9446AFA85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" t="2882" r="11228" b="35991"/>
          <a:stretch/>
        </p:blipFill>
        <p:spPr bwMode="auto">
          <a:xfrm>
            <a:off x="7543211" y="668981"/>
            <a:ext cx="3019756" cy="256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FBD57F-FA90-7127-F15E-1E2F36501494}"/>
              </a:ext>
            </a:extLst>
          </p:cNvPr>
          <p:cNvGrpSpPr/>
          <p:nvPr/>
        </p:nvGrpSpPr>
        <p:grpSpPr>
          <a:xfrm>
            <a:off x="7543211" y="3771858"/>
            <a:ext cx="3019756" cy="3019756"/>
            <a:chOff x="7543211" y="3771858"/>
            <a:chExt cx="3019756" cy="3019756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7CC58748-E8DA-EA27-3AD6-2BA0A8287B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3211" y="3771858"/>
              <a:ext cx="3019756" cy="30197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0195D21-7113-8D69-8BC9-8F257B4C45CF}"/>
                </a:ext>
              </a:extLst>
            </p:cNvPr>
            <p:cNvSpPr/>
            <p:nvPr/>
          </p:nvSpPr>
          <p:spPr>
            <a:xfrm>
              <a:off x="8014741" y="4726898"/>
              <a:ext cx="1214203" cy="1304145"/>
            </a:xfrm>
            <a:custGeom>
              <a:avLst/>
              <a:gdLst>
                <a:gd name="connsiteX0" fmla="*/ 1209207 w 1214203"/>
                <a:gd name="connsiteY0" fmla="*/ 1229194 h 1304145"/>
                <a:gd name="connsiteX1" fmla="*/ 1214203 w 1214203"/>
                <a:gd name="connsiteY1" fmla="*/ 1174230 h 1304145"/>
                <a:gd name="connsiteX2" fmla="*/ 1209207 w 1214203"/>
                <a:gd name="connsiteY2" fmla="*/ 1079292 h 1304145"/>
                <a:gd name="connsiteX3" fmla="*/ 1204210 w 1214203"/>
                <a:gd name="connsiteY3" fmla="*/ 1064302 h 1304145"/>
                <a:gd name="connsiteX4" fmla="*/ 1194216 w 1214203"/>
                <a:gd name="connsiteY4" fmla="*/ 1054309 h 1304145"/>
                <a:gd name="connsiteX5" fmla="*/ 1189220 w 1214203"/>
                <a:gd name="connsiteY5" fmla="*/ 1039318 h 1304145"/>
                <a:gd name="connsiteX6" fmla="*/ 1179226 w 1214203"/>
                <a:gd name="connsiteY6" fmla="*/ 1029325 h 1304145"/>
                <a:gd name="connsiteX7" fmla="*/ 1169233 w 1214203"/>
                <a:gd name="connsiteY7" fmla="*/ 1014335 h 1304145"/>
                <a:gd name="connsiteX8" fmla="*/ 1159239 w 1214203"/>
                <a:gd name="connsiteY8" fmla="*/ 1004341 h 1304145"/>
                <a:gd name="connsiteX9" fmla="*/ 1149246 w 1214203"/>
                <a:gd name="connsiteY9" fmla="*/ 989351 h 1304145"/>
                <a:gd name="connsiteX10" fmla="*/ 1124262 w 1214203"/>
                <a:gd name="connsiteY10" fmla="*/ 969364 h 1304145"/>
                <a:gd name="connsiteX11" fmla="*/ 1109272 w 1214203"/>
                <a:gd name="connsiteY11" fmla="*/ 964368 h 1304145"/>
                <a:gd name="connsiteX12" fmla="*/ 1079292 w 1214203"/>
                <a:gd name="connsiteY12" fmla="*/ 934387 h 1304145"/>
                <a:gd name="connsiteX13" fmla="*/ 1069298 w 1214203"/>
                <a:gd name="connsiteY13" fmla="*/ 924394 h 1304145"/>
                <a:gd name="connsiteX14" fmla="*/ 1039318 w 1214203"/>
                <a:gd name="connsiteY14" fmla="*/ 904407 h 1304145"/>
                <a:gd name="connsiteX15" fmla="*/ 1019331 w 1214203"/>
                <a:gd name="connsiteY15" fmla="*/ 879423 h 1304145"/>
                <a:gd name="connsiteX16" fmla="*/ 1004341 w 1214203"/>
                <a:gd name="connsiteY16" fmla="*/ 869430 h 1304145"/>
                <a:gd name="connsiteX17" fmla="*/ 979357 w 1214203"/>
                <a:gd name="connsiteY17" fmla="*/ 854440 h 1304145"/>
                <a:gd name="connsiteX18" fmla="*/ 959370 w 1214203"/>
                <a:gd name="connsiteY18" fmla="*/ 834453 h 1304145"/>
                <a:gd name="connsiteX19" fmla="*/ 949377 w 1214203"/>
                <a:gd name="connsiteY19" fmla="*/ 824459 h 1304145"/>
                <a:gd name="connsiteX20" fmla="*/ 939384 w 1214203"/>
                <a:gd name="connsiteY20" fmla="*/ 809469 h 1304145"/>
                <a:gd name="connsiteX21" fmla="*/ 919397 w 1214203"/>
                <a:gd name="connsiteY21" fmla="*/ 789482 h 1304145"/>
                <a:gd name="connsiteX22" fmla="*/ 909403 w 1214203"/>
                <a:gd name="connsiteY22" fmla="*/ 779489 h 1304145"/>
                <a:gd name="connsiteX23" fmla="*/ 879423 w 1214203"/>
                <a:gd name="connsiteY23" fmla="*/ 739515 h 1304145"/>
                <a:gd name="connsiteX24" fmla="*/ 844446 w 1214203"/>
                <a:gd name="connsiteY24" fmla="*/ 699541 h 1304145"/>
                <a:gd name="connsiteX25" fmla="*/ 824459 w 1214203"/>
                <a:gd name="connsiteY25" fmla="*/ 679554 h 1304145"/>
                <a:gd name="connsiteX26" fmla="*/ 809469 w 1214203"/>
                <a:gd name="connsiteY26" fmla="*/ 664564 h 1304145"/>
                <a:gd name="connsiteX27" fmla="*/ 794479 w 1214203"/>
                <a:gd name="connsiteY27" fmla="*/ 634584 h 1304145"/>
                <a:gd name="connsiteX28" fmla="*/ 789482 w 1214203"/>
                <a:gd name="connsiteY28" fmla="*/ 619594 h 1304145"/>
                <a:gd name="connsiteX29" fmla="*/ 779489 w 1214203"/>
                <a:gd name="connsiteY29" fmla="*/ 609600 h 1304145"/>
                <a:gd name="connsiteX30" fmla="*/ 769495 w 1214203"/>
                <a:gd name="connsiteY30" fmla="*/ 594610 h 1304145"/>
                <a:gd name="connsiteX31" fmla="*/ 759502 w 1214203"/>
                <a:gd name="connsiteY31" fmla="*/ 549640 h 1304145"/>
                <a:gd name="connsiteX32" fmla="*/ 754505 w 1214203"/>
                <a:gd name="connsiteY32" fmla="*/ 534650 h 1304145"/>
                <a:gd name="connsiteX33" fmla="*/ 749508 w 1214203"/>
                <a:gd name="connsiteY33" fmla="*/ 514663 h 1304145"/>
                <a:gd name="connsiteX34" fmla="*/ 739515 w 1214203"/>
                <a:gd name="connsiteY34" fmla="*/ 484682 h 1304145"/>
                <a:gd name="connsiteX35" fmla="*/ 734518 w 1214203"/>
                <a:gd name="connsiteY35" fmla="*/ 469692 h 1304145"/>
                <a:gd name="connsiteX36" fmla="*/ 719528 w 1214203"/>
                <a:gd name="connsiteY36" fmla="*/ 419725 h 1304145"/>
                <a:gd name="connsiteX37" fmla="*/ 699541 w 1214203"/>
                <a:gd name="connsiteY37" fmla="*/ 389745 h 1304145"/>
                <a:gd name="connsiteX38" fmla="*/ 684551 w 1214203"/>
                <a:gd name="connsiteY38" fmla="*/ 344774 h 1304145"/>
                <a:gd name="connsiteX39" fmla="*/ 679554 w 1214203"/>
                <a:gd name="connsiteY39" fmla="*/ 329784 h 1304145"/>
                <a:gd name="connsiteX40" fmla="*/ 674557 w 1214203"/>
                <a:gd name="connsiteY40" fmla="*/ 314794 h 1304145"/>
                <a:gd name="connsiteX41" fmla="*/ 669561 w 1214203"/>
                <a:gd name="connsiteY41" fmla="*/ 284813 h 1304145"/>
                <a:gd name="connsiteX42" fmla="*/ 659567 w 1214203"/>
                <a:gd name="connsiteY42" fmla="*/ 274820 h 1304145"/>
                <a:gd name="connsiteX43" fmla="*/ 649574 w 1214203"/>
                <a:gd name="connsiteY43" fmla="*/ 259830 h 1304145"/>
                <a:gd name="connsiteX44" fmla="*/ 639580 w 1214203"/>
                <a:gd name="connsiteY44" fmla="*/ 224853 h 1304145"/>
                <a:gd name="connsiteX45" fmla="*/ 634584 w 1214203"/>
                <a:gd name="connsiteY45" fmla="*/ 209863 h 1304145"/>
                <a:gd name="connsiteX46" fmla="*/ 624590 w 1214203"/>
                <a:gd name="connsiteY46" fmla="*/ 124918 h 1304145"/>
                <a:gd name="connsiteX47" fmla="*/ 619593 w 1214203"/>
                <a:gd name="connsiteY47" fmla="*/ 109928 h 1304145"/>
                <a:gd name="connsiteX48" fmla="*/ 599607 w 1214203"/>
                <a:gd name="connsiteY48" fmla="*/ 79948 h 1304145"/>
                <a:gd name="connsiteX49" fmla="*/ 579620 w 1214203"/>
                <a:gd name="connsiteY49" fmla="*/ 54964 h 1304145"/>
                <a:gd name="connsiteX50" fmla="*/ 569626 w 1214203"/>
                <a:gd name="connsiteY50" fmla="*/ 24984 h 1304145"/>
                <a:gd name="connsiteX51" fmla="*/ 564629 w 1214203"/>
                <a:gd name="connsiteY51" fmla="*/ 9994 h 1304145"/>
                <a:gd name="connsiteX52" fmla="*/ 549639 w 1214203"/>
                <a:gd name="connsiteY52" fmla="*/ 0 h 1304145"/>
                <a:gd name="connsiteX53" fmla="*/ 489679 w 1214203"/>
                <a:gd name="connsiteY53" fmla="*/ 4997 h 1304145"/>
                <a:gd name="connsiteX54" fmla="*/ 459698 w 1214203"/>
                <a:gd name="connsiteY54" fmla="*/ 14991 h 1304145"/>
                <a:gd name="connsiteX55" fmla="*/ 364761 w 1214203"/>
                <a:gd name="connsiteY55" fmla="*/ 9994 h 1304145"/>
                <a:gd name="connsiteX56" fmla="*/ 334780 w 1214203"/>
                <a:gd name="connsiteY56" fmla="*/ 0 h 1304145"/>
                <a:gd name="connsiteX57" fmla="*/ 304800 w 1214203"/>
                <a:gd name="connsiteY57" fmla="*/ 9994 h 1304145"/>
                <a:gd name="connsiteX58" fmla="*/ 289810 w 1214203"/>
                <a:gd name="connsiteY58" fmla="*/ 14991 h 1304145"/>
                <a:gd name="connsiteX59" fmla="*/ 239843 w 1214203"/>
                <a:gd name="connsiteY59" fmla="*/ 39974 h 1304145"/>
                <a:gd name="connsiteX60" fmla="*/ 209862 w 1214203"/>
                <a:gd name="connsiteY60" fmla="*/ 59961 h 1304145"/>
                <a:gd name="connsiteX61" fmla="*/ 184879 w 1214203"/>
                <a:gd name="connsiteY61" fmla="*/ 79948 h 1304145"/>
                <a:gd name="connsiteX62" fmla="*/ 169889 w 1214203"/>
                <a:gd name="connsiteY62" fmla="*/ 89941 h 1304145"/>
                <a:gd name="connsiteX63" fmla="*/ 144905 w 1214203"/>
                <a:gd name="connsiteY63" fmla="*/ 114925 h 1304145"/>
                <a:gd name="connsiteX64" fmla="*/ 134911 w 1214203"/>
                <a:gd name="connsiteY64" fmla="*/ 124918 h 1304145"/>
                <a:gd name="connsiteX65" fmla="*/ 104931 w 1214203"/>
                <a:gd name="connsiteY65" fmla="*/ 164892 h 1304145"/>
                <a:gd name="connsiteX66" fmla="*/ 94938 w 1214203"/>
                <a:gd name="connsiteY66" fmla="*/ 184879 h 1304145"/>
                <a:gd name="connsiteX67" fmla="*/ 89941 w 1214203"/>
                <a:gd name="connsiteY67" fmla="*/ 199869 h 1304145"/>
                <a:gd name="connsiteX68" fmla="*/ 79948 w 1214203"/>
                <a:gd name="connsiteY68" fmla="*/ 214859 h 1304145"/>
                <a:gd name="connsiteX69" fmla="*/ 59961 w 1214203"/>
                <a:gd name="connsiteY69" fmla="*/ 254833 h 1304145"/>
                <a:gd name="connsiteX70" fmla="*/ 49967 w 1214203"/>
                <a:gd name="connsiteY70" fmla="*/ 274820 h 1304145"/>
                <a:gd name="connsiteX71" fmla="*/ 39974 w 1214203"/>
                <a:gd name="connsiteY71" fmla="*/ 294807 h 1304145"/>
                <a:gd name="connsiteX72" fmla="*/ 34977 w 1214203"/>
                <a:gd name="connsiteY72" fmla="*/ 314794 h 1304145"/>
                <a:gd name="connsiteX73" fmla="*/ 29980 w 1214203"/>
                <a:gd name="connsiteY73" fmla="*/ 329784 h 1304145"/>
                <a:gd name="connsiteX74" fmla="*/ 24984 w 1214203"/>
                <a:gd name="connsiteY74" fmla="*/ 354768 h 1304145"/>
                <a:gd name="connsiteX75" fmla="*/ 14990 w 1214203"/>
                <a:gd name="connsiteY75" fmla="*/ 389745 h 1304145"/>
                <a:gd name="connsiteX76" fmla="*/ 4997 w 1214203"/>
                <a:gd name="connsiteY76" fmla="*/ 429718 h 1304145"/>
                <a:gd name="connsiteX77" fmla="*/ 0 w 1214203"/>
                <a:gd name="connsiteY77" fmla="*/ 484682 h 1304145"/>
                <a:gd name="connsiteX78" fmla="*/ 4997 w 1214203"/>
                <a:gd name="connsiteY78" fmla="*/ 629587 h 1304145"/>
                <a:gd name="connsiteX79" fmla="*/ 9993 w 1214203"/>
                <a:gd name="connsiteY79" fmla="*/ 644577 h 1304145"/>
                <a:gd name="connsiteX80" fmla="*/ 14990 w 1214203"/>
                <a:gd name="connsiteY80" fmla="*/ 664564 h 1304145"/>
                <a:gd name="connsiteX81" fmla="*/ 19987 w 1214203"/>
                <a:gd name="connsiteY81" fmla="*/ 679554 h 1304145"/>
                <a:gd name="connsiteX82" fmla="*/ 34977 w 1214203"/>
                <a:gd name="connsiteY82" fmla="*/ 729522 h 1304145"/>
                <a:gd name="connsiteX83" fmla="*/ 49967 w 1214203"/>
                <a:gd name="connsiteY83" fmla="*/ 744512 h 1304145"/>
                <a:gd name="connsiteX84" fmla="*/ 59961 w 1214203"/>
                <a:gd name="connsiteY84" fmla="*/ 779489 h 1304145"/>
                <a:gd name="connsiteX85" fmla="*/ 69954 w 1214203"/>
                <a:gd name="connsiteY85" fmla="*/ 809469 h 1304145"/>
                <a:gd name="connsiteX86" fmla="*/ 79948 w 1214203"/>
                <a:gd name="connsiteY86" fmla="*/ 849443 h 1304145"/>
                <a:gd name="connsiteX87" fmla="*/ 89941 w 1214203"/>
                <a:gd name="connsiteY87" fmla="*/ 869430 h 1304145"/>
                <a:gd name="connsiteX88" fmla="*/ 94938 w 1214203"/>
                <a:gd name="connsiteY88" fmla="*/ 889417 h 1304145"/>
                <a:gd name="connsiteX89" fmla="*/ 114925 w 1214203"/>
                <a:gd name="connsiteY89" fmla="*/ 924394 h 1304145"/>
                <a:gd name="connsiteX90" fmla="*/ 119921 w 1214203"/>
                <a:gd name="connsiteY90" fmla="*/ 939384 h 1304145"/>
                <a:gd name="connsiteX91" fmla="*/ 129915 w 1214203"/>
                <a:gd name="connsiteY91" fmla="*/ 949377 h 1304145"/>
                <a:gd name="connsiteX92" fmla="*/ 139908 w 1214203"/>
                <a:gd name="connsiteY92" fmla="*/ 964368 h 1304145"/>
                <a:gd name="connsiteX93" fmla="*/ 149902 w 1214203"/>
                <a:gd name="connsiteY93" fmla="*/ 974361 h 1304145"/>
                <a:gd name="connsiteX94" fmla="*/ 164892 w 1214203"/>
                <a:gd name="connsiteY94" fmla="*/ 994348 h 1304145"/>
                <a:gd name="connsiteX95" fmla="*/ 174885 w 1214203"/>
                <a:gd name="connsiteY95" fmla="*/ 1009338 h 1304145"/>
                <a:gd name="connsiteX96" fmla="*/ 199869 w 1214203"/>
                <a:gd name="connsiteY96" fmla="*/ 1034322 h 1304145"/>
                <a:gd name="connsiteX97" fmla="*/ 234846 w 1214203"/>
                <a:gd name="connsiteY97" fmla="*/ 1074295 h 1304145"/>
                <a:gd name="connsiteX98" fmla="*/ 254833 w 1214203"/>
                <a:gd name="connsiteY98" fmla="*/ 1099279 h 1304145"/>
                <a:gd name="connsiteX99" fmla="*/ 264826 w 1214203"/>
                <a:gd name="connsiteY99" fmla="*/ 1114269 h 1304145"/>
                <a:gd name="connsiteX100" fmla="*/ 274820 w 1214203"/>
                <a:gd name="connsiteY100" fmla="*/ 1124263 h 1304145"/>
                <a:gd name="connsiteX101" fmla="*/ 294807 w 1214203"/>
                <a:gd name="connsiteY101" fmla="*/ 1149246 h 1304145"/>
                <a:gd name="connsiteX102" fmla="*/ 314793 w 1214203"/>
                <a:gd name="connsiteY102" fmla="*/ 1154243 h 1304145"/>
                <a:gd name="connsiteX103" fmla="*/ 359764 w 1214203"/>
                <a:gd name="connsiteY103" fmla="*/ 1189220 h 1304145"/>
                <a:gd name="connsiteX104" fmla="*/ 369757 w 1214203"/>
                <a:gd name="connsiteY104" fmla="*/ 1204210 h 1304145"/>
                <a:gd name="connsiteX105" fmla="*/ 379751 w 1214203"/>
                <a:gd name="connsiteY105" fmla="*/ 1214204 h 1304145"/>
                <a:gd name="connsiteX106" fmla="*/ 399738 w 1214203"/>
                <a:gd name="connsiteY106" fmla="*/ 1239187 h 1304145"/>
                <a:gd name="connsiteX107" fmla="*/ 429718 w 1214203"/>
                <a:gd name="connsiteY107" fmla="*/ 1254177 h 1304145"/>
                <a:gd name="connsiteX108" fmla="*/ 444708 w 1214203"/>
                <a:gd name="connsiteY108" fmla="*/ 1264171 h 1304145"/>
                <a:gd name="connsiteX109" fmla="*/ 494675 w 1214203"/>
                <a:gd name="connsiteY109" fmla="*/ 1274164 h 1304145"/>
                <a:gd name="connsiteX110" fmla="*/ 579620 w 1214203"/>
                <a:gd name="connsiteY110" fmla="*/ 1279161 h 1304145"/>
                <a:gd name="connsiteX111" fmla="*/ 879423 w 1214203"/>
                <a:gd name="connsiteY111" fmla="*/ 1279161 h 1304145"/>
                <a:gd name="connsiteX112" fmla="*/ 899410 w 1214203"/>
                <a:gd name="connsiteY112" fmla="*/ 1284158 h 1304145"/>
                <a:gd name="connsiteX113" fmla="*/ 969364 w 1214203"/>
                <a:gd name="connsiteY113" fmla="*/ 1294151 h 1304145"/>
                <a:gd name="connsiteX114" fmla="*/ 1034321 w 1214203"/>
                <a:gd name="connsiteY114" fmla="*/ 1304145 h 1304145"/>
                <a:gd name="connsiteX115" fmla="*/ 1159239 w 1214203"/>
                <a:gd name="connsiteY115" fmla="*/ 1299148 h 1304145"/>
                <a:gd name="connsiteX116" fmla="*/ 1174229 w 1214203"/>
                <a:gd name="connsiteY116" fmla="*/ 1289154 h 1304145"/>
                <a:gd name="connsiteX117" fmla="*/ 1179226 w 1214203"/>
                <a:gd name="connsiteY117" fmla="*/ 1274164 h 1304145"/>
                <a:gd name="connsiteX118" fmla="*/ 1184223 w 1214203"/>
                <a:gd name="connsiteY118" fmla="*/ 1229194 h 1304145"/>
                <a:gd name="connsiteX119" fmla="*/ 1209207 w 1214203"/>
                <a:gd name="connsiteY119" fmla="*/ 1229194 h 130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1214203" h="1304145">
                  <a:moveTo>
                    <a:pt x="1209207" y="1229194"/>
                  </a:moveTo>
                  <a:cubicBezTo>
                    <a:pt x="1214204" y="1220033"/>
                    <a:pt x="1214203" y="1192627"/>
                    <a:pt x="1214203" y="1174230"/>
                  </a:cubicBezTo>
                  <a:cubicBezTo>
                    <a:pt x="1214203" y="1142540"/>
                    <a:pt x="1212076" y="1110852"/>
                    <a:pt x="1209207" y="1079292"/>
                  </a:cubicBezTo>
                  <a:cubicBezTo>
                    <a:pt x="1208730" y="1074047"/>
                    <a:pt x="1206920" y="1068818"/>
                    <a:pt x="1204210" y="1064302"/>
                  </a:cubicBezTo>
                  <a:cubicBezTo>
                    <a:pt x="1201786" y="1060262"/>
                    <a:pt x="1197547" y="1057640"/>
                    <a:pt x="1194216" y="1054309"/>
                  </a:cubicBezTo>
                  <a:cubicBezTo>
                    <a:pt x="1192551" y="1049312"/>
                    <a:pt x="1191930" y="1043835"/>
                    <a:pt x="1189220" y="1039318"/>
                  </a:cubicBezTo>
                  <a:cubicBezTo>
                    <a:pt x="1186796" y="1035278"/>
                    <a:pt x="1182169" y="1033004"/>
                    <a:pt x="1179226" y="1029325"/>
                  </a:cubicBezTo>
                  <a:cubicBezTo>
                    <a:pt x="1175475" y="1024636"/>
                    <a:pt x="1172984" y="1019024"/>
                    <a:pt x="1169233" y="1014335"/>
                  </a:cubicBezTo>
                  <a:cubicBezTo>
                    <a:pt x="1166290" y="1010656"/>
                    <a:pt x="1162182" y="1008020"/>
                    <a:pt x="1159239" y="1004341"/>
                  </a:cubicBezTo>
                  <a:cubicBezTo>
                    <a:pt x="1155488" y="999652"/>
                    <a:pt x="1152997" y="994040"/>
                    <a:pt x="1149246" y="989351"/>
                  </a:cubicBezTo>
                  <a:cubicBezTo>
                    <a:pt x="1143051" y="981608"/>
                    <a:pt x="1132915" y="973691"/>
                    <a:pt x="1124262" y="969364"/>
                  </a:cubicBezTo>
                  <a:cubicBezTo>
                    <a:pt x="1119551" y="967009"/>
                    <a:pt x="1114269" y="966033"/>
                    <a:pt x="1109272" y="964368"/>
                  </a:cubicBezTo>
                  <a:lnTo>
                    <a:pt x="1079292" y="934387"/>
                  </a:lnTo>
                  <a:cubicBezTo>
                    <a:pt x="1075961" y="931056"/>
                    <a:pt x="1073218" y="927007"/>
                    <a:pt x="1069298" y="924394"/>
                  </a:cubicBezTo>
                  <a:lnTo>
                    <a:pt x="1039318" y="904407"/>
                  </a:lnTo>
                  <a:cubicBezTo>
                    <a:pt x="1031898" y="893276"/>
                    <a:pt x="1029503" y="887560"/>
                    <a:pt x="1019331" y="879423"/>
                  </a:cubicBezTo>
                  <a:cubicBezTo>
                    <a:pt x="1014642" y="875672"/>
                    <a:pt x="1009030" y="873181"/>
                    <a:pt x="1004341" y="869430"/>
                  </a:cubicBezTo>
                  <a:cubicBezTo>
                    <a:pt x="984744" y="853752"/>
                    <a:pt x="1005391" y="863116"/>
                    <a:pt x="979357" y="854440"/>
                  </a:cubicBezTo>
                  <a:lnTo>
                    <a:pt x="959370" y="834453"/>
                  </a:lnTo>
                  <a:cubicBezTo>
                    <a:pt x="956039" y="831122"/>
                    <a:pt x="951990" y="828379"/>
                    <a:pt x="949377" y="824459"/>
                  </a:cubicBezTo>
                  <a:cubicBezTo>
                    <a:pt x="946046" y="819462"/>
                    <a:pt x="943292" y="814028"/>
                    <a:pt x="939384" y="809469"/>
                  </a:cubicBezTo>
                  <a:cubicBezTo>
                    <a:pt x="933252" y="802315"/>
                    <a:pt x="926059" y="796144"/>
                    <a:pt x="919397" y="789482"/>
                  </a:cubicBezTo>
                  <a:lnTo>
                    <a:pt x="909403" y="779489"/>
                  </a:lnTo>
                  <a:cubicBezTo>
                    <a:pt x="896406" y="740493"/>
                    <a:pt x="917696" y="796920"/>
                    <a:pt x="879423" y="739515"/>
                  </a:cubicBezTo>
                  <a:cubicBezTo>
                    <a:pt x="862897" y="714728"/>
                    <a:pt x="873673" y="728768"/>
                    <a:pt x="844446" y="699541"/>
                  </a:cubicBezTo>
                  <a:lnTo>
                    <a:pt x="824459" y="679554"/>
                  </a:lnTo>
                  <a:lnTo>
                    <a:pt x="809469" y="664564"/>
                  </a:lnTo>
                  <a:cubicBezTo>
                    <a:pt x="796909" y="626886"/>
                    <a:pt x="813851" y="673329"/>
                    <a:pt x="794479" y="634584"/>
                  </a:cubicBezTo>
                  <a:cubicBezTo>
                    <a:pt x="792124" y="629873"/>
                    <a:pt x="792192" y="624110"/>
                    <a:pt x="789482" y="619594"/>
                  </a:cubicBezTo>
                  <a:cubicBezTo>
                    <a:pt x="787058" y="615554"/>
                    <a:pt x="782432" y="613279"/>
                    <a:pt x="779489" y="609600"/>
                  </a:cubicBezTo>
                  <a:cubicBezTo>
                    <a:pt x="775737" y="604911"/>
                    <a:pt x="772826" y="599607"/>
                    <a:pt x="769495" y="594610"/>
                  </a:cubicBezTo>
                  <a:cubicBezTo>
                    <a:pt x="766063" y="577453"/>
                    <a:pt x="764203" y="566093"/>
                    <a:pt x="759502" y="549640"/>
                  </a:cubicBezTo>
                  <a:cubicBezTo>
                    <a:pt x="758055" y="544576"/>
                    <a:pt x="755952" y="539714"/>
                    <a:pt x="754505" y="534650"/>
                  </a:cubicBezTo>
                  <a:cubicBezTo>
                    <a:pt x="752618" y="528047"/>
                    <a:pt x="751481" y="521241"/>
                    <a:pt x="749508" y="514663"/>
                  </a:cubicBezTo>
                  <a:cubicBezTo>
                    <a:pt x="746481" y="504573"/>
                    <a:pt x="742846" y="494676"/>
                    <a:pt x="739515" y="484682"/>
                  </a:cubicBezTo>
                  <a:cubicBezTo>
                    <a:pt x="737849" y="479685"/>
                    <a:pt x="735795" y="474802"/>
                    <a:pt x="734518" y="469692"/>
                  </a:cubicBezTo>
                  <a:cubicBezTo>
                    <a:pt x="731725" y="458521"/>
                    <a:pt x="724393" y="427022"/>
                    <a:pt x="719528" y="419725"/>
                  </a:cubicBezTo>
                  <a:cubicBezTo>
                    <a:pt x="712866" y="409732"/>
                    <a:pt x="703339" y="401139"/>
                    <a:pt x="699541" y="389745"/>
                  </a:cubicBezTo>
                  <a:lnTo>
                    <a:pt x="684551" y="344774"/>
                  </a:lnTo>
                  <a:lnTo>
                    <a:pt x="679554" y="329784"/>
                  </a:lnTo>
                  <a:lnTo>
                    <a:pt x="674557" y="314794"/>
                  </a:lnTo>
                  <a:cubicBezTo>
                    <a:pt x="672892" y="304800"/>
                    <a:pt x="673118" y="294299"/>
                    <a:pt x="669561" y="284813"/>
                  </a:cubicBezTo>
                  <a:cubicBezTo>
                    <a:pt x="667907" y="280402"/>
                    <a:pt x="662510" y="278499"/>
                    <a:pt x="659567" y="274820"/>
                  </a:cubicBezTo>
                  <a:cubicBezTo>
                    <a:pt x="655816" y="270131"/>
                    <a:pt x="652260" y="265201"/>
                    <a:pt x="649574" y="259830"/>
                  </a:cubicBezTo>
                  <a:cubicBezTo>
                    <a:pt x="645580" y="251842"/>
                    <a:pt x="641715" y="232325"/>
                    <a:pt x="639580" y="224853"/>
                  </a:cubicBezTo>
                  <a:cubicBezTo>
                    <a:pt x="638133" y="219789"/>
                    <a:pt x="636249" y="214860"/>
                    <a:pt x="634584" y="209863"/>
                  </a:cubicBezTo>
                  <a:cubicBezTo>
                    <a:pt x="632031" y="181783"/>
                    <a:pt x="630760" y="152683"/>
                    <a:pt x="624590" y="124918"/>
                  </a:cubicBezTo>
                  <a:cubicBezTo>
                    <a:pt x="623447" y="119776"/>
                    <a:pt x="622151" y="114532"/>
                    <a:pt x="619593" y="109928"/>
                  </a:cubicBezTo>
                  <a:cubicBezTo>
                    <a:pt x="613760" y="99429"/>
                    <a:pt x="606269" y="89941"/>
                    <a:pt x="599607" y="79948"/>
                  </a:cubicBezTo>
                  <a:cubicBezTo>
                    <a:pt x="587002" y="61041"/>
                    <a:pt x="593857" y="69203"/>
                    <a:pt x="579620" y="54964"/>
                  </a:cubicBezTo>
                  <a:lnTo>
                    <a:pt x="569626" y="24984"/>
                  </a:lnTo>
                  <a:cubicBezTo>
                    <a:pt x="567960" y="19987"/>
                    <a:pt x="569011" y="12916"/>
                    <a:pt x="564629" y="9994"/>
                  </a:cubicBezTo>
                  <a:lnTo>
                    <a:pt x="549639" y="0"/>
                  </a:lnTo>
                  <a:cubicBezTo>
                    <a:pt x="529652" y="1666"/>
                    <a:pt x="509462" y="1700"/>
                    <a:pt x="489679" y="4997"/>
                  </a:cubicBezTo>
                  <a:cubicBezTo>
                    <a:pt x="479288" y="6729"/>
                    <a:pt x="459698" y="14991"/>
                    <a:pt x="459698" y="14991"/>
                  </a:cubicBezTo>
                  <a:cubicBezTo>
                    <a:pt x="428052" y="13325"/>
                    <a:pt x="396225" y="13770"/>
                    <a:pt x="364761" y="9994"/>
                  </a:cubicBezTo>
                  <a:cubicBezTo>
                    <a:pt x="354302" y="8739"/>
                    <a:pt x="334780" y="0"/>
                    <a:pt x="334780" y="0"/>
                  </a:cubicBezTo>
                  <a:lnTo>
                    <a:pt x="304800" y="9994"/>
                  </a:lnTo>
                  <a:cubicBezTo>
                    <a:pt x="299803" y="11660"/>
                    <a:pt x="294192" y="12070"/>
                    <a:pt x="289810" y="14991"/>
                  </a:cubicBezTo>
                  <a:cubicBezTo>
                    <a:pt x="254115" y="38786"/>
                    <a:pt x="271481" y="32064"/>
                    <a:pt x="239843" y="39974"/>
                  </a:cubicBezTo>
                  <a:cubicBezTo>
                    <a:pt x="222031" y="57786"/>
                    <a:pt x="238096" y="43828"/>
                    <a:pt x="209862" y="59961"/>
                  </a:cubicBezTo>
                  <a:cubicBezTo>
                    <a:pt x="182945" y="75341"/>
                    <a:pt x="205400" y="63531"/>
                    <a:pt x="184879" y="79948"/>
                  </a:cubicBezTo>
                  <a:cubicBezTo>
                    <a:pt x="180190" y="83699"/>
                    <a:pt x="174408" y="85987"/>
                    <a:pt x="169889" y="89941"/>
                  </a:cubicBezTo>
                  <a:cubicBezTo>
                    <a:pt x="161025" y="97697"/>
                    <a:pt x="153233" y="106597"/>
                    <a:pt x="144905" y="114925"/>
                  </a:cubicBezTo>
                  <a:cubicBezTo>
                    <a:pt x="141574" y="118256"/>
                    <a:pt x="137524" y="120998"/>
                    <a:pt x="134911" y="124918"/>
                  </a:cubicBezTo>
                  <a:cubicBezTo>
                    <a:pt x="112312" y="158819"/>
                    <a:pt x="123418" y="146407"/>
                    <a:pt x="104931" y="164892"/>
                  </a:cubicBezTo>
                  <a:cubicBezTo>
                    <a:pt x="101600" y="171554"/>
                    <a:pt x="97872" y="178033"/>
                    <a:pt x="94938" y="184879"/>
                  </a:cubicBezTo>
                  <a:cubicBezTo>
                    <a:pt x="92863" y="189720"/>
                    <a:pt x="92296" y="195158"/>
                    <a:pt x="89941" y="199869"/>
                  </a:cubicBezTo>
                  <a:cubicBezTo>
                    <a:pt x="87255" y="205240"/>
                    <a:pt x="82824" y="209587"/>
                    <a:pt x="79948" y="214859"/>
                  </a:cubicBezTo>
                  <a:cubicBezTo>
                    <a:pt x="72814" y="227937"/>
                    <a:pt x="66623" y="241508"/>
                    <a:pt x="59961" y="254833"/>
                  </a:cubicBezTo>
                  <a:lnTo>
                    <a:pt x="49967" y="274820"/>
                  </a:lnTo>
                  <a:cubicBezTo>
                    <a:pt x="46636" y="281482"/>
                    <a:pt x="41781" y="287581"/>
                    <a:pt x="39974" y="294807"/>
                  </a:cubicBezTo>
                  <a:cubicBezTo>
                    <a:pt x="38308" y="301469"/>
                    <a:pt x="36864" y="308191"/>
                    <a:pt x="34977" y="314794"/>
                  </a:cubicBezTo>
                  <a:cubicBezTo>
                    <a:pt x="33530" y="319858"/>
                    <a:pt x="31257" y="324674"/>
                    <a:pt x="29980" y="329784"/>
                  </a:cubicBezTo>
                  <a:cubicBezTo>
                    <a:pt x="27920" y="338023"/>
                    <a:pt x="26826" y="346477"/>
                    <a:pt x="24984" y="354768"/>
                  </a:cubicBezTo>
                  <a:cubicBezTo>
                    <a:pt x="15002" y="399690"/>
                    <a:pt x="25003" y="353032"/>
                    <a:pt x="14990" y="389745"/>
                  </a:cubicBezTo>
                  <a:cubicBezTo>
                    <a:pt x="11376" y="402995"/>
                    <a:pt x="4997" y="429718"/>
                    <a:pt x="4997" y="429718"/>
                  </a:cubicBezTo>
                  <a:cubicBezTo>
                    <a:pt x="3331" y="448039"/>
                    <a:pt x="0" y="466285"/>
                    <a:pt x="0" y="484682"/>
                  </a:cubicBezTo>
                  <a:cubicBezTo>
                    <a:pt x="0" y="533012"/>
                    <a:pt x="1982" y="581351"/>
                    <a:pt x="4997" y="629587"/>
                  </a:cubicBezTo>
                  <a:cubicBezTo>
                    <a:pt x="5326" y="634844"/>
                    <a:pt x="8546" y="639513"/>
                    <a:pt x="9993" y="644577"/>
                  </a:cubicBezTo>
                  <a:cubicBezTo>
                    <a:pt x="11880" y="651180"/>
                    <a:pt x="13103" y="657961"/>
                    <a:pt x="14990" y="664564"/>
                  </a:cubicBezTo>
                  <a:cubicBezTo>
                    <a:pt x="16437" y="669628"/>
                    <a:pt x="18540" y="674490"/>
                    <a:pt x="19987" y="679554"/>
                  </a:cubicBezTo>
                  <a:cubicBezTo>
                    <a:pt x="22704" y="689064"/>
                    <a:pt x="30229" y="724774"/>
                    <a:pt x="34977" y="729522"/>
                  </a:cubicBezTo>
                  <a:lnTo>
                    <a:pt x="49967" y="744512"/>
                  </a:lnTo>
                  <a:cubicBezTo>
                    <a:pt x="66751" y="794860"/>
                    <a:pt x="41150" y="716785"/>
                    <a:pt x="59961" y="779489"/>
                  </a:cubicBezTo>
                  <a:cubicBezTo>
                    <a:pt x="62988" y="789579"/>
                    <a:pt x="67399" y="799250"/>
                    <a:pt x="69954" y="809469"/>
                  </a:cubicBezTo>
                  <a:cubicBezTo>
                    <a:pt x="73285" y="822794"/>
                    <a:pt x="73806" y="837158"/>
                    <a:pt x="79948" y="849443"/>
                  </a:cubicBezTo>
                  <a:cubicBezTo>
                    <a:pt x="83279" y="856105"/>
                    <a:pt x="87326" y="862456"/>
                    <a:pt x="89941" y="869430"/>
                  </a:cubicBezTo>
                  <a:cubicBezTo>
                    <a:pt x="92352" y="875860"/>
                    <a:pt x="92527" y="882987"/>
                    <a:pt x="94938" y="889417"/>
                  </a:cubicBezTo>
                  <a:cubicBezTo>
                    <a:pt x="100373" y="903911"/>
                    <a:pt x="106639" y="911966"/>
                    <a:pt x="114925" y="924394"/>
                  </a:cubicBezTo>
                  <a:cubicBezTo>
                    <a:pt x="116590" y="929391"/>
                    <a:pt x="117211" y="934868"/>
                    <a:pt x="119921" y="939384"/>
                  </a:cubicBezTo>
                  <a:cubicBezTo>
                    <a:pt x="122345" y="943424"/>
                    <a:pt x="126972" y="945698"/>
                    <a:pt x="129915" y="949377"/>
                  </a:cubicBezTo>
                  <a:cubicBezTo>
                    <a:pt x="133667" y="954066"/>
                    <a:pt x="136156" y="959679"/>
                    <a:pt x="139908" y="964368"/>
                  </a:cubicBezTo>
                  <a:cubicBezTo>
                    <a:pt x="142851" y="968047"/>
                    <a:pt x="146886" y="970742"/>
                    <a:pt x="149902" y="974361"/>
                  </a:cubicBezTo>
                  <a:cubicBezTo>
                    <a:pt x="155233" y="980759"/>
                    <a:pt x="160052" y="987571"/>
                    <a:pt x="164892" y="994348"/>
                  </a:cubicBezTo>
                  <a:cubicBezTo>
                    <a:pt x="168382" y="999235"/>
                    <a:pt x="170931" y="1004819"/>
                    <a:pt x="174885" y="1009338"/>
                  </a:cubicBezTo>
                  <a:cubicBezTo>
                    <a:pt x="182641" y="1018202"/>
                    <a:pt x="193336" y="1024523"/>
                    <a:pt x="199869" y="1034322"/>
                  </a:cubicBezTo>
                  <a:cubicBezTo>
                    <a:pt x="223187" y="1069299"/>
                    <a:pt x="209863" y="1057640"/>
                    <a:pt x="234846" y="1074295"/>
                  </a:cubicBezTo>
                  <a:cubicBezTo>
                    <a:pt x="265597" y="1120426"/>
                    <a:pt x="226359" y="1063687"/>
                    <a:pt x="254833" y="1099279"/>
                  </a:cubicBezTo>
                  <a:cubicBezTo>
                    <a:pt x="258584" y="1103968"/>
                    <a:pt x="261075" y="1109580"/>
                    <a:pt x="264826" y="1114269"/>
                  </a:cubicBezTo>
                  <a:cubicBezTo>
                    <a:pt x="267769" y="1117948"/>
                    <a:pt x="271877" y="1120584"/>
                    <a:pt x="274820" y="1124263"/>
                  </a:cubicBezTo>
                  <a:cubicBezTo>
                    <a:pt x="279530" y="1130150"/>
                    <a:pt x="286761" y="1145223"/>
                    <a:pt x="294807" y="1149246"/>
                  </a:cubicBezTo>
                  <a:cubicBezTo>
                    <a:pt x="300949" y="1152317"/>
                    <a:pt x="308131" y="1152577"/>
                    <a:pt x="314793" y="1154243"/>
                  </a:cubicBezTo>
                  <a:cubicBezTo>
                    <a:pt x="335685" y="1168171"/>
                    <a:pt x="345087" y="1171608"/>
                    <a:pt x="359764" y="1189220"/>
                  </a:cubicBezTo>
                  <a:cubicBezTo>
                    <a:pt x="363608" y="1193833"/>
                    <a:pt x="366006" y="1199521"/>
                    <a:pt x="369757" y="1204210"/>
                  </a:cubicBezTo>
                  <a:cubicBezTo>
                    <a:pt x="372700" y="1207889"/>
                    <a:pt x="376808" y="1210525"/>
                    <a:pt x="379751" y="1214204"/>
                  </a:cubicBezTo>
                  <a:cubicBezTo>
                    <a:pt x="391297" y="1228637"/>
                    <a:pt x="386329" y="1228460"/>
                    <a:pt x="399738" y="1239187"/>
                  </a:cubicBezTo>
                  <a:cubicBezTo>
                    <a:pt x="413578" y="1250259"/>
                    <a:pt x="413883" y="1248899"/>
                    <a:pt x="429718" y="1254177"/>
                  </a:cubicBezTo>
                  <a:cubicBezTo>
                    <a:pt x="434715" y="1257508"/>
                    <a:pt x="439337" y="1261485"/>
                    <a:pt x="444708" y="1264171"/>
                  </a:cubicBezTo>
                  <a:cubicBezTo>
                    <a:pt x="457839" y="1270737"/>
                    <a:pt x="483624" y="1273243"/>
                    <a:pt x="494675" y="1274164"/>
                  </a:cubicBezTo>
                  <a:cubicBezTo>
                    <a:pt x="522941" y="1276519"/>
                    <a:pt x="551305" y="1277495"/>
                    <a:pt x="579620" y="1279161"/>
                  </a:cubicBezTo>
                  <a:cubicBezTo>
                    <a:pt x="723729" y="1274512"/>
                    <a:pt x="738175" y="1270600"/>
                    <a:pt x="879423" y="1279161"/>
                  </a:cubicBezTo>
                  <a:cubicBezTo>
                    <a:pt x="886278" y="1279576"/>
                    <a:pt x="892636" y="1283029"/>
                    <a:pt x="899410" y="1284158"/>
                  </a:cubicBezTo>
                  <a:cubicBezTo>
                    <a:pt x="922644" y="1288030"/>
                    <a:pt x="946046" y="1290820"/>
                    <a:pt x="969364" y="1294151"/>
                  </a:cubicBezTo>
                  <a:cubicBezTo>
                    <a:pt x="1014352" y="1300578"/>
                    <a:pt x="992739" y="1297214"/>
                    <a:pt x="1034321" y="1304145"/>
                  </a:cubicBezTo>
                  <a:cubicBezTo>
                    <a:pt x="1075960" y="1302479"/>
                    <a:pt x="1117804" y="1303588"/>
                    <a:pt x="1159239" y="1299148"/>
                  </a:cubicBezTo>
                  <a:cubicBezTo>
                    <a:pt x="1165210" y="1298508"/>
                    <a:pt x="1170477" y="1293843"/>
                    <a:pt x="1174229" y="1289154"/>
                  </a:cubicBezTo>
                  <a:cubicBezTo>
                    <a:pt x="1177519" y="1285041"/>
                    <a:pt x="1177560" y="1279161"/>
                    <a:pt x="1179226" y="1274164"/>
                  </a:cubicBezTo>
                  <a:cubicBezTo>
                    <a:pt x="1180892" y="1259174"/>
                    <a:pt x="1181743" y="1244071"/>
                    <a:pt x="1184223" y="1229194"/>
                  </a:cubicBezTo>
                  <a:cubicBezTo>
                    <a:pt x="1185089" y="1223999"/>
                    <a:pt x="1204210" y="1238355"/>
                    <a:pt x="1209207" y="1229194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39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7C25E22-4165-24C0-8FA2-000CEEAB70F4}"/>
              </a:ext>
            </a:extLst>
          </p:cNvPr>
          <p:cNvSpPr txBox="1"/>
          <p:nvPr/>
        </p:nvSpPr>
        <p:spPr>
          <a:xfrm>
            <a:off x="3558659" y="5786905"/>
            <a:ext cx="453493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WAIS slips into the ocean during the Eemian (but hasn’t done so in our current warm period)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86633-FAD8-968B-D3A4-65AE9545BDA0}"/>
              </a:ext>
            </a:extLst>
          </p:cNvPr>
          <p:cNvSpPr txBox="1"/>
          <p:nvPr/>
        </p:nvSpPr>
        <p:spPr>
          <a:xfrm>
            <a:off x="9228944" y="2782669"/>
            <a:ext cx="282477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N. American (and Asian) ice sheets recede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50A44-1669-4832-CADD-E9AA9B77D3F8}"/>
              </a:ext>
            </a:extLst>
          </p:cNvPr>
          <p:cNvSpPr txBox="1"/>
          <p:nvPr/>
        </p:nvSpPr>
        <p:spPr>
          <a:xfrm>
            <a:off x="1982427" y="5721178"/>
            <a:ext cx="905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Eemian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9CAF6-D733-6365-2A78-DDE70D045A0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4: We learned about Earth wobbling and the 100,000-year glacial/interglacial pattern</a:t>
            </a:r>
          </a:p>
        </p:txBody>
      </p:sp>
    </p:spTree>
    <p:extLst>
      <p:ext uri="{BB962C8B-B14F-4D97-AF65-F5344CB8AC3E}">
        <p14:creationId xmlns:p14="http://schemas.microsoft.com/office/powerpoint/2010/main" val="389933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4: We compared GCM-derived ECS to the ECS of the last 150 years, and the Pleistocene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134C06-12DC-1C1F-C4CD-C3F7EFE4BC52}"/>
              </a:ext>
            </a:extLst>
          </p:cNvPr>
          <p:cNvGrpSpPr>
            <a:grpSpLocks noChangeAspect="1"/>
          </p:cNvGrpSpPr>
          <p:nvPr/>
        </p:nvGrpSpPr>
        <p:grpSpPr>
          <a:xfrm>
            <a:off x="245217" y="1134738"/>
            <a:ext cx="9207393" cy="5331375"/>
            <a:chOff x="610977" y="584200"/>
            <a:chExt cx="10834981" cy="62738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93D28A-C48F-1B46-B9AC-91814114A164}"/>
                </a:ext>
              </a:extLst>
            </p:cNvPr>
            <p:cNvSpPr txBox="1"/>
            <p:nvPr/>
          </p:nvSpPr>
          <p:spPr>
            <a:xfrm>
              <a:off x="6779660" y="5997039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112246C-F1E4-9B4D-9BA6-904EDBEA354B}"/>
                </a:ext>
              </a:extLst>
            </p:cNvPr>
            <p:cNvGrpSpPr/>
            <p:nvPr/>
          </p:nvGrpSpPr>
          <p:grpSpPr>
            <a:xfrm>
              <a:off x="610977" y="584200"/>
              <a:ext cx="10834981" cy="6273800"/>
              <a:chOff x="610977" y="584200"/>
              <a:chExt cx="10834981" cy="62738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36E9971-22CA-0545-9B08-B95E1ADA6B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519"/>
              <a:stretch/>
            </p:blipFill>
            <p:spPr>
              <a:xfrm>
                <a:off x="746042" y="584200"/>
                <a:ext cx="10699916" cy="62738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1A32B-6EF8-F248-AF60-46981D0CFB52}"/>
                  </a:ext>
                </a:extLst>
              </p:cNvPr>
              <p:cNvSpPr txBox="1"/>
              <p:nvPr/>
            </p:nvSpPr>
            <p:spPr>
              <a:xfrm rot="16200000">
                <a:off x="-965389" y="2693967"/>
                <a:ext cx="361439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T (relative to 1960)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400071-091C-094C-8A43-2155362BB97D}"/>
                </a:ext>
              </a:extLst>
            </p:cNvPr>
            <p:cNvGrpSpPr/>
            <p:nvPr/>
          </p:nvGrpSpPr>
          <p:grpSpPr>
            <a:xfrm>
              <a:off x="1706008" y="1725999"/>
              <a:ext cx="5636790" cy="1592500"/>
              <a:chOff x="1413908" y="1598999"/>
              <a:chExt cx="5636790" cy="1592500"/>
            </a:xfrm>
          </p:grpSpPr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A4CCB3AD-CD51-DC42-B1EF-3AA0552CB60C}"/>
                  </a:ext>
                </a:extLst>
              </p:cNvPr>
              <p:cNvSpPr/>
              <p:nvPr/>
            </p:nvSpPr>
            <p:spPr>
              <a:xfrm rot="5400000">
                <a:off x="3357350" y="1673849"/>
                <a:ext cx="266700" cy="2768600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/>
                  <p:nvPr/>
                </p:nvSpPr>
                <p:spPr>
                  <a:xfrm>
                    <a:off x="1413908" y="1598999"/>
                    <a:ext cx="5636790" cy="12228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Over the last million years, the slope was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sz="2400" dirty="0"/>
                      <a:t>   </a:t>
                    </a: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3908" y="1598999"/>
                    <a:ext cx="5636790" cy="122289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16" t="-4819" r="-1323" b="-12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2BEC49-E646-8A46-A544-1E7C55E5C86B}"/>
                </a:ext>
              </a:extLst>
            </p:cNvPr>
            <p:cNvGrpSpPr/>
            <p:nvPr/>
          </p:nvGrpSpPr>
          <p:grpSpPr>
            <a:xfrm>
              <a:off x="4571997" y="4185369"/>
              <a:ext cx="5203205" cy="1592501"/>
              <a:chOff x="1803397" y="1325382"/>
              <a:chExt cx="5203205" cy="1592501"/>
            </a:xfrm>
          </p:grpSpPr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ADDACCEE-6974-7E4D-98B1-861D6D92F388}"/>
                  </a:ext>
                </a:extLst>
              </p:cNvPr>
              <p:cNvSpPr/>
              <p:nvPr/>
            </p:nvSpPr>
            <p:spPr>
              <a:xfrm rot="5400000" flipH="1">
                <a:off x="3459344" y="-330563"/>
                <a:ext cx="266701" cy="3578591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03397" y="1694990"/>
                    <a:ext cx="5203205" cy="122289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Over the last 150 years, the slope has been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3397" y="1694990"/>
                    <a:ext cx="5203205" cy="12228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94" t="-3571" r="-570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560F60-B4D1-2245-8A35-82DB2A86A279}"/>
                </a:ext>
              </a:extLst>
            </p:cNvPr>
            <p:cNvSpPr txBox="1"/>
            <p:nvPr/>
          </p:nvSpPr>
          <p:spPr>
            <a:xfrm>
              <a:off x="7549701" y="6348448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730CDC-CBD7-9CED-A3B9-F19490DF0380}"/>
                  </a:ext>
                </a:extLst>
              </p:cNvPr>
              <p:cNvSpPr txBox="1"/>
              <p:nvPr/>
            </p:nvSpPr>
            <p:spPr>
              <a:xfrm>
                <a:off x="6994002" y="2135533"/>
                <a:ext cx="5033845" cy="10391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As you know, most GCMs are predicting a slope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730CDC-CBD7-9CED-A3B9-F19490DF0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02" y="2135533"/>
                <a:ext cx="5033845" cy="1039195"/>
              </a:xfrm>
              <a:prstGeom prst="rect">
                <a:avLst/>
              </a:prstGeom>
              <a:blipFill>
                <a:blip r:embed="rId5"/>
                <a:stretch>
                  <a:fillRect l="-1759" t="-357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27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4: We wrote code (</a:t>
            </a:r>
            <a:r>
              <a:rPr lang="en-US" sz="2400" b="1" dirty="0" err="1"/>
              <a:t>ScheduledFlows</a:t>
            </a:r>
            <a:r>
              <a:rPr lang="en-US" sz="2400" b="1" dirty="0"/>
              <a:t>) that creates an “emission scenario”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BA54-B6A2-89B5-1931-F952C24D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1" y="2374436"/>
            <a:ext cx="5976141" cy="1330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618C1C-8197-0B49-3AA4-2DD9B76C57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782" t="90756" r="38501"/>
          <a:stretch/>
        </p:blipFill>
        <p:spPr>
          <a:xfrm>
            <a:off x="5656881" y="4287708"/>
            <a:ext cx="6260112" cy="117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2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346A432-F57B-6AA9-0C1B-976A88C9C3BF}"/>
              </a:ext>
            </a:extLst>
          </p:cNvPr>
          <p:cNvGrpSpPr>
            <a:grpSpLocks noChangeAspect="1"/>
          </p:cNvGrpSpPr>
          <p:nvPr/>
        </p:nvGrpSpPr>
        <p:grpSpPr>
          <a:xfrm>
            <a:off x="4751832" y="540992"/>
            <a:ext cx="7176146" cy="5361774"/>
            <a:chOff x="5730240" y="3556"/>
            <a:chExt cx="8847924" cy="661087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00749E-7D63-1D45-A1E8-1618D511CE5D}"/>
                </a:ext>
              </a:extLst>
            </p:cNvPr>
            <p:cNvGrpSpPr/>
            <p:nvPr/>
          </p:nvGrpSpPr>
          <p:grpSpPr>
            <a:xfrm>
              <a:off x="5730240" y="3556"/>
              <a:ext cx="8847924" cy="6610870"/>
              <a:chOff x="2675466" y="219456"/>
              <a:chExt cx="9918318" cy="7591772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C0439CE-E639-B542-A9B0-8B2F405C156B}"/>
                  </a:ext>
                </a:extLst>
              </p:cNvPr>
              <p:cNvGrpSpPr/>
              <p:nvPr/>
            </p:nvGrpSpPr>
            <p:grpSpPr>
              <a:xfrm>
                <a:off x="2675466" y="219456"/>
                <a:ext cx="6364225" cy="6687311"/>
                <a:chOff x="2675466" y="219456"/>
                <a:chExt cx="6364225" cy="6687311"/>
              </a:xfrm>
            </p:grpSpPr>
            <p:pic>
              <p:nvPicPr>
                <p:cNvPr id="2050" name="Picture 2">
                  <a:extLst>
                    <a:ext uri="{FF2B5EF4-FFF2-40B4-BE49-F238E27FC236}">
                      <a16:creationId xmlns:a16="http://schemas.microsoft.com/office/drawing/2014/main" id="{4CAE1A6B-B4F8-3F49-B5C6-3BF07983DAF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75466" y="3840480"/>
                  <a:ext cx="6364225" cy="30662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979FC84D-8C01-1D45-96EB-ED58D7B39D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75466" y="219456"/>
                  <a:ext cx="6364225" cy="37917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7070FD-0B54-8F46-B3BA-7AED081D024A}"/>
                  </a:ext>
                </a:extLst>
              </p:cNvPr>
              <p:cNvSpPr txBox="1"/>
              <p:nvPr/>
            </p:nvSpPr>
            <p:spPr>
              <a:xfrm>
                <a:off x="8897841" y="5283687"/>
                <a:ext cx="3695943" cy="252754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It’s thought that  ~</a:t>
                </a:r>
                <a:r>
                  <a:rPr lang="en-US" sz="2200" b="1" dirty="0"/>
                  <a:t>4000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GtC</a:t>
                </a:r>
                <a:r>
                  <a:rPr lang="en-US" sz="2200" dirty="0"/>
                  <a:t> is the total Earth reserve, so </a:t>
                </a:r>
                <a:r>
                  <a:rPr lang="en-US" sz="2200" b="1" dirty="0"/>
                  <a:t>~70-75% </a:t>
                </a:r>
                <a:r>
                  <a:rPr lang="en-US" sz="2200" dirty="0"/>
                  <a:t>would be left in the ground 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1D74BA-BCB6-0D56-2DE0-D33882F75439}"/>
                </a:ext>
              </a:extLst>
            </p:cNvPr>
            <p:cNvGrpSpPr/>
            <p:nvPr/>
          </p:nvGrpSpPr>
          <p:grpSpPr>
            <a:xfrm>
              <a:off x="8734397" y="758493"/>
              <a:ext cx="5158171" cy="3711369"/>
              <a:chOff x="8734397" y="758493"/>
              <a:chExt cx="5158171" cy="3711369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2D068F1-2408-B907-CCF8-8FD9BA758396}"/>
                  </a:ext>
                </a:extLst>
              </p:cNvPr>
              <p:cNvSpPr/>
              <p:nvPr/>
            </p:nvSpPr>
            <p:spPr>
              <a:xfrm>
                <a:off x="8734397" y="758493"/>
                <a:ext cx="105374" cy="1097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5812AA5-8482-D455-0FA9-BEAB3968740D}"/>
                  </a:ext>
                </a:extLst>
              </p:cNvPr>
              <p:cNvSpPr/>
              <p:nvPr/>
            </p:nvSpPr>
            <p:spPr>
              <a:xfrm>
                <a:off x="8734397" y="4360134"/>
                <a:ext cx="105374" cy="1097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8CA0A687-9516-F145-BA16-9D9D59D14767}"/>
                      </a:ext>
                    </a:extLst>
                  </p:cNvPr>
                  <p:cNvSpPr txBox="1"/>
                  <p:nvPr/>
                </p:nvSpPr>
                <p:spPr>
                  <a:xfrm>
                    <a:off x="10595493" y="3137759"/>
                    <a:ext cx="3297075" cy="9486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14:m>
                      <m:oMath xmlns:m="http://schemas.openxmlformats.org/officeDocument/2006/math"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𝟏𝟎𝟎𝟎</m:t>
                        </m:r>
                      </m:oMath>
                    </a14:m>
                    <a:r>
                      <a:rPr lang="en-US" sz="2200" dirty="0"/>
                      <a:t> </a:t>
                    </a:r>
                    <a:r>
                      <a:rPr lang="en-US" sz="2200" dirty="0" err="1"/>
                      <a:t>GtC</a:t>
                    </a:r>
                    <a:r>
                      <a:rPr lang="en-US" sz="2200" dirty="0"/>
                      <a:t> burned in this scenario</a:t>
                    </a: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8CA0A687-9516-F145-BA16-9D9D59D147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5493" y="3137759"/>
                    <a:ext cx="3297075" cy="94869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4839" r="-5189" b="-145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457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Week 4: We also wrote code that adds up emissions over time (</a:t>
            </a:r>
            <a:r>
              <a:rPr lang="en-US" sz="2400" b="1" dirty="0" err="1">
                <a:latin typeface="+mn-lt"/>
              </a:rPr>
              <a:t>CumulativeAnalysis</a:t>
            </a:r>
            <a:r>
              <a:rPr lang="en-US" sz="2400" b="1" dirty="0">
                <a:latin typeface="+mn-lt"/>
              </a:rPr>
              <a:t>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46F78D-A51C-E34D-AEA2-885DC8508AF0}"/>
              </a:ext>
            </a:extLst>
          </p:cNvPr>
          <p:cNvGrpSpPr/>
          <p:nvPr/>
        </p:nvGrpSpPr>
        <p:grpSpPr>
          <a:xfrm>
            <a:off x="250404" y="1705567"/>
            <a:ext cx="3756135" cy="1648550"/>
            <a:chOff x="865631" y="3992989"/>
            <a:chExt cx="3756135" cy="164855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3005061-AF36-FD42-AF84-D9BCF4739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9774" y="4499973"/>
              <a:ext cx="3071749" cy="114156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50A652-92E5-9B42-AB43-8EE2EED7E128}"/>
                </a:ext>
              </a:extLst>
            </p:cNvPr>
            <p:cNvSpPr txBox="1"/>
            <p:nvPr/>
          </p:nvSpPr>
          <p:spPr>
            <a:xfrm>
              <a:off x="865631" y="3992989"/>
              <a:ext cx="3756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Integral calculus: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1286FC-83EB-862A-9872-9321C1D2B34F}"/>
              </a:ext>
            </a:extLst>
          </p:cNvPr>
          <p:cNvGrpSpPr/>
          <p:nvPr/>
        </p:nvGrpSpPr>
        <p:grpSpPr>
          <a:xfrm>
            <a:off x="324547" y="4369618"/>
            <a:ext cx="4936308" cy="2045049"/>
            <a:chOff x="324547" y="4369618"/>
            <a:chExt cx="4936308" cy="204504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B2E6BE7-F828-C44A-95B2-0B30826532B1}"/>
                </a:ext>
              </a:extLst>
            </p:cNvPr>
            <p:cNvSpPr txBox="1"/>
            <p:nvPr/>
          </p:nvSpPr>
          <p:spPr>
            <a:xfrm>
              <a:off x="324547" y="4369618"/>
              <a:ext cx="49363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In Python: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62A2DF-291D-58B7-71A6-C5D26AFF5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4547" y="5119267"/>
              <a:ext cx="4572000" cy="1295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238025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2914651" cy="1643063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Weeks 5 and 3: </a:t>
            </a:r>
            <a:br>
              <a:rPr lang="en-US" sz="2400" b="1" dirty="0">
                <a:latin typeface="+mn-lt"/>
              </a:rPr>
            </a:br>
            <a:r>
              <a:rPr lang="en-US" sz="2400" b="1" dirty="0">
                <a:latin typeface="+mn-lt"/>
              </a:rPr>
              <a:t>Talked about regions most vulnerable to climate change </a:t>
            </a:r>
          </a:p>
        </p:txBody>
      </p:sp>
      <p:pic>
        <p:nvPicPr>
          <p:cNvPr id="3" name="Google Shape;100;p3">
            <a:extLst>
              <a:ext uri="{FF2B5EF4-FFF2-40B4-BE49-F238E27FC236}">
                <a16:creationId xmlns:a16="http://schemas.microsoft.com/office/drawing/2014/main" id="{9DB0939E-642E-6E17-CDA3-58AAE9C7FA8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l="27213" t="21679" r="5192" b="8946"/>
          <a:stretch/>
        </p:blipFill>
        <p:spPr>
          <a:xfrm>
            <a:off x="3171824" y="0"/>
            <a:ext cx="8015287" cy="65303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0860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457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Week 5: Also talked about equally-split carbon budgets compatible with climate targets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1AF3EA-54C5-FF24-E0EE-CBED2B1BB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20" y="477888"/>
            <a:ext cx="8054892" cy="638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9BB296-100F-C10A-ACEF-4C0AD5899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666" y="723713"/>
            <a:ext cx="816226" cy="412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68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D05EA86-859B-330D-6EE6-50AB8EC0B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160" y="284024"/>
            <a:ext cx="4989709" cy="32478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9D4CA78-4F2E-4881-5FDE-C92390AFD86F}"/>
              </a:ext>
            </a:extLst>
          </p:cNvPr>
          <p:cNvSpPr txBox="1"/>
          <p:nvPr/>
        </p:nvSpPr>
        <p:spPr>
          <a:xfrm>
            <a:off x="8328378" y="458310"/>
            <a:ext cx="2857782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this scenario, anthropogenic emissions peaked in the year </a:t>
            </a:r>
            <a:r>
              <a:rPr lang="en-US" sz="2400" b="1" dirty="0"/>
              <a:t>2040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01D534-F21A-62CC-8639-EA3AF4E17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207" y="3429000"/>
            <a:ext cx="4992412" cy="33375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1ACD2A-714B-CA19-8454-C573B866F299}"/>
              </a:ext>
            </a:extLst>
          </p:cNvPr>
          <p:cNvSpPr txBox="1"/>
          <p:nvPr/>
        </p:nvSpPr>
        <p:spPr>
          <a:xfrm>
            <a:off x="2274570" y="3886655"/>
            <a:ext cx="3371528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But carbon in the atmosphere and ocean peaked in </a:t>
            </a:r>
            <a:r>
              <a:rPr lang="en-US" sz="2400" b="1" dirty="0"/>
              <a:t>2055</a:t>
            </a:r>
            <a:r>
              <a:rPr lang="en-US" sz="2400" dirty="0"/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E2B8B-013A-02E8-EDE3-C2B22FC59CDA}"/>
              </a:ext>
            </a:extLst>
          </p:cNvPr>
          <p:cNvSpPr txBox="1"/>
          <p:nvPr/>
        </p:nvSpPr>
        <p:spPr>
          <a:xfrm>
            <a:off x="0" y="0"/>
            <a:ext cx="4328160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6: Cambio 1.0 timelines of carbon in the atmosphere (Graph #1)</a:t>
            </a:r>
          </a:p>
        </p:txBody>
      </p:sp>
    </p:spTree>
    <p:extLst>
      <p:ext uri="{BB962C8B-B14F-4D97-AF65-F5344CB8AC3E}">
        <p14:creationId xmlns:p14="http://schemas.microsoft.com/office/powerpoint/2010/main" val="4009825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843F445-09F0-D08E-0943-722227729406}"/>
              </a:ext>
            </a:extLst>
          </p:cNvPr>
          <p:cNvSpPr/>
          <p:nvPr/>
        </p:nvSpPr>
        <p:spPr>
          <a:xfrm>
            <a:off x="6195376" y="4104411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FDD06B-3E53-E0B7-C2D7-EFD6760A5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20" y="450090"/>
            <a:ext cx="9259002" cy="6454977"/>
          </a:xfrm>
          <a:prstGeom prst="rect">
            <a:avLst/>
          </a:prstGeom>
        </p:spPr>
      </p:pic>
      <p:pic>
        <p:nvPicPr>
          <p:cNvPr id="3" name="Picture 2" descr="Draft diagram of the carbon cycle.">
            <a:extLst>
              <a:ext uri="{FF2B5EF4-FFF2-40B4-BE49-F238E27FC236}">
                <a16:creationId xmlns:a16="http://schemas.microsoft.com/office/drawing/2014/main" id="{D2CB92D5-1B33-202A-189D-A299BD1AB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378" y="910571"/>
            <a:ext cx="3777644" cy="251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9EF41-A507-53BD-6AEB-AEB2DB23138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6: Cambio 1.0 </a:t>
            </a:r>
            <a:r>
              <a:rPr lang="en-US" sz="2400" b="1" dirty="0" err="1"/>
              <a:t>yimelines</a:t>
            </a:r>
            <a:r>
              <a:rPr lang="en-US" sz="2400" b="1" dirty="0"/>
              <a:t> of carbon flux between atmosphere, ocean, and land (Graph #1)</a:t>
            </a:r>
          </a:p>
        </p:txBody>
      </p:sp>
    </p:spTree>
    <p:extLst>
      <p:ext uri="{BB962C8B-B14F-4D97-AF65-F5344CB8AC3E}">
        <p14:creationId xmlns:p14="http://schemas.microsoft.com/office/powerpoint/2010/main" val="3618913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6: Cambio 1.0 (Graph #2, flux timelines)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43F445-09F0-D08E-0943-722227729406}"/>
              </a:ext>
            </a:extLst>
          </p:cNvPr>
          <p:cNvSpPr/>
          <p:nvPr/>
        </p:nvSpPr>
        <p:spPr>
          <a:xfrm>
            <a:off x="6195376" y="4104411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FDD06B-3E53-E0B7-C2D7-EFD6760A5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20" y="450090"/>
            <a:ext cx="9259002" cy="64549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C42E3A-33A8-F7B9-5031-71293977F3EA}"/>
                  </a:ext>
                </a:extLst>
              </p:cNvPr>
              <p:cNvSpPr txBox="1"/>
              <p:nvPr/>
            </p:nvSpPr>
            <p:spPr>
              <a:xfrm>
                <a:off x="1663027" y="852121"/>
                <a:ext cx="4654269" cy="2246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By 2055, anthropogenic emission has declined enough that the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combined flux </a:t>
                </a:r>
                <a:r>
                  <a:rPr lang="en-US" sz="2000" dirty="0"/>
                  <a:t>(=anthropogenic emission + </a:t>
                </a:r>
                <a:r>
                  <a:rPr lang="en-US" sz="2000" dirty="0">
                    <a:solidFill>
                      <a:srgbClr val="C00000"/>
                    </a:solidFill>
                  </a:rPr>
                  <a:t>net land </a:t>
                </a:r>
                <a:r>
                  <a:rPr lang="en-US" sz="2000" dirty="0"/>
                  <a:t>+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net ocean</a:t>
                </a:r>
                <a:r>
                  <a:rPr lang="en-US" sz="2000" dirty="0"/>
                  <a:t>) has </a:t>
                </a:r>
                <a:r>
                  <a:rPr lang="en-US" sz="2000" b="1" dirty="0"/>
                  <a:t>gone</a:t>
                </a:r>
                <a:r>
                  <a:rPr lang="en-US" sz="2000" dirty="0"/>
                  <a:t> </a:t>
                </a:r>
                <a:r>
                  <a:rPr lang="en-US" sz="2000" b="1" dirty="0"/>
                  <a:t>negative</a:t>
                </a:r>
                <a:r>
                  <a:rPr lang="en-US" sz="2000" dirty="0"/>
                  <a:t>.</a:t>
                </a:r>
              </a:p>
              <a:p>
                <a:endParaRPr lang="en-US" sz="2000" b="1" dirty="0"/>
              </a:p>
              <a:p>
                <a:r>
                  <a:rPr lang="en-US" sz="2000" dirty="0"/>
                  <a:t>Remember that 2055</a:t>
                </a:r>
                <a:r>
                  <a:rPr lang="en-US" sz="2000" b="1" dirty="0"/>
                  <a:t> </a:t>
                </a:r>
                <a:r>
                  <a:rPr lang="en-US" sz="2000" dirty="0"/>
                  <a:t>is the year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en-US" sz="2000" dirty="0"/>
                  <a:t> started to go down! 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C42E3A-33A8-F7B9-5031-71293977F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027" y="852121"/>
                <a:ext cx="4654269" cy="2246769"/>
              </a:xfrm>
              <a:prstGeom prst="rect">
                <a:avLst/>
              </a:prstGeom>
              <a:blipFill>
                <a:blip r:embed="rId3"/>
                <a:stretch>
                  <a:fillRect l="-1359" t="-1117" b="-391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599E45D-2123-3CFE-8742-0BECC0189C7A}"/>
              </a:ext>
            </a:extLst>
          </p:cNvPr>
          <p:cNvSpPr/>
          <p:nvPr/>
        </p:nvSpPr>
        <p:spPr>
          <a:xfrm>
            <a:off x="7760471" y="4509801"/>
            <a:ext cx="112889" cy="11288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67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6: Cambio 1.0 (Graph #2, flux timelines)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43F445-09F0-D08E-0943-722227729406}"/>
              </a:ext>
            </a:extLst>
          </p:cNvPr>
          <p:cNvSpPr/>
          <p:nvPr/>
        </p:nvSpPr>
        <p:spPr>
          <a:xfrm>
            <a:off x="6195376" y="4104411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FDD06B-3E53-E0B7-C2D7-EFD6760A5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20" y="450090"/>
            <a:ext cx="9259002" cy="64549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C42E3A-33A8-F7B9-5031-71293977F3EA}"/>
                  </a:ext>
                </a:extLst>
              </p:cNvPr>
              <p:cNvSpPr txBox="1"/>
              <p:nvPr/>
            </p:nvSpPr>
            <p:spPr>
              <a:xfrm>
                <a:off x="1666878" y="852120"/>
                <a:ext cx="4650418" cy="25545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By 2060, atmospheric carbon</a:t>
                </a:r>
                <a:r>
                  <a:rPr lang="en-US" sz="2000" b="1" dirty="0"/>
                  <a:t>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en-US" sz="2000" dirty="0"/>
                  <a:t>) has declined enough that the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net ocean flux </a:t>
                </a:r>
                <a:r>
                  <a:rPr lang="en-US" sz="2000" dirty="0"/>
                  <a:t>has </a:t>
                </a:r>
                <a:r>
                  <a:rPr lang="en-US" sz="2000" b="1" dirty="0"/>
                  <a:t>gone positive</a:t>
                </a:r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Meaning … the oceans will start to return to the atmosphere the carbon they have been storing since the beginning of the industrial revolution.</a:t>
                </a:r>
                <a:endParaRPr lang="en-US" sz="20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C42E3A-33A8-F7B9-5031-71293977F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78" y="852120"/>
                <a:ext cx="4650418" cy="2554545"/>
              </a:xfrm>
              <a:prstGeom prst="rect">
                <a:avLst/>
              </a:prstGeom>
              <a:blipFill>
                <a:blip r:embed="rId3"/>
                <a:stretch>
                  <a:fillRect l="-1087" t="-985" b="-34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599E45D-2123-3CFE-8742-0BECC0189C7A}"/>
              </a:ext>
            </a:extLst>
          </p:cNvPr>
          <p:cNvSpPr/>
          <p:nvPr/>
        </p:nvSpPr>
        <p:spPr>
          <a:xfrm>
            <a:off x="7898355" y="4509801"/>
            <a:ext cx="112889" cy="1128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30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446</Words>
  <Application>Microsoft Macintosh PowerPoint</Application>
  <PresentationFormat>Widescreen</PresentationFormat>
  <Paragraphs>45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Week 4: We also wrote code that adds up emissions over time (CumulativeAnalysis)</vt:lpstr>
      <vt:lpstr>Weeks 5 and 3:  Talked about regions most vulnerable to climate change </vt:lpstr>
      <vt:lpstr>Week 5: Also talked about equally-split carbon budgets compatible with climate targets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24</cp:revision>
  <dcterms:created xsi:type="dcterms:W3CDTF">2026-02-24T12:26:19Z</dcterms:created>
  <dcterms:modified xsi:type="dcterms:W3CDTF">2026-02-27T15:16:17Z</dcterms:modified>
</cp:coreProperties>
</file>