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m7ENWoT+OIrZlIAxvkTc5W7c4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e58a68e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e58a68e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satellite record</a:t>
            </a:r>
            <a:endParaRPr/>
          </a:p>
        </p:txBody>
      </p:sp>
      <p:sp>
        <p:nvSpPr>
          <p:cNvPr id="87" name="Google Shape;87;g3d2e58a68e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300e3831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300e3831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satellite record</a:t>
            </a:r>
            <a:endParaRPr/>
          </a:p>
        </p:txBody>
      </p:sp>
      <p:sp>
        <p:nvSpPr>
          <p:cNvPr id="94" name="Google Shape;94;g3d300e3831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zacklabe.com/arctic-sea-ice-extentconcentration/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hyperlink" Target="https://www.climate.gov/maps-data/data-snapshots/data-source/arctic-sea-ice-extent-minimum" TargetMode="External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12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e58a68e0_0_0"/>
          <p:cNvSpPr txBox="1"/>
          <p:nvPr/>
        </p:nvSpPr>
        <p:spPr>
          <a:xfrm>
            <a:off x="1" y="0"/>
            <a:ext cx="121920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19 years contain the 19 lowest observed sea-ice extents (NOAA)</a:t>
            </a:r>
            <a:endParaRPr/>
          </a:p>
        </p:txBody>
      </p:sp>
      <p:pic>
        <p:nvPicPr>
          <p:cNvPr id="90" name="Google Shape;90;g3d2e58a68e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5838"/>
            <a:ext cx="11887200" cy="486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00e3831f_0_0"/>
          <p:cNvSpPr txBox="1"/>
          <p:nvPr/>
        </p:nvSpPr>
        <p:spPr>
          <a:xfrm>
            <a:off x="1" y="0"/>
            <a:ext cx="12192000" cy="554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mechanisms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sea ice melt</a:t>
            </a:r>
            <a:endParaRPr/>
          </a:p>
        </p:txBody>
      </p:sp>
      <p:sp>
        <p:nvSpPr>
          <p:cNvPr id="97" name="Google Shape;97;g3d300e3831f_0_0"/>
          <p:cNvSpPr txBox="1"/>
          <p:nvPr/>
        </p:nvSpPr>
        <p:spPr>
          <a:xfrm>
            <a:off x="-2869725" y="7298450"/>
            <a:ext cx="11740800" cy="58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Rising air temperature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Rising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temperature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wave action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riverine heat flux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g3d300e3831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4100"/>
            <a:ext cx="4491802" cy="336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d300e3831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100" y="3605900"/>
            <a:ext cx="3773626" cy="31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d300e3831f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100" y="652200"/>
            <a:ext cx="4198725" cy="27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d300e3831f_0_0"/>
          <p:cNvPicPr preferRelativeResize="0"/>
          <p:nvPr/>
        </p:nvPicPr>
        <p:blipFill rotWithShape="1">
          <a:blip r:embed="rId6">
            <a:alphaModFix/>
          </a:blip>
          <a:srcRect b="7063" l="0" r="0" t="0"/>
          <a:stretch/>
        </p:blipFill>
        <p:spPr>
          <a:xfrm>
            <a:off x="6129100" y="3549450"/>
            <a:ext cx="4198725" cy="280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d300e3831f_0_0"/>
          <p:cNvSpPr txBox="1"/>
          <p:nvPr/>
        </p:nvSpPr>
        <p:spPr>
          <a:xfrm>
            <a:off x="4478193" y="1391775"/>
            <a:ext cx="12792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 temp.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300e3831f_0_0"/>
          <p:cNvSpPr txBox="1"/>
          <p:nvPr/>
        </p:nvSpPr>
        <p:spPr>
          <a:xfrm>
            <a:off x="4426493" y="4540738"/>
            <a:ext cx="12792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Ocean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temp.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300e3831f_0_0"/>
          <p:cNvSpPr txBox="1"/>
          <p:nvPr/>
        </p:nvSpPr>
        <p:spPr>
          <a:xfrm>
            <a:off x="10566025" y="1391763"/>
            <a:ext cx="12792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Wave action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d300e3831f_0_0"/>
          <p:cNvSpPr txBox="1"/>
          <p:nvPr/>
        </p:nvSpPr>
        <p:spPr>
          <a:xfrm>
            <a:off x="10664004" y="4290163"/>
            <a:ext cx="12792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River heat flux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decadal trend is a reduction in Arctic sea ice extent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338060" y="4852279"/>
            <a:ext cx="45567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https://zacklabe.com/arctic-sea-ice-extentconcentration/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8872" y="911497"/>
            <a:ext cx="5235010" cy="3860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" y="502890"/>
            <a:ext cx="5718480" cy="49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/>
        </p:nvSpPr>
        <p:spPr>
          <a:xfrm>
            <a:off x="1081088" y="1001375"/>
            <a:ext cx="3908107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https://www.climate.gov/maps-data/data-snapshots/data-source/arctic-sea-ice-extent-minimum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25730" y="5590250"/>
            <a:ext cx="11978640" cy="95769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2987" l="-741" r="0" t="0"/>
            </a:stretch>
          </a:blip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310739" y="5036893"/>
            <a:ext cx="10557185" cy="17543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36" l="-481" r="0" t="-14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21" name="Google Shape;121;p2"/>
          <p:cNvGrpSpPr/>
          <p:nvPr/>
        </p:nvGrpSpPr>
        <p:grpSpPr>
          <a:xfrm>
            <a:off x="8494380" y="3193823"/>
            <a:ext cx="2785904" cy="983088"/>
            <a:chOff x="8927292" y="616204"/>
            <a:chExt cx="2785904" cy="983088"/>
          </a:xfrm>
        </p:grpSpPr>
        <p:sp>
          <p:nvSpPr>
            <p:cNvPr id="122" name="Google Shape;122;p2"/>
            <p:cNvSpPr/>
            <p:nvPr/>
          </p:nvSpPr>
          <p:spPr>
            <a:xfrm>
              <a:off x="8949228" y="616204"/>
              <a:ext cx="2763968" cy="983088"/>
            </a:xfrm>
            <a:prstGeom prst="rect">
              <a:avLst/>
            </a:prstGeom>
            <a:solidFill>
              <a:schemeClr val="accent1">
                <a:alpha val="45098"/>
              </a:schemeClr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8927292" y="644966"/>
              <a:ext cx="2763968" cy="92333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9459" l="0" r="0" t="-270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2134" y="88232"/>
            <a:ext cx="9179942" cy="10116709"/>
            <a:chOff x="642134" y="88232"/>
            <a:chExt cx="9179942" cy="10116709"/>
          </a:xfrm>
        </p:grpSpPr>
        <p:grpSp>
          <p:nvGrpSpPr>
            <p:cNvPr id="125" name="Google Shape;125;p2"/>
            <p:cNvGrpSpPr/>
            <p:nvPr/>
          </p:nvGrpSpPr>
          <p:grpSpPr>
            <a:xfrm>
              <a:off x="642134" y="88232"/>
              <a:ext cx="9179942" cy="10116709"/>
              <a:chOff x="2294474" y="49043"/>
              <a:chExt cx="9179942" cy="10116709"/>
            </a:xfrm>
          </p:grpSpPr>
          <p:grpSp>
            <p:nvGrpSpPr>
              <p:cNvPr id="126" name="Google Shape;126;p2"/>
              <p:cNvGrpSpPr/>
              <p:nvPr/>
            </p:nvGrpSpPr>
            <p:grpSpPr>
              <a:xfrm>
                <a:off x="2294474" y="49043"/>
                <a:ext cx="9179942" cy="10116709"/>
                <a:chOff x="431028" y="317035"/>
                <a:chExt cx="9179942" cy="10116709"/>
              </a:xfrm>
            </p:grpSpPr>
            <p:grpSp>
              <p:nvGrpSpPr>
                <p:cNvPr id="127" name="Google Shape;127;p2"/>
                <p:cNvGrpSpPr/>
                <p:nvPr/>
              </p:nvGrpSpPr>
              <p:grpSpPr>
                <a:xfrm>
                  <a:off x="431028" y="317035"/>
                  <a:ext cx="9179942" cy="10116709"/>
                  <a:chOff x="1975369" y="320937"/>
                  <a:chExt cx="9179942" cy="10116709"/>
                </a:xfrm>
              </p:grpSpPr>
              <p:grpSp>
                <p:nvGrpSpPr>
                  <p:cNvPr id="128" name="Google Shape;128;p2"/>
                  <p:cNvGrpSpPr/>
                  <p:nvPr/>
                </p:nvGrpSpPr>
                <p:grpSpPr>
                  <a:xfrm>
                    <a:off x="1975369" y="1575338"/>
                    <a:ext cx="9179942" cy="8862308"/>
                    <a:chOff x="1975369" y="-178123"/>
                    <a:chExt cx="9179942" cy="8862308"/>
                  </a:xfrm>
                </p:grpSpPr>
                <p:cxnSp>
                  <p:nvCxnSpPr>
                    <p:cNvPr id="129" name="Google Shape;129;p2"/>
                    <p:cNvCxnSpPr/>
                    <p:nvPr/>
                  </p:nvCxnSpPr>
                  <p:spPr>
                    <a:xfrm flipH="1">
                      <a:off x="7460296" y="1027095"/>
                      <a:ext cx="182004" cy="387767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sp>
                  <p:nvSpPr>
                    <p:cNvPr id="130" name="Google Shape;130;p2"/>
                    <p:cNvSpPr/>
                    <p:nvPr/>
                  </p:nvSpPr>
                  <p:spPr>
                    <a:xfrm rot="-871542">
                      <a:off x="3253298" y="216982"/>
                      <a:ext cx="988756" cy="477026"/>
                    </a:xfrm>
                    <a:custGeom>
                      <a:rect b="b" l="l" r="r" t="t"/>
                      <a:pathLst>
                        <a:path extrusionOk="0" h="723900" w="988756">
                          <a:moveTo>
                            <a:pt x="132598" y="406400"/>
                          </a:moveTo>
                          <a:cubicBezTo>
                            <a:pt x="102965" y="410633"/>
                            <a:pt x="73484" y="422079"/>
                            <a:pt x="43698" y="419100"/>
                          </a:cubicBezTo>
                          <a:cubicBezTo>
                            <a:pt x="-33406" y="411390"/>
                            <a:pt x="14129" y="293802"/>
                            <a:pt x="18298" y="266700"/>
                          </a:cubicBezTo>
                          <a:cubicBezTo>
                            <a:pt x="20334" y="253469"/>
                            <a:pt x="21532" y="238066"/>
                            <a:pt x="30998" y="228600"/>
                          </a:cubicBezTo>
                          <a:cubicBezTo>
                            <a:pt x="74667" y="184931"/>
                            <a:pt x="97388" y="181070"/>
                            <a:pt x="145298" y="165100"/>
                          </a:cubicBezTo>
                          <a:cubicBezTo>
                            <a:pt x="149531" y="135467"/>
                            <a:pt x="149396" y="104872"/>
                            <a:pt x="157998" y="76200"/>
                          </a:cubicBezTo>
                          <a:cubicBezTo>
                            <a:pt x="166963" y="46318"/>
                            <a:pt x="195600" y="25649"/>
                            <a:pt x="221498" y="12700"/>
                          </a:cubicBezTo>
                          <a:cubicBezTo>
                            <a:pt x="233472" y="6713"/>
                            <a:pt x="246898" y="4233"/>
                            <a:pt x="259598" y="0"/>
                          </a:cubicBezTo>
                          <a:cubicBezTo>
                            <a:pt x="275874" y="4069"/>
                            <a:pt x="330278" y="16290"/>
                            <a:pt x="348498" y="25400"/>
                          </a:cubicBezTo>
                          <a:cubicBezTo>
                            <a:pt x="436203" y="69253"/>
                            <a:pt x="331672" y="37069"/>
                            <a:pt x="437398" y="63500"/>
                          </a:cubicBezTo>
                          <a:lnTo>
                            <a:pt x="513598" y="38100"/>
                          </a:lnTo>
                          <a:cubicBezTo>
                            <a:pt x="526298" y="33867"/>
                            <a:pt x="538571" y="28025"/>
                            <a:pt x="551698" y="25400"/>
                          </a:cubicBezTo>
                          <a:lnTo>
                            <a:pt x="615198" y="12700"/>
                          </a:lnTo>
                          <a:cubicBezTo>
                            <a:pt x="640598" y="16933"/>
                            <a:pt x="666969" y="17257"/>
                            <a:pt x="691398" y="25400"/>
                          </a:cubicBezTo>
                          <a:cubicBezTo>
                            <a:pt x="742779" y="42527"/>
                            <a:pt x="722792" y="50088"/>
                            <a:pt x="742198" y="88900"/>
                          </a:cubicBezTo>
                          <a:cubicBezTo>
                            <a:pt x="749024" y="102552"/>
                            <a:pt x="759131" y="114300"/>
                            <a:pt x="767598" y="127000"/>
                          </a:cubicBezTo>
                          <a:cubicBezTo>
                            <a:pt x="771831" y="169333"/>
                            <a:pt x="754771" y="219964"/>
                            <a:pt x="780298" y="254000"/>
                          </a:cubicBezTo>
                          <a:cubicBezTo>
                            <a:pt x="801243" y="281927"/>
                            <a:pt x="848780" y="268361"/>
                            <a:pt x="881898" y="279400"/>
                          </a:cubicBezTo>
                          <a:lnTo>
                            <a:pt x="919998" y="292100"/>
                          </a:lnTo>
                          <a:cubicBezTo>
                            <a:pt x="924231" y="304800"/>
                            <a:pt x="932698" y="316813"/>
                            <a:pt x="932698" y="330200"/>
                          </a:cubicBezTo>
                          <a:cubicBezTo>
                            <a:pt x="932698" y="372452"/>
                            <a:pt x="902924" y="437939"/>
                            <a:pt x="932698" y="482600"/>
                          </a:cubicBezTo>
                          <a:cubicBezTo>
                            <a:pt x="942661" y="497544"/>
                            <a:pt x="958098" y="508000"/>
                            <a:pt x="970798" y="520700"/>
                          </a:cubicBezTo>
                          <a:cubicBezTo>
                            <a:pt x="985214" y="563948"/>
                            <a:pt x="1002721" y="597536"/>
                            <a:pt x="970798" y="647700"/>
                          </a:cubicBezTo>
                          <a:cubicBezTo>
                            <a:pt x="954409" y="673454"/>
                            <a:pt x="919998" y="681567"/>
                            <a:pt x="894598" y="698500"/>
                          </a:cubicBezTo>
                          <a:lnTo>
                            <a:pt x="856498" y="723900"/>
                          </a:lnTo>
                          <a:cubicBezTo>
                            <a:pt x="843798" y="719667"/>
                            <a:pt x="828851" y="719563"/>
                            <a:pt x="818398" y="711200"/>
                          </a:cubicBezTo>
                          <a:cubicBezTo>
                            <a:pt x="806479" y="701665"/>
                            <a:pt x="803791" y="683893"/>
                            <a:pt x="792998" y="673100"/>
                          </a:cubicBezTo>
                          <a:cubicBezTo>
                            <a:pt x="782205" y="662307"/>
                            <a:pt x="767598" y="656167"/>
                            <a:pt x="754898" y="647700"/>
                          </a:cubicBezTo>
                          <a:cubicBezTo>
                            <a:pt x="637222" y="667313"/>
                            <a:pt x="604226" y="678526"/>
                            <a:pt x="450098" y="647700"/>
                          </a:cubicBezTo>
                          <a:cubicBezTo>
                            <a:pt x="435131" y="644707"/>
                            <a:pt x="436617" y="619135"/>
                            <a:pt x="424698" y="609600"/>
                          </a:cubicBezTo>
                          <a:cubicBezTo>
                            <a:pt x="414245" y="601237"/>
                            <a:pt x="399298" y="601133"/>
                            <a:pt x="386598" y="596900"/>
                          </a:cubicBezTo>
                          <a:cubicBezTo>
                            <a:pt x="295918" y="627127"/>
                            <a:pt x="332675" y="637152"/>
                            <a:pt x="272298" y="596900"/>
                          </a:cubicBezTo>
                          <a:cubicBezTo>
                            <a:pt x="268065" y="584200"/>
                            <a:pt x="267961" y="569253"/>
                            <a:pt x="259598" y="558800"/>
                          </a:cubicBezTo>
                          <a:cubicBezTo>
                            <a:pt x="227580" y="518778"/>
                            <a:pt x="159543" y="525656"/>
                            <a:pt x="119898" y="520700"/>
                          </a:cubicBezTo>
                          <a:cubicBezTo>
                            <a:pt x="64186" y="483559"/>
                            <a:pt x="81798" y="510564"/>
                            <a:pt x="81798" y="431800"/>
                          </a:cubicBezTo>
                        </a:path>
                      </a:pathLst>
                    </a:custGeom>
                    <a:solidFill>
                      <a:schemeClr val="lt2">
                        <a:alpha val="68627"/>
                      </a:schemeClr>
                    </a:solidFill>
                    <a:ln cap="flat" cmpd="sng" w="12700">
                      <a:solidFill>
                        <a:srgbClr val="1C305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31" name="Google Shape;131;p2"/>
                    <p:cNvGrpSpPr/>
                    <p:nvPr/>
                  </p:nvGrpSpPr>
                  <p:grpSpPr>
                    <a:xfrm>
                      <a:off x="1975369" y="-178123"/>
                      <a:ext cx="9179942" cy="8862308"/>
                      <a:chOff x="908569" y="944460"/>
                      <a:chExt cx="9179942" cy="8862308"/>
                    </a:xfrm>
                  </p:grpSpPr>
                  <p:grpSp>
                    <p:nvGrpSpPr>
                      <p:cNvPr id="132" name="Google Shape;132;p2"/>
                      <p:cNvGrpSpPr/>
                      <p:nvPr/>
                    </p:nvGrpSpPr>
                    <p:grpSpPr>
                      <a:xfrm>
                        <a:off x="908569" y="1730678"/>
                        <a:ext cx="9179942" cy="8076090"/>
                        <a:chOff x="-50800" y="666378"/>
                        <a:chExt cx="9179942" cy="8076090"/>
                      </a:xfrm>
                    </p:grpSpPr>
                    <p:grpSp>
                      <p:nvGrpSpPr>
                        <p:cNvPr id="133" name="Google Shape;133;p2"/>
                        <p:cNvGrpSpPr/>
                        <p:nvPr/>
                      </p:nvGrpSpPr>
                      <p:grpSpPr>
                        <a:xfrm>
                          <a:off x="-50800" y="1310862"/>
                          <a:ext cx="7986110" cy="7431606"/>
                          <a:chOff x="2373084" y="1320800"/>
                          <a:chExt cx="7986110" cy="7431606"/>
                        </a:xfrm>
                      </p:grpSpPr>
                      <p:sp>
                        <p:nvSpPr>
                          <p:cNvPr id="134" name="Google Shape;134;p2"/>
                          <p:cNvSpPr/>
                          <p:nvPr/>
                        </p:nvSpPr>
                        <p:spPr>
                          <a:xfrm>
                            <a:off x="2697335" y="1629084"/>
                            <a:ext cx="7351776" cy="6778752"/>
                          </a:xfrm>
                          <a:prstGeom prst="arc">
                            <a:avLst>
                              <a:gd fmla="val 12428108" name="adj1"/>
                              <a:gd fmla="val 19898702" name="adj2"/>
                            </a:avLst>
                          </a:prstGeom>
                          <a:noFill/>
                          <a:ln cap="flat" cmpd="sng" w="508000">
                            <a:solidFill>
                              <a:schemeClr val="accent1">
                                <a:alpha val="50980"/>
                              </a:schemeClr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35" name="Google Shape;135;p2"/>
                          <p:cNvSpPr/>
                          <p:nvPr/>
                        </p:nvSpPr>
                        <p:spPr>
                          <a:xfrm>
                            <a:off x="2373084" y="1320800"/>
                            <a:ext cx="7986110" cy="7431606"/>
                          </a:xfrm>
                          <a:prstGeom prst="arc">
                            <a:avLst>
                              <a:gd fmla="val 12826972" name="adj1"/>
                              <a:gd fmla="val 19574346" name="adj2"/>
                            </a:avLst>
                          </a:prstGeom>
                          <a:noFill/>
                          <a:ln cap="flat" cmpd="sng" w="127000">
                            <a:solidFill>
                              <a:srgbClr val="BFBFBF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6" name="Google Shape;136;p2"/>
                        <p:cNvGrpSpPr/>
                        <p:nvPr/>
                      </p:nvGrpSpPr>
                      <p:grpSpPr>
                        <a:xfrm>
                          <a:off x="941667" y="2188024"/>
                          <a:ext cx="2430428" cy="914332"/>
                          <a:chOff x="1078301" y="1636148"/>
                          <a:chExt cx="2430428" cy="914332"/>
                        </a:xfrm>
                      </p:grpSpPr>
                      <p:cxnSp>
                        <p:nvCxnSpPr>
                          <p:cNvPr id="137" name="Google Shape;137;p2"/>
                          <p:cNvCxnSpPr/>
                          <p:nvPr/>
                        </p:nvCxnSpPr>
                        <p:spPr>
                          <a:xfrm>
                            <a:off x="1620410" y="1636148"/>
                            <a:ext cx="328500" cy="372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2857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med" w="med" type="triangle"/>
                            <a:tailEnd len="med" w="med" type="triangle"/>
                          </a:ln>
                        </p:spPr>
                      </p:cxnSp>
                      <p:sp>
                        <p:nvSpPr>
                          <p:cNvPr id="138" name="Google Shape;138;p2"/>
                          <p:cNvSpPr txBox="1"/>
                          <p:nvPr/>
                        </p:nvSpPr>
                        <p:spPr>
                          <a:xfrm>
                            <a:off x="1078301" y="1904149"/>
                            <a:ext cx="2430428" cy="646331"/>
                          </a:xfrm>
                          <a:prstGeom prst="rect">
                            <a:avLst/>
                          </a:prstGeom>
                          <a:blipFill rotWithShape="1">
                            <a:blip r:embed="rId5">
                              <a:alphaModFix/>
                            </a:blip>
                            <a:stretch>
                              <a:fillRect b="-13462" l="0" r="0" t="0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latin typeface="Calibri"/>
                                <a:ea typeface="Calibri"/>
                                <a:cs typeface="Calibri"/>
                                <a:sym typeface="Calibri"/>
                              </a:rPr>
                              <a:t> 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39" name="Google Shape;139;p2"/>
                        <p:cNvSpPr txBox="1"/>
                        <p:nvPr/>
                      </p:nvSpPr>
                      <p:spPr>
                        <a:xfrm>
                          <a:off x="4912567" y="666378"/>
                          <a:ext cx="4216575" cy="369332"/>
                        </a:xfrm>
                        <a:prstGeom prst="rect">
                          <a:avLst/>
                        </a:prstGeom>
                        <a:blipFill rotWithShape="1">
                          <a:blip r:embed="rId6">
                            <a:alphaModFix/>
                          </a:blip>
                          <a:stretch>
                            <a:fillRect b="-26667" l="0" r="0" t="-6667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  <p:cxnSp>
                    <p:nvCxnSpPr>
                      <p:cNvPr id="140" name="Google Shape;140;p2"/>
                      <p:cNvCxnSpPr/>
                      <p:nvPr/>
                    </p:nvCxnSpPr>
                    <p:spPr>
                      <a:xfrm>
                        <a:off x="2919819" y="1783697"/>
                        <a:ext cx="625486" cy="757273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sp>
                    <p:nvSpPr>
                      <p:cNvPr id="141" name="Google Shape;141;p2"/>
                      <p:cNvSpPr txBox="1"/>
                      <p:nvPr/>
                    </p:nvSpPr>
                    <p:spPr>
                      <a:xfrm>
                        <a:off x="3938764" y="2537445"/>
                        <a:ext cx="1070749" cy="646331"/>
                      </a:xfrm>
                      <a:prstGeom prst="rect">
                        <a:avLst/>
                      </a:prstGeom>
                      <a:blipFill rotWithShape="1">
                        <a:blip r:embed="rId7">
                          <a:alphaModFix/>
                        </a:blip>
                        <a:stretch>
                          <a:fillRect b="0" l="0" r="0" t="-5769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sp>
                    <p:nvSpPr>
                      <p:cNvPr id="142" name="Google Shape;142;p2"/>
                      <p:cNvSpPr txBox="1"/>
                      <p:nvPr/>
                    </p:nvSpPr>
                    <p:spPr>
                      <a:xfrm>
                        <a:off x="2016616" y="944460"/>
                        <a:ext cx="354804" cy="369332"/>
                      </a:xfrm>
                      <a:prstGeom prst="rect">
                        <a:avLst/>
                      </a:prstGeom>
                      <a:blipFill rotWithShape="1">
                        <a:blip r:embed="rId8">
                          <a:alphaModFix/>
                        </a:blip>
                        <a:stretch>
                          <a:fillRect b="0" l="0" r="0" t="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cxnSp>
                    <p:nvCxnSpPr>
                      <p:cNvPr id="143" name="Google Shape;143;p2"/>
                      <p:cNvCxnSpPr/>
                      <p:nvPr/>
                    </p:nvCxnSpPr>
                    <p:spPr>
                      <a:xfrm>
                        <a:off x="3661601" y="2635761"/>
                        <a:ext cx="100944" cy="232351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sp>
                    <p:nvSpPr>
                      <p:cNvPr id="144" name="Google Shape;144;p2"/>
                      <p:cNvSpPr txBox="1"/>
                      <p:nvPr/>
                    </p:nvSpPr>
                    <p:spPr>
                      <a:xfrm>
                        <a:off x="3229275" y="1868678"/>
                        <a:ext cx="534697" cy="369332"/>
                      </a:xfrm>
                      <a:prstGeom prst="rect">
                        <a:avLst/>
                      </a:prstGeom>
                      <a:blipFill rotWithShape="1">
                        <a:blip r:embed="rId9">
                          <a:alphaModFix/>
                        </a:blip>
                        <a:stretch>
                          <a:fillRect b="-16667" l="0" r="0" t="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grpSp>
                    <p:nvGrpSpPr>
                      <p:cNvPr id="145" name="Google Shape;145;p2"/>
                      <p:cNvGrpSpPr/>
                      <p:nvPr/>
                    </p:nvGrpSpPr>
                    <p:grpSpPr>
                      <a:xfrm>
                        <a:off x="4749748" y="1775108"/>
                        <a:ext cx="846389" cy="654045"/>
                        <a:chOff x="3321217" y="1859044"/>
                        <a:chExt cx="846389" cy="654045"/>
                      </a:xfrm>
                    </p:grpSpPr>
                    <p:cxnSp>
                      <p:nvCxnSpPr>
                        <p:cNvPr id="146" name="Google Shape;146;p2"/>
                        <p:cNvCxnSpPr/>
                        <p:nvPr/>
                      </p:nvCxnSpPr>
                      <p:spPr>
                        <a:xfrm flipH="1" rot="10800000">
                          <a:off x="3512354" y="2196559"/>
                          <a:ext cx="155876" cy="316530"/>
                        </a:xfrm>
                        <a:prstGeom prst="straightConnector1">
                          <a:avLst/>
                        </a:prstGeom>
                        <a:noFill/>
                        <a:ln cap="flat" cmpd="sng" w="38100">
                          <a:solidFill>
                            <a:srgbClr val="FFD966"/>
                          </a:solidFill>
                          <a:prstDash val="solid"/>
                          <a:miter lim="800000"/>
                          <a:headEnd len="sm" w="sm" type="none"/>
                          <a:tailEnd len="med" w="med" type="triangle"/>
                        </a:ln>
                      </p:spPr>
                    </p:cxnSp>
                    <p:sp>
                      <p:nvSpPr>
                        <p:cNvPr id="147" name="Google Shape;147;p2"/>
                        <p:cNvSpPr txBox="1"/>
                        <p:nvPr/>
                      </p:nvSpPr>
                      <p:spPr>
                        <a:xfrm>
                          <a:off x="3321217" y="1859044"/>
                          <a:ext cx="846389" cy="362984"/>
                        </a:xfrm>
                        <a:prstGeom prst="rect">
                          <a:avLst/>
                        </a:prstGeom>
                        <a:blipFill rotWithShape="1">
                          <a:blip r:embed="rId10">
                            <a:alphaModFix/>
                          </a:blip>
                          <a:stretch>
                            <a:fillRect b="-17242" l="0" r="0" t="0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  <p:cxnSp>
                    <p:nvCxnSpPr>
                      <p:cNvPr id="148" name="Google Shape;148;p2"/>
                      <p:cNvCxnSpPr/>
                      <p:nvPr/>
                    </p:nvCxnSpPr>
                    <p:spPr>
                      <a:xfrm>
                        <a:off x="4561064" y="1648909"/>
                        <a:ext cx="347644" cy="780244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cxnSp>
                    <p:nvCxnSpPr>
                      <p:cNvPr id="149" name="Google Shape;149;p2"/>
                      <p:cNvCxnSpPr/>
                      <p:nvPr/>
                    </p:nvCxnSpPr>
                    <p:spPr>
                      <a:xfrm>
                        <a:off x="4940885" y="2491840"/>
                        <a:ext cx="0" cy="404525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cxnSp>
                    <p:nvCxnSpPr>
                      <p:cNvPr id="150" name="Google Shape;150;p2"/>
                      <p:cNvCxnSpPr/>
                      <p:nvPr/>
                    </p:nvCxnSpPr>
                    <p:spPr>
                      <a:xfrm flipH="1" rot="10800000">
                        <a:off x="3599874" y="1833575"/>
                        <a:ext cx="142667" cy="677616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</p:grpSp>
              </p:grpSp>
              <p:cxnSp>
                <p:nvCxnSpPr>
                  <p:cNvPr id="151" name="Google Shape;151;p2"/>
                  <p:cNvCxnSpPr/>
                  <p:nvPr/>
                </p:nvCxnSpPr>
                <p:spPr>
                  <a:xfrm>
                    <a:off x="2299620" y="320937"/>
                    <a:ext cx="1452994" cy="1787758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D966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52" name="Google Shape;152;p2"/>
                  <p:cNvCxnSpPr/>
                  <p:nvPr/>
                </p:nvCxnSpPr>
                <p:spPr>
                  <a:xfrm flipH="1" rot="10800000">
                    <a:off x="3855576" y="438603"/>
                    <a:ext cx="556360" cy="1625244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D966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</p:grpSp>
            <p:sp>
              <p:nvSpPr>
                <p:cNvPr id="153" name="Google Shape;153;p2"/>
                <p:cNvSpPr/>
                <p:nvPr/>
              </p:nvSpPr>
              <p:spPr>
                <a:xfrm rot="-503214">
                  <a:off x="3466081" y="1796418"/>
                  <a:ext cx="988756" cy="477026"/>
                </a:xfrm>
                <a:custGeom>
                  <a:rect b="b" l="l" r="r" t="t"/>
                  <a:pathLst>
                    <a:path extrusionOk="0" h="723900" w="988756">
                      <a:moveTo>
                        <a:pt x="132598" y="406400"/>
                      </a:moveTo>
                      <a:cubicBezTo>
                        <a:pt x="102965" y="410633"/>
                        <a:pt x="73484" y="422079"/>
                        <a:pt x="43698" y="419100"/>
                      </a:cubicBezTo>
                      <a:cubicBezTo>
                        <a:pt x="-33406" y="411390"/>
                        <a:pt x="14129" y="293802"/>
                        <a:pt x="18298" y="266700"/>
                      </a:cubicBezTo>
                      <a:cubicBezTo>
                        <a:pt x="20334" y="253469"/>
                        <a:pt x="21532" y="238066"/>
                        <a:pt x="30998" y="228600"/>
                      </a:cubicBezTo>
                      <a:cubicBezTo>
                        <a:pt x="74667" y="184931"/>
                        <a:pt x="97388" y="181070"/>
                        <a:pt x="145298" y="165100"/>
                      </a:cubicBezTo>
                      <a:cubicBezTo>
                        <a:pt x="149531" y="135467"/>
                        <a:pt x="149396" y="104872"/>
                        <a:pt x="157998" y="76200"/>
                      </a:cubicBezTo>
                      <a:cubicBezTo>
                        <a:pt x="166963" y="46318"/>
                        <a:pt x="195600" y="25649"/>
                        <a:pt x="221498" y="12700"/>
                      </a:cubicBezTo>
                      <a:cubicBezTo>
                        <a:pt x="233472" y="6713"/>
                        <a:pt x="246898" y="4233"/>
                        <a:pt x="259598" y="0"/>
                      </a:cubicBezTo>
                      <a:cubicBezTo>
                        <a:pt x="275874" y="4069"/>
                        <a:pt x="330278" y="16290"/>
                        <a:pt x="348498" y="25400"/>
                      </a:cubicBezTo>
                      <a:cubicBezTo>
                        <a:pt x="436203" y="69253"/>
                        <a:pt x="331672" y="37069"/>
                        <a:pt x="437398" y="63500"/>
                      </a:cubicBezTo>
                      <a:lnTo>
                        <a:pt x="513598" y="38100"/>
                      </a:lnTo>
                      <a:cubicBezTo>
                        <a:pt x="526298" y="33867"/>
                        <a:pt x="538571" y="28025"/>
                        <a:pt x="551698" y="25400"/>
                      </a:cubicBezTo>
                      <a:lnTo>
                        <a:pt x="615198" y="12700"/>
                      </a:lnTo>
                      <a:cubicBezTo>
                        <a:pt x="640598" y="16933"/>
                        <a:pt x="666969" y="17257"/>
                        <a:pt x="691398" y="25400"/>
                      </a:cubicBezTo>
                      <a:cubicBezTo>
                        <a:pt x="742779" y="42527"/>
                        <a:pt x="722792" y="50088"/>
                        <a:pt x="742198" y="88900"/>
                      </a:cubicBezTo>
                      <a:cubicBezTo>
                        <a:pt x="749024" y="102552"/>
                        <a:pt x="759131" y="114300"/>
                        <a:pt x="767598" y="127000"/>
                      </a:cubicBezTo>
                      <a:cubicBezTo>
                        <a:pt x="771831" y="169333"/>
                        <a:pt x="754771" y="219964"/>
                        <a:pt x="780298" y="254000"/>
                      </a:cubicBezTo>
                      <a:cubicBezTo>
                        <a:pt x="801243" y="281927"/>
                        <a:pt x="848780" y="268361"/>
                        <a:pt x="881898" y="279400"/>
                      </a:cubicBezTo>
                      <a:lnTo>
                        <a:pt x="919998" y="292100"/>
                      </a:lnTo>
                      <a:cubicBezTo>
                        <a:pt x="924231" y="304800"/>
                        <a:pt x="932698" y="316813"/>
                        <a:pt x="932698" y="330200"/>
                      </a:cubicBezTo>
                      <a:cubicBezTo>
                        <a:pt x="932698" y="372452"/>
                        <a:pt x="902924" y="437939"/>
                        <a:pt x="932698" y="482600"/>
                      </a:cubicBezTo>
                      <a:cubicBezTo>
                        <a:pt x="942661" y="497544"/>
                        <a:pt x="958098" y="508000"/>
                        <a:pt x="970798" y="520700"/>
                      </a:cubicBezTo>
                      <a:cubicBezTo>
                        <a:pt x="985214" y="563948"/>
                        <a:pt x="1002721" y="597536"/>
                        <a:pt x="970798" y="647700"/>
                      </a:cubicBezTo>
                      <a:cubicBezTo>
                        <a:pt x="954409" y="673454"/>
                        <a:pt x="919998" y="681567"/>
                        <a:pt x="894598" y="698500"/>
                      </a:cubicBezTo>
                      <a:lnTo>
                        <a:pt x="856498" y="723900"/>
                      </a:lnTo>
                      <a:cubicBezTo>
                        <a:pt x="843798" y="719667"/>
                        <a:pt x="828851" y="719563"/>
                        <a:pt x="818398" y="711200"/>
                      </a:cubicBezTo>
                      <a:cubicBezTo>
                        <a:pt x="806479" y="701665"/>
                        <a:pt x="803791" y="683893"/>
                        <a:pt x="792998" y="673100"/>
                      </a:cubicBezTo>
                      <a:cubicBezTo>
                        <a:pt x="782205" y="662307"/>
                        <a:pt x="767598" y="656167"/>
                        <a:pt x="754898" y="647700"/>
                      </a:cubicBezTo>
                      <a:cubicBezTo>
                        <a:pt x="637222" y="667313"/>
                        <a:pt x="604226" y="678526"/>
                        <a:pt x="450098" y="647700"/>
                      </a:cubicBezTo>
                      <a:cubicBezTo>
                        <a:pt x="435131" y="644707"/>
                        <a:pt x="436617" y="619135"/>
                        <a:pt x="424698" y="609600"/>
                      </a:cubicBezTo>
                      <a:cubicBezTo>
                        <a:pt x="414245" y="601237"/>
                        <a:pt x="399298" y="601133"/>
                        <a:pt x="386598" y="596900"/>
                      </a:cubicBezTo>
                      <a:cubicBezTo>
                        <a:pt x="295918" y="627127"/>
                        <a:pt x="332675" y="637152"/>
                        <a:pt x="272298" y="596900"/>
                      </a:cubicBezTo>
                      <a:cubicBezTo>
                        <a:pt x="268065" y="584200"/>
                        <a:pt x="267961" y="569253"/>
                        <a:pt x="259598" y="558800"/>
                      </a:cubicBezTo>
                      <a:cubicBezTo>
                        <a:pt x="227580" y="518778"/>
                        <a:pt x="159543" y="525656"/>
                        <a:pt x="119898" y="520700"/>
                      </a:cubicBezTo>
                      <a:cubicBezTo>
                        <a:pt x="64186" y="483559"/>
                        <a:pt x="81798" y="510564"/>
                        <a:pt x="81798" y="431800"/>
                      </a:cubicBezTo>
                    </a:path>
                  </a:pathLst>
                </a:custGeom>
                <a:solidFill>
                  <a:schemeClr val="lt2">
                    <a:alpha val="68627"/>
                  </a:schemeClr>
                </a:solidFill>
                <a:ln cap="flat" cmpd="sng" w="12700">
                  <a:solidFill>
                    <a:srgbClr val="1C305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" name="Google Shape;154;p2"/>
              <p:cNvSpPr txBox="1"/>
              <p:nvPr/>
            </p:nvSpPr>
            <p:spPr>
              <a:xfrm>
                <a:off x="3446491" y="2157781"/>
                <a:ext cx="930156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155" name="Google Shape;155;p2"/>
            <p:cNvSpPr txBox="1"/>
            <p:nvPr/>
          </p:nvSpPr>
          <p:spPr>
            <a:xfrm>
              <a:off x="2022895" y="1814188"/>
              <a:ext cx="8515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clouds</a:t>
              </a:r>
              <a:endParaRPr/>
            </a:p>
          </p:txBody>
        </p:sp>
      </p:grpSp>
      <p:sp>
        <p:nvSpPr>
          <p:cNvPr id="156" name="Google Shape;156;p2"/>
          <p:cNvSpPr txBox="1"/>
          <p:nvPr/>
        </p:nvSpPr>
        <p:spPr>
          <a:xfrm>
            <a:off x="7282794" y="788635"/>
            <a:ext cx="2638697" cy="9233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332" l="0" r="-957" t="-1334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0" y="1"/>
            <a:ext cx="12192000" cy="467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Ice-Free Arctic schematic: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happen if we remove all of the existing ice?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let’s get started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617220"/>
            <a:ext cx="5365358" cy="604329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0" y="3429000"/>
            <a:ext cx="7456170" cy="24774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2024-11-05T04:40:08Z</dcterms:created>
  <dc:creator>Steven</dc:creator>
</cp:coreProperties>
</file>