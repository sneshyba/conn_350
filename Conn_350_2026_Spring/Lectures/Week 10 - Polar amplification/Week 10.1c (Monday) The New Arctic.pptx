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PDCfVupXqEtsu8LPo05pWHN9/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cc7034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1cc7034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1cc70345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feedbackloopsclimate.com/" TargetMode="External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8eyNm2QcOw8&amp;feature=youtu.be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www.youtube.com/watch?v=8eyNm2QcOw8&amp;feature=youtu.b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8eyNm2QcOw8" TargetMode="External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“Albedo” video (</a:t>
            </a: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Climate Emergency: Feedback Loops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referred to the “New Arctic”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999" y="461665"/>
            <a:ext cx="10930804" cy="6207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0" y="0"/>
            <a:ext cx="12192000" cy="5247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Repercussions of Arctic warming you may not have imagined  (Francis and Vavrus, 2013) 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0089" y="1070089"/>
            <a:ext cx="5538872" cy="363038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/>
          <p:nvPr/>
        </p:nvSpPr>
        <p:spPr>
          <a:xfrm>
            <a:off x="2618196" y="5245843"/>
            <a:ext cx="7142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https://www.youtube.com/watch?v=8eyNm2QcOw8&amp;feature=youtu.be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1cc703459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1cc703459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g3d1cc703459_0_0" title="Jennifer Francis Senate Testimony 07/18/1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786" y="1166647"/>
            <a:ext cx="10143243" cy="543751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type="title"/>
          </p:nvPr>
        </p:nvSpPr>
        <p:spPr>
          <a:xfrm>
            <a:off x="0" y="1"/>
            <a:ext cx="12192000" cy="4885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Jet stream forms a meandering boundary between cold Polar air and warmer mid-latitude air</a:t>
            </a:r>
            <a:endParaRPr/>
          </a:p>
        </p:txBody>
      </p:sp>
      <p:grpSp>
        <p:nvGrpSpPr>
          <p:cNvPr id="113" name="Google Shape;113;p3"/>
          <p:cNvGrpSpPr/>
          <p:nvPr/>
        </p:nvGrpSpPr>
        <p:grpSpPr>
          <a:xfrm>
            <a:off x="3037490" y="1166647"/>
            <a:ext cx="6408684" cy="5364778"/>
            <a:chOff x="3037490" y="1166647"/>
            <a:chExt cx="6408684" cy="5364778"/>
          </a:xfrm>
        </p:grpSpPr>
        <p:sp>
          <p:nvSpPr>
            <p:cNvPr id="114" name="Google Shape;114;p3"/>
            <p:cNvSpPr txBox="1"/>
            <p:nvPr/>
          </p:nvSpPr>
          <p:spPr>
            <a:xfrm>
              <a:off x="3037490" y="1166647"/>
              <a:ext cx="208104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0C0"/>
                  </a:solidFill>
                  <a:highlight>
                    <a:srgbClr val="00FFFF"/>
                  </a:highlight>
                  <a:latin typeface="Calibri"/>
                  <a:ea typeface="Calibri"/>
                  <a:cs typeface="Calibri"/>
                  <a:sym typeface="Calibri"/>
                </a:rPr>
                <a:t>Cold Arctic air</a:t>
              </a:r>
              <a:endParaRPr/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3168868" y="3536732"/>
              <a:ext cx="32319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Warm mid-latitude air</a:t>
              </a:r>
              <a:endParaRPr/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6096000" y="6069760"/>
              <a:ext cx="33501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0C0"/>
                  </a:solidFill>
                  <a:highlight>
                    <a:srgbClr val="00FFFF"/>
                  </a:highlight>
                  <a:latin typeface="Calibri"/>
                  <a:ea typeface="Calibri"/>
                  <a:cs typeface="Calibri"/>
                  <a:sym typeface="Calibri"/>
                </a:rPr>
                <a:t>Cold Antarctic air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0" y="1"/>
            <a:ext cx="12192000" cy="4885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But meandering happens more when the terrain is flat</a:t>
            </a:r>
            <a:endParaRPr/>
          </a:p>
        </p:txBody>
      </p:sp>
      <p:grpSp>
        <p:nvGrpSpPr>
          <p:cNvPr id="123" name="Google Shape;123;p4"/>
          <p:cNvGrpSpPr/>
          <p:nvPr/>
        </p:nvGrpSpPr>
        <p:grpSpPr>
          <a:xfrm>
            <a:off x="2168801" y="658629"/>
            <a:ext cx="7854397" cy="5887383"/>
            <a:chOff x="2168801" y="658629"/>
            <a:chExt cx="7854397" cy="5887383"/>
          </a:xfrm>
        </p:grpSpPr>
        <p:pic>
          <p:nvPicPr>
            <p:cNvPr id="124" name="Google Shape;12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68801" y="658629"/>
              <a:ext cx="7854397" cy="58873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4"/>
            <p:cNvSpPr/>
            <p:nvPr/>
          </p:nvSpPr>
          <p:spPr>
            <a:xfrm flipH="1" rot="5400000">
              <a:off x="8588897" y="3076804"/>
              <a:ext cx="399393" cy="651639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 flipH="1" rot="-5400000">
              <a:off x="4464452" y="3323473"/>
              <a:ext cx="399393" cy="651639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0" y="1"/>
            <a:ext cx="12192000" cy="8828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Warmer Arctic -&gt; less temperature difference between Arctic and mid-latitude -&gt; jet is wavier and slower with larger </a:t>
            </a:r>
            <a:r>
              <a:rPr b="1" lang="en-US" sz="2400"/>
              <a:t>perturbations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133" name="Google Shape;133;p5"/>
          <p:cNvGrpSpPr/>
          <p:nvPr/>
        </p:nvGrpSpPr>
        <p:grpSpPr>
          <a:xfrm>
            <a:off x="798786" y="1166647"/>
            <a:ext cx="10143243" cy="5437519"/>
            <a:chOff x="629860" y="557407"/>
            <a:chExt cx="10932280" cy="6225436"/>
          </a:xfrm>
        </p:grpSpPr>
        <p:pic>
          <p:nvPicPr>
            <p:cNvPr id="134" name="Google Shape;13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860" y="557407"/>
              <a:ext cx="10932280" cy="62254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5"/>
            <p:cNvSpPr/>
            <p:nvPr/>
          </p:nvSpPr>
          <p:spPr>
            <a:xfrm>
              <a:off x="2774731" y="1450428"/>
              <a:ext cx="399393" cy="651641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 flipH="1" rot="10800000">
              <a:off x="3904162" y="2680352"/>
              <a:ext cx="399393" cy="651639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070C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 flipH="1" rot="10800000">
              <a:off x="8150486" y="2880769"/>
              <a:ext cx="399393" cy="651639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0070C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5896303" y="1124607"/>
              <a:ext cx="399393" cy="651641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5"/>
          <p:cNvGrpSpPr/>
          <p:nvPr/>
        </p:nvGrpSpPr>
        <p:grpSpPr>
          <a:xfrm>
            <a:off x="2981524" y="1200395"/>
            <a:ext cx="6464650" cy="5331030"/>
            <a:chOff x="2981524" y="1200395"/>
            <a:chExt cx="6464650" cy="5331030"/>
          </a:xfrm>
        </p:grpSpPr>
        <p:sp>
          <p:nvSpPr>
            <p:cNvPr id="140" name="Google Shape;140;p5"/>
            <p:cNvSpPr txBox="1"/>
            <p:nvPr/>
          </p:nvSpPr>
          <p:spPr>
            <a:xfrm>
              <a:off x="2981524" y="1200395"/>
              <a:ext cx="208104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0C0"/>
                  </a:solidFill>
                  <a:highlight>
                    <a:srgbClr val="00FFFF"/>
                  </a:highlight>
                  <a:latin typeface="Calibri"/>
                  <a:ea typeface="Calibri"/>
                  <a:cs typeface="Calibri"/>
                  <a:sym typeface="Calibri"/>
                </a:rPr>
                <a:t>Cold Arctic air</a:t>
              </a:r>
              <a:endParaRPr/>
            </a:p>
          </p:txBody>
        </p:sp>
        <p:sp>
          <p:nvSpPr>
            <p:cNvPr id="141" name="Google Shape;141;p5"/>
            <p:cNvSpPr txBox="1"/>
            <p:nvPr/>
          </p:nvSpPr>
          <p:spPr>
            <a:xfrm>
              <a:off x="3168868" y="3536732"/>
              <a:ext cx="32319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0000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  <a:sym typeface="Calibri"/>
                </a:rPr>
                <a:t>Warm mid-latitude air</a:t>
              </a: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6096000" y="6069760"/>
              <a:ext cx="33501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0C0"/>
                  </a:solidFill>
                  <a:highlight>
                    <a:srgbClr val="00FFFF"/>
                  </a:highlight>
                  <a:latin typeface="Calibri"/>
                  <a:ea typeface="Calibri"/>
                  <a:cs typeface="Calibri"/>
                  <a:sym typeface="Calibri"/>
                </a:rPr>
                <a:t>Cold Antarctic air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0" y="1"/>
            <a:ext cx="12192000" cy="8828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Warmer Arctic -&gt; less temperature difference between Arctic and mid-latitude -&gt; jet is wavier and slower with larger </a:t>
            </a:r>
            <a:r>
              <a:rPr b="1" lang="en-US" sz="2400"/>
              <a:t>perturbations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 -&gt; prolonged periods of drought and cold</a:t>
            </a:r>
            <a:endParaRPr/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20" y="1348154"/>
            <a:ext cx="4869991" cy="398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815" y="4791101"/>
            <a:ext cx="1993900" cy="100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6058" y="1501042"/>
            <a:ext cx="6410692" cy="3675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2023-11-01T10:31:21Z</dcterms:created>
  <dc:creator>Steven</dc:creator>
</cp:coreProperties>
</file>