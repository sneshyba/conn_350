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9" r:id="rId2"/>
    <p:sldId id="1986" r:id="rId3"/>
    <p:sldId id="1983" r:id="rId4"/>
    <p:sldId id="1987" r:id="rId5"/>
    <p:sldId id="1984" r:id="rId6"/>
    <p:sldId id="1981" r:id="rId7"/>
    <p:sldId id="1985" r:id="rId8"/>
    <p:sldId id="446" r:id="rId9"/>
    <p:sldId id="1948" r:id="rId10"/>
    <p:sldId id="1978" r:id="rId11"/>
    <p:sldId id="1980" r:id="rId12"/>
    <p:sldId id="1874" r:id="rId13"/>
    <p:sldId id="197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77"/>
    <p:restoredTop sz="94741"/>
  </p:normalViewPr>
  <p:slideViewPr>
    <p:cSldViewPr snapToGrid="0" snapToObjects="1">
      <p:cViewPr>
        <p:scale>
          <a:sx n="104" d="100"/>
          <a:sy n="104" d="100"/>
        </p:scale>
        <p:origin x="816"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6A1C6-E471-BF41-BBF9-CF9DA8526259}" type="datetimeFigureOut">
              <a:rPr lang="en-US" smtClean="0"/>
              <a:t>2/11/26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08D31-7B83-B447-A863-4D6DAE0D43BC}" type="slidenum">
              <a:rPr lang="en-US" smtClean="0"/>
              <a:t>‹#›</a:t>
            </a:fld>
            <a:endParaRPr lang="en-US"/>
          </a:p>
        </p:txBody>
      </p:sp>
    </p:spTree>
    <p:extLst>
      <p:ext uri="{BB962C8B-B14F-4D97-AF65-F5344CB8AC3E}">
        <p14:creationId xmlns:p14="http://schemas.microsoft.com/office/powerpoint/2010/main" val="1692612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5E49E6-8CFA-B642-ACE3-E8D03508456C}" type="slidenum">
              <a:rPr lang="en-US" smtClean="0"/>
              <a:t>12</a:t>
            </a:fld>
            <a:endParaRPr lang="en-US"/>
          </a:p>
        </p:txBody>
      </p:sp>
    </p:spTree>
    <p:extLst>
      <p:ext uri="{BB962C8B-B14F-4D97-AF65-F5344CB8AC3E}">
        <p14:creationId xmlns:p14="http://schemas.microsoft.com/office/powerpoint/2010/main" val="13283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Predict the temperature if CO2 continues to rise. If we reduce CO2 emissions to zero.</a:t>
            </a:r>
          </a:p>
        </p:txBody>
      </p:sp>
    </p:spTree>
    <p:extLst>
      <p:ext uri="{BB962C8B-B14F-4D97-AF65-F5344CB8AC3E}">
        <p14:creationId xmlns:p14="http://schemas.microsoft.com/office/powerpoint/2010/main" val="2964033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470C4-864C-3B4C-BAA5-3A52204FCC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F65EDF-E38D-D949-B1FD-73909B7FC6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86763B-B285-8B4F-B568-F9CC15B642B9}"/>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5" name="Footer Placeholder 4">
            <a:extLst>
              <a:ext uri="{FF2B5EF4-FFF2-40B4-BE49-F238E27FC236}">
                <a16:creationId xmlns:a16="http://schemas.microsoft.com/office/drawing/2014/main" id="{D1B9C12D-0E8D-5D47-9CF9-F57F1CFDE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F7E26-2280-8241-B951-4C065AC374C0}"/>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379138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E0EDF-2FA1-F345-BCA9-C2395460D4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A64C4B-1B36-DE4A-BB93-E32BE79451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86FCD-8C0E-3D4D-AFB2-F5B312881A3C}"/>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5" name="Footer Placeholder 4">
            <a:extLst>
              <a:ext uri="{FF2B5EF4-FFF2-40B4-BE49-F238E27FC236}">
                <a16:creationId xmlns:a16="http://schemas.microsoft.com/office/drawing/2014/main" id="{EBF5C0C0-7669-0C4E-B20C-61B57C637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82644A-7CEF-CD40-A96F-59E2D5982309}"/>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3087085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E122B-7C49-1B42-A64C-CBB9F2965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CB8E77-AA50-414A-9F41-A8E6616616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21C7B7-2967-9B41-80F9-5D9998B266C8}"/>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5" name="Footer Placeholder 4">
            <a:extLst>
              <a:ext uri="{FF2B5EF4-FFF2-40B4-BE49-F238E27FC236}">
                <a16:creationId xmlns:a16="http://schemas.microsoft.com/office/drawing/2014/main" id="{A6A3EF07-DA67-0C49-83E1-D977FE14B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12513-0BDB-2E4F-9B2F-8E3A5798A379}"/>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3380679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B606E-99C5-5345-A2E1-6957638D4B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977FB7-4EF6-C743-BBCC-CEC00A5559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45105A-1952-BC43-9C9F-BDB5A60977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CFDB8E-AB70-C04A-B24F-48078B7FA0FF}"/>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6" name="Footer Placeholder 5">
            <a:extLst>
              <a:ext uri="{FF2B5EF4-FFF2-40B4-BE49-F238E27FC236}">
                <a16:creationId xmlns:a16="http://schemas.microsoft.com/office/drawing/2014/main" id="{E7DBD0A1-A401-3B4C-AD9C-D626B3877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D93447-77C2-4D4B-94D4-FF4E34F7AE16}"/>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1836645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6CC82-DE9E-434F-BD17-57CF07470C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7BF150-B8F6-BA4D-8974-3DF70CD5AF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252812-2A6E-0F4B-9D0B-4F99D30080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F4AB49-91EE-DC47-814C-9A7D022B31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82986C-3F8F-5544-90D9-1DCEBBD350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08D4C8-6F24-7F41-95AA-CEEA8711C94A}"/>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8" name="Footer Placeholder 7">
            <a:extLst>
              <a:ext uri="{FF2B5EF4-FFF2-40B4-BE49-F238E27FC236}">
                <a16:creationId xmlns:a16="http://schemas.microsoft.com/office/drawing/2014/main" id="{8DFFA0B4-AA6A-714C-A6AC-1E168FF180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60B91B-6320-6A40-A34C-E201202567C6}"/>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41071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9F560-B978-D24A-9B7A-864108640B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B6F941-D1A4-314E-9A5A-C1A422159870}"/>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4" name="Footer Placeholder 3">
            <a:extLst>
              <a:ext uri="{FF2B5EF4-FFF2-40B4-BE49-F238E27FC236}">
                <a16:creationId xmlns:a16="http://schemas.microsoft.com/office/drawing/2014/main" id="{85D3BDFB-D19E-EA4E-AC74-E38C62DC04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434305-0FFD-5A40-897A-4788323B68E5}"/>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13839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0B89A7-9A33-684A-AAE2-F12458DF7B1E}"/>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3" name="Footer Placeholder 2">
            <a:extLst>
              <a:ext uri="{FF2B5EF4-FFF2-40B4-BE49-F238E27FC236}">
                <a16:creationId xmlns:a16="http://schemas.microsoft.com/office/drawing/2014/main" id="{9FD820C8-37FD-6B44-B007-FA4D974B13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82C3DE-E496-8649-98F3-6B135A8CDE0B}"/>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200333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32B17-E596-A040-AC9C-13CE58EAD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BF28B-214A-B34B-AF2E-C73A9943CB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35832B-FA17-1F4B-BC3C-543D1504C3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67EAD-BB90-374F-83EF-3AE73C270B20}"/>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6" name="Footer Placeholder 5">
            <a:extLst>
              <a:ext uri="{FF2B5EF4-FFF2-40B4-BE49-F238E27FC236}">
                <a16:creationId xmlns:a16="http://schemas.microsoft.com/office/drawing/2014/main" id="{5E9B7B62-B056-DA42-BC60-F8A7BEA733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615DE2-CF65-0F4D-8B09-104A98345686}"/>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1844545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30DDB-85B3-9D45-A651-7D061C0865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306272-187D-224C-9725-94DDC071DB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609773-D5D0-7943-9048-C131E09BC6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2681F9-C5FF-E141-8F24-C1280F846017}"/>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6" name="Footer Placeholder 5">
            <a:extLst>
              <a:ext uri="{FF2B5EF4-FFF2-40B4-BE49-F238E27FC236}">
                <a16:creationId xmlns:a16="http://schemas.microsoft.com/office/drawing/2014/main" id="{AEB995FC-3E39-8C4C-9276-CF6C6B234B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894B87-2EB5-2248-ADF0-D71671806E8D}"/>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689139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BD05A-7083-6942-AB09-66ABCB72B1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CDEEA9-B5C8-1D45-855D-D5769666DD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132E5-406C-B041-81C0-EAF279E9E674}"/>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5" name="Footer Placeholder 4">
            <a:extLst>
              <a:ext uri="{FF2B5EF4-FFF2-40B4-BE49-F238E27FC236}">
                <a16:creationId xmlns:a16="http://schemas.microsoft.com/office/drawing/2014/main" id="{74DFF86C-79A4-B54E-815A-5ED3F82B28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22AE7-D192-7340-81DB-94256D261F3B}"/>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267556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DB7D15-8341-074A-A3F9-8415C20272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07D0C-1BAF-D646-9977-9972674A49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68013C-AA7B-6E45-AB87-91C65D607D8D}"/>
              </a:ext>
            </a:extLst>
          </p:cNvPr>
          <p:cNvSpPr>
            <a:spLocks noGrp="1"/>
          </p:cNvSpPr>
          <p:nvPr>
            <p:ph type="dt" sz="half" idx="10"/>
          </p:nvPr>
        </p:nvSpPr>
        <p:spPr/>
        <p:txBody>
          <a:bodyPr/>
          <a:lstStyle/>
          <a:p>
            <a:fld id="{97226E36-63F8-BA4F-A422-5A315AE49356}" type="datetimeFigureOut">
              <a:rPr lang="en-US" smtClean="0"/>
              <a:t>2/11/26</a:t>
            </a:fld>
            <a:endParaRPr lang="en-US"/>
          </a:p>
        </p:txBody>
      </p:sp>
      <p:sp>
        <p:nvSpPr>
          <p:cNvPr id="5" name="Footer Placeholder 4">
            <a:extLst>
              <a:ext uri="{FF2B5EF4-FFF2-40B4-BE49-F238E27FC236}">
                <a16:creationId xmlns:a16="http://schemas.microsoft.com/office/drawing/2014/main" id="{40B3C697-B529-364B-A375-D0DF4B0C6B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0B2F78-3F55-684D-B96C-93DC482A232F}"/>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3311094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6" name="Google Shape;26;p44"/>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44"/>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28" name="Google Shape;28;p44"/>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290650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E1635A-4DA0-584B-B971-A7920FD24D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7C8D25-4C01-1F42-A89F-A0BB45B306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03FB19-B5FD-DC44-ADC1-9131567DE6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226E36-63F8-BA4F-A422-5A315AE49356}" type="datetimeFigureOut">
              <a:rPr lang="en-US" smtClean="0"/>
              <a:t>2/11/26</a:t>
            </a:fld>
            <a:endParaRPr lang="en-US"/>
          </a:p>
        </p:txBody>
      </p:sp>
      <p:sp>
        <p:nvSpPr>
          <p:cNvPr id="5" name="Footer Placeholder 4">
            <a:extLst>
              <a:ext uri="{FF2B5EF4-FFF2-40B4-BE49-F238E27FC236}">
                <a16:creationId xmlns:a16="http://schemas.microsoft.com/office/drawing/2014/main" id="{8810256E-8CBE-964F-80C3-7073B5923D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FE050A-3764-014D-BAB1-BF416C7EC0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07768E-235F-6345-8AF6-1B490D1F190D}" type="slidenum">
              <a:rPr lang="en-US" smtClean="0"/>
              <a:t>‹#›</a:t>
            </a:fld>
            <a:endParaRPr lang="en-US"/>
          </a:p>
        </p:txBody>
      </p:sp>
    </p:spTree>
    <p:extLst>
      <p:ext uri="{BB962C8B-B14F-4D97-AF65-F5344CB8AC3E}">
        <p14:creationId xmlns:p14="http://schemas.microsoft.com/office/powerpoint/2010/main" val="2643470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annualreviews.org/content/journals/10.1146/annurev-environ-102017-030204"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youtu.be/iA788usYNWA"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9.png"/><Relationship Id="rId7" Type="http://schemas.openxmlformats.org/officeDocument/2006/relationships/image" Target="../media/image10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0.png"/><Relationship Id="rId10"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1C23C7-FF91-034C-B9DA-3C6CE8110B85}"/>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Carbon fluxes in Earth’s climate system</a:t>
            </a:r>
          </a:p>
        </p:txBody>
      </p:sp>
      <p:pic>
        <p:nvPicPr>
          <p:cNvPr id="3" name="Picture 2" descr="Draft diagram of the carbon cycle.">
            <a:extLst>
              <a:ext uri="{FF2B5EF4-FFF2-40B4-BE49-F238E27FC236}">
                <a16:creationId xmlns:a16="http://schemas.microsoft.com/office/drawing/2014/main" id="{1F52F877-5F71-B0AF-9DE3-BCFF9E5B4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3654" y="1145013"/>
            <a:ext cx="7536226" cy="50241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1DA8D56-A28D-241A-9F11-7B1B202BC957}"/>
              </a:ext>
            </a:extLst>
          </p:cNvPr>
          <p:cNvSpPr txBox="1"/>
          <p:nvPr/>
        </p:nvSpPr>
        <p:spPr>
          <a:xfrm>
            <a:off x="96131" y="1536174"/>
            <a:ext cx="3970637" cy="2677656"/>
          </a:xfrm>
          <a:prstGeom prst="rect">
            <a:avLst/>
          </a:prstGeom>
          <a:noFill/>
        </p:spPr>
        <p:txBody>
          <a:bodyPr wrap="square" rtlCol="0">
            <a:spAutoFit/>
          </a:bodyPr>
          <a:lstStyle/>
          <a:p>
            <a:r>
              <a:rPr lang="en-US" sz="2400" dirty="0"/>
              <a:t>It’s good to know about how carbon flows through the climate system. </a:t>
            </a:r>
          </a:p>
          <a:p>
            <a:endParaRPr lang="en-US" sz="2400" dirty="0"/>
          </a:p>
          <a:p>
            <a:r>
              <a:rPr lang="en-US" sz="2400" dirty="0"/>
              <a:t>Informing this discussion: </a:t>
            </a:r>
          </a:p>
          <a:p>
            <a:endParaRPr lang="en-US" sz="2400" dirty="0">
              <a:solidFill>
                <a:schemeClr val="tx1"/>
              </a:solidFill>
            </a:endParaRPr>
          </a:p>
          <a:p>
            <a:r>
              <a:rPr lang="en-US" sz="2400" dirty="0">
                <a:hlinkClick r:id="rId3"/>
              </a:rPr>
              <a:t>Keenan &amp; Williams, 2018</a:t>
            </a:r>
            <a:endParaRPr lang="en-US" sz="2400" dirty="0">
              <a:solidFill>
                <a:schemeClr val="tx1"/>
              </a:solidFill>
            </a:endParaRPr>
          </a:p>
        </p:txBody>
      </p:sp>
      <p:sp>
        <p:nvSpPr>
          <p:cNvPr id="6" name="TextBox 5">
            <a:extLst>
              <a:ext uri="{FF2B5EF4-FFF2-40B4-BE49-F238E27FC236}">
                <a16:creationId xmlns:a16="http://schemas.microsoft.com/office/drawing/2014/main" id="{72B9F238-DBBF-279D-2B56-0DC47C212C97}"/>
              </a:ext>
            </a:extLst>
          </p:cNvPr>
          <p:cNvSpPr txBox="1"/>
          <p:nvPr/>
        </p:nvSpPr>
        <p:spPr>
          <a:xfrm>
            <a:off x="10231394" y="1638607"/>
            <a:ext cx="1371600" cy="369332"/>
          </a:xfrm>
          <a:prstGeom prst="rect">
            <a:avLst/>
          </a:prstGeom>
          <a:noFill/>
        </p:spPr>
        <p:txBody>
          <a:bodyPr wrap="square" rtlCol="0">
            <a:spAutoFit/>
          </a:bodyPr>
          <a:lstStyle/>
          <a:p>
            <a:r>
              <a:rPr lang="en-US" dirty="0">
                <a:solidFill>
                  <a:schemeClr val="bg1"/>
                </a:solidFill>
              </a:rPr>
              <a:t>(377 ppm)</a:t>
            </a:r>
          </a:p>
        </p:txBody>
      </p:sp>
    </p:spTree>
    <p:extLst>
      <p:ext uri="{BB962C8B-B14F-4D97-AF65-F5344CB8AC3E}">
        <p14:creationId xmlns:p14="http://schemas.microsoft.com/office/powerpoint/2010/main" val="110739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1" name="Picture 13">
            <a:extLst>
              <a:ext uri="{FF2B5EF4-FFF2-40B4-BE49-F238E27FC236}">
                <a16:creationId xmlns:a16="http://schemas.microsoft.com/office/drawing/2014/main" id="{3C322CA5-DE1D-7AAE-527E-92B3E46E1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 y="85344"/>
            <a:ext cx="7839456" cy="62185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527847-670A-FD3D-324A-2D0232830BB9}"/>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Keenan &amp; Williams, 2018, the big picture of carbon exchange</a:t>
            </a:r>
          </a:p>
        </p:txBody>
      </p:sp>
      <p:sp>
        <p:nvSpPr>
          <p:cNvPr id="4" name="TextBox 3">
            <a:extLst>
              <a:ext uri="{FF2B5EF4-FFF2-40B4-BE49-F238E27FC236}">
                <a16:creationId xmlns:a16="http://schemas.microsoft.com/office/drawing/2014/main" id="{D80B09A2-50D3-A9AD-7CAD-AE4071EAFEC0}"/>
              </a:ext>
            </a:extLst>
          </p:cNvPr>
          <p:cNvSpPr txBox="1"/>
          <p:nvPr/>
        </p:nvSpPr>
        <p:spPr>
          <a:xfrm>
            <a:off x="91440" y="5572327"/>
            <a:ext cx="12009120" cy="1200329"/>
          </a:xfrm>
          <a:prstGeom prst="rect">
            <a:avLst/>
          </a:prstGeom>
          <a:solidFill>
            <a:schemeClr val="bg1"/>
          </a:solidFill>
          <a:ln>
            <a:solidFill>
              <a:schemeClr val="accent1"/>
            </a:solidFill>
          </a:ln>
        </p:spPr>
        <p:txBody>
          <a:bodyPr wrap="square">
            <a:spAutoFit/>
          </a:bodyPr>
          <a:lstStyle/>
          <a:p>
            <a:r>
              <a:rPr lang="en-US" b="1" dirty="0"/>
              <a:t>Figure 1  </a:t>
            </a:r>
            <a:r>
              <a:rPr lang="en-US" dirty="0"/>
              <a:t>The primary flows and exchanges that constitute the terrestrial carbon cycle, including uptake through photosynthesis, release to the atmosphere through both anthropogenic (fossil fuel emissions, biomass burning, land use) and natural emissions (autotrophic and heterotrophic respiration, wildfires, volcanic eruptions), and weathering, erosion, and transport. Figure modified with permission from Diana </a:t>
            </a:r>
            <a:r>
              <a:rPr lang="en-US" dirty="0" err="1"/>
              <a:t>Swantek</a:t>
            </a:r>
            <a:r>
              <a:rPr lang="en-US" dirty="0"/>
              <a:t>, Lawrence Berkeley National Lab. </a:t>
            </a:r>
          </a:p>
        </p:txBody>
      </p:sp>
    </p:spTree>
    <p:extLst>
      <p:ext uri="{BB962C8B-B14F-4D97-AF65-F5344CB8AC3E}">
        <p14:creationId xmlns:p14="http://schemas.microsoft.com/office/powerpoint/2010/main" val="3109008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1" name="Picture 13">
            <a:extLst>
              <a:ext uri="{FF2B5EF4-FFF2-40B4-BE49-F238E27FC236}">
                <a16:creationId xmlns:a16="http://schemas.microsoft.com/office/drawing/2014/main" id="{3C322CA5-DE1D-7AAE-527E-92B3E46E1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 y="85344"/>
            <a:ext cx="7839456" cy="62185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527847-670A-FD3D-324A-2D0232830BB9}"/>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Keenan &amp; Williams, 2018, the big picture of carbon exchange</a:t>
            </a:r>
          </a:p>
        </p:txBody>
      </p:sp>
      <p:sp>
        <p:nvSpPr>
          <p:cNvPr id="4" name="TextBox 3">
            <a:extLst>
              <a:ext uri="{FF2B5EF4-FFF2-40B4-BE49-F238E27FC236}">
                <a16:creationId xmlns:a16="http://schemas.microsoft.com/office/drawing/2014/main" id="{D80B09A2-50D3-A9AD-7CAD-AE4071EAFEC0}"/>
              </a:ext>
            </a:extLst>
          </p:cNvPr>
          <p:cNvSpPr txBox="1"/>
          <p:nvPr/>
        </p:nvSpPr>
        <p:spPr>
          <a:xfrm>
            <a:off x="91440" y="5572327"/>
            <a:ext cx="12009120" cy="1200329"/>
          </a:xfrm>
          <a:prstGeom prst="rect">
            <a:avLst/>
          </a:prstGeom>
          <a:solidFill>
            <a:schemeClr val="bg1"/>
          </a:solidFill>
          <a:ln>
            <a:solidFill>
              <a:schemeClr val="accent1"/>
            </a:solidFill>
          </a:ln>
        </p:spPr>
        <p:txBody>
          <a:bodyPr wrap="square">
            <a:spAutoFit/>
          </a:bodyPr>
          <a:lstStyle/>
          <a:p>
            <a:r>
              <a:rPr lang="en-US" b="1" dirty="0"/>
              <a:t>Figure 1  </a:t>
            </a:r>
            <a:r>
              <a:rPr lang="en-US" dirty="0"/>
              <a:t>The primary flows and exchanges that constitute the terrestrial carbon cycle, including uptake through photosynthesis, release to the atmosphere through both anthropogenic (fossil fuel emissions, biomass burning, land use) and natural emissions (autotrophic and heterotrophic respiration, wildfires, volcanic eruptions), and weathering, erosion, and transport. Figure modified with permission from Diana </a:t>
            </a:r>
            <a:r>
              <a:rPr lang="en-US" dirty="0" err="1"/>
              <a:t>Swantek</a:t>
            </a:r>
            <a:r>
              <a:rPr lang="en-US" dirty="0"/>
              <a:t>, Lawrence Berkeley National Lab. </a:t>
            </a:r>
          </a:p>
        </p:txBody>
      </p:sp>
      <p:sp>
        <p:nvSpPr>
          <p:cNvPr id="6" name="TextBox 5">
            <a:extLst>
              <a:ext uri="{FF2B5EF4-FFF2-40B4-BE49-F238E27FC236}">
                <a16:creationId xmlns:a16="http://schemas.microsoft.com/office/drawing/2014/main" id="{1FBFDA3C-B840-DCCD-4B8A-45F334B3931B}"/>
              </a:ext>
            </a:extLst>
          </p:cNvPr>
          <p:cNvSpPr txBox="1"/>
          <p:nvPr/>
        </p:nvSpPr>
        <p:spPr>
          <a:xfrm>
            <a:off x="8193024" y="1070963"/>
            <a:ext cx="3907536" cy="3139321"/>
          </a:xfrm>
          <a:prstGeom prst="rect">
            <a:avLst/>
          </a:prstGeom>
          <a:noFill/>
          <a:ln>
            <a:solidFill>
              <a:schemeClr val="accent1"/>
            </a:solidFill>
          </a:ln>
        </p:spPr>
        <p:txBody>
          <a:bodyPr wrap="square">
            <a:spAutoFit/>
          </a:bodyPr>
          <a:lstStyle/>
          <a:p>
            <a:r>
              <a:rPr lang="en-US" dirty="0"/>
              <a:t>“Ecosystems are thus in a perpetual cycle of being knocked away from equilibrium by disturbance, while at the same time the natural equilibrium point is changing due to environmental change. Changes in the disturbance regime, and persistent environmental change can also completely change the playing field by altering ecosystem structure sufficiently to create a regime shift to a new stable equilibrium state.”</a:t>
            </a:r>
          </a:p>
        </p:txBody>
      </p:sp>
    </p:spTree>
    <p:extLst>
      <p:ext uri="{BB962C8B-B14F-4D97-AF65-F5344CB8AC3E}">
        <p14:creationId xmlns:p14="http://schemas.microsoft.com/office/powerpoint/2010/main" val="3360628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1" name="Picture 13">
            <a:extLst>
              <a:ext uri="{FF2B5EF4-FFF2-40B4-BE49-F238E27FC236}">
                <a16:creationId xmlns:a16="http://schemas.microsoft.com/office/drawing/2014/main" id="{3C322CA5-DE1D-7AAE-527E-92B3E46E1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 y="85344"/>
            <a:ext cx="7839456" cy="62185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527847-670A-FD3D-324A-2D0232830BB9}"/>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What also stands out is the idea that these processes are connected (“feedbacks”)</a:t>
            </a:r>
          </a:p>
        </p:txBody>
      </p:sp>
      <p:sp>
        <p:nvSpPr>
          <p:cNvPr id="4" name="TextBox 3">
            <a:extLst>
              <a:ext uri="{FF2B5EF4-FFF2-40B4-BE49-F238E27FC236}">
                <a16:creationId xmlns:a16="http://schemas.microsoft.com/office/drawing/2014/main" id="{D80B09A2-50D3-A9AD-7CAD-AE4071EAFEC0}"/>
              </a:ext>
            </a:extLst>
          </p:cNvPr>
          <p:cNvSpPr txBox="1"/>
          <p:nvPr/>
        </p:nvSpPr>
        <p:spPr>
          <a:xfrm>
            <a:off x="91440" y="5572327"/>
            <a:ext cx="12009120" cy="1200329"/>
          </a:xfrm>
          <a:prstGeom prst="rect">
            <a:avLst/>
          </a:prstGeom>
          <a:solidFill>
            <a:schemeClr val="bg1"/>
          </a:solidFill>
          <a:ln>
            <a:solidFill>
              <a:schemeClr val="accent1"/>
            </a:solidFill>
          </a:ln>
        </p:spPr>
        <p:txBody>
          <a:bodyPr wrap="square">
            <a:spAutoFit/>
          </a:bodyPr>
          <a:lstStyle/>
          <a:p>
            <a:r>
              <a:rPr lang="en-US" b="1" dirty="0"/>
              <a:t>Figure 1  </a:t>
            </a:r>
            <a:r>
              <a:rPr lang="en-US" dirty="0"/>
              <a:t>The primary flows and exchanges that constitute the terrestrial carbon cycle, including uptake through photosynthesis, release to the atmosphere through both anthropogenic (fossil fuel emissions, biomass burning, land use) and natural emissions (autotrophic and heterotrophic respiration, wildfires, volcanic eruptions), and weathering, erosion, and transport. Figure modified with permission from Diana </a:t>
            </a:r>
            <a:r>
              <a:rPr lang="en-US" dirty="0" err="1"/>
              <a:t>Swantek</a:t>
            </a:r>
            <a:r>
              <a:rPr lang="en-US" dirty="0"/>
              <a:t>, Lawrence Berkeley National Lab. </a:t>
            </a:r>
          </a:p>
        </p:txBody>
      </p:sp>
      <p:sp>
        <p:nvSpPr>
          <p:cNvPr id="6" name="TextBox 5">
            <a:extLst>
              <a:ext uri="{FF2B5EF4-FFF2-40B4-BE49-F238E27FC236}">
                <a16:creationId xmlns:a16="http://schemas.microsoft.com/office/drawing/2014/main" id="{1FBFDA3C-B840-DCCD-4B8A-45F334B3931B}"/>
              </a:ext>
            </a:extLst>
          </p:cNvPr>
          <p:cNvSpPr txBox="1"/>
          <p:nvPr/>
        </p:nvSpPr>
        <p:spPr>
          <a:xfrm>
            <a:off x="8193024" y="1070963"/>
            <a:ext cx="3907536" cy="3139321"/>
          </a:xfrm>
          <a:prstGeom prst="rect">
            <a:avLst/>
          </a:prstGeom>
          <a:noFill/>
          <a:ln>
            <a:solidFill>
              <a:schemeClr val="accent1"/>
            </a:solidFill>
          </a:ln>
        </p:spPr>
        <p:txBody>
          <a:bodyPr wrap="square">
            <a:spAutoFit/>
          </a:bodyPr>
          <a:lstStyle/>
          <a:p>
            <a:r>
              <a:rPr lang="en-US" dirty="0"/>
              <a:t>“Ecosystems are thus in a perpetual cycle of being knocked away from equilibrium by disturbance, while at the same time the natural equilibrium point is changing due to environmental change. Changes in the disturbance regime, and persistent environmental change can also completely change the playing field by altering ecosystem structure sufficiently to create a regime shift to a new stable equilibrium state.”</a:t>
            </a:r>
          </a:p>
        </p:txBody>
      </p:sp>
    </p:spTree>
    <p:extLst>
      <p:ext uri="{BB962C8B-B14F-4D97-AF65-F5344CB8AC3E}">
        <p14:creationId xmlns:p14="http://schemas.microsoft.com/office/powerpoint/2010/main" val="1701651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1" name="Picture 13">
            <a:extLst>
              <a:ext uri="{FF2B5EF4-FFF2-40B4-BE49-F238E27FC236}">
                <a16:creationId xmlns:a16="http://schemas.microsoft.com/office/drawing/2014/main" id="{3C322CA5-DE1D-7AAE-527E-92B3E46E1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 y="85344"/>
            <a:ext cx="7839456" cy="62185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527847-670A-FD3D-324A-2D0232830BB9}"/>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What also stands out is the idea that these processes are connected (“feedbacks”)</a:t>
            </a:r>
          </a:p>
        </p:txBody>
      </p:sp>
      <p:sp>
        <p:nvSpPr>
          <p:cNvPr id="4" name="TextBox 3">
            <a:extLst>
              <a:ext uri="{FF2B5EF4-FFF2-40B4-BE49-F238E27FC236}">
                <a16:creationId xmlns:a16="http://schemas.microsoft.com/office/drawing/2014/main" id="{D80B09A2-50D3-A9AD-7CAD-AE4071EAFEC0}"/>
              </a:ext>
            </a:extLst>
          </p:cNvPr>
          <p:cNvSpPr txBox="1"/>
          <p:nvPr/>
        </p:nvSpPr>
        <p:spPr>
          <a:xfrm>
            <a:off x="91440" y="5572327"/>
            <a:ext cx="12009120" cy="1200329"/>
          </a:xfrm>
          <a:prstGeom prst="rect">
            <a:avLst/>
          </a:prstGeom>
          <a:solidFill>
            <a:schemeClr val="bg1"/>
          </a:solidFill>
          <a:ln>
            <a:solidFill>
              <a:schemeClr val="accent1"/>
            </a:solidFill>
          </a:ln>
        </p:spPr>
        <p:txBody>
          <a:bodyPr wrap="square">
            <a:spAutoFit/>
          </a:bodyPr>
          <a:lstStyle/>
          <a:p>
            <a:r>
              <a:rPr lang="en-US" b="1" dirty="0"/>
              <a:t>Figure 1  </a:t>
            </a:r>
            <a:r>
              <a:rPr lang="en-US" dirty="0"/>
              <a:t>The primary flows and exchanges that constitute the terrestrial carbon cycle, including uptake through photosynthesis, release to the atmosphere through both anthropogenic (fossil fuel emissions, biomass burning, land use) and natural emissions (autotrophic and heterotrophic respiration, wildfires, volcanic eruptions), and weathering, erosion, and transport. Figure modified with permission from Diana </a:t>
            </a:r>
            <a:r>
              <a:rPr lang="en-US" dirty="0" err="1"/>
              <a:t>Swantek</a:t>
            </a:r>
            <a:r>
              <a:rPr lang="en-US" dirty="0"/>
              <a:t>, Lawrence Berkeley National Lab. </a:t>
            </a:r>
          </a:p>
        </p:txBody>
      </p:sp>
      <p:sp>
        <p:nvSpPr>
          <p:cNvPr id="6" name="TextBox 5">
            <a:extLst>
              <a:ext uri="{FF2B5EF4-FFF2-40B4-BE49-F238E27FC236}">
                <a16:creationId xmlns:a16="http://schemas.microsoft.com/office/drawing/2014/main" id="{1FBFDA3C-B840-DCCD-4B8A-45F334B3931B}"/>
              </a:ext>
            </a:extLst>
          </p:cNvPr>
          <p:cNvSpPr txBox="1"/>
          <p:nvPr/>
        </p:nvSpPr>
        <p:spPr>
          <a:xfrm>
            <a:off x="8193024" y="1070963"/>
            <a:ext cx="3907536" cy="3970318"/>
          </a:xfrm>
          <a:prstGeom prst="rect">
            <a:avLst/>
          </a:prstGeom>
          <a:noFill/>
          <a:ln>
            <a:solidFill>
              <a:schemeClr val="accent1"/>
            </a:solidFill>
          </a:ln>
        </p:spPr>
        <p:txBody>
          <a:bodyPr wrap="square">
            <a:spAutoFit/>
          </a:bodyPr>
          <a:lstStyle/>
          <a:p>
            <a:r>
              <a:rPr lang="en-US" dirty="0"/>
              <a:t>“Ecosystems are thus in a perpetual cycle of being knocked away from equilibrium by disturbance, while at the same time the natural equilibrium point is changing due to environmental change. Changes in the disturbance regime, and persistent environmental change can also completely change the playing field by altering ecosystem structure sufficiently to create a regime shift to a new stable equilibrium state.”</a:t>
            </a:r>
          </a:p>
          <a:p>
            <a:endParaRPr lang="en-US" dirty="0"/>
          </a:p>
          <a:p>
            <a:r>
              <a:rPr lang="en-US" dirty="0"/>
              <a:t>“Ecosystems exist in a state of dynamic disequilibrium”</a:t>
            </a:r>
          </a:p>
        </p:txBody>
      </p:sp>
    </p:spTree>
    <p:extLst>
      <p:ext uri="{BB962C8B-B14F-4D97-AF65-F5344CB8AC3E}">
        <p14:creationId xmlns:p14="http://schemas.microsoft.com/office/powerpoint/2010/main" val="2043397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7FC860-6D4D-0D80-6C31-65F6D869A6FF}"/>
              </a:ext>
            </a:extLst>
          </p:cNvPr>
          <p:cNvSpPr txBox="1"/>
          <p:nvPr/>
        </p:nvSpPr>
        <p:spPr>
          <a:xfrm>
            <a:off x="0" y="0"/>
            <a:ext cx="12106656" cy="461665"/>
          </a:xfrm>
          <a:prstGeom prst="rect">
            <a:avLst/>
          </a:prstGeom>
          <a:solidFill>
            <a:schemeClr val="accent2"/>
          </a:solidFill>
        </p:spPr>
        <p:txBody>
          <a:bodyPr wrap="square" rtlCol="0">
            <a:spAutoFit/>
          </a:bodyPr>
          <a:lstStyle/>
          <a:p>
            <a:r>
              <a:rPr lang="en-US" sz="2400" b="1" dirty="0"/>
              <a:t>Strength and duration of carbon exchange processes </a:t>
            </a:r>
          </a:p>
        </p:txBody>
      </p:sp>
      <p:pic>
        <p:nvPicPr>
          <p:cNvPr id="4098" name="Picture 2">
            <a:extLst>
              <a:ext uri="{FF2B5EF4-FFF2-40B4-BE49-F238E27FC236}">
                <a16:creationId xmlns:a16="http://schemas.microsoft.com/office/drawing/2014/main" id="{0DF6A5C5-9461-6A35-0C1C-A2543AA4F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00100"/>
            <a:ext cx="12192000" cy="52562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B10377-C7FB-C3A3-13FC-6C4B9B2AAA6B}"/>
              </a:ext>
            </a:extLst>
          </p:cNvPr>
          <p:cNvSpPr txBox="1"/>
          <p:nvPr/>
        </p:nvSpPr>
        <p:spPr>
          <a:xfrm>
            <a:off x="0" y="5657671"/>
            <a:ext cx="12192000" cy="1200329"/>
          </a:xfrm>
          <a:prstGeom prst="rect">
            <a:avLst/>
          </a:prstGeom>
          <a:solidFill>
            <a:schemeClr val="bg1"/>
          </a:solidFill>
        </p:spPr>
        <p:txBody>
          <a:bodyPr wrap="square">
            <a:spAutoFit/>
          </a:bodyPr>
          <a:lstStyle/>
          <a:p>
            <a:r>
              <a:rPr lang="en-US" b="1" dirty="0"/>
              <a:t>Figure 2</a:t>
            </a:r>
            <a:r>
              <a:rPr lang="en-US" dirty="0"/>
              <a:t>  A schematic of the multiple influences responsible for an ecosystem's (a) sink or (b) source magnitude, separated by their strength and duration. Processes such as CO2 fertilization, growing season extension, and recovery from disturbance have been identified as causes of the current global sink, while drought, warming-induced respiration, and disturbances contribute to sink reductions. </a:t>
            </a:r>
          </a:p>
        </p:txBody>
      </p:sp>
    </p:spTree>
    <p:extLst>
      <p:ext uri="{BB962C8B-B14F-4D97-AF65-F5344CB8AC3E}">
        <p14:creationId xmlns:p14="http://schemas.microsoft.com/office/powerpoint/2010/main" val="1129901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7FC860-6D4D-0D80-6C31-65F6D869A6FF}"/>
              </a:ext>
            </a:extLst>
          </p:cNvPr>
          <p:cNvSpPr txBox="1"/>
          <p:nvPr/>
        </p:nvSpPr>
        <p:spPr>
          <a:xfrm>
            <a:off x="0" y="0"/>
            <a:ext cx="12106656" cy="461665"/>
          </a:xfrm>
          <a:prstGeom prst="rect">
            <a:avLst/>
          </a:prstGeom>
          <a:solidFill>
            <a:schemeClr val="accent2"/>
          </a:solidFill>
        </p:spPr>
        <p:txBody>
          <a:bodyPr wrap="square" rtlCol="0">
            <a:spAutoFit/>
          </a:bodyPr>
          <a:lstStyle/>
          <a:p>
            <a:r>
              <a:rPr lang="en-US" sz="2400" b="1" dirty="0"/>
              <a:t>Strength and duration of carbon exchange processes </a:t>
            </a:r>
          </a:p>
        </p:txBody>
      </p:sp>
      <p:pic>
        <p:nvPicPr>
          <p:cNvPr id="4098" name="Picture 2">
            <a:extLst>
              <a:ext uri="{FF2B5EF4-FFF2-40B4-BE49-F238E27FC236}">
                <a16:creationId xmlns:a16="http://schemas.microsoft.com/office/drawing/2014/main" id="{0DF6A5C5-9461-6A35-0C1C-A2543AA4F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00100"/>
            <a:ext cx="12192000" cy="52562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B10377-C7FB-C3A3-13FC-6C4B9B2AAA6B}"/>
              </a:ext>
            </a:extLst>
          </p:cNvPr>
          <p:cNvSpPr txBox="1"/>
          <p:nvPr/>
        </p:nvSpPr>
        <p:spPr>
          <a:xfrm>
            <a:off x="0" y="5657671"/>
            <a:ext cx="12192000" cy="1200329"/>
          </a:xfrm>
          <a:prstGeom prst="rect">
            <a:avLst/>
          </a:prstGeom>
          <a:solidFill>
            <a:schemeClr val="bg1"/>
          </a:solidFill>
        </p:spPr>
        <p:txBody>
          <a:bodyPr wrap="square">
            <a:spAutoFit/>
          </a:bodyPr>
          <a:lstStyle/>
          <a:p>
            <a:r>
              <a:rPr lang="en-US" b="1" dirty="0"/>
              <a:t>Figure 2</a:t>
            </a:r>
            <a:r>
              <a:rPr lang="en-US" dirty="0"/>
              <a:t>  A schematic of the multiple influences responsible for an ecosystem's (a) sink or (b) source magnitude, separated by their strength and duration. Processes such as CO2 fertilization, growing season extension, and recovery from disturbance have been identified as causes of the current global sink, while drought, warming-induced respiration, and disturbances contribute to sink reductions. </a:t>
            </a:r>
          </a:p>
        </p:txBody>
      </p:sp>
      <p:pic>
        <p:nvPicPr>
          <p:cNvPr id="2" name="Picture 1">
            <a:extLst>
              <a:ext uri="{FF2B5EF4-FFF2-40B4-BE49-F238E27FC236}">
                <a16:creationId xmlns:a16="http://schemas.microsoft.com/office/drawing/2014/main" id="{4AB8B645-5450-EF17-17AC-F448952E3E63}"/>
              </a:ext>
            </a:extLst>
          </p:cNvPr>
          <p:cNvPicPr>
            <a:picLocks noChangeAspect="1"/>
          </p:cNvPicPr>
          <p:nvPr/>
        </p:nvPicPr>
        <p:blipFill>
          <a:blip r:embed="rId3"/>
          <a:stretch>
            <a:fillRect/>
          </a:stretch>
        </p:blipFill>
        <p:spPr>
          <a:xfrm>
            <a:off x="1602812" y="2255520"/>
            <a:ext cx="9245020" cy="2087585"/>
          </a:xfrm>
          <a:prstGeom prst="rect">
            <a:avLst/>
          </a:prstGeom>
          <a:ln>
            <a:solidFill>
              <a:schemeClr val="accent1"/>
            </a:solidFill>
          </a:ln>
        </p:spPr>
      </p:pic>
    </p:spTree>
    <p:extLst>
      <p:ext uri="{BB962C8B-B14F-4D97-AF65-F5344CB8AC3E}">
        <p14:creationId xmlns:p14="http://schemas.microsoft.com/office/powerpoint/2010/main" val="2984368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D0F0FCA-53B5-6F40-B6DC-7700AD131260}"/>
              </a:ext>
            </a:extLst>
          </p:cNvPr>
          <p:cNvSpPr txBox="1"/>
          <p:nvPr/>
        </p:nvSpPr>
        <p:spPr>
          <a:xfrm>
            <a:off x="0" y="2574"/>
            <a:ext cx="12192000" cy="830997"/>
          </a:xfrm>
          <a:prstGeom prst="rect">
            <a:avLst/>
          </a:prstGeom>
          <a:solidFill>
            <a:schemeClr val="accent2"/>
          </a:solidFill>
        </p:spPr>
        <p:txBody>
          <a:bodyPr wrap="square" rtlCol="0">
            <a:spAutoFit/>
          </a:bodyPr>
          <a:lstStyle/>
          <a:p>
            <a:r>
              <a:rPr lang="en-US" sz="2400" b="1" dirty="0"/>
              <a:t>Considering an even longer timescale: </a:t>
            </a:r>
            <a:r>
              <a:rPr lang="en-US" sz="2400" b="1" dirty="0" err="1"/>
              <a:t>Milankovich</a:t>
            </a:r>
            <a:r>
              <a:rPr lang="en-US" sz="2400" b="1" dirty="0"/>
              <a:t> and the 100,000 year glacial / interglacial pattern</a:t>
            </a:r>
          </a:p>
        </p:txBody>
      </p:sp>
      <p:sp>
        <p:nvSpPr>
          <p:cNvPr id="15" name="TextBox 14">
            <a:extLst>
              <a:ext uri="{FF2B5EF4-FFF2-40B4-BE49-F238E27FC236}">
                <a16:creationId xmlns:a16="http://schemas.microsoft.com/office/drawing/2014/main" id="{1E875C0B-7058-F240-A31D-2072A08F3EBC}"/>
              </a:ext>
            </a:extLst>
          </p:cNvPr>
          <p:cNvSpPr txBox="1"/>
          <p:nvPr/>
        </p:nvSpPr>
        <p:spPr>
          <a:xfrm>
            <a:off x="3966875" y="6255261"/>
            <a:ext cx="3523797" cy="369332"/>
          </a:xfrm>
          <a:prstGeom prst="rect">
            <a:avLst/>
          </a:prstGeom>
          <a:noFill/>
        </p:spPr>
        <p:txBody>
          <a:bodyPr wrap="square">
            <a:spAutoFit/>
          </a:bodyPr>
          <a:lstStyle/>
          <a:p>
            <a:r>
              <a:rPr lang="en-US" dirty="0">
                <a:hlinkClick r:id="rId2"/>
              </a:rPr>
              <a:t>Merrill video on Milankovich</a:t>
            </a:r>
            <a:endParaRPr lang="en-US" dirty="0"/>
          </a:p>
        </p:txBody>
      </p:sp>
      <p:pic>
        <p:nvPicPr>
          <p:cNvPr id="17" name="Picture 16">
            <a:extLst>
              <a:ext uri="{FF2B5EF4-FFF2-40B4-BE49-F238E27FC236}">
                <a16:creationId xmlns:a16="http://schemas.microsoft.com/office/drawing/2014/main" id="{CD4A92F8-1470-9A4F-B58E-597137D4348E}"/>
              </a:ext>
            </a:extLst>
          </p:cNvPr>
          <p:cNvPicPr>
            <a:picLocks noChangeAspect="1"/>
          </p:cNvPicPr>
          <p:nvPr/>
        </p:nvPicPr>
        <p:blipFill>
          <a:blip r:embed="rId3"/>
          <a:stretch>
            <a:fillRect/>
          </a:stretch>
        </p:blipFill>
        <p:spPr>
          <a:xfrm>
            <a:off x="1386538" y="1001786"/>
            <a:ext cx="8684469" cy="4877578"/>
          </a:xfrm>
          <a:prstGeom prst="rect">
            <a:avLst/>
          </a:prstGeom>
        </p:spPr>
      </p:pic>
    </p:spTree>
    <p:extLst>
      <p:ext uri="{BB962C8B-B14F-4D97-AF65-F5344CB8AC3E}">
        <p14:creationId xmlns:p14="http://schemas.microsoft.com/office/powerpoint/2010/main" val="3302800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767C03-0D4A-B34F-B6AB-CA26AC2E8603}"/>
              </a:ext>
            </a:extLst>
          </p:cNvPr>
          <p:cNvSpPr txBox="1"/>
          <p:nvPr/>
        </p:nvSpPr>
        <p:spPr>
          <a:xfrm>
            <a:off x="0" y="0"/>
            <a:ext cx="12192000" cy="830997"/>
          </a:xfrm>
          <a:prstGeom prst="rect">
            <a:avLst/>
          </a:prstGeom>
          <a:solidFill>
            <a:schemeClr val="accent2"/>
          </a:solidFill>
        </p:spPr>
        <p:txBody>
          <a:bodyPr wrap="square" rtlCol="0">
            <a:spAutoFit/>
          </a:bodyPr>
          <a:lstStyle/>
          <a:p>
            <a:r>
              <a:rPr lang="en-US" sz="2400" b="1" dirty="0"/>
              <a:t>Evidence for CO</a:t>
            </a:r>
            <a:r>
              <a:rPr lang="en-US" sz="2400" b="1" baseline="-25000" dirty="0"/>
              <a:t>2</a:t>
            </a:r>
            <a:r>
              <a:rPr lang="en-US" sz="2400" b="1" dirty="0"/>
              <a:t> and CH</a:t>
            </a:r>
            <a:r>
              <a:rPr lang="en-US" sz="2400" b="1" baseline="-25000" dirty="0"/>
              <a:t>4</a:t>
            </a:r>
            <a:r>
              <a:rPr lang="en-US" sz="2400" b="1" dirty="0"/>
              <a:t> climate feedbacks over that time period: the Pleistocene “experiment” </a:t>
            </a:r>
          </a:p>
        </p:txBody>
      </p:sp>
      <p:sp>
        <p:nvSpPr>
          <p:cNvPr id="3" name="AutoShape 4">
            <a:extLst>
              <a:ext uri="{FF2B5EF4-FFF2-40B4-BE49-F238E27FC236}">
                <a16:creationId xmlns:a16="http://schemas.microsoft.com/office/drawing/2014/main" id="{CE403E46-5304-24AE-C04E-9FDB1EB14681}"/>
              </a:ext>
            </a:extLst>
          </p:cNvPr>
          <p:cNvSpPr>
            <a:spLocks noChangeAspect="1" noChangeArrowheads="1"/>
          </p:cNvSpPr>
          <p:nvPr/>
        </p:nvSpPr>
        <p:spPr bwMode="auto">
          <a:xfrm>
            <a:off x="4029075" y="0"/>
            <a:ext cx="4132263"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5" name="Group 4">
            <a:extLst>
              <a:ext uri="{FF2B5EF4-FFF2-40B4-BE49-F238E27FC236}">
                <a16:creationId xmlns:a16="http://schemas.microsoft.com/office/drawing/2014/main" id="{D9B18090-38A2-CB8A-2D6A-3B88824BD786}"/>
              </a:ext>
            </a:extLst>
          </p:cNvPr>
          <p:cNvGrpSpPr/>
          <p:nvPr/>
        </p:nvGrpSpPr>
        <p:grpSpPr>
          <a:xfrm>
            <a:off x="1173738" y="788063"/>
            <a:ext cx="8920702" cy="5651206"/>
            <a:chOff x="1004898" y="1598053"/>
            <a:chExt cx="8200913" cy="5015644"/>
          </a:xfrm>
        </p:grpSpPr>
        <p:pic>
          <p:nvPicPr>
            <p:cNvPr id="8" name="Picture 7">
              <a:extLst>
                <a:ext uri="{FF2B5EF4-FFF2-40B4-BE49-F238E27FC236}">
                  <a16:creationId xmlns:a16="http://schemas.microsoft.com/office/drawing/2014/main" id="{5BB28EE5-8EF5-03B3-7AA7-622CF46B5A56}"/>
                </a:ext>
              </a:extLst>
            </p:cNvPr>
            <p:cNvPicPr>
              <a:picLocks noChangeAspect="1"/>
            </p:cNvPicPr>
            <p:nvPr/>
          </p:nvPicPr>
          <p:blipFill>
            <a:blip r:embed="rId2"/>
            <a:stretch>
              <a:fillRect/>
            </a:stretch>
          </p:blipFill>
          <p:spPr>
            <a:xfrm>
              <a:off x="1004898" y="1884153"/>
              <a:ext cx="7016358" cy="4729544"/>
            </a:xfrm>
            <a:prstGeom prst="rect">
              <a:avLst/>
            </a:prstGeom>
          </p:spPr>
        </p:pic>
        <p:sp>
          <p:nvSpPr>
            <p:cNvPr id="9" name="TextBox 8">
              <a:extLst>
                <a:ext uri="{FF2B5EF4-FFF2-40B4-BE49-F238E27FC236}">
                  <a16:creationId xmlns:a16="http://schemas.microsoft.com/office/drawing/2014/main" id="{3F898ADA-4926-FE26-D9E5-BD6689767147}"/>
                </a:ext>
              </a:extLst>
            </p:cNvPr>
            <p:cNvSpPr txBox="1"/>
            <p:nvPr/>
          </p:nvSpPr>
          <p:spPr>
            <a:xfrm>
              <a:off x="1004898" y="1598053"/>
              <a:ext cx="8200913" cy="327795"/>
            </a:xfrm>
            <a:prstGeom prst="rect">
              <a:avLst/>
            </a:prstGeom>
            <a:noFill/>
          </p:spPr>
          <p:txBody>
            <a:bodyPr wrap="square" rtlCol="0">
              <a:spAutoFit/>
            </a:bodyPr>
            <a:lstStyle/>
            <a:p>
              <a:r>
                <a:rPr lang="en-US" b="1" dirty="0">
                  <a:solidFill>
                    <a:srgbClr val="7030A0"/>
                  </a:solidFill>
                </a:rPr>
                <a:t>Present</a:t>
              </a:r>
              <a:r>
                <a:rPr lang="en-US" dirty="0">
                  <a:solidFill>
                    <a:srgbClr val="7030A0"/>
                  </a:solidFill>
                </a:rPr>
                <a:t> 			</a:t>
              </a:r>
              <a:r>
                <a:rPr lang="en-US" dirty="0">
                  <a:solidFill>
                    <a:srgbClr val="7030A0"/>
                  </a:solidFill>
                  <a:sym typeface="Wingdings" pitchFamily="2" charset="2"/>
                </a:rPr>
                <a:t>&lt;-------</a:t>
              </a:r>
              <a:r>
                <a:rPr lang="en-US" dirty="0">
                  <a:solidFill>
                    <a:srgbClr val="7030A0"/>
                  </a:solidFill>
                </a:rPr>
                <a:t>			</a:t>
              </a:r>
              <a:r>
                <a:rPr lang="en-US" b="1" dirty="0">
                  <a:solidFill>
                    <a:srgbClr val="7030A0"/>
                  </a:solidFill>
                </a:rPr>
                <a:t>400,000 years ago</a:t>
              </a:r>
            </a:p>
          </p:txBody>
        </p:sp>
      </p:grpSp>
      <p:pic>
        <p:nvPicPr>
          <p:cNvPr id="2" name="Google Shape;58;p1" descr="Ice_core_researchers_from_AWI_drilling_at_the_EastGRIP_ice_core_site,_Greenland_2.jpg">
            <a:extLst>
              <a:ext uri="{FF2B5EF4-FFF2-40B4-BE49-F238E27FC236}">
                <a16:creationId xmlns:a16="http://schemas.microsoft.com/office/drawing/2014/main" id="{0C6495CD-6BEE-56F8-83FB-7DD5AAE09E25}"/>
              </a:ext>
            </a:extLst>
          </p:cNvPr>
          <p:cNvPicPr preferRelativeResize="0">
            <a:picLocks noChangeAspect="1"/>
          </p:cNvPicPr>
          <p:nvPr/>
        </p:nvPicPr>
        <p:blipFill rotWithShape="1">
          <a:blip r:embed="rId3">
            <a:alphaModFix/>
          </a:blip>
          <a:srcRect/>
          <a:stretch/>
        </p:blipFill>
        <p:spPr>
          <a:xfrm rot="-5400000">
            <a:off x="8577247" y="2361897"/>
            <a:ext cx="3514235" cy="2653780"/>
          </a:xfrm>
          <a:prstGeom prst="rect">
            <a:avLst/>
          </a:prstGeom>
          <a:noFill/>
          <a:ln>
            <a:noFill/>
          </a:ln>
        </p:spPr>
      </p:pic>
    </p:spTree>
    <p:extLst>
      <p:ext uri="{BB962C8B-B14F-4D97-AF65-F5344CB8AC3E}">
        <p14:creationId xmlns:p14="http://schemas.microsoft.com/office/powerpoint/2010/main" val="1429858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767C03-0D4A-B34F-B6AB-CA26AC2E8603}"/>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Conclusion: CO</a:t>
            </a:r>
            <a:r>
              <a:rPr lang="en-US" sz="2400" b="1" baseline="-25000" dirty="0"/>
              <a:t>2</a:t>
            </a:r>
            <a:r>
              <a:rPr lang="en-US" sz="2400" b="1" dirty="0"/>
              <a:t> and CH</a:t>
            </a:r>
            <a:r>
              <a:rPr lang="en-US" sz="2400" b="1" baseline="-25000" dirty="0"/>
              <a:t>4</a:t>
            </a:r>
            <a:r>
              <a:rPr lang="en-US" sz="2400" b="1" dirty="0"/>
              <a:t> (and ice/albedo feedback) act like climate power steering</a:t>
            </a:r>
          </a:p>
        </p:txBody>
      </p:sp>
      <p:sp>
        <p:nvSpPr>
          <p:cNvPr id="3" name="AutoShape 4">
            <a:extLst>
              <a:ext uri="{FF2B5EF4-FFF2-40B4-BE49-F238E27FC236}">
                <a16:creationId xmlns:a16="http://schemas.microsoft.com/office/drawing/2014/main" id="{CE403E46-5304-24AE-C04E-9FDB1EB14681}"/>
              </a:ext>
            </a:extLst>
          </p:cNvPr>
          <p:cNvSpPr>
            <a:spLocks noChangeAspect="1" noChangeArrowheads="1"/>
          </p:cNvSpPr>
          <p:nvPr/>
        </p:nvSpPr>
        <p:spPr bwMode="auto">
          <a:xfrm>
            <a:off x="4029075" y="0"/>
            <a:ext cx="4132263"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5" name="Group 4">
            <a:extLst>
              <a:ext uri="{FF2B5EF4-FFF2-40B4-BE49-F238E27FC236}">
                <a16:creationId xmlns:a16="http://schemas.microsoft.com/office/drawing/2014/main" id="{D9B18090-38A2-CB8A-2D6A-3B88824BD786}"/>
              </a:ext>
            </a:extLst>
          </p:cNvPr>
          <p:cNvGrpSpPr/>
          <p:nvPr/>
        </p:nvGrpSpPr>
        <p:grpSpPr>
          <a:xfrm>
            <a:off x="204127" y="853183"/>
            <a:ext cx="8920702" cy="5651206"/>
            <a:chOff x="1004898" y="1598053"/>
            <a:chExt cx="8200913" cy="5015644"/>
          </a:xfrm>
        </p:grpSpPr>
        <p:pic>
          <p:nvPicPr>
            <p:cNvPr id="8" name="Picture 7">
              <a:extLst>
                <a:ext uri="{FF2B5EF4-FFF2-40B4-BE49-F238E27FC236}">
                  <a16:creationId xmlns:a16="http://schemas.microsoft.com/office/drawing/2014/main" id="{5BB28EE5-8EF5-03B3-7AA7-622CF46B5A56}"/>
                </a:ext>
              </a:extLst>
            </p:cNvPr>
            <p:cNvPicPr>
              <a:picLocks noChangeAspect="1"/>
            </p:cNvPicPr>
            <p:nvPr/>
          </p:nvPicPr>
          <p:blipFill>
            <a:blip r:embed="rId2"/>
            <a:stretch>
              <a:fillRect/>
            </a:stretch>
          </p:blipFill>
          <p:spPr>
            <a:xfrm>
              <a:off x="1004898" y="1884153"/>
              <a:ext cx="7016358" cy="4729544"/>
            </a:xfrm>
            <a:prstGeom prst="rect">
              <a:avLst/>
            </a:prstGeom>
          </p:spPr>
        </p:pic>
        <p:sp>
          <p:nvSpPr>
            <p:cNvPr id="9" name="TextBox 8">
              <a:extLst>
                <a:ext uri="{FF2B5EF4-FFF2-40B4-BE49-F238E27FC236}">
                  <a16:creationId xmlns:a16="http://schemas.microsoft.com/office/drawing/2014/main" id="{3F898ADA-4926-FE26-D9E5-BD6689767147}"/>
                </a:ext>
              </a:extLst>
            </p:cNvPr>
            <p:cNvSpPr txBox="1"/>
            <p:nvPr/>
          </p:nvSpPr>
          <p:spPr>
            <a:xfrm>
              <a:off x="1004898" y="1598053"/>
              <a:ext cx="8200913" cy="327795"/>
            </a:xfrm>
            <a:prstGeom prst="rect">
              <a:avLst/>
            </a:prstGeom>
            <a:noFill/>
          </p:spPr>
          <p:txBody>
            <a:bodyPr wrap="square" rtlCol="0">
              <a:spAutoFit/>
            </a:bodyPr>
            <a:lstStyle/>
            <a:p>
              <a:r>
                <a:rPr lang="en-US" b="1" dirty="0">
                  <a:solidFill>
                    <a:srgbClr val="7030A0"/>
                  </a:solidFill>
                </a:rPr>
                <a:t>Present</a:t>
              </a:r>
              <a:r>
                <a:rPr lang="en-US" dirty="0">
                  <a:solidFill>
                    <a:srgbClr val="7030A0"/>
                  </a:solidFill>
                </a:rPr>
                <a:t> 			</a:t>
              </a:r>
              <a:r>
                <a:rPr lang="en-US" b="1" dirty="0">
                  <a:solidFill>
                    <a:srgbClr val="7030A0"/>
                  </a:solidFill>
                  <a:sym typeface="Wingdings" pitchFamily="2" charset="2"/>
                </a:rPr>
                <a:t>&lt;-------</a:t>
              </a:r>
              <a:r>
                <a:rPr lang="en-US" dirty="0">
                  <a:solidFill>
                    <a:srgbClr val="7030A0"/>
                  </a:solidFill>
                </a:rPr>
                <a:t>			</a:t>
              </a:r>
              <a:r>
                <a:rPr lang="en-US" b="1" dirty="0">
                  <a:solidFill>
                    <a:srgbClr val="7030A0"/>
                  </a:solidFill>
                </a:rPr>
                <a:t>400,000 years ago</a:t>
              </a:r>
            </a:p>
          </p:txBody>
        </p:sp>
      </p:grpSp>
      <p:grpSp>
        <p:nvGrpSpPr>
          <p:cNvPr id="6" name="Group 5">
            <a:extLst>
              <a:ext uri="{FF2B5EF4-FFF2-40B4-BE49-F238E27FC236}">
                <a16:creationId xmlns:a16="http://schemas.microsoft.com/office/drawing/2014/main" id="{25456455-74DD-DD69-5C41-A3021ED3C8DE}"/>
              </a:ext>
            </a:extLst>
          </p:cNvPr>
          <p:cNvGrpSpPr/>
          <p:nvPr/>
        </p:nvGrpSpPr>
        <p:grpSpPr>
          <a:xfrm>
            <a:off x="8157091" y="580810"/>
            <a:ext cx="3830782" cy="3015961"/>
            <a:chOff x="8361218" y="1118020"/>
            <a:chExt cx="3830782" cy="3015961"/>
          </a:xfrm>
          <a:solidFill>
            <a:schemeClr val="bg1"/>
          </a:solidFill>
        </p:grpSpPr>
        <p:pic>
          <p:nvPicPr>
            <p:cNvPr id="7" name="Picture 6">
              <a:extLst>
                <a:ext uri="{FF2B5EF4-FFF2-40B4-BE49-F238E27FC236}">
                  <a16:creationId xmlns:a16="http://schemas.microsoft.com/office/drawing/2014/main" id="{8586671B-2AB7-4B73-3153-9E01D566B8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61218" y="1118020"/>
              <a:ext cx="3830782" cy="3015961"/>
            </a:xfrm>
            <a:prstGeom prst="rect">
              <a:avLst/>
            </a:prstGeom>
            <a:grpFill/>
            <a:ln w="9525">
              <a:solidFill>
                <a:srgbClr val="000000"/>
              </a:solidFill>
              <a:miter lim="800000"/>
              <a:headEnd/>
              <a:tailEnd/>
            </a:ln>
          </p:spPr>
        </p:pic>
        <p:sp>
          <p:nvSpPr>
            <p:cNvPr id="10" name="TextBox 9">
              <a:extLst>
                <a:ext uri="{FF2B5EF4-FFF2-40B4-BE49-F238E27FC236}">
                  <a16:creationId xmlns:a16="http://schemas.microsoft.com/office/drawing/2014/main" id="{11B0A5EE-176B-9CB9-A852-689A5A9E9789}"/>
                </a:ext>
              </a:extLst>
            </p:cNvPr>
            <p:cNvSpPr txBox="1"/>
            <p:nvPr/>
          </p:nvSpPr>
          <p:spPr>
            <a:xfrm>
              <a:off x="8535873" y="1617674"/>
              <a:ext cx="916039" cy="523220"/>
            </a:xfrm>
            <a:prstGeom prst="rect">
              <a:avLst/>
            </a:prstGeom>
            <a:grpFill/>
            <a:ln>
              <a:solidFill>
                <a:schemeClr val="accent1"/>
              </a:solidFill>
            </a:ln>
          </p:spPr>
          <p:txBody>
            <a:bodyPr wrap="square" rtlCol="0">
              <a:spAutoFit/>
            </a:bodyPr>
            <a:lstStyle/>
            <a:p>
              <a:r>
                <a:rPr lang="en-US" sz="1400" dirty="0"/>
                <a:t>Let Earth wobble</a:t>
              </a:r>
            </a:p>
          </p:txBody>
        </p:sp>
        <p:sp>
          <p:nvSpPr>
            <p:cNvPr id="11" name="TextBox 10">
              <a:extLst>
                <a:ext uri="{FF2B5EF4-FFF2-40B4-BE49-F238E27FC236}">
                  <a16:creationId xmlns:a16="http://schemas.microsoft.com/office/drawing/2014/main" id="{33014BD4-A9AA-43F5-67DB-E41D191C78D9}"/>
                </a:ext>
              </a:extLst>
            </p:cNvPr>
            <p:cNvSpPr txBox="1"/>
            <p:nvPr/>
          </p:nvSpPr>
          <p:spPr>
            <a:xfrm>
              <a:off x="9877943" y="1633531"/>
              <a:ext cx="916039" cy="461665"/>
            </a:xfrm>
            <a:prstGeom prst="rect">
              <a:avLst/>
            </a:prstGeom>
            <a:grpFill/>
            <a:ln>
              <a:solidFill>
                <a:schemeClr val="accent1"/>
              </a:solidFill>
            </a:ln>
          </p:spPr>
          <p:txBody>
            <a:bodyPr wrap="square" rtlCol="0">
              <a:spAutoFit/>
            </a:bodyPr>
            <a:lstStyle/>
            <a:p>
              <a:r>
                <a:rPr lang="en-US" sz="1200" dirty="0"/>
                <a:t>Warmer or </a:t>
              </a:r>
            </a:p>
            <a:p>
              <a:r>
                <a:rPr lang="en-US" sz="1200" dirty="0"/>
                <a:t>colder</a:t>
              </a:r>
            </a:p>
          </p:txBody>
        </p:sp>
      </p:grpSp>
      <p:sp>
        <p:nvSpPr>
          <p:cNvPr id="13" name="TextBox 12">
            <a:extLst>
              <a:ext uri="{FF2B5EF4-FFF2-40B4-BE49-F238E27FC236}">
                <a16:creationId xmlns:a16="http://schemas.microsoft.com/office/drawing/2014/main" id="{8E8608A8-0F3A-F53B-A61E-0EF1F4748A33}"/>
              </a:ext>
            </a:extLst>
          </p:cNvPr>
          <p:cNvSpPr txBox="1"/>
          <p:nvPr/>
        </p:nvSpPr>
        <p:spPr>
          <a:xfrm>
            <a:off x="7972797" y="3760800"/>
            <a:ext cx="4132263" cy="2308324"/>
          </a:xfrm>
          <a:prstGeom prst="rect">
            <a:avLst/>
          </a:prstGeom>
          <a:noFill/>
        </p:spPr>
        <p:txBody>
          <a:bodyPr wrap="square">
            <a:spAutoFit/>
          </a:bodyPr>
          <a:lstStyle/>
          <a:p>
            <a:r>
              <a:rPr lang="en-US" sz="2400" dirty="0"/>
              <a:t>The </a:t>
            </a:r>
            <a:r>
              <a:rPr lang="en-US" sz="2400" b="1" dirty="0"/>
              <a:t>timing</a:t>
            </a:r>
            <a:r>
              <a:rPr lang="en-US" sz="2400" dirty="0"/>
              <a:t> is driven by Earth’s wobbling (“</a:t>
            </a:r>
            <a:r>
              <a:rPr lang="en-US" sz="2400" dirty="0" err="1"/>
              <a:t>Milankovič</a:t>
            </a:r>
            <a:r>
              <a:rPr lang="en-US" sz="2400" dirty="0"/>
              <a:t> in the driver’s seat”), but </a:t>
            </a:r>
            <a:r>
              <a:rPr lang="en-US" sz="2400" b="1" dirty="0"/>
              <a:t>CO</a:t>
            </a:r>
            <a:r>
              <a:rPr lang="en-US" sz="2400" b="1" baseline="-25000" dirty="0"/>
              <a:t>2</a:t>
            </a:r>
            <a:r>
              <a:rPr lang="en-US" sz="2400" b="1" dirty="0"/>
              <a:t> and CH</a:t>
            </a:r>
            <a:r>
              <a:rPr lang="en-US" sz="2400" b="1" baseline="-25000" dirty="0"/>
              <a:t>4</a:t>
            </a:r>
            <a:r>
              <a:rPr lang="en-US" sz="2400" b="1" dirty="0"/>
              <a:t> behaved in a way that amplified heating/cooling</a:t>
            </a:r>
            <a:r>
              <a:rPr lang="en-US" sz="2400" dirty="0"/>
              <a:t> (ice/albedo is also an amplifier).</a:t>
            </a:r>
            <a:endParaRPr lang="en-US" sz="2400" b="1" dirty="0"/>
          </a:p>
        </p:txBody>
      </p:sp>
    </p:spTree>
    <p:extLst>
      <p:ext uri="{BB962C8B-B14F-4D97-AF65-F5344CB8AC3E}">
        <p14:creationId xmlns:p14="http://schemas.microsoft.com/office/powerpoint/2010/main" val="452141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767C03-0D4A-B34F-B6AB-CA26AC2E8603}"/>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Conclusion: CO</a:t>
            </a:r>
            <a:r>
              <a:rPr lang="en-US" sz="2400" b="1" baseline="-25000" dirty="0"/>
              <a:t>2</a:t>
            </a:r>
            <a:r>
              <a:rPr lang="en-US" sz="2400" b="1" dirty="0"/>
              <a:t> and CH</a:t>
            </a:r>
            <a:r>
              <a:rPr lang="en-US" sz="2400" b="1" baseline="-25000" dirty="0"/>
              <a:t>4</a:t>
            </a:r>
            <a:r>
              <a:rPr lang="en-US" sz="2400" b="1" dirty="0"/>
              <a:t> (and ice/albedo feedback) act like climate power steering</a:t>
            </a:r>
          </a:p>
        </p:txBody>
      </p:sp>
      <p:sp>
        <p:nvSpPr>
          <p:cNvPr id="3" name="AutoShape 4">
            <a:extLst>
              <a:ext uri="{FF2B5EF4-FFF2-40B4-BE49-F238E27FC236}">
                <a16:creationId xmlns:a16="http://schemas.microsoft.com/office/drawing/2014/main" id="{CE403E46-5304-24AE-C04E-9FDB1EB14681}"/>
              </a:ext>
            </a:extLst>
          </p:cNvPr>
          <p:cNvSpPr>
            <a:spLocks noChangeAspect="1" noChangeArrowheads="1"/>
          </p:cNvSpPr>
          <p:nvPr/>
        </p:nvSpPr>
        <p:spPr bwMode="auto">
          <a:xfrm>
            <a:off x="4029075" y="0"/>
            <a:ext cx="4132263" cy="685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5" name="Group 4">
            <a:extLst>
              <a:ext uri="{FF2B5EF4-FFF2-40B4-BE49-F238E27FC236}">
                <a16:creationId xmlns:a16="http://schemas.microsoft.com/office/drawing/2014/main" id="{D9B18090-38A2-CB8A-2D6A-3B88824BD786}"/>
              </a:ext>
            </a:extLst>
          </p:cNvPr>
          <p:cNvGrpSpPr/>
          <p:nvPr/>
        </p:nvGrpSpPr>
        <p:grpSpPr>
          <a:xfrm>
            <a:off x="204127" y="853183"/>
            <a:ext cx="8920702" cy="5651206"/>
            <a:chOff x="1004898" y="1598053"/>
            <a:chExt cx="8200913" cy="5015644"/>
          </a:xfrm>
        </p:grpSpPr>
        <p:pic>
          <p:nvPicPr>
            <p:cNvPr id="8" name="Picture 7">
              <a:extLst>
                <a:ext uri="{FF2B5EF4-FFF2-40B4-BE49-F238E27FC236}">
                  <a16:creationId xmlns:a16="http://schemas.microsoft.com/office/drawing/2014/main" id="{5BB28EE5-8EF5-03B3-7AA7-622CF46B5A56}"/>
                </a:ext>
              </a:extLst>
            </p:cNvPr>
            <p:cNvPicPr>
              <a:picLocks noChangeAspect="1"/>
            </p:cNvPicPr>
            <p:nvPr/>
          </p:nvPicPr>
          <p:blipFill>
            <a:blip r:embed="rId2"/>
            <a:stretch>
              <a:fillRect/>
            </a:stretch>
          </p:blipFill>
          <p:spPr>
            <a:xfrm>
              <a:off x="1004898" y="1884153"/>
              <a:ext cx="7016358" cy="4729544"/>
            </a:xfrm>
            <a:prstGeom prst="rect">
              <a:avLst/>
            </a:prstGeom>
          </p:spPr>
        </p:pic>
        <p:sp>
          <p:nvSpPr>
            <p:cNvPr id="9" name="TextBox 8">
              <a:extLst>
                <a:ext uri="{FF2B5EF4-FFF2-40B4-BE49-F238E27FC236}">
                  <a16:creationId xmlns:a16="http://schemas.microsoft.com/office/drawing/2014/main" id="{3F898ADA-4926-FE26-D9E5-BD6689767147}"/>
                </a:ext>
              </a:extLst>
            </p:cNvPr>
            <p:cNvSpPr txBox="1"/>
            <p:nvPr/>
          </p:nvSpPr>
          <p:spPr>
            <a:xfrm>
              <a:off x="1004898" y="1598053"/>
              <a:ext cx="8200913" cy="327795"/>
            </a:xfrm>
            <a:prstGeom prst="rect">
              <a:avLst/>
            </a:prstGeom>
            <a:noFill/>
          </p:spPr>
          <p:txBody>
            <a:bodyPr wrap="square" rtlCol="0">
              <a:spAutoFit/>
            </a:bodyPr>
            <a:lstStyle/>
            <a:p>
              <a:r>
                <a:rPr lang="en-US" b="1" dirty="0">
                  <a:solidFill>
                    <a:srgbClr val="7030A0"/>
                  </a:solidFill>
                </a:rPr>
                <a:t>Present</a:t>
              </a:r>
              <a:r>
                <a:rPr lang="en-US" dirty="0">
                  <a:solidFill>
                    <a:srgbClr val="7030A0"/>
                  </a:solidFill>
                </a:rPr>
                <a:t> 			</a:t>
              </a:r>
              <a:r>
                <a:rPr lang="en-US" b="1" dirty="0">
                  <a:solidFill>
                    <a:srgbClr val="7030A0"/>
                  </a:solidFill>
                  <a:sym typeface="Wingdings" pitchFamily="2" charset="2"/>
                </a:rPr>
                <a:t>&lt;-------</a:t>
              </a:r>
              <a:r>
                <a:rPr lang="en-US" dirty="0">
                  <a:solidFill>
                    <a:srgbClr val="7030A0"/>
                  </a:solidFill>
                </a:rPr>
                <a:t>			</a:t>
              </a:r>
              <a:r>
                <a:rPr lang="en-US" b="1" dirty="0">
                  <a:solidFill>
                    <a:srgbClr val="7030A0"/>
                  </a:solidFill>
                </a:rPr>
                <a:t>400,000 years ago</a:t>
              </a:r>
            </a:p>
          </p:txBody>
        </p:sp>
      </p:grpSp>
      <p:grpSp>
        <p:nvGrpSpPr>
          <p:cNvPr id="6" name="Group 5">
            <a:extLst>
              <a:ext uri="{FF2B5EF4-FFF2-40B4-BE49-F238E27FC236}">
                <a16:creationId xmlns:a16="http://schemas.microsoft.com/office/drawing/2014/main" id="{25456455-74DD-DD69-5C41-A3021ED3C8DE}"/>
              </a:ext>
            </a:extLst>
          </p:cNvPr>
          <p:cNvGrpSpPr/>
          <p:nvPr/>
        </p:nvGrpSpPr>
        <p:grpSpPr>
          <a:xfrm>
            <a:off x="8157091" y="580810"/>
            <a:ext cx="3830782" cy="3015961"/>
            <a:chOff x="8361218" y="1118020"/>
            <a:chExt cx="3830782" cy="3015961"/>
          </a:xfrm>
          <a:solidFill>
            <a:schemeClr val="bg1"/>
          </a:solidFill>
        </p:grpSpPr>
        <p:pic>
          <p:nvPicPr>
            <p:cNvPr id="7" name="Picture 6">
              <a:extLst>
                <a:ext uri="{FF2B5EF4-FFF2-40B4-BE49-F238E27FC236}">
                  <a16:creationId xmlns:a16="http://schemas.microsoft.com/office/drawing/2014/main" id="{8586671B-2AB7-4B73-3153-9E01D566B8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61218" y="1118020"/>
              <a:ext cx="3830782" cy="3015961"/>
            </a:xfrm>
            <a:prstGeom prst="rect">
              <a:avLst/>
            </a:prstGeom>
            <a:grpFill/>
            <a:ln w="9525">
              <a:solidFill>
                <a:srgbClr val="000000"/>
              </a:solidFill>
              <a:miter lim="800000"/>
              <a:headEnd/>
              <a:tailEnd/>
            </a:ln>
          </p:spPr>
        </p:pic>
        <p:sp>
          <p:nvSpPr>
            <p:cNvPr id="10" name="TextBox 9">
              <a:extLst>
                <a:ext uri="{FF2B5EF4-FFF2-40B4-BE49-F238E27FC236}">
                  <a16:creationId xmlns:a16="http://schemas.microsoft.com/office/drawing/2014/main" id="{11B0A5EE-176B-9CB9-A852-689A5A9E9789}"/>
                </a:ext>
              </a:extLst>
            </p:cNvPr>
            <p:cNvSpPr txBox="1"/>
            <p:nvPr/>
          </p:nvSpPr>
          <p:spPr>
            <a:xfrm>
              <a:off x="8535873" y="1617674"/>
              <a:ext cx="916039" cy="523220"/>
            </a:xfrm>
            <a:prstGeom prst="rect">
              <a:avLst/>
            </a:prstGeom>
            <a:grpFill/>
            <a:ln>
              <a:solidFill>
                <a:schemeClr val="accent1"/>
              </a:solidFill>
            </a:ln>
          </p:spPr>
          <p:txBody>
            <a:bodyPr wrap="square" rtlCol="0">
              <a:spAutoFit/>
            </a:bodyPr>
            <a:lstStyle/>
            <a:p>
              <a:r>
                <a:rPr lang="en-US" sz="1400" dirty="0"/>
                <a:t>Let Earth wobble</a:t>
              </a:r>
            </a:p>
          </p:txBody>
        </p:sp>
        <p:sp>
          <p:nvSpPr>
            <p:cNvPr id="11" name="TextBox 10">
              <a:extLst>
                <a:ext uri="{FF2B5EF4-FFF2-40B4-BE49-F238E27FC236}">
                  <a16:creationId xmlns:a16="http://schemas.microsoft.com/office/drawing/2014/main" id="{33014BD4-A9AA-43F5-67DB-E41D191C78D9}"/>
                </a:ext>
              </a:extLst>
            </p:cNvPr>
            <p:cNvSpPr txBox="1"/>
            <p:nvPr/>
          </p:nvSpPr>
          <p:spPr>
            <a:xfrm>
              <a:off x="9877943" y="1633531"/>
              <a:ext cx="916039" cy="461665"/>
            </a:xfrm>
            <a:prstGeom prst="rect">
              <a:avLst/>
            </a:prstGeom>
            <a:grpFill/>
            <a:ln>
              <a:solidFill>
                <a:schemeClr val="accent1"/>
              </a:solidFill>
            </a:ln>
          </p:spPr>
          <p:txBody>
            <a:bodyPr wrap="square" rtlCol="0">
              <a:spAutoFit/>
            </a:bodyPr>
            <a:lstStyle/>
            <a:p>
              <a:r>
                <a:rPr lang="en-US" sz="1200" dirty="0"/>
                <a:t>Warmer or </a:t>
              </a:r>
            </a:p>
            <a:p>
              <a:r>
                <a:rPr lang="en-US" sz="1200" dirty="0"/>
                <a:t>colder</a:t>
              </a:r>
            </a:p>
          </p:txBody>
        </p:sp>
      </p:grpSp>
      <p:sp>
        <p:nvSpPr>
          <p:cNvPr id="13" name="TextBox 12">
            <a:extLst>
              <a:ext uri="{FF2B5EF4-FFF2-40B4-BE49-F238E27FC236}">
                <a16:creationId xmlns:a16="http://schemas.microsoft.com/office/drawing/2014/main" id="{8E8608A8-0F3A-F53B-A61E-0EF1F4748A33}"/>
              </a:ext>
            </a:extLst>
          </p:cNvPr>
          <p:cNvSpPr txBox="1"/>
          <p:nvPr/>
        </p:nvSpPr>
        <p:spPr>
          <a:xfrm>
            <a:off x="7972797" y="3760800"/>
            <a:ext cx="4132263" cy="1200329"/>
          </a:xfrm>
          <a:prstGeom prst="rect">
            <a:avLst/>
          </a:prstGeom>
          <a:noFill/>
        </p:spPr>
        <p:txBody>
          <a:bodyPr wrap="square">
            <a:spAutoFit/>
          </a:bodyPr>
          <a:lstStyle/>
          <a:p>
            <a:r>
              <a:rPr lang="en-US" sz="2400" dirty="0"/>
              <a:t>Which raises the question: How strong were those feedback mechanisms?</a:t>
            </a:r>
            <a:endParaRPr lang="en-US" sz="2400" b="1" dirty="0"/>
          </a:p>
        </p:txBody>
      </p:sp>
    </p:spTree>
    <p:extLst>
      <p:ext uri="{BB962C8B-B14F-4D97-AF65-F5344CB8AC3E}">
        <p14:creationId xmlns:p14="http://schemas.microsoft.com/office/powerpoint/2010/main" val="579202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itle 1">
                <a:extLst>
                  <a:ext uri="{FF2B5EF4-FFF2-40B4-BE49-F238E27FC236}">
                    <a16:creationId xmlns:a16="http://schemas.microsoft.com/office/drawing/2014/main" id="{227E424C-FA60-654C-8DC2-04A60AF61A89}"/>
                  </a:ext>
                </a:extLst>
              </p:cNvPr>
              <p:cNvSpPr txBox="1">
                <a:spLocks/>
              </p:cNvSpPr>
              <p:nvPr/>
            </p:nvSpPr>
            <p:spPr>
              <a:xfrm>
                <a:off x="0" y="-12434"/>
                <a:ext cx="12192000" cy="457200"/>
              </a:xfrm>
              <a:prstGeom prst="rect">
                <a:avLst/>
              </a:prstGeom>
              <a:solidFill>
                <a:schemeClr val="accent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latin typeface="+mn-lt"/>
                  </a:rPr>
                  <a:t>How </a:t>
                </a:r>
                <a:r>
                  <a:rPr lang="en-US" sz="2400" b="1" i="1" dirty="0">
                    <a:latin typeface="+mn-lt"/>
                  </a:rPr>
                  <a:t>we’ll</a:t>
                </a:r>
                <a:r>
                  <a:rPr lang="en-US" sz="2400" b="1" dirty="0">
                    <a:latin typeface="+mn-lt"/>
                  </a:rPr>
                  <a:t> be doing this in Python: make </a:t>
                </a:r>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𝑭</m:t>
                        </m:r>
                      </m:e>
                      <m:sub>
                        <m:r>
                          <a:rPr lang="en-US" sz="2400" b="1" i="1" smtClean="0">
                            <a:latin typeface="Cambria Math" panose="02040503050406030204" pitchFamily="18" charset="0"/>
                          </a:rPr>
                          <m:t>𝒂𝒍</m:t>
                        </m:r>
                      </m:sub>
                    </m:sSub>
                  </m:oMath>
                </a14:m>
                <a:r>
                  <a:rPr lang="en-US" sz="2400" b="1" dirty="0">
                    <a:latin typeface="+mn-lt"/>
                  </a:rPr>
                  <a:t> proportional to how much CO2 there is in the air</a:t>
                </a:r>
                <a:endParaRPr lang="en-US" sz="2400" b="1" baseline="-25000" dirty="0">
                  <a:latin typeface="+mn-lt"/>
                </a:endParaRPr>
              </a:p>
            </p:txBody>
          </p:sp>
        </mc:Choice>
        <mc:Fallback xmlns="">
          <p:sp>
            <p:nvSpPr>
              <p:cNvPr id="10" name="Title 1">
                <a:extLst>
                  <a:ext uri="{FF2B5EF4-FFF2-40B4-BE49-F238E27FC236}">
                    <a16:creationId xmlns:a16="http://schemas.microsoft.com/office/drawing/2014/main" id="{227E424C-FA60-654C-8DC2-04A60AF61A89}"/>
                  </a:ext>
                </a:extLst>
              </p:cNvPr>
              <p:cNvSpPr txBox="1">
                <a:spLocks noRot="1" noChangeAspect="1" noMove="1" noResize="1" noEditPoints="1" noAdjustHandles="1" noChangeArrowheads="1" noChangeShapeType="1" noTextEdit="1"/>
              </p:cNvSpPr>
              <p:nvPr/>
            </p:nvSpPr>
            <p:spPr>
              <a:xfrm>
                <a:off x="0" y="-12434"/>
                <a:ext cx="12192000" cy="457200"/>
              </a:xfrm>
              <a:prstGeom prst="rect">
                <a:avLst/>
              </a:prstGeom>
              <a:blipFill>
                <a:blip r:embed="rId3"/>
                <a:stretch>
                  <a:fillRect l="-832" t="-13514" b="-24324"/>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C86C828B-F3A6-F1DA-8877-6DFB16AD42CD}"/>
              </a:ext>
            </a:extLst>
          </p:cNvPr>
          <p:cNvGrpSpPr/>
          <p:nvPr/>
        </p:nvGrpSpPr>
        <p:grpSpPr>
          <a:xfrm>
            <a:off x="4338066" y="1132808"/>
            <a:ext cx="8155792" cy="5017732"/>
            <a:chOff x="2665677" y="1397503"/>
            <a:chExt cx="8155792" cy="5017732"/>
          </a:xfrm>
        </p:grpSpPr>
        <p:pic>
          <p:nvPicPr>
            <p:cNvPr id="17" name="Picture 16">
              <a:extLst>
                <a:ext uri="{FF2B5EF4-FFF2-40B4-BE49-F238E27FC236}">
                  <a16:creationId xmlns:a16="http://schemas.microsoft.com/office/drawing/2014/main" id="{847FAC1E-F654-AB4A-F795-FB52FB2C33F5}"/>
                </a:ext>
              </a:extLst>
            </p:cNvPr>
            <p:cNvPicPr>
              <a:picLocks noChangeAspect="1"/>
            </p:cNvPicPr>
            <p:nvPr/>
          </p:nvPicPr>
          <p:blipFill>
            <a:blip r:embed="rId4"/>
            <a:stretch>
              <a:fillRect/>
            </a:stretch>
          </p:blipFill>
          <p:spPr>
            <a:xfrm>
              <a:off x="2665677" y="1397503"/>
              <a:ext cx="7772400" cy="5017732"/>
            </a:xfrm>
            <a:prstGeom prst="rect">
              <a:avLst/>
            </a:prstGeom>
          </p:spPr>
        </p:pic>
        <p:grpSp>
          <p:nvGrpSpPr>
            <p:cNvPr id="7" name="Group 6">
              <a:extLst>
                <a:ext uri="{FF2B5EF4-FFF2-40B4-BE49-F238E27FC236}">
                  <a16:creationId xmlns:a16="http://schemas.microsoft.com/office/drawing/2014/main" id="{6DB18142-9B61-CD2E-A26D-316370CF5C85}"/>
                </a:ext>
              </a:extLst>
            </p:cNvPr>
            <p:cNvGrpSpPr/>
            <p:nvPr/>
          </p:nvGrpSpPr>
          <p:grpSpPr>
            <a:xfrm>
              <a:off x="3506496" y="5538589"/>
              <a:ext cx="4842246" cy="378878"/>
              <a:chOff x="3592635" y="5730754"/>
              <a:chExt cx="4842246" cy="378878"/>
            </a:xfrm>
          </p:grpSpPr>
          <p:sp>
            <p:nvSpPr>
              <p:cNvPr id="14" name="Oval 13">
                <a:extLst>
                  <a:ext uri="{FF2B5EF4-FFF2-40B4-BE49-F238E27FC236}">
                    <a16:creationId xmlns:a16="http://schemas.microsoft.com/office/drawing/2014/main" id="{13BDC468-2D1F-C7DF-CE49-C2B1CAEB9983}"/>
                  </a:ext>
                </a:extLst>
              </p:cNvPr>
              <p:cNvSpPr/>
              <p:nvPr/>
            </p:nvSpPr>
            <p:spPr>
              <a:xfrm>
                <a:off x="3592635" y="5943150"/>
                <a:ext cx="164486" cy="1664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C6887A2-4DF8-EC0E-24F0-08A6970C6811}"/>
                      </a:ext>
                    </a:extLst>
                  </p:cNvPr>
                  <p:cNvSpPr txBox="1"/>
                  <p:nvPr/>
                </p:nvSpPr>
                <p:spPr>
                  <a:xfrm>
                    <a:off x="3957374" y="5730754"/>
                    <a:ext cx="4477507" cy="369332"/>
                  </a:xfrm>
                  <a:prstGeom prst="rect">
                    <a:avLst/>
                  </a:prstGeom>
                  <a:noFill/>
                </p:spPr>
                <p:txBody>
                  <a:bodyPr wrap="square" rtlCol="0">
                    <a:spAutoFit/>
                  </a:bodyPr>
                  <a:lstStyle/>
                  <a:p>
                    <a:r>
                      <a:rPr lang="en-US" dirty="0">
                        <a:solidFill>
                          <a:srgbClr val="0070C0"/>
                        </a:solidFill>
                      </a:rPr>
                      <a:t>pre-industrial atmospheric </a:t>
                    </a:r>
                    <a14:m>
                      <m:oMath xmlns:m="http://schemas.openxmlformats.org/officeDocument/2006/math">
                        <m:r>
                          <a:rPr lang="en-US" b="0" i="1" smtClean="0">
                            <a:solidFill>
                              <a:srgbClr val="0070C0"/>
                            </a:solidFill>
                            <a:latin typeface="Cambria Math" panose="02040503050406030204" pitchFamily="18" charset="0"/>
                          </a:rPr>
                          <m:t>𝐶</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𝑂</m:t>
                            </m:r>
                          </m:e>
                          <m:sub>
                            <m:r>
                              <a:rPr lang="en-US" b="0" i="1" smtClean="0">
                                <a:solidFill>
                                  <a:srgbClr val="0070C0"/>
                                </a:solidFill>
                                <a:latin typeface="Cambria Math" panose="02040503050406030204" pitchFamily="18" charset="0"/>
                              </a:rPr>
                              <m:t>2</m:t>
                            </m:r>
                          </m:sub>
                        </m:sSub>
                      </m:oMath>
                    </a14:m>
                    <a:r>
                      <a:rPr lang="en-US" dirty="0">
                        <a:solidFill>
                          <a:srgbClr val="0070C0"/>
                        </a:solidFill>
                      </a:rPr>
                      <a:t> (</a:t>
                    </a:r>
                    <a14:m>
                      <m:oMath xmlns:m="http://schemas.openxmlformats.org/officeDocument/2006/math">
                        <m:r>
                          <a:rPr lang="en-US" b="0" i="1" smtClean="0">
                            <a:solidFill>
                              <a:srgbClr val="0070C0"/>
                            </a:solidFill>
                            <a:latin typeface="Cambria Math" panose="02040503050406030204" pitchFamily="18" charset="0"/>
                          </a:rPr>
                          <m:t>590 </m:t>
                        </m:r>
                        <m:r>
                          <a:rPr lang="en-US" b="0" i="1" smtClean="0">
                            <a:solidFill>
                              <a:srgbClr val="0070C0"/>
                            </a:solidFill>
                            <a:latin typeface="Cambria Math" panose="02040503050406030204" pitchFamily="18" charset="0"/>
                          </a:rPr>
                          <m:t>𝐺𝑡𝐶</m:t>
                        </m:r>
                      </m:oMath>
                    </a14:m>
                    <a:r>
                      <a:rPr lang="en-US" dirty="0">
                        <a:solidFill>
                          <a:srgbClr val="0070C0"/>
                        </a:solidFill>
                      </a:rPr>
                      <a:t>)</a:t>
                    </a:r>
                  </a:p>
                </p:txBody>
              </p:sp>
            </mc:Choice>
            <mc:Fallback xmlns="">
              <p:sp>
                <p:nvSpPr>
                  <p:cNvPr id="11" name="TextBox 10">
                    <a:extLst>
                      <a:ext uri="{FF2B5EF4-FFF2-40B4-BE49-F238E27FC236}">
                        <a16:creationId xmlns:a16="http://schemas.microsoft.com/office/drawing/2014/main" id="{9C6887A2-4DF8-EC0E-24F0-08A6970C6811}"/>
                      </a:ext>
                    </a:extLst>
                  </p:cNvPr>
                  <p:cNvSpPr txBox="1">
                    <a:spLocks noRot="1" noChangeAspect="1" noMove="1" noResize="1" noEditPoints="1" noAdjustHandles="1" noChangeArrowheads="1" noChangeShapeType="1" noTextEdit="1"/>
                  </p:cNvSpPr>
                  <p:nvPr/>
                </p:nvSpPr>
                <p:spPr>
                  <a:xfrm>
                    <a:off x="3957374" y="5730754"/>
                    <a:ext cx="4477507" cy="369332"/>
                  </a:xfrm>
                  <a:prstGeom prst="rect">
                    <a:avLst/>
                  </a:prstGeom>
                  <a:blipFill>
                    <a:blip r:embed="rId5"/>
                    <a:stretch>
                      <a:fillRect l="-1130" t="-10000" b="-23333"/>
                    </a:stretch>
                  </a:blipFill>
                </p:spPr>
                <p:txBody>
                  <a:bodyPr/>
                  <a:lstStyle/>
                  <a:p>
                    <a:r>
                      <a:rPr lang="en-US">
                        <a:noFill/>
                      </a:rPr>
                      <a:t> </a:t>
                    </a:r>
                  </a:p>
                </p:txBody>
              </p:sp>
            </mc:Fallback>
          </mc:AlternateContent>
        </p:grpSp>
        <p:grpSp>
          <p:nvGrpSpPr>
            <p:cNvPr id="21" name="Group 20">
              <a:extLst>
                <a:ext uri="{FF2B5EF4-FFF2-40B4-BE49-F238E27FC236}">
                  <a16:creationId xmlns:a16="http://schemas.microsoft.com/office/drawing/2014/main" id="{09190B7C-BC42-5B43-A726-E2001D5AAFD5}"/>
                </a:ext>
              </a:extLst>
            </p:cNvPr>
            <p:cNvGrpSpPr/>
            <p:nvPr/>
          </p:nvGrpSpPr>
          <p:grpSpPr>
            <a:xfrm>
              <a:off x="6689561" y="3510712"/>
              <a:ext cx="2933439" cy="369332"/>
              <a:chOff x="4950529" y="4584370"/>
              <a:chExt cx="2933439" cy="369332"/>
            </a:xfrm>
          </p:grpSpPr>
          <p:sp>
            <p:nvSpPr>
              <p:cNvPr id="19" name="Oval 18">
                <a:extLst>
                  <a:ext uri="{FF2B5EF4-FFF2-40B4-BE49-F238E27FC236}">
                    <a16:creationId xmlns:a16="http://schemas.microsoft.com/office/drawing/2014/main" id="{B5034E51-84DF-87D6-757F-953802A3DDD8}"/>
                  </a:ext>
                </a:extLst>
              </p:cNvPr>
              <p:cNvSpPr/>
              <p:nvPr/>
            </p:nvSpPr>
            <p:spPr>
              <a:xfrm>
                <a:off x="4950529" y="4691092"/>
                <a:ext cx="164485" cy="166483"/>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DD8344D-8C5B-4FB0-2EB4-AC44567D09FF}"/>
                      </a:ext>
                    </a:extLst>
                  </p:cNvPr>
                  <p:cNvSpPr txBox="1"/>
                  <p:nvPr/>
                </p:nvSpPr>
                <p:spPr>
                  <a:xfrm>
                    <a:off x="5219787" y="4584370"/>
                    <a:ext cx="2664181" cy="369332"/>
                  </a:xfrm>
                  <a:prstGeom prst="rect">
                    <a:avLst/>
                  </a:prstGeom>
                  <a:noFill/>
                </p:spPr>
                <p:txBody>
                  <a:bodyPr wrap="square" rtlCol="0">
                    <a:spAutoFit/>
                  </a:bodyPr>
                  <a:lstStyle/>
                  <a:p>
                    <a:r>
                      <a:rPr lang="en-US" dirty="0">
                        <a:solidFill>
                          <a:schemeClr val="accent6"/>
                        </a:solidFill>
                      </a:rPr>
                      <a:t>In 2003 (</a:t>
                    </a:r>
                    <a14:m>
                      <m:oMath xmlns:m="http://schemas.openxmlformats.org/officeDocument/2006/math">
                        <m:r>
                          <a:rPr lang="en-US" b="0" i="1" smtClean="0">
                            <a:solidFill>
                              <a:schemeClr val="accent6"/>
                            </a:solidFill>
                            <a:latin typeface="Cambria Math" panose="02040503050406030204" pitchFamily="18" charset="0"/>
                          </a:rPr>
                          <m:t>800 </m:t>
                        </m:r>
                        <m:r>
                          <a:rPr lang="en-US" b="0" i="1" smtClean="0">
                            <a:solidFill>
                              <a:schemeClr val="accent6"/>
                            </a:solidFill>
                            <a:latin typeface="Cambria Math" panose="02040503050406030204" pitchFamily="18" charset="0"/>
                          </a:rPr>
                          <m:t>𝐺𝑡𝐶</m:t>
                        </m:r>
                      </m:oMath>
                    </a14:m>
                    <a:r>
                      <a:rPr lang="en-US" dirty="0">
                        <a:solidFill>
                          <a:schemeClr val="accent6"/>
                        </a:solidFill>
                      </a:rPr>
                      <a:t>)</a:t>
                    </a:r>
                  </a:p>
                </p:txBody>
              </p:sp>
            </mc:Choice>
            <mc:Fallback xmlns="">
              <p:sp>
                <p:nvSpPr>
                  <p:cNvPr id="20" name="TextBox 19">
                    <a:extLst>
                      <a:ext uri="{FF2B5EF4-FFF2-40B4-BE49-F238E27FC236}">
                        <a16:creationId xmlns:a16="http://schemas.microsoft.com/office/drawing/2014/main" id="{CDD8344D-8C5B-4FB0-2EB4-AC44567D09FF}"/>
                      </a:ext>
                    </a:extLst>
                  </p:cNvPr>
                  <p:cNvSpPr txBox="1">
                    <a:spLocks noRot="1" noChangeAspect="1" noMove="1" noResize="1" noEditPoints="1" noAdjustHandles="1" noChangeArrowheads="1" noChangeShapeType="1" noTextEdit="1"/>
                  </p:cNvSpPr>
                  <p:nvPr/>
                </p:nvSpPr>
                <p:spPr>
                  <a:xfrm>
                    <a:off x="5219787" y="4584370"/>
                    <a:ext cx="2664181" cy="369332"/>
                  </a:xfrm>
                  <a:prstGeom prst="rect">
                    <a:avLst/>
                  </a:prstGeom>
                  <a:blipFill>
                    <a:blip r:embed="rId7"/>
                    <a:stretch>
                      <a:fillRect l="-2381" t="-6667" b="-26667"/>
                    </a:stretch>
                  </a:blipFill>
                </p:spPr>
                <p:txBody>
                  <a:bodyPr/>
                  <a:lstStyle/>
                  <a:p>
                    <a:r>
                      <a:rPr lang="en-US">
                        <a:noFill/>
                      </a:rPr>
                      <a:t> </a:t>
                    </a:r>
                  </a:p>
                </p:txBody>
              </p:sp>
            </mc:Fallback>
          </mc:AlternateContent>
        </p:grpSp>
        <p:grpSp>
          <p:nvGrpSpPr>
            <p:cNvPr id="25" name="Group 24">
              <a:extLst>
                <a:ext uri="{FF2B5EF4-FFF2-40B4-BE49-F238E27FC236}">
                  <a16:creationId xmlns:a16="http://schemas.microsoft.com/office/drawing/2014/main" id="{E80EBF2E-D4F0-0896-8A58-BBB4F7B6D133}"/>
                </a:ext>
              </a:extLst>
            </p:cNvPr>
            <p:cNvGrpSpPr/>
            <p:nvPr/>
          </p:nvGrpSpPr>
          <p:grpSpPr>
            <a:xfrm>
              <a:off x="8318260" y="2555532"/>
              <a:ext cx="2503209" cy="380768"/>
              <a:chOff x="5845532" y="4009949"/>
              <a:chExt cx="2503209" cy="380768"/>
            </a:xfrm>
          </p:grpSpPr>
          <p:sp>
            <p:nvSpPr>
              <p:cNvPr id="22" name="Oval 21">
                <a:extLst>
                  <a:ext uri="{FF2B5EF4-FFF2-40B4-BE49-F238E27FC236}">
                    <a16:creationId xmlns:a16="http://schemas.microsoft.com/office/drawing/2014/main" id="{53B3BC59-1B4A-E285-6D7F-5E93E4A8420E}"/>
                  </a:ext>
                </a:extLst>
              </p:cNvPr>
              <p:cNvSpPr/>
              <p:nvPr/>
            </p:nvSpPr>
            <p:spPr>
              <a:xfrm>
                <a:off x="5845532" y="4009949"/>
                <a:ext cx="164485" cy="16648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5A0FA84-70F6-2A0D-8149-449802D25A58}"/>
                      </a:ext>
                    </a:extLst>
                  </p:cNvPr>
                  <p:cNvSpPr txBox="1"/>
                  <p:nvPr/>
                </p:nvSpPr>
                <p:spPr>
                  <a:xfrm>
                    <a:off x="6009860" y="4021385"/>
                    <a:ext cx="2338881" cy="369332"/>
                  </a:xfrm>
                  <a:prstGeom prst="rect">
                    <a:avLst/>
                  </a:prstGeom>
                  <a:noFill/>
                </p:spPr>
                <p:txBody>
                  <a:bodyPr wrap="square" rtlCol="0">
                    <a:spAutoFit/>
                  </a:bodyPr>
                  <a:lstStyle/>
                  <a:p>
                    <a:r>
                      <a:rPr lang="en-US" dirty="0">
                        <a:solidFill>
                          <a:schemeClr val="accent2"/>
                        </a:solidFill>
                      </a:rPr>
                      <a:t>In 2026 (</a:t>
                    </a:r>
                    <a14:m>
                      <m:oMath xmlns:m="http://schemas.openxmlformats.org/officeDocument/2006/math">
                        <m:r>
                          <a:rPr lang="en-US" b="0" i="1" smtClean="0">
                            <a:solidFill>
                              <a:schemeClr val="accent2"/>
                            </a:solidFill>
                            <a:latin typeface="Cambria Math" panose="02040503050406030204" pitchFamily="18" charset="0"/>
                          </a:rPr>
                          <m:t>910 </m:t>
                        </m:r>
                        <m:r>
                          <a:rPr lang="en-US" b="0" i="1" smtClean="0">
                            <a:solidFill>
                              <a:schemeClr val="accent2"/>
                            </a:solidFill>
                            <a:latin typeface="Cambria Math" panose="02040503050406030204" pitchFamily="18" charset="0"/>
                          </a:rPr>
                          <m:t>𝐺𝑡𝐶</m:t>
                        </m:r>
                      </m:oMath>
                    </a14:m>
                    <a:r>
                      <a:rPr lang="en-US" dirty="0">
                        <a:solidFill>
                          <a:schemeClr val="accent2"/>
                        </a:solidFill>
                      </a:rPr>
                      <a:t>) </a:t>
                    </a:r>
                  </a:p>
                </p:txBody>
              </p:sp>
            </mc:Choice>
            <mc:Fallback xmlns="">
              <p:sp>
                <p:nvSpPr>
                  <p:cNvPr id="23" name="TextBox 22">
                    <a:extLst>
                      <a:ext uri="{FF2B5EF4-FFF2-40B4-BE49-F238E27FC236}">
                        <a16:creationId xmlns:a16="http://schemas.microsoft.com/office/drawing/2014/main" id="{75A0FA84-70F6-2A0D-8149-449802D25A58}"/>
                      </a:ext>
                    </a:extLst>
                  </p:cNvPr>
                  <p:cNvSpPr txBox="1">
                    <a:spLocks noRot="1" noChangeAspect="1" noMove="1" noResize="1" noEditPoints="1" noAdjustHandles="1" noChangeArrowheads="1" noChangeShapeType="1" noTextEdit="1"/>
                  </p:cNvSpPr>
                  <p:nvPr/>
                </p:nvSpPr>
                <p:spPr>
                  <a:xfrm>
                    <a:off x="6009860" y="4021385"/>
                    <a:ext cx="2338881" cy="369332"/>
                  </a:xfrm>
                  <a:prstGeom prst="rect">
                    <a:avLst/>
                  </a:prstGeom>
                  <a:blipFill>
                    <a:blip r:embed="rId8"/>
                    <a:stretch>
                      <a:fillRect l="-2703" t="-6667" b="-26667"/>
                    </a:stretch>
                  </a:blipFill>
                </p:spPr>
                <p:txBody>
                  <a:bodyPr/>
                  <a:lstStyle/>
                  <a:p>
                    <a:r>
                      <a:rPr lang="en-US">
                        <a:noFill/>
                      </a:rPr>
                      <a:t> </a:t>
                    </a:r>
                  </a:p>
                </p:txBody>
              </p:sp>
            </mc:Fallback>
          </mc:AlternateContent>
        </p:grpSp>
      </p:grpSp>
      <p:pic>
        <p:nvPicPr>
          <p:cNvPr id="3" name="Picture 2" descr="Draft diagram of the carbon cycle.">
            <a:extLst>
              <a:ext uri="{FF2B5EF4-FFF2-40B4-BE49-F238E27FC236}">
                <a16:creationId xmlns:a16="http://schemas.microsoft.com/office/drawing/2014/main" id="{6B846343-813D-EBED-08F9-3C1C4E97CE0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0213" y="3246017"/>
            <a:ext cx="3861311" cy="257420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92FE615-399D-2215-F7EE-BCF9DB94CF8F}"/>
              </a:ext>
            </a:extLst>
          </p:cNvPr>
          <p:cNvPicPr>
            <a:picLocks noChangeAspect="1"/>
          </p:cNvPicPr>
          <p:nvPr/>
        </p:nvPicPr>
        <p:blipFill>
          <a:blip r:embed="rId10"/>
          <a:stretch>
            <a:fillRect/>
          </a:stretch>
        </p:blipFill>
        <p:spPr>
          <a:xfrm>
            <a:off x="525713" y="1037776"/>
            <a:ext cx="5570287" cy="1060055"/>
          </a:xfrm>
          <a:prstGeom prst="rect">
            <a:avLst/>
          </a:prstGeom>
          <a:ln>
            <a:solidFill>
              <a:schemeClr val="accent1"/>
            </a:solidFill>
          </a:ln>
        </p:spPr>
      </p:pic>
    </p:spTree>
    <p:extLst>
      <p:ext uri="{BB962C8B-B14F-4D97-AF65-F5344CB8AC3E}">
        <p14:creationId xmlns:p14="http://schemas.microsoft.com/office/powerpoint/2010/main" val="2722891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370659-7373-8186-8633-EEAFB8369FB3}"/>
              </a:ext>
            </a:extLst>
          </p:cNvPr>
          <p:cNvSpPr txBox="1"/>
          <p:nvPr/>
        </p:nvSpPr>
        <p:spPr>
          <a:xfrm>
            <a:off x="0" y="2677"/>
            <a:ext cx="12192000" cy="461665"/>
          </a:xfrm>
          <a:prstGeom prst="rect">
            <a:avLst/>
          </a:prstGeom>
          <a:solidFill>
            <a:schemeClr val="accent2"/>
          </a:solidFill>
        </p:spPr>
        <p:txBody>
          <a:bodyPr wrap="square" rtlCol="0">
            <a:spAutoFit/>
          </a:bodyPr>
          <a:lstStyle/>
          <a:p>
            <a:r>
              <a:rPr lang="en-US" sz="2400" b="1" dirty="0"/>
              <a:t>OK, let’s get started</a:t>
            </a:r>
          </a:p>
        </p:txBody>
      </p:sp>
      <p:pic>
        <p:nvPicPr>
          <p:cNvPr id="5" name="Picture 4">
            <a:extLst>
              <a:ext uri="{FF2B5EF4-FFF2-40B4-BE49-F238E27FC236}">
                <a16:creationId xmlns:a16="http://schemas.microsoft.com/office/drawing/2014/main" id="{C9036E8C-7F9C-CCB6-4622-687E4937B85A}"/>
              </a:ext>
            </a:extLst>
          </p:cNvPr>
          <p:cNvPicPr>
            <a:picLocks noChangeAspect="1"/>
          </p:cNvPicPr>
          <p:nvPr/>
        </p:nvPicPr>
        <p:blipFill>
          <a:blip r:embed="rId3"/>
          <a:stretch>
            <a:fillRect/>
          </a:stretch>
        </p:blipFill>
        <p:spPr>
          <a:xfrm>
            <a:off x="417095" y="969104"/>
            <a:ext cx="9147002" cy="1208612"/>
          </a:xfrm>
          <a:prstGeom prst="rect">
            <a:avLst/>
          </a:prstGeom>
          <a:ln>
            <a:solidFill>
              <a:schemeClr val="accent1"/>
            </a:solidFill>
          </a:ln>
        </p:spPr>
      </p:pic>
      <p:pic>
        <p:nvPicPr>
          <p:cNvPr id="9" name="Picture 8">
            <a:extLst>
              <a:ext uri="{FF2B5EF4-FFF2-40B4-BE49-F238E27FC236}">
                <a16:creationId xmlns:a16="http://schemas.microsoft.com/office/drawing/2014/main" id="{6B14F48B-7F50-8B6A-0DE0-80CEB3B34B68}"/>
              </a:ext>
            </a:extLst>
          </p:cNvPr>
          <p:cNvPicPr>
            <a:picLocks noChangeAspect="1"/>
          </p:cNvPicPr>
          <p:nvPr/>
        </p:nvPicPr>
        <p:blipFill>
          <a:blip r:embed="rId4"/>
          <a:stretch>
            <a:fillRect/>
          </a:stretch>
        </p:blipFill>
        <p:spPr>
          <a:xfrm>
            <a:off x="1680411" y="4295275"/>
            <a:ext cx="8879304" cy="1711672"/>
          </a:xfrm>
          <a:prstGeom prst="rect">
            <a:avLst/>
          </a:prstGeom>
          <a:ln>
            <a:solidFill>
              <a:schemeClr val="accent1"/>
            </a:solidFill>
          </a:ln>
        </p:spPr>
      </p:pic>
      <p:pic>
        <p:nvPicPr>
          <p:cNvPr id="10" name="Picture 9">
            <a:extLst>
              <a:ext uri="{FF2B5EF4-FFF2-40B4-BE49-F238E27FC236}">
                <a16:creationId xmlns:a16="http://schemas.microsoft.com/office/drawing/2014/main" id="{DB48160B-3FF3-CFDA-3949-94A1647E6125}"/>
              </a:ext>
            </a:extLst>
          </p:cNvPr>
          <p:cNvPicPr>
            <a:picLocks noChangeAspect="1"/>
          </p:cNvPicPr>
          <p:nvPr/>
        </p:nvPicPr>
        <p:blipFill>
          <a:blip r:embed="rId5"/>
          <a:stretch>
            <a:fillRect/>
          </a:stretch>
        </p:blipFill>
        <p:spPr>
          <a:xfrm>
            <a:off x="3182018" y="2811043"/>
            <a:ext cx="5803900" cy="850900"/>
          </a:xfrm>
          <a:prstGeom prst="rect">
            <a:avLst/>
          </a:prstGeom>
        </p:spPr>
      </p:pic>
    </p:spTree>
    <p:extLst>
      <p:ext uri="{BB962C8B-B14F-4D97-AF65-F5344CB8AC3E}">
        <p14:creationId xmlns:p14="http://schemas.microsoft.com/office/powerpoint/2010/main" val="2830625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5782</TotalTime>
  <Words>961</Words>
  <Application>Microsoft Macintosh PowerPoint</Application>
  <PresentationFormat>Widescreen</PresentationFormat>
  <Paragraphs>47</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 Math</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dc:creator>
  <cp:lastModifiedBy>Steven</cp:lastModifiedBy>
  <cp:revision>146</cp:revision>
  <dcterms:created xsi:type="dcterms:W3CDTF">2021-09-25T22:03:07Z</dcterms:created>
  <dcterms:modified xsi:type="dcterms:W3CDTF">2026-02-11T16:21:19Z</dcterms:modified>
</cp:coreProperties>
</file>