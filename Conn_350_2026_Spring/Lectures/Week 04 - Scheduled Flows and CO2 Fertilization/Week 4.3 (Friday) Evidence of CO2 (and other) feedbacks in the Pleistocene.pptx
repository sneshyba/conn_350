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446" r:id="rId2"/>
    <p:sldId id="1981" r:id="rId3"/>
    <p:sldId id="1982" r:id="rId4"/>
    <p:sldId id="1978" r:id="rId5"/>
    <p:sldId id="1879" r:id="rId6"/>
    <p:sldId id="1983" r:id="rId7"/>
    <p:sldId id="1979" r:id="rId8"/>
    <p:sldId id="1985" r:id="rId9"/>
    <p:sldId id="198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976"/>
  </p:normalViewPr>
  <p:slideViewPr>
    <p:cSldViewPr snapToGrid="0" showGuides="1">
      <p:cViewPr varScale="1">
        <p:scale>
          <a:sx n="113" d="100"/>
          <a:sy n="113" d="100"/>
        </p:scale>
        <p:origin x="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17554-D8C9-2946-999D-26B37241DDB5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42A2B0-23A3-9B48-BFC1-0C37D86AD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545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 the temperature if CO2 continues to rise. If we reduce CO2 emissions to zero.</a:t>
            </a:r>
          </a:p>
        </p:txBody>
      </p:sp>
    </p:spTree>
    <p:extLst>
      <p:ext uri="{BB962C8B-B14F-4D97-AF65-F5344CB8AC3E}">
        <p14:creationId xmlns:p14="http://schemas.microsoft.com/office/powerpoint/2010/main" val="3855222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 the temperature if CO2 continues to rise. If we reduce CO2 emissions to zero.</a:t>
            </a:r>
          </a:p>
        </p:txBody>
      </p:sp>
    </p:spTree>
    <p:extLst>
      <p:ext uri="{BB962C8B-B14F-4D97-AF65-F5344CB8AC3E}">
        <p14:creationId xmlns:p14="http://schemas.microsoft.com/office/powerpoint/2010/main" val="2964033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8D6BC-C008-8095-E352-B82D8034F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A4BBE-5C5D-96F6-532F-CDBE2446BB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77B78-1AD8-3E09-CFE3-DAE38A91C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C7F5-5982-BF42-9A3A-EF3B79F48225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6D31F-B177-3864-A6BD-DCBC3F355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6D666-CD75-E517-791F-BAA656FFC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BE6A-50D9-EC45-8856-4F8B5A7F0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28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0D99C-8791-DCB4-C720-F8AA78161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41CA6-749C-5F79-2E69-F5B50EAFB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C86A2-179E-D98D-FEB1-8F692FF88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C7F5-5982-BF42-9A3A-EF3B79F48225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E0861-5934-CB58-B9FA-361BC446E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8C827-10DC-6D6F-51EF-4D7C0C5B0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BE6A-50D9-EC45-8856-4F8B5A7F0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36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20BDE-22AC-AC03-E3B2-3022517FA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5B21D-067C-6DE6-F0E2-009A50950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E9EBF-050C-897A-A389-B11BFB5B7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C7F5-5982-BF42-9A3A-EF3B79F48225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F1A86-DD8D-1BFB-AB12-2230F8876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EBDFD-4273-DF4B-EEEC-44C8B8136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BE6A-50D9-EC45-8856-4F8B5A7F0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901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FCB7A-89DF-F6B3-471B-0208B97BD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BA4D4-5EF5-73D8-47F5-306F63124C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B0FB6-2F73-88FE-096F-33F19ACFC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1FC6C-58B6-7EA1-596E-9D7CA10FC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C7F5-5982-BF42-9A3A-EF3B79F48225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2151D-E1C5-DDB1-A578-1EE4E1B85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F63CF-FEA8-AA79-6EF9-CAE7CA30C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BE6A-50D9-EC45-8856-4F8B5A7F0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95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5A97C-D59D-21DC-222E-59292B36F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32F3A-6809-1F28-2433-10D724A8A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AD942-1AA6-535D-C581-BA21C86C2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D20C61-A191-19C3-C15B-1518B02B4C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78B300-35B8-7BB2-AC55-1986AA3856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692C43-F42B-5CC1-436C-D49C5E354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C7F5-5982-BF42-9A3A-EF3B79F48225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C7B994-D043-4C40-BA7F-23D3FDBD8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254C83-8381-4CAB-6026-01B953ED8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BE6A-50D9-EC45-8856-4F8B5A7F0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450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59DF8-B868-9F6F-16B3-CA9E2E168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F02DD-D52B-D05D-2A58-74C68CD67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C7F5-5982-BF42-9A3A-EF3B79F48225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BBA64E-ABA7-880D-70A5-529035160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79F3F9-2647-54B2-0EDC-6BF3D02B4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BE6A-50D9-EC45-8856-4F8B5A7F0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182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46E009-1BF6-C615-E4DB-1EBA0142B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C7F5-5982-BF42-9A3A-EF3B79F48225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D2C1ED-184E-3AE3-F834-3A86E97D5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D7C7F-E664-65A0-1C28-CB03F75C1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BE6A-50D9-EC45-8856-4F8B5A7F0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516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9CD3D-762D-68F0-3715-25C56E1A5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F08E9-16BC-2330-7E04-EBDB9A6E2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E331F6-0B52-5415-FD28-E2888D84F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3E588-3F55-AEBE-3985-2053968EB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C7F5-5982-BF42-9A3A-EF3B79F48225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07EF94-F5BC-E0B4-ADE5-901C66CA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8C055-A9B4-9C38-BBD3-FF414530B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BE6A-50D9-EC45-8856-4F8B5A7F0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042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D8A68-D60D-325D-829B-9B5542E86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E4AFEE-E30A-084C-EA66-C9F82851D8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295BE-4048-9626-02BD-A7184871D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486A7-9ECF-7D30-37B2-95F6568D9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C7F5-5982-BF42-9A3A-EF3B79F48225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78B1C-4E6D-C6DB-8C98-482134084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9BF528-FFD8-1206-C006-BD1C4BC06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BE6A-50D9-EC45-8856-4F8B5A7F0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727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70634-996D-0C30-7B24-D0249A918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325CE3-486D-9115-FA7F-5B4022DE6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3E5C8-D18A-8042-348A-06FBA732C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C7F5-5982-BF42-9A3A-EF3B79F48225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BF81A-6483-EE69-636A-7B082A9CD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9FD26-3010-8200-08FB-48AE1087C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BE6A-50D9-EC45-8856-4F8B5A7F0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168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CE16A1-8194-7374-BB6E-4E2799C33C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607782-A749-FC38-4CD7-468B3AC75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B2547-BB4F-80A3-BA3B-39DDAAA78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C7F5-5982-BF42-9A3A-EF3B79F48225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85AFA-8B27-3480-53CA-28847DEDA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F0ACC-C0A0-2E7C-B36B-FB85C93C3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BE6A-50D9-EC45-8856-4F8B5A7F0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273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4"/>
          <p:cNvSpPr txBox="1">
            <a:spLocks noGrp="1"/>
          </p:cNvSpPr>
          <p:nvPr>
            <p:ph type="title"/>
          </p:nvPr>
        </p:nvSpPr>
        <p:spPr>
          <a:xfrm>
            <a:off x="415600" y="546667"/>
            <a:ext cx="11360800" cy="8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4"/>
          <p:cNvSpPr txBox="1">
            <a:spLocks noGrp="1"/>
          </p:cNvSpPr>
          <p:nvPr>
            <p:ph type="body" idx="1"/>
          </p:nvPr>
        </p:nvSpPr>
        <p:spPr>
          <a:xfrm>
            <a:off x="415600" y="1639833"/>
            <a:ext cx="11360800" cy="44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44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62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48F28B-7145-7D87-5565-9E73921B7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AB7C4-589B-9FB2-E1A1-59A026828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7AF9B-F63C-F8A4-8D79-BA9F457406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AC7F5-5982-BF42-9A3A-EF3B79F48225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A954F-03B1-77BF-DEE6-49555DD1CE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B257A-4124-773D-F835-3482E7F121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0BE6A-50D9-EC45-8856-4F8B5A7F0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444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youtu.be/iA788usYNWA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7" Type="http://schemas.openxmlformats.org/officeDocument/2006/relationships/image" Target="../media/image13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D0F0FCA-53B5-6F40-B6DC-7700AD131260}"/>
              </a:ext>
            </a:extLst>
          </p:cNvPr>
          <p:cNvSpPr txBox="1"/>
          <p:nvPr/>
        </p:nvSpPr>
        <p:spPr>
          <a:xfrm>
            <a:off x="0" y="2574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</a:t>
            </a:r>
            <a:r>
              <a:rPr lang="en-US" sz="2400" b="1" dirty="0" err="1"/>
              <a:t>Milankovich</a:t>
            </a:r>
            <a:r>
              <a:rPr lang="en-US" sz="2400" b="1" dirty="0"/>
              <a:t> and the 100,000 year glacial / interglacial pattern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875C0B-7058-F240-A31D-2072A08F3EBC}"/>
              </a:ext>
            </a:extLst>
          </p:cNvPr>
          <p:cNvSpPr txBox="1"/>
          <p:nvPr/>
        </p:nvSpPr>
        <p:spPr>
          <a:xfrm>
            <a:off x="3966875" y="6255261"/>
            <a:ext cx="3523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Merrill video on Milankovich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D4A92F8-1470-9A4F-B58E-597137D43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538" y="1001786"/>
            <a:ext cx="8684469" cy="487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800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767C03-0D4A-B34F-B6AB-CA26AC2E8603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Forgot to mention some fun (and useful) facts: the Eemian and the Holocene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CE403E46-5304-24AE-C04E-9FDB1EB146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29075" y="0"/>
            <a:ext cx="41322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9B18090-38A2-CB8A-2D6A-3B88824BD786}"/>
              </a:ext>
            </a:extLst>
          </p:cNvPr>
          <p:cNvGrpSpPr/>
          <p:nvPr/>
        </p:nvGrpSpPr>
        <p:grpSpPr>
          <a:xfrm>
            <a:off x="204127" y="853183"/>
            <a:ext cx="8920702" cy="5651206"/>
            <a:chOff x="1004898" y="1598053"/>
            <a:chExt cx="8200913" cy="501564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BB28EE5-8EF5-03B3-7AA7-622CF46B5A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4898" y="1884153"/>
              <a:ext cx="7016358" cy="472954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F898ADA-4926-FE26-D9E5-BD6689767147}"/>
                </a:ext>
              </a:extLst>
            </p:cNvPr>
            <p:cNvSpPr txBox="1"/>
            <p:nvPr/>
          </p:nvSpPr>
          <p:spPr>
            <a:xfrm>
              <a:off x="1004898" y="1598053"/>
              <a:ext cx="8200913" cy="3277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Present</a:t>
              </a:r>
              <a:r>
                <a:rPr lang="en-US" dirty="0">
                  <a:solidFill>
                    <a:srgbClr val="7030A0"/>
                  </a:solidFill>
                </a:rPr>
                <a:t> 			</a:t>
              </a:r>
              <a:r>
                <a:rPr lang="en-US" b="1" dirty="0">
                  <a:solidFill>
                    <a:srgbClr val="7030A0"/>
                  </a:solidFill>
                  <a:sym typeface="Wingdings" pitchFamily="2" charset="2"/>
                </a:rPr>
                <a:t>&lt;-------</a:t>
              </a:r>
              <a:r>
                <a:rPr lang="en-US" dirty="0">
                  <a:solidFill>
                    <a:srgbClr val="7030A0"/>
                  </a:solidFill>
                </a:rPr>
                <a:t>			</a:t>
              </a:r>
              <a:r>
                <a:rPr lang="en-US" b="1" dirty="0">
                  <a:solidFill>
                    <a:srgbClr val="7030A0"/>
                  </a:solidFill>
                </a:rPr>
                <a:t>400,000 years ago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6A5279E-6CAB-1F95-1832-BC3A2F613E84}"/>
              </a:ext>
            </a:extLst>
          </p:cNvPr>
          <p:cNvGrpSpPr/>
          <p:nvPr/>
        </p:nvGrpSpPr>
        <p:grpSpPr>
          <a:xfrm>
            <a:off x="8131582" y="720215"/>
            <a:ext cx="4004219" cy="1389348"/>
            <a:chOff x="7911663" y="633166"/>
            <a:chExt cx="4004219" cy="1389348"/>
          </a:xfrm>
        </p:grpSpPr>
        <p:pic>
          <p:nvPicPr>
            <p:cNvPr id="12" name="Picture 4" descr="West Antarctic Ice Sheet's Collapse Triggers Sea Level Warning">
              <a:extLst>
                <a:ext uri="{FF2B5EF4-FFF2-40B4-BE49-F238E27FC236}">
                  <a16:creationId xmlns:a16="http://schemas.microsoft.com/office/drawing/2014/main" id="{13C0EE12-F6A0-8686-2CAC-E9372ED90E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11663" y="633166"/>
              <a:ext cx="2467068" cy="13893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4ACA8DD-5BDC-E5EC-E8CE-CE2AA64EAEF1}"/>
                </a:ext>
              </a:extLst>
            </p:cNvPr>
            <p:cNvSpPr txBox="1"/>
            <p:nvPr/>
          </p:nvSpPr>
          <p:spPr>
            <a:xfrm>
              <a:off x="10455129" y="828862"/>
              <a:ext cx="1460753" cy="923330"/>
            </a:xfrm>
            <a:prstGeom prst="rect">
              <a:avLst/>
            </a:prstGeom>
            <a:solidFill>
              <a:srgbClr val="C00000">
                <a:alpha val="34249"/>
              </a:srgb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The West Antarctic Ice Sheet (WAIS)</a:t>
              </a:r>
            </a:p>
          </p:txBody>
        </p:sp>
      </p:grp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D720334-83E9-4825-53D4-27BDBA465A71}"/>
              </a:ext>
            </a:extLst>
          </p:cNvPr>
          <p:cNvSpPr/>
          <p:nvPr/>
        </p:nvSpPr>
        <p:spPr>
          <a:xfrm>
            <a:off x="2691709" y="1776557"/>
            <a:ext cx="487133" cy="3825589"/>
          </a:xfrm>
          <a:prstGeom prst="roundRect">
            <a:avLst/>
          </a:prstGeom>
          <a:solidFill>
            <a:srgbClr val="C00000">
              <a:alpha val="3849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2D3B56-55BB-6693-7E7F-7E66669B9D82}"/>
              </a:ext>
            </a:extLst>
          </p:cNvPr>
          <p:cNvSpPr txBox="1"/>
          <p:nvPr/>
        </p:nvSpPr>
        <p:spPr>
          <a:xfrm>
            <a:off x="7836306" y="2242531"/>
            <a:ext cx="413226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130,000 years ago – a period called the </a:t>
            </a:r>
            <a:r>
              <a:rPr lang="en-US" sz="2400" b="1" dirty="0" err="1">
                <a:solidFill>
                  <a:srgbClr val="FF0000"/>
                </a:solidFill>
              </a:rPr>
              <a:t>Eemian</a:t>
            </a:r>
            <a:r>
              <a:rPr lang="en-US" sz="2400" dirty="0"/>
              <a:t> – was pretty hot! Loss of summertime Arctic ice, partial loss of Greenland ice, </a:t>
            </a:r>
            <a:r>
              <a:rPr lang="en-US" sz="2400" b="1" dirty="0"/>
              <a:t>complete disintegration of the WAIS </a:t>
            </a:r>
            <a:r>
              <a:rPr lang="en-US" sz="2400" dirty="0"/>
              <a:t>=&gt; all leading to meters of sea level rise compared to today.</a:t>
            </a:r>
          </a:p>
          <a:p>
            <a:endParaRPr lang="en-US" sz="2400" dirty="0"/>
          </a:p>
          <a:p>
            <a:r>
              <a:rPr lang="en-US" sz="2400" dirty="0"/>
              <a:t>100,000 years ago (or so) – anatomically modern humans spread out from Africa.  </a:t>
            </a:r>
          </a:p>
        </p:txBody>
      </p:sp>
    </p:spTree>
    <p:extLst>
      <p:ext uri="{BB962C8B-B14F-4D97-AF65-F5344CB8AC3E}">
        <p14:creationId xmlns:p14="http://schemas.microsoft.com/office/powerpoint/2010/main" val="2633449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767C03-0D4A-B34F-B6AB-CA26AC2E8603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Forgot to mention some fun (and useful) facts: the Eemian and the Holocene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CE403E46-5304-24AE-C04E-9FDB1EB146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29075" y="0"/>
            <a:ext cx="41322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9B18090-38A2-CB8A-2D6A-3B88824BD786}"/>
              </a:ext>
            </a:extLst>
          </p:cNvPr>
          <p:cNvGrpSpPr/>
          <p:nvPr/>
        </p:nvGrpSpPr>
        <p:grpSpPr>
          <a:xfrm>
            <a:off x="204127" y="853183"/>
            <a:ext cx="8920702" cy="5651206"/>
            <a:chOff x="1004898" y="1598053"/>
            <a:chExt cx="8200913" cy="501564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BB28EE5-8EF5-03B3-7AA7-622CF46B5A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4898" y="1884153"/>
              <a:ext cx="7016358" cy="472954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F898ADA-4926-FE26-D9E5-BD6689767147}"/>
                </a:ext>
              </a:extLst>
            </p:cNvPr>
            <p:cNvSpPr txBox="1"/>
            <p:nvPr/>
          </p:nvSpPr>
          <p:spPr>
            <a:xfrm>
              <a:off x="1004898" y="1598053"/>
              <a:ext cx="8200913" cy="3277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Present</a:t>
              </a:r>
              <a:r>
                <a:rPr lang="en-US" dirty="0">
                  <a:solidFill>
                    <a:srgbClr val="7030A0"/>
                  </a:solidFill>
                </a:rPr>
                <a:t> 			</a:t>
              </a:r>
              <a:r>
                <a:rPr lang="en-US" b="1" dirty="0">
                  <a:solidFill>
                    <a:srgbClr val="7030A0"/>
                  </a:solidFill>
                  <a:sym typeface="Wingdings" pitchFamily="2" charset="2"/>
                </a:rPr>
                <a:t>&lt;-------</a:t>
              </a:r>
              <a:r>
                <a:rPr lang="en-US" dirty="0">
                  <a:solidFill>
                    <a:srgbClr val="7030A0"/>
                  </a:solidFill>
                </a:rPr>
                <a:t>			</a:t>
              </a:r>
              <a:r>
                <a:rPr lang="en-US" b="1" dirty="0">
                  <a:solidFill>
                    <a:srgbClr val="7030A0"/>
                  </a:solidFill>
                </a:rPr>
                <a:t>400,000 years ago</a:t>
              </a:r>
            </a:p>
          </p:txBody>
        </p:sp>
      </p:grpSp>
      <p:pic>
        <p:nvPicPr>
          <p:cNvPr id="17" name="Picture 6">
            <a:extLst>
              <a:ext uri="{FF2B5EF4-FFF2-40B4-BE49-F238E27FC236}">
                <a16:creationId xmlns:a16="http://schemas.microsoft.com/office/drawing/2014/main" id="{E794356B-C325-0D19-1887-CDE8125A0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8932" y="555641"/>
            <a:ext cx="2809181" cy="2103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3EA9D70-9E76-3CF0-8E26-2654C1C28449}"/>
              </a:ext>
            </a:extLst>
          </p:cNvPr>
          <p:cNvSpPr/>
          <p:nvPr/>
        </p:nvSpPr>
        <p:spPr>
          <a:xfrm>
            <a:off x="1453019" y="1776557"/>
            <a:ext cx="275199" cy="3825589"/>
          </a:xfrm>
          <a:prstGeom prst="roundRect">
            <a:avLst/>
          </a:prstGeom>
          <a:solidFill>
            <a:srgbClr val="00B050">
              <a:alpha val="3849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AD01B3-CF4F-43AB-B20C-BF5E79E0905F}"/>
                  </a:ext>
                </a:extLst>
              </p:cNvPr>
              <p:cNvSpPr txBox="1"/>
              <p:nvPr/>
            </p:nvSpPr>
            <p:spPr>
              <a:xfrm>
                <a:off x="7936514" y="2837800"/>
                <a:ext cx="4149980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00B050"/>
                    </a:solidFill>
                  </a:rPr>
                  <a:t>Holocene</a:t>
                </a:r>
                <a:r>
                  <a:rPr lang="en-US" sz="2400" dirty="0"/>
                  <a:t> (last 10,000 years): agriculture is “invented.”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5,000 years: cities, civilization, writing are developed.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250 years ago: start of the industrial revolution =&gt; release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on a global scale.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AD01B3-CF4F-43AB-B20C-BF5E79E09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514" y="2837800"/>
                <a:ext cx="4149980" cy="3416320"/>
              </a:xfrm>
              <a:prstGeom prst="rect">
                <a:avLst/>
              </a:prstGeom>
              <a:blipFill>
                <a:blip r:embed="rId4"/>
                <a:stretch>
                  <a:fillRect l="-2134" t="-1481" r="-915" b="-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4640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767C03-0D4A-B34F-B6AB-CA26AC2E8603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Just want to be really clear about the climate lessons of the “Pleistocene experiment” 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CE403E46-5304-24AE-C04E-9FDB1EB146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29075" y="0"/>
            <a:ext cx="41322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9B18090-38A2-CB8A-2D6A-3B88824BD786}"/>
              </a:ext>
            </a:extLst>
          </p:cNvPr>
          <p:cNvGrpSpPr/>
          <p:nvPr/>
        </p:nvGrpSpPr>
        <p:grpSpPr>
          <a:xfrm>
            <a:off x="204127" y="853183"/>
            <a:ext cx="8920702" cy="5651206"/>
            <a:chOff x="1004898" y="1598053"/>
            <a:chExt cx="8200913" cy="501564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BB28EE5-8EF5-03B3-7AA7-622CF46B5A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4898" y="1884153"/>
              <a:ext cx="7016358" cy="472954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F898ADA-4926-FE26-D9E5-BD6689767147}"/>
                </a:ext>
              </a:extLst>
            </p:cNvPr>
            <p:cNvSpPr txBox="1"/>
            <p:nvPr/>
          </p:nvSpPr>
          <p:spPr>
            <a:xfrm>
              <a:off x="1004898" y="1598053"/>
              <a:ext cx="8200913" cy="3277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Present</a:t>
              </a:r>
              <a:r>
                <a:rPr lang="en-US" dirty="0">
                  <a:solidFill>
                    <a:srgbClr val="7030A0"/>
                  </a:solidFill>
                </a:rPr>
                <a:t> 			</a:t>
              </a:r>
              <a:r>
                <a:rPr lang="en-US" b="1" dirty="0">
                  <a:solidFill>
                    <a:srgbClr val="7030A0"/>
                  </a:solidFill>
                  <a:sym typeface="Wingdings" pitchFamily="2" charset="2"/>
                </a:rPr>
                <a:t>&lt;-------</a:t>
              </a:r>
              <a:r>
                <a:rPr lang="en-US" dirty="0">
                  <a:solidFill>
                    <a:srgbClr val="7030A0"/>
                  </a:solidFill>
                </a:rPr>
                <a:t>			</a:t>
              </a:r>
              <a:r>
                <a:rPr lang="en-US" b="1" dirty="0">
                  <a:solidFill>
                    <a:srgbClr val="7030A0"/>
                  </a:solidFill>
                </a:rPr>
                <a:t>400,000 years ago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73AD4C6-4C3D-C71A-F91F-9FB5A0B41BE1}"/>
              </a:ext>
            </a:extLst>
          </p:cNvPr>
          <p:cNvSpPr txBox="1"/>
          <p:nvPr/>
        </p:nvSpPr>
        <p:spPr>
          <a:xfrm>
            <a:off x="7715400" y="559064"/>
            <a:ext cx="437499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The </a:t>
            </a:r>
            <a:r>
              <a:rPr lang="en-US" sz="2400" b="1" dirty="0"/>
              <a:t>timing</a:t>
            </a:r>
            <a:r>
              <a:rPr lang="en-US" sz="2400" dirty="0"/>
              <a:t> is driven by Earth’s wobbling (“</a:t>
            </a:r>
            <a:r>
              <a:rPr lang="en-US" sz="2400" dirty="0" err="1"/>
              <a:t>Milankovič</a:t>
            </a:r>
            <a:r>
              <a:rPr lang="en-US" sz="2400" dirty="0"/>
              <a:t> in the driver’s seat”), but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The </a:t>
            </a:r>
            <a:r>
              <a:rPr lang="en-US" sz="2400" b="1" dirty="0"/>
              <a:t>appearance synchronous changes in CO</a:t>
            </a:r>
            <a:r>
              <a:rPr lang="en-US" sz="2400" b="1" baseline="-25000" dirty="0"/>
              <a:t>2</a:t>
            </a:r>
            <a:r>
              <a:rPr lang="en-US" sz="2400" b="1" dirty="0"/>
              <a:t> and CH</a:t>
            </a:r>
            <a:r>
              <a:rPr lang="en-US" sz="2400" b="1" baseline="-25000" dirty="0"/>
              <a:t>4</a:t>
            </a:r>
            <a:r>
              <a:rPr lang="en-US" sz="2400" b="1" dirty="0"/>
              <a:t> </a:t>
            </a:r>
            <a:r>
              <a:rPr lang="en-US" sz="2400" dirty="0"/>
              <a:t>means that those gases</a:t>
            </a:r>
            <a:r>
              <a:rPr lang="en-US" sz="2400" b="1" dirty="0"/>
              <a:t> </a:t>
            </a:r>
            <a:r>
              <a:rPr lang="en-US" sz="2400" dirty="0"/>
              <a:t>amplified heating/cooling cycles.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There’s a lesson about ice/albedo here too.</a:t>
            </a:r>
          </a:p>
        </p:txBody>
      </p:sp>
    </p:spTree>
    <p:extLst>
      <p:ext uri="{BB962C8B-B14F-4D97-AF65-F5344CB8AC3E}">
        <p14:creationId xmlns:p14="http://schemas.microsoft.com/office/powerpoint/2010/main" val="452141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C7C58A5-C6DF-5140-B42C-771BB4BF5F67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 good approximation to Earth’s actual Equilibrium Climate Sensitivity (as opposed to the ECS we got from a GCM) is the slope of Pleistocene temperature as a function of CO</a:t>
            </a:r>
            <a:r>
              <a:rPr lang="en-US" sz="2400" b="1" baseline="-25000" dirty="0"/>
              <a:t>2</a:t>
            </a:r>
            <a:endParaRPr lang="en-US" sz="2400" b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134C06-12DC-1C1F-C4CD-C3F7EFE4BC52}"/>
              </a:ext>
            </a:extLst>
          </p:cNvPr>
          <p:cNvGrpSpPr>
            <a:grpSpLocks noChangeAspect="1"/>
          </p:cNvGrpSpPr>
          <p:nvPr/>
        </p:nvGrpSpPr>
        <p:grpSpPr>
          <a:xfrm>
            <a:off x="245217" y="1134738"/>
            <a:ext cx="9207393" cy="5331375"/>
            <a:chOff x="610977" y="584200"/>
            <a:chExt cx="10834981" cy="62738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F93D28A-C48F-1B46-B9AC-91814114A164}"/>
                </a:ext>
              </a:extLst>
            </p:cNvPr>
            <p:cNvSpPr txBox="1"/>
            <p:nvPr/>
          </p:nvSpPr>
          <p:spPr>
            <a:xfrm>
              <a:off x="6779660" y="5997039"/>
              <a:ext cx="38962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Courtesy Penny Rowe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112246C-F1E4-9B4D-9BA6-904EDBEA354B}"/>
                </a:ext>
              </a:extLst>
            </p:cNvPr>
            <p:cNvGrpSpPr/>
            <p:nvPr/>
          </p:nvGrpSpPr>
          <p:grpSpPr>
            <a:xfrm>
              <a:off x="610977" y="584200"/>
              <a:ext cx="10834981" cy="6273800"/>
              <a:chOff x="610977" y="584200"/>
              <a:chExt cx="10834981" cy="627380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636E9971-22CA-0545-9B08-B95E1ADA6B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8519"/>
              <a:stretch/>
            </p:blipFill>
            <p:spPr>
              <a:xfrm>
                <a:off x="746042" y="584200"/>
                <a:ext cx="10699916" cy="6273800"/>
              </a:xfrm>
              <a:prstGeom prst="rect">
                <a:avLst/>
              </a:prstGeom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61A32B-6EF8-F248-AF60-46981D0CFB52}"/>
                  </a:ext>
                </a:extLst>
              </p:cNvPr>
              <p:cNvSpPr txBox="1"/>
              <p:nvPr/>
            </p:nvSpPr>
            <p:spPr>
              <a:xfrm rot="16200000">
                <a:off x="-965389" y="2693967"/>
                <a:ext cx="3614398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B050"/>
                    </a:solidFill>
                  </a:rPr>
                  <a:t>T (relative to 1960)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4400071-091C-094C-8A43-2155362BB97D}"/>
                </a:ext>
              </a:extLst>
            </p:cNvPr>
            <p:cNvGrpSpPr/>
            <p:nvPr/>
          </p:nvGrpSpPr>
          <p:grpSpPr>
            <a:xfrm>
              <a:off x="1706008" y="1725999"/>
              <a:ext cx="5636790" cy="1592500"/>
              <a:chOff x="1413908" y="1598999"/>
              <a:chExt cx="5636790" cy="1592500"/>
            </a:xfrm>
          </p:grpSpPr>
          <p:sp>
            <p:nvSpPr>
              <p:cNvPr id="8" name="Left Brace 7">
                <a:extLst>
                  <a:ext uri="{FF2B5EF4-FFF2-40B4-BE49-F238E27FC236}">
                    <a16:creationId xmlns:a16="http://schemas.microsoft.com/office/drawing/2014/main" id="{A4CCB3AD-CD51-DC42-B1EF-3AA0552CB60C}"/>
                  </a:ext>
                </a:extLst>
              </p:cNvPr>
              <p:cNvSpPr/>
              <p:nvPr/>
            </p:nvSpPr>
            <p:spPr>
              <a:xfrm rot="5400000">
                <a:off x="3357350" y="1673849"/>
                <a:ext cx="266700" cy="2768600"/>
              </a:xfrm>
              <a:prstGeom prst="leftBrac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A4B92C70-4748-B749-8050-98466FF35702}"/>
                      </a:ext>
                    </a:extLst>
                  </p:cNvPr>
                  <p:cNvSpPr txBox="1"/>
                  <p:nvPr/>
                </p:nvSpPr>
                <p:spPr>
                  <a:xfrm>
                    <a:off x="1413908" y="1598999"/>
                    <a:ext cx="5636790" cy="12228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/>
                      <a:t>Over the last million years, the slope was </a:t>
                    </a:r>
                    <a14:m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𝟐𝟎</m:t>
                            </m:r>
                            <m: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℃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2×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a14:m>
                    <a:r>
                      <a:rPr lang="en-US" sz="2400" dirty="0"/>
                      <a:t>   </a:t>
                    </a:r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A4B92C70-4748-B749-8050-98466FF357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13908" y="1598999"/>
                    <a:ext cx="5636790" cy="1222893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116" t="-4819" r="-1323" b="-120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12BEC49-E646-8A46-A544-1E7C55E5C86B}"/>
                </a:ext>
              </a:extLst>
            </p:cNvPr>
            <p:cNvGrpSpPr/>
            <p:nvPr/>
          </p:nvGrpSpPr>
          <p:grpSpPr>
            <a:xfrm>
              <a:off x="4571997" y="4185369"/>
              <a:ext cx="5203205" cy="1592501"/>
              <a:chOff x="1803397" y="1325382"/>
              <a:chExt cx="5203205" cy="1592501"/>
            </a:xfrm>
          </p:grpSpPr>
          <p:sp>
            <p:nvSpPr>
              <p:cNvPr id="18" name="Left Brace 17">
                <a:extLst>
                  <a:ext uri="{FF2B5EF4-FFF2-40B4-BE49-F238E27FC236}">
                    <a16:creationId xmlns:a16="http://schemas.microsoft.com/office/drawing/2014/main" id="{ADDACCEE-6974-7E4D-98B1-861D6D92F388}"/>
                  </a:ext>
                </a:extLst>
              </p:cNvPr>
              <p:cNvSpPr/>
              <p:nvPr/>
            </p:nvSpPr>
            <p:spPr>
              <a:xfrm rot="5400000" flipH="1">
                <a:off x="3459344" y="-330563"/>
                <a:ext cx="266701" cy="3578591"/>
              </a:xfrm>
              <a:prstGeom prst="leftBrac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58929FCF-126D-9042-BDAA-EBF78B887246}"/>
                      </a:ext>
                    </a:extLst>
                  </p:cNvPr>
                  <p:cNvSpPr txBox="1"/>
                  <p:nvPr/>
                </p:nvSpPr>
                <p:spPr>
                  <a:xfrm>
                    <a:off x="1803397" y="1694990"/>
                    <a:ext cx="5203205" cy="1222893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/>
                      <a:t>Over the last 150 years, the slope has been </a:t>
                    </a:r>
                    <a14:m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sz="24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4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𝟕</m:t>
                            </m:r>
                            <m: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℃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2×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a14:m>
                    <a:r>
                      <a:rPr lang="en-US" sz="2400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58929FCF-126D-9042-BDAA-EBF78B8872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03397" y="1694990"/>
                    <a:ext cx="5203205" cy="122289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994" t="-3571" r="-570"/>
                    </a:stretch>
                  </a:blipFill>
                  <a:ln>
                    <a:solidFill>
                      <a:schemeClr val="accent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2560F60-B4D1-2245-8A35-82DB2A86A279}"/>
                </a:ext>
              </a:extLst>
            </p:cNvPr>
            <p:cNvSpPr txBox="1"/>
            <p:nvPr/>
          </p:nvSpPr>
          <p:spPr>
            <a:xfrm>
              <a:off x="7549701" y="6348448"/>
              <a:ext cx="38962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Courtesy Penny Rowe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7730CDC-CBD7-9CED-A3B9-F19490DF0380}"/>
                  </a:ext>
                </a:extLst>
              </p:cNvPr>
              <p:cNvSpPr txBox="1"/>
              <p:nvPr/>
            </p:nvSpPr>
            <p:spPr>
              <a:xfrm>
                <a:off x="6226191" y="2135533"/>
                <a:ext cx="5801657" cy="6698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Most GCMs are predicting a slope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℃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7730CDC-CBD7-9CED-A3B9-F19490DF0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6191" y="2135533"/>
                <a:ext cx="5801657" cy="669863"/>
              </a:xfrm>
              <a:prstGeom prst="rect">
                <a:avLst/>
              </a:prstGeom>
              <a:blipFill>
                <a:blip r:embed="rId5"/>
                <a:stretch>
                  <a:fillRect l="-152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1273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C7C58A5-C6DF-5140-B42C-771BB4BF5F67}"/>
                  </a:ext>
                </a:extLst>
              </p:cNvPr>
              <p:cNvSpPr txBox="1"/>
              <p:nvPr/>
            </p:nvSpPr>
            <p:spPr>
              <a:xfrm>
                <a:off x="1" y="0"/>
                <a:ext cx="12192000" cy="669863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𝟐𝟎</m:t>
                        </m:r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℃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b="1" dirty="0"/>
                  <a:t> requires even more positive feedback, however: ice-albedo feedback 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C7C58A5-C6DF-5140-B42C-771BB4BF5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0"/>
                <a:ext cx="12192000" cy="669863"/>
              </a:xfrm>
              <a:prstGeom prst="rect">
                <a:avLst/>
              </a:prstGeom>
              <a:blipFill>
                <a:blip r:embed="rId2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33134C06-12DC-1C1F-C4CD-C3F7EFE4BC52}"/>
              </a:ext>
            </a:extLst>
          </p:cNvPr>
          <p:cNvGrpSpPr>
            <a:grpSpLocks noChangeAspect="1"/>
          </p:cNvGrpSpPr>
          <p:nvPr/>
        </p:nvGrpSpPr>
        <p:grpSpPr>
          <a:xfrm>
            <a:off x="245217" y="1134738"/>
            <a:ext cx="9207393" cy="5331375"/>
            <a:chOff x="610977" y="584200"/>
            <a:chExt cx="10834981" cy="62738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F93D28A-C48F-1B46-B9AC-91814114A164}"/>
                </a:ext>
              </a:extLst>
            </p:cNvPr>
            <p:cNvSpPr txBox="1"/>
            <p:nvPr/>
          </p:nvSpPr>
          <p:spPr>
            <a:xfrm>
              <a:off x="6779660" y="5997039"/>
              <a:ext cx="38962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Courtesy Penny Rowe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112246C-F1E4-9B4D-9BA6-904EDBEA354B}"/>
                </a:ext>
              </a:extLst>
            </p:cNvPr>
            <p:cNvGrpSpPr/>
            <p:nvPr/>
          </p:nvGrpSpPr>
          <p:grpSpPr>
            <a:xfrm>
              <a:off x="610977" y="584200"/>
              <a:ext cx="10834981" cy="6273800"/>
              <a:chOff x="610977" y="584200"/>
              <a:chExt cx="10834981" cy="627380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636E9971-22CA-0545-9B08-B95E1ADA6B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8519"/>
              <a:stretch/>
            </p:blipFill>
            <p:spPr>
              <a:xfrm>
                <a:off x="746042" y="584200"/>
                <a:ext cx="10699916" cy="6273800"/>
              </a:xfrm>
              <a:prstGeom prst="rect">
                <a:avLst/>
              </a:prstGeom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61A32B-6EF8-F248-AF60-46981D0CFB52}"/>
                  </a:ext>
                </a:extLst>
              </p:cNvPr>
              <p:cNvSpPr txBox="1"/>
              <p:nvPr/>
            </p:nvSpPr>
            <p:spPr>
              <a:xfrm rot="16200000">
                <a:off x="-965389" y="2693967"/>
                <a:ext cx="3614398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B050"/>
                    </a:solidFill>
                  </a:rPr>
                  <a:t>T (relative to 1960)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4400071-091C-094C-8A43-2155362BB97D}"/>
                </a:ext>
              </a:extLst>
            </p:cNvPr>
            <p:cNvGrpSpPr/>
            <p:nvPr/>
          </p:nvGrpSpPr>
          <p:grpSpPr>
            <a:xfrm>
              <a:off x="1706008" y="1725999"/>
              <a:ext cx="5636790" cy="1592500"/>
              <a:chOff x="1413908" y="1598999"/>
              <a:chExt cx="5636790" cy="1592500"/>
            </a:xfrm>
          </p:grpSpPr>
          <p:sp>
            <p:nvSpPr>
              <p:cNvPr id="8" name="Left Brace 7">
                <a:extLst>
                  <a:ext uri="{FF2B5EF4-FFF2-40B4-BE49-F238E27FC236}">
                    <a16:creationId xmlns:a16="http://schemas.microsoft.com/office/drawing/2014/main" id="{A4CCB3AD-CD51-DC42-B1EF-3AA0552CB60C}"/>
                  </a:ext>
                </a:extLst>
              </p:cNvPr>
              <p:cNvSpPr/>
              <p:nvPr/>
            </p:nvSpPr>
            <p:spPr>
              <a:xfrm rot="5400000">
                <a:off x="3357350" y="1673849"/>
                <a:ext cx="266700" cy="2768600"/>
              </a:xfrm>
              <a:prstGeom prst="leftBrac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A4B92C70-4748-B749-8050-98466FF35702}"/>
                      </a:ext>
                    </a:extLst>
                  </p:cNvPr>
                  <p:cNvSpPr txBox="1"/>
                  <p:nvPr/>
                </p:nvSpPr>
                <p:spPr>
                  <a:xfrm>
                    <a:off x="1413908" y="1598999"/>
                    <a:ext cx="5636790" cy="12228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/>
                      <a:t>Over the last million years, the slope was </a:t>
                    </a:r>
                    <a14:m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𝟐𝟎</m:t>
                            </m:r>
                            <m: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℃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2×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a14:m>
                    <a:r>
                      <a:rPr lang="en-US" sz="2400" dirty="0"/>
                      <a:t>   </a:t>
                    </a:r>
                  </a:p>
                </p:txBody>
              </p:sp>
            </mc:Choice>
            <mc:Fallback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A4B92C70-4748-B749-8050-98466FF357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13908" y="1598999"/>
                    <a:ext cx="5636790" cy="122289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116" t="-4819" r="-1323" b="-120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12BEC49-E646-8A46-A544-1E7C55E5C86B}"/>
                </a:ext>
              </a:extLst>
            </p:cNvPr>
            <p:cNvGrpSpPr/>
            <p:nvPr/>
          </p:nvGrpSpPr>
          <p:grpSpPr>
            <a:xfrm>
              <a:off x="4571997" y="4185369"/>
              <a:ext cx="5203205" cy="1592501"/>
              <a:chOff x="1803397" y="1325382"/>
              <a:chExt cx="5203205" cy="1592501"/>
            </a:xfrm>
          </p:grpSpPr>
          <p:sp>
            <p:nvSpPr>
              <p:cNvPr id="18" name="Left Brace 17">
                <a:extLst>
                  <a:ext uri="{FF2B5EF4-FFF2-40B4-BE49-F238E27FC236}">
                    <a16:creationId xmlns:a16="http://schemas.microsoft.com/office/drawing/2014/main" id="{ADDACCEE-6974-7E4D-98B1-861D6D92F388}"/>
                  </a:ext>
                </a:extLst>
              </p:cNvPr>
              <p:cNvSpPr/>
              <p:nvPr/>
            </p:nvSpPr>
            <p:spPr>
              <a:xfrm rot="5400000" flipH="1">
                <a:off x="3459344" y="-330563"/>
                <a:ext cx="266701" cy="3578591"/>
              </a:xfrm>
              <a:prstGeom prst="leftBrac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58929FCF-126D-9042-BDAA-EBF78B887246}"/>
                      </a:ext>
                    </a:extLst>
                  </p:cNvPr>
                  <p:cNvSpPr txBox="1"/>
                  <p:nvPr/>
                </p:nvSpPr>
                <p:spPr>
                  <a:xfrm>
                    <a:off x="1803397" y="1694990"/>
                    <a:ext cx="5203205" cy="1222893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/>
                      <a:t>Over the last 150 years, the slope has been </a:t>
                    </a:r>
                    <a14:m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sz="24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4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𝟕</m:t>
                            </m:r>
                            <m: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℃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2×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a14:m>
                    <a:r>
                      <a:rPr lang="en-US" sz="2400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58929FCF-126D-9042-BDAA-EBF78B8872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03397" y="1694990"/>
                    <a:ext cx="5203205" cy="1222893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994" t="-3571" r="-570"/>
                    </a:stretch>
                  </a:blipFill>
                  <a:ln>
                    <a:solidFill>
                      <a:schemeClr val="accent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2560F60-B4D1-2245-8A35-82DB2A86A279}"/>
                </a:ext>
              </a:extLst>
            </p:cNvPr>
            <p:cNvSpPr txBox="1"/>
            <p:nvPr/>
          </p:nvSpPr>
          <p:spPr>
            <a:xfrm>
              <a:off x="7549701" y="6348448"/>
              <a:ext cx="38962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Courtesy Penny Rowe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7730CDC-CBD7-9CED-A3B9-F19490DF0380}"/>
                  </a:ext>
                </a:extLst>
              </p:cNvPr>
              <p:cNvSpPr txBox="1"/>
              <p:nvPr/>
            </p:nvSpPr>
            <p:spPr>
              <a:xfrm>
                <a:off x="6226191" y="2135533"/>
                <a:ext cx="5801657" cy="6698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Most GCMs are predicting a slope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℃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7730CDC-CBD7-9CED-A3B9-F19490DF0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6191" y="2135533"/>
                <a:ext cx="5801657" cy="669863"/>
              </a:xfrm>
              <a:prstGeom prst="rect">
                <a:avLst/>
              </a:prstGeom>
              <a:blipFill>
                <a:blip r:embed="rId6"/>
                <a:stretch>
                  <a:fillRect l="-152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B3A2D36D-3716-35B8-D368-C5FC6F172DCE}"/>
              </a:ext>
            </a:extLst>
          </p:cNvPr>
          <p:cNvGrpSpPr/>
          <p:nvPr/>
        </p:nvGrpSpPr>
        <p:grpSpPr>
          <a:xfrm>
            <a:off x="7517613" y="3330995"/>
            <a:ext cx="3830782" cy="3015961"/>
            <a:chOff x="8361218" y="1118020"/>
            <a:chExt cx="3830782" cy="3015961"/>
          </a:xfrm>
          <a:solidFill>
            <a:schemeClr val="bg1"/>
          </a:solidFill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532547F-8DCD-66B0-9DDC-9C3472A8C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61218" y="1118020"/>
              <a:ext cx="3830782" cy="3015961"/>
            </a:xfrm>
            <a:prstGeom prst="rect">
              <a:avLst/>
            </a:prstGeom>
            <a:grpFill/>
            <a:ln w="9525">
              <a:solidFill>
                <a:srgbClr val="000000"/>
              </a:solidFill>
              <a:miter lim="800000"/>
              <a:headEnd/>
              <a:tailEnd/>
            </a:ln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73F2E4E-718C-12B1-B2E0-206F6746F502}"/>
                </a:ext>
              </a:extLst>
            </p:cNvPr>
            <p:cNvSpPr txBox="1"/>
            <p:nvPr/>
          </p:nvSpPr>
          <p:spPr>
            <a:xfrm>
              <a:off x="8535873" y="1617674"/>
              <a:ext cx="916039" cy="523220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Let Earth wobble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B7A8DF2-D5E2-1D99-BE42-17811894BB9C}"/>
                </a:ext>
              </a:extLst>
            </p:cNvPr>
            <p:cNvSpPr txBox="1"/>
            <p:nvPr/>
          </p:nvSpPr>
          <p:spPr>
            <a:xfrm>
              <a:off x="9877943" y="1633531"/>
              <a:ext cx="916039" cy="461665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Warmer or </a:t>
              </a:r>
            </a:p>
            <a:p>
              <a:r>
                <a:rPr lang="en-US" sz="1200" dirty="0"/>
                <a:t>colder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450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370659-7373-8186-8633-EEAFB8369FB3}"/>
              </a:ext>
            </a:extLst>
          </p:cNvPr>
          <p:cNvSpPr txBox="1"/>
          <p:nvPr/>
        </p:nvSpPr>
        <p:spPr>
          <a:xfrm>
            <a:off x="0" y="267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Lessons of the Pleistocene experiment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9A58249-221C-E102-E751-6EECE37E2FAC}"/>
              </a:ext>
            </a:extLst>
          </p:cNvPr>
          <p:cNvGrpSpPr>
            <a:grpSpLocks noChangeAspect="1"/>
          </p:cNvGrpSpPr>
          <p:nvPr/>
        </p:nvGrpSpPr>
        <p:grpSpPr>
          <a:xfrm>
            <a:off x="1015512" y="503960"/>
            <a:ext cx="10258232" cy="3517718"/>
            <a:chOff x="795593" y="1476371"/>
            <a:chExt cx="11491367" cy="394058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AAF0C32-1166-04FF-EBFE-0D1835A3A8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95593" y="2043112"/>
              <a:ext cx="4937172" cy="3373839"/>
              <a:chOff x="8361218" y="1516198"/>
              <a:chExt cx="3830782" cy="2617782"/>
            </a:xfrm>
            <a:solidFill>
              <a:schemeClr val="bg1"/>
            </a:solidFill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F7618EFF-7318-E76F-B1ED-F67BACE612B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3202"/>
              <a:stretch/>
            </p:blipFill>
            <p:spPr bwMode="auto">
              <a:xfrm>
                <a:off x="8361218" y="1516198"/>
                <a:ext cx="3830782" cy="2617782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2635A1-EE05-6446-7ED4-3BF819989BBA}"/>
                  </a:ext>
                </a:extLst>
              </p:cNvPr>
              <p:cNvSpPr txBox="1"/>
              <p:nvPr/>
            </p:nvSpPr>
            <p:spPr>
              <a:xfrm>
                <a:off x="8535873" y="1617674"/>
                <a:ext cx="916039" cy="523220"/>
              </a:xfrm>
              <a:prstGeom prst="rect">
                <a:avLst/>
              </a:prstGeom>
              <a:grp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Let Earth wobble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90C94D-622B-42F5-CB5C-EF1B152D0A43}"/>
                  </a:ext>
                </a:extLst>
              </p:cNvPr>
              <p:cNvSpPr txBox="1"/>
              <p:nvPr/>
            </p:nvSpPr>
            <p:spPr>
              <a:xfrm>
                <a:off x="9877943" y="1573921"/>
                <a:ext cx="916039" cy="561776"/>
              </a:xfrm>
              <a:prstGeom prst="rect">
                <a:avLst/>
              </a:prstGeom>
              <a:grp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200" dirty="0"/>
              </a:p>
              <a:p>
                <a:pPr algn="ctr"/>
                <a:r>
                  <a:rPr lang="en-US" sz="1200" dirty="0"/>
                  <a:t>Warmer</a:t>
                </a:r>
              </a:p>
              <a:p>
                <a:pPr algn="ctr"/>
                <a:endParaRPr lang="en-US" sz="1200" dirty="0"/>
              </a:p>
            </p:txBody>
          </p:sp>
        </p:grp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5790F90-37AC-53EF-D35C-5DEA4CEB5F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202"/>
            <a:stretch/>
          </p:blipFill>
          <p:spPr bwMode="auto">
            <a:xfrm>
              <a:off x="6839506" y="2043112"/>
              <a:ext cx="4937172" cy="3373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BF004D8-D118-8878-5D1F-62A410CA795A}"/>
                </a:ext>
              </a:extLst>
            </p:cNvPr>
            <p:cNvSpPr txBox="1"/>
            <p:nvPr/>
          </p:nvSpPr>
          <p:spPr>
            <a:xfrm>
              <a:off x="849609" y="1476371"/>
              <a:ext cx="481041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/>
                <a:t>Initiated by </a:t>
              </a:r>
              <a:r>
                <a:rPr lang="en-US" sz="2400" dirty="0" err="1"/>
                <a:t>Milankovič</a:t>
              </a:r>
              <a:r>
                <a:rPr lang="en-US" sz="2400" dirty="0"/>
                <a:t> wobbling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0E9AAF5-3561-F101-6F27-E33FEF929A07}"/>
                </a:ext>
              </a:extLst>
            </p:cNvPr>
            <p:cNvSpPr txBox="1"/>
            <p:nvPr/>
          </p:nvSpPr>
          <p:spPr>
            <a:xfrm>
              <a:off x="6229931" y="1476371"/>
              <a:ext cx="605702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/>
                <a:t>Initiated by burning fossil fuels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F0354C2-594C-C885-3A10-1FDEF84573A5}"/>
                  </a:ext>
                </a:extLst>
              </p:cNvPr>
              <p:cNvSpPr txBox="1"/>
              <p:nvPr/>
            </p:nvSpPr>
            <p:spPr>
              <a:xfrm>
                <a:off x="125730" y="4100406"/>
                <a:ext cx="11944350" cy="272472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The industrial revolution is likely engaging in similar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400" dirty="0"/>
                  <a:t>) feedbacks (“climate power steering” mechanisms) that amplified climate changes associated with the </a:t>
                </a:r>
                <a:r>
                  <a:rPr lang="en-US" sz="2400" dirty="0" err="1"/>
                  <a:t>Milankovič</a:t>
                </a:r>
                <a:r>
                  <a:rPr lang="en-US" sz="2400" dirty="0"/>
                  <a:t> cycles of the Pleistocene.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The really big Pleistocene ECS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℃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(compared to the paltry, GCM-predicted ECS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℃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) is probably due, at least in part, to ice/albedo feedback, which most GCMs don’t account for.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F0354C2-594C-C885-3A10-1FDEF8457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30" y="4100406"/>
                <a:ext cx="11944350" cy="2724720"/>
              </a:xfrm>
              <a:prstGeom prst="rect">
                <a:avLst/>
              </a:prstGeom>
              <a:blipFill>
                <a:blip r:embed="rId4"/>
                <a:stretch>
                  <a:fillRect l="-743" t="-1382" b="-368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BF3AFB3-410E-3468-5AB2-F59DC20DB09F}"/>
              </a:ext>
            </a:extLst>
          </p:cNvPr>
          <p:cNvSpPr txBox="1"/>
          <p:nvPr/>
        </p:nvSpPr>
        <p:spPr>
          <a:xfrm>
            <a:off x="8182154" y="1076294"/>
            <a:ext cx="1053915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Warmer</a:t>
            </a:r>
          </a:p>
          <a:p>
            <a:pPr algn="ctr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92860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767C03-0D4A-B34F-B6AB-CA26AC2E8603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Just want to be really clear about the climate lessons of the “Pleistocene experiment” 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CE403E46-5304-24AE-C04E-9FDB1EB146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29075" y="0"/>
            <a:ext cx="41322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9B18090-38A2-CB8A-2D6A-3B88824BD786}"/>
              </a:ext>
            </a:extLst>
          </p:cNvPr>
          <p:cNvGrpSpPr/>
          <p:nvPr/>
        </p:nvGrpSpPr>
        <p:grpSpPr>
          <a:xfrm>
            <a:off x="204127" y="853183"/>
            <a:ext cx="8920702" cy="5651206"/>
            <a:chOff x="1004898" y="1598053"/>
            <a:chExt cx="8200913" cy="501564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BB28EE5-8EF5-03B3-7AA7-622CF46B5A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4898" y="1884153"/>
              <a:ext cx="7016358" cy="472954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F898ADA-4926-FE26-D9E5-BD6689767147}"/>
                </a:ext>
              </a:extLst>
            </p:cNvPr>
            <p:cNvSpPr txBox="1"/>
            <p:nvPr/>
          </p:nvSpPr>
          <p:spPr>
            <a:xfrm>
              <a:off x="1004898" y="1598053"/>
              <a:ext cx="8200913" cy="3277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Present</a:t>
              </a:r>
              <a:r>
                <a:rPr lang="en-US" dirty="0">
                  <a:solidFill>
                    <a:srgbClr val="7030A0"/>
                  </a:solidFill>
                </a:rPr>
                <a:t> 			</a:t>
              </a:r>
              <a:r>
                <a:rPr lang="en-US" b="1" dirty="0">
                  <a:solidFill>
                    <a:srgbClr val="7030A0"/>
                  </a:solidFill>
                  <a:sym typeface="Wingdings" pitchFamily="2" charset="2"/>
                </a:rPr>
                <a:t>&lt;-------</a:t>
              </a:r>
              <a:r>
                <a:rPr lang="en-US" dirty="0">
                  <a:solidFill>
                    <a:srgbClr val="7030A0"/>
                  </a:solidFill>
                </a:rPr>
                <a:t>			</a:t>
              </a:r>
              <a:r>
                <a:rPr lang="en-US" b="1" dirty="0">
                  <a:solidFill>
                    <a:srgbClr val="7030A0"/>
                  </a:solidFill>
                </a:rPr>
                <a:t>400,000 years ago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8608A8-0F3A-F53B-A61E-0EF1F4748A33}"/>
                  </a:ext>
                </a:extLst>
              </p:cNvPr>
              <p:cNvSpPr txBox="1"/>
              <p:nvPr/>
            </p:nvSpPr>
            <p:spPr>
              <a:xfrm>
                <a:off x="7715400" y="559064"/>
                <a:ext cx="4374999" cy="60487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The </a:t>
                </a:r>
                <a:r>
                  <a:rPr lang="en-US" sz="2400" b="1" dirty="0"/>
                  <a:t>timing</a:t>
                </a:r>
                <a:r>
                  <a:rPr lang="en-US" sz="2400" dirty="0"/>
                  <a:t> is driven by Earth’s wobbling (“</a:t>
                </a:r>
                <a:r>
                  <a:rPr lang="en-US" sz="2400" dirty="0" err="1"/>
                  <a:t>Milankovič</a:t>
                </a:r>
                <a:r>
                  <a:rPr lang="en-US" sz="2400" dirty="0"/>
                  <a:t> in the driver’s seat”), but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The </a:t>
                </a:r>
                <a:r>
                  <a:rPr lang="en-US" sz="2400" b="1" dirty="0"/>
                  <a:t>appearance synchronous changes in CO</a:t>
                </a:r>
                <a:r>
                  <a:rPr lang="en-US" sz="2400" b="1" baseline="-25000" dirty="0"/>
                  <a:t>2</a:t>
                </a:r>
                <a:r>
                  <a:rPr lang="en-US" sz="2400" b="1" dirty="0"/>
                  <a:t> and CH</a:t>
                </a:r>
                <a:r>
                  <a:rPr lang="en-US" sz="2400" b="1" baseline="-25000" dirty="0"/>
                  <a:t>4</a:t>
                </a:r>
                <a:r>
                  <a:rPr lang="en-US" sz="2400" b="1" dirty="0"/>
                  <a:t> </a:t>
                </a:r>
                <a:r>
                  <a:rPr lang="en-US" sz="2400" dirty="0"/>
                  <a:t>means that those gases</a:t>
                </a:r>
                <a:r>
                  <a:rPr lang="en-US" sz="2400" b="1" dirty="0"/>
                  <a:t> </a:t>
                </a:r>
                <a:r>
                  <a:rPr lang="en-US" sz="2400" dirty="0"/>
                  <a:t>amplified heating/cooling cycles.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The really big Pleistocene ECS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℃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(compared to the paltry, GCM-predicted ECS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℃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), due at least in part to ice/albedo feedback, </a:t>
                </a:r>
                <a:r>
                  <a:rPr lang="en-US" sz="2400" b="1" dirty="0"/>
                  <a:t>should</a:t>
                </a:r>
                <a:r>
                  <a:rPr lang="en-US" sz="2400" dirty="0"/>
                  <a:t> </a:t>
                </a:r>
                <a:r>
                  <a:rPr lang="en-US" sz="2400" b="1" dirty="0"/>
                  <a:t>motivate us to account for ice/albedo too</a:t>
                </a:r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8608A8-0F3A-F53B-A61E-0EF1F4748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400" y="559064"/>
                <a:ext cx="4374999" cy="6048707"/>
              </a:xfrm>
              <a:prstGeom prst="rect">
                <a:avLst/>
              </a:prstGeom>
              <a:blipFill>
                <a:blip r:embed="rId3"/>
                <a:stretch>
                  <a:fillRect l="-2029" t="-1048" r="-3478" b="-12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1845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370659-7373-8186-8633-EEAFB8369FB3}"/>
              </a:ext>
            </a:extLst>
          </p:cNvPr>
          <p:cNvSpPr txBox="1"/>
          <p:nvPr/>
        </p:nvSpPr>
        <p:spPr>
          <a:xfrm>
            <a:off x="0" y="267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finish these 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036E8C-7F9C-CCB6-4622-687E4937B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740" y="5387185"/>
            <a:ext cx="9147002" cy="12086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A60A745-1617-D749-7733-3FE96D04E4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956" y="756988"/>
            <a:ext cx="7093062" cy="1940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75AA98-1669-AFC8-4FB7-8161AF8123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7782" y="2989946"/>
            <a:ext cx="6824369" cy="200323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30625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3150</TotalTime>
  <Words>620</Words>
  <Application>Microsoft Macintosh PowerPoint</Application>
  <PresentationFormat>Widescreen</PresentationFormat>
  <Paragraphs>55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59</cp:revision>
  <dcterms:created xsi:type="dcterms:W3CDTF">2023-09-18T10:40:36Z</dcterms:created>
  <dcterms:modified xsi:type="dcterms:W3CDTF">2026-02-13T01:45:00Z</dcterms:modified>
</cp:coreProperties>
</file>