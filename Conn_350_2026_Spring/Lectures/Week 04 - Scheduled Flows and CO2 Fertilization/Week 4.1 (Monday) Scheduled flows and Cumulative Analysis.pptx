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1980" r:id="rId3"/>
    <p:sldId id="1996" r:id="rId4"/>
    <p:sldId id="1998" r:id="rId5"/>
    <p:sldId id="1995" r:id="rId6"/>
    <p:sldId id="1981" r:id="rId7"/>
    <p:sldId id="1982" r:id="rId8"/>
    <p:sldId id="1983" r:id="rId9"/>
    <p:sldId id="1999" r:id="rId10"/>
    <p:sldId id="280" r:id="rId11"/>
    <p:sldId id="1858" r:id="rId12"/>
    <p:sldId id="2002" r:id="rId13"/>
    <p:sldId id="2001" r:id="rId14"/>
    <p:sldId id="1992" r:id="rId15"/>
    <p:sldId id="19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627"/>
    <p:restoredTop sz="96006"/>
  </p:normalViewPr>
  <p:slideViewPr>
    <p:cSldViewPr snapToGrid="0">
      <p:cViewPr varScale="1">
        <p:scale>
          <a:sx n="96" d="100"/>
          <a:sy n="96" d="100"/>
        </p:scale>
        <p:origin x="20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FA91B-BBCA-3240-B163-AE21D6293EE1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29903-3268-3E48-BEC5-7B73EC29B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41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0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35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www.igbp.net</a:t>
            </a:r>
            <a:r>
              <a:rPr lang="en-US" dirty="0"/>
              <a:t>/news/features/features/havewereachedpeakco2.5.1b8ae20512db692f2a680003465.html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26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the temperature if CO2 continues to rise. If we reduce CO2 emissions to zero.</a:t>
            </a:r>
          </a:p>
        </p:txBody>
      </p:sp>
    </p:spTree>
    <p:extLst>
      <p:ext uri="{BB962C8B-B14F-4D97-AF65-F5344CB8AC3E}">
        <p14:creationId xmlns:p14="http://schemas.microsoft.com/office/powerpoint/2010/main" val="296403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BDC6-75CD-854D-6C35-6AA1528A5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B105D-8A05-BE9F-B6F0-8F6881F95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F71F7-F1BF-4EF8-6E2F-60116510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73877-76FD-E328-45B6-5CCD458A6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6987-C072-F2ED-8829-91F65062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7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7193-A12C-9454-37DA-3E038B29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D231-EE5B-3200-D6CF-8D50F1F4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BDE61-C917-51CA-DE25-AC77BBE3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6816-C117-14FA-0C09-769E90C3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1490A-EC13-45F5-2434-88A83B4F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4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27DF-924A-6113-A71B-938FF692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C7BDC-018E-3484-3602-40F53F196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EE7AB-6647-5A6E-A83F-1B4A5FC1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3CCE7-5F9B-207F-7B59-535A1BEA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59383-5C56-001B-8292-2FCBC4A1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4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7850-6DBA-E0A6-6967-5708BB20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8F164-1369-830F-F036-5FA7AEB3B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547CB-19B3-DE77-E9B8-23EA48E5D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04A2C-F209-6E46-72F3-B821E33E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97285-85D9-9F3D-704D-8E0C6937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73045-35D5-C0E4-3F71-5E8C67BF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6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3CAF-7AAE-3777-B12F-10B9B7F0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1E855-8C33-66F9-7C03-381B098F9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3916B-2192-610D-77D5-E8C0A5A2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9EE4C-2742-2706-F11D-7AC336CC2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A8A4C-2AED-E3BC-299A-C80D57AFA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E48E4-BFBE-F2FE-C713-95657213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99F57-9358-142F-5EEE-5B92A7A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336750-58B8-89B0-9BF6-0D527805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E116-62E4-79D1-68FE-9DD3CC8A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88F5E-F628-E6B9-DD42-83D7EB96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88CBA-6FB2-38BC-C69F-9F0A369B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C047A-6468-68DD-68B4-765EFA4C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6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433B0-099A-1980-D7F5-EF344511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8DE96-083B-342E-836D-7D44068E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78A38-7FE3-F376-8AF8-3B258583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5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C6DE-D9B6-12E8-9264-91C38F67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EA284-72F8-FCC1-3075-040300C73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DF41F-0AD7-C752-E951-5B52AF031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19C6A-60A8-C5A4-A4B1-0EB4540B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B2E4E-35CA-A32E-2CC6-4F62AD312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FAF22-5FD3-3EF2-9752-924DC3A9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19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09EC-9ABC-5F89-9ACD-84A62FD8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63971-8B8A-8796-A913-E8DA6A31B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09723-1B83-E2D2-733D-6DDA92229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880EF-D51C-D9B4-46B5-96AED7E4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BF196-260C-3683-48FB-F3140AA6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8C9DC-B257-1268-72A8-29497AD7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1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8267-4404-11CB-3474-AD69A36B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6E79B-AC74-C88A-8779-ACC8A5750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E536-5667-CD78-CEE3-155E2651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58E03-6C49-ECE1-D4D2-A08E53E5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E2D9E-8AE1-66F3-FA69-BAFC3E3B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9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A15CF-41B0-9621-5CA1-975E9B086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9ABD0-98FD-CE97-E1D7-B35E89039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B0106-494E-2EBA-07AD-6D591DF6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CAFAA-EFF0-EB8E-D4DB-189713AD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A4D2-72A6-DD5F-89C3-7A2C0639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86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1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1E32E-95BF-577C-B1CB-BDB83FCB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7F166-D5D4-D50A-F7A0-9712B3864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7A945-36BE-EF7A-7D33-3E6D93A6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3890B-F344-7B49-B1E8-9BFD2AFF4AA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D3428-2971-FA2D-DF7E-BEAB7B220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E353-2B4E-2D0E-079E-1A4619AA8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DB4FE-0ED4-3A49-AFDC-8096B93D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4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Carbon fluxes in Earth’s climate system (2003)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83EA2-0DF8-68FC-1AA1-E99A5FFAF37F}"/>
              </a:ext>
            </a:extLst>
          </p:cNvPr>
          <p:cNvSpPr txBox="1"/>
          <p:nvPr/>
        </p:nvSpPr>
        <p:spPr>
          <a:xfrm>
            <a:off x="8107680" y="1194816"/>
            <a:ext cx="221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(about 377 ppm CO2)</a:t>
            </a:r>
          </a:p>
        </p:txBody>
      </p:sp>
      <p:pic>
        <p:nvPicPr>
          <p:cNvPr id="4" name="Picture 3" descr="Draft diagram of the carbon cycle.">
            <a:extLst>
              <a:ext uri="{FF2B5EF4-FFF2-40B4-BE49-F238E27FC236}">
                <a16:creationId xmlns:a16="http://schemas.microsoft.com/office/drawing/2014/main" id="{B1157D81-1E90-19D2-58CD-F47CC4B3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40" y="870377"/>
            <a:ext cx="8103160" cy="540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08C26-099D-DF91-65A2-9F8B3FC618CB}"/>
              </a:ext>
            </a:extLst>
          </p:cNvPr>
          <p:cNvSpPr txBox="1"/>
          <p:nvPr/>
        </p:nvSpPr>
        <p:spPr>
          <a:xfrm>
            <a:off x="8469443" y="1444614"/>
            <a:ext cx="35961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Today, we’ll talk about two CGI assignments: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ScheduledFlows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CumulativeAnalysis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6135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</a:t>
            </a:r>
            <a:r>
              <a:rPr lang="en-US" sz="2400" b="1" dirty="0" err="1"/>
              <a:t>ScheduledFlows</a:t>
            </a:r>
            <a:r>
              <a:rPr lang="en-US" sz="2400" b="1" dirty="0"/>
              <a:t> – Meaning and units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78EB5-2E28-D2AD-F009-E08B7C9DF634}"/>
                  </a:ext>
                </a:extLst>
              </p:cNvPr>
              <p:cNvSpPr txBox="1"/>
              <p:nvPr/>
            </p:nvSpPr>
            <p:spPr>
              <a:xfrm>
                <a:off x="1470991" y="2781277"/>
                <a:ext cx="113467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h𝑎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78EB5-2E28-D2AD-F009-E08B7C9D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91" y="2781277"/>
                <a:ext cx="1134670" cy="461665"/>
              </a:xfrm>
              <a:prstGeom prst="rect">
                <a:avLst/>
              </a:prstGeom>
              <a:blipFill>
                <a:blip r:embed="rId3"/>
                <a:stretch>
                  <a:fillRect l="-6667" r="-12222" b="-3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EE56E8-8FCD-677E-0AE3-81B6FCFE6B01}"/>
                  </a:ext>
                </a:extLst>
              </p:cNvPr>
              <p:cNvSpPr txBox="1"/>
              <p:nvPr/>
            </p:nvSpPr>
            <p:spPr>
              <a:xfrm>
                <a:off x="5852028" y="1614261"/>
                <a:ext cx="6339972" cy="440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tells us the rate at which humans put carbon into the atmosphere, in units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𝐺𝑡𝐶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𝑦𝑟</m:t>
                        </m:r>
                      </m:den>
                    </m:f>
                  </m:oMath>
                </a14:m>
                <a:r>
                  <a:rPr lang="en-US" sz="2400" dirty="0"/>
                  <a:t>. </a:t>
                </a:r>
                <a:endParaRPr lang="en-US" sz="2400" b="1" dirty="0"/>
              </a:p>
              <a:p>
                <a:r>
                  <a:rPr lang="en-US" sz="2400" b="1" dirty="0"/>
                  <a:t>Examples</a:t>
                </a:r>
                <a:r>
                  <a:rPr lang="en-US" sz="2400" dirty="0"/>
                  <a:t>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 the year 2000, the rate of emission was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𝑮𝒕𝑪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𝒚𝒓</m:t>
                        </m:r>
                      </m:den>
                    </m:f>
                  </m:oMath>
                </a14:m>
                <a:r>
                  <a:rPr lang="en-US" sz="2400" b="0" dirty="0"/>
                  <a:t>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By the year 2050, the rate of emission is predicted have peaked, and fallen 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𝑮𝒕𝑪</m:t>
                        </m:r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𝒚𝒓</m:t>
                        </m:r>
                      </m:den>
                    </m:f>
                  </m:oMath>
                </a14:m>
                <a:r>
                  <a:rPr lang="en-US" sz="2400" b="0" dirty="0"/>
                  <a:t>. </a:t>
                </a:r>
                <a:endParaRPr lang="en-US" sz="2400" dirty="0"/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EE56E8-8FCD-677E-0AE3-81B6FCFE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28" y="1614261"/>
                <a:ext cx="6339972" cy="4404796"/>
              </a:xfrm>
              <a:prstGeom prst="rect">
                <a:avLst/>
              </a:prstGeom>
              <a:blipFill>
                <a:blip r:embed="rId4"/>
                <a:stretch>
                  <a:fillRect l="-1397" t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E4A7DA65-D9D1-A128-4048-ACC5D3FEAC73}"/>
              </a:ext>
            </a:extLst>
          </p:cNvPr>
          <p:cNvSpPr/>
          <p:nvPr/>
        </p:nvSpPr>
        <p:spPr>
          <a:xfrm>
            <a:off x="3604846" y="4149969"/>
            <a:ext cx="100584" cy="10058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481564-67B3-09DF-2A20-D4D398EE6D9F}"/>
              </a:ext>
            </a:extLst>
          </p:cNvPr>
          <p:cNvSpPr/>
          <p:nvPr/>
        </p:nvSpPr>
        <p:spPr>
          <a:xfrm>
            <a:off x="4143590" y="2889836"/>
            <a:ext cx="100584" cy="1005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02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Estimating an amount of carbon over a given time interval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78EB5-2E28-D2AD-F009-E08B7C9DF634}"/>
                  </a:ext>
                </a:extLst>
              </p:cNvPr>
              <p:cNvSpPr txBox="1"/>
              <p:nvPr/>
            </p:nvSpPr>
            <p:spPr>
              <a:xfrm>
                <a:off x="1470991" y="2781277"/>
                <a:ext cx="113467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h𝑎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78EB5-2E28-D2AD-F009-E08B7C9D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91" y="2781277"/>
                <a:ext cx="1134670" cy="461665"/>
              </a:xfrm>
              <a:prstGeom prst="rect">
                <a:avLst/>
              </a:prstGeom>
              <a:blipFill>
                <a:blip r:embed="rId3"/>
                <a:stretch>
                  <a:fillRect l="-6667" r="-12222" b="-3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EE56E8-8FCD-677E-0AE3-81B6FCFE6B01}"/>
                  </a:ext>
                </a:extLst>
              </p:cNvPr>
              <p:cNvSpPr txBox="1"/>
              <p:nvPr/>
            </p:nvSpPr>
            <p:spPr>
              <a:xfrm>
                <a:off x="5844208" y="1644702"/>
                <a:ext cx="621527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actual amount of carbon emitted over a time interval (call 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400" dirty="0"/>
                  <a:t>)  can be estimated by the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:r>
                  <a:rPr lang="en-US" sz="2400" b="1" dirty="0"/>
                  <a:t>Example</a:t>
                </a:r>
                <a:r>
                  <a:rPr lang="en-US" sz="2400" dirty="0"/>
                  <a:t>: between years 1995 and 2005, how much carbon did humans emit?</a:t>
                </a:r>
                <a:endParaRPr lang="en-US" sz="2400" b="0" dirty="0"/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EE56E8-8FCD-677E-0AE3-81B6FCFE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208" y="1644702"/>
                <a:ext cx="6215270" cy="3046988"/>
              </a:xfrm>
              <a:prstGeom prst="rect">
                <a:avLst/>
              </a:prstGeom>
              <a:blipFill>
                <a:blip r:embed="rId4"/>
                <a:stretch>
                  <a:fillRect l="-1633" t="-1660" r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BAB8CC-21B8-9B0A-CE92-C9583F13FBF2}"/>
              </a:ext>
            </a:extLst>
          </p:cNvPr>
          <p:cNvCxnSpPr/>
          <p:nvPr/>
        </p:nvCxnSpPr>
        <p:spPr>
          <a:xfrm>
            <a:off x="3675637" y="4182902"/>
            <a:ext cx="0" cy="1258956"/>
          </a:xfrm>
          <a:prstGeom prst="line">
            <a:avLst/>
          </a:prstGeom>
          <a:ln w="127000">
            <a:solidFill>
              <a:srgbClr val="C00000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B92F3B7-3314-68C7-E5E7-D566DCE4420A}"/>
              </a:ext>
            </a:extLst>
          </p:cNvPr>
          <p:cNvSpPr/>
          <p:nvPr/>
        </p:nvSpPr>
        <p:spPr>
          <a:xfrm>
            <a:off x="3622182" y="4145635"/>
            <a:ext cx="100584" cy="10058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9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Estimating an amount of carbon over a given time interval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78EB5-2E28-D2AD-F009-E08B7C9DF634}"/>
                  </a:ext>
                </a:extLst>
              </p:cNvPr>
              <p:cNvSpPr txBox="1"/>
              <p:nvPr/>
            </p:nvSpPr>
            <p:spPr>
              <a:xfrm>
                <a:off x="1470991" y="2781277"/>
                <a:ext cx="113467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h𝑎</m:t>
                          </m:r>
                        </m:sub>
                      </m:sSub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E78EB5-2E28-D2AD-F009-E08B7C9D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91" y="2781277"/>
                <a:ext cx="1134670" cy="461665"/>
              </a:xfrm>
              <a:prstGeom prst="rect">
                <a:avLst/>
              </a:prstGeom>
              <a:blipFill>
                <a:blip r:embed="rId3"/>
                <a:stretch>
                  <a:fillRect l="-6667" r="-12222" b="-3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EE56E8-8FCD-677E-0AE3-81B6FCFE6B01}"/>
                  </a:ext>
                </a:extLst>
              </p:cNvPr>
              <p:cNvSpPr txBox="1"/>
              <p:nvPr/>
            </p:nvSpPr>
            <p:spPr>
              <a:xfrm>
                <a:off x="5844208" y="1644702"/>
                <a:ext cx="6215270" cy="4722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actual amount of carbon emitted over a time interval (call 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400" dirty="0"/>
                  <a:t>)  can be estimated by the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:r>
                  <a:rPr lang="en-US" sz="2400" b="1" dirty="0"/>
                  <a:t>Example</a:t>
                </a:r>
                <a:r>
                  <a:rPr lang="en-US" sz="2400" dirty="0"/>
                  <a:t>: between years 1995 and 2005, how much carbon did humans emit?</a:t>
                </a:r>
              </a:p>
              <a:p>
                <a:pPr lvl="1"/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𝑦𝑟𝑠</m:t>
                    </m:r>
                  </m:oMath>
                </a14:m>
                <a:r>
                  <a:rPr lang="en-US" sz="2400" b="0" dirty="0"/>
                  <a:t>, so the amount emitted was </a:t>
                </a:r>
              </a:p>
              <a:p>
                <a:pPr lvl="1"/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7.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𝐺𝑡𝐶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𝑦𝑟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𝑦𝑟𝑠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𝟕𝟔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𝑮𝒕𝑪</m:t>
                    </m:r>
                  </m:oMath>
                </a14:m>
                <a:r>
                  <a:rPr lang="en-US" sz="2400" b="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EE56E8-8FCD-677E-0AE3-81B6FCFE6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208" y="1644702"/>
                <a:ext cx="6215270" cy="4722831"/>
              </a:xfrm>
              <a:prstGeom prst="rect">
                <a:avLst/>
              </a:prstGeom>
              <a:blipFill>
                <a:blip r:embed="rId4"/>
                <a:stretch>
                  <a:fillRect l="-1633" t="-1072" r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1B92F3B7-3314-68C7-E5E7-D566DCE4420A}"/>
              </a:ext>
            </a:extLst>
          </p:cNvPr>
          <p:cNvSpPr/>
          <p:nvPr/>
        </p:nvSpPr>
        <p:spPr>
          <a:xfrm>
            <a:off x="3622182" y="4145635"/>
            <a:ext cx="100584" cy="10058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6396F6-28A4-BA8A-0531-A1E9CAEAB7D7}"/>
              </a:ext>
            </a:extLst>
          </p:cNvPr>
          <p:cNvCxnSpPr/>
          <p:nvPr/>
        </p:nvCxnSpPr>
        <p:spPr>
          <a:xfrm>
            <a:off x="3675637" y="4182902"/>
            <a:ext cx="0" cy="1258956"/>
          </a:xfrm>
          <a:prstGeom prst="line">
            <a:avLst/>
          </a:prstGeom>
          <a:ln w="127000">
            <a:solidFill>
              <a:srgbClr val="C00000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72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1C23C7-FF91-034C-B9DA-3C6CE8110B8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Mathematical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𝒉𝒂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1C23C7-FF91-034C-B9DA-3C6CE8110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A47D113-10BD-1AA8-E227-C0396F2035A3}"/>
              </a:ext>
            </a:extLst>
          </p:cNvPr>
          <p:cNvGrpSpPr/>
          <p:nvPr/>
        </p:nvGrpSpPr>
        <p:grpSpPr>
          <a:xfrm>
            <a:off x="5656882" y="2463751"/>
            <a:ext cx="6340685" cy="2799359"/>
            <a:chOff x="5656882" y="2463751"/>
            <a:chExt cx="6340685" cy="279935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618C1C-8197-0B49-3AA4-2DD9B76C57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782" t="90756" r="38501"/>
            <a:stretch/>
          </p:blipFill>
          <p:spPr>
            <a:xfrm>
              <a:off x="5656882" y="4180884"/>
              <a:ext cx="5761087" cy="108222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6FD81C4-1BB7-48C5-6966-BF8DDAAD2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78636" y="2463751"/>
              <a:ext cx="6118931" cy="1189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7515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810330"/>
            <a:ext cx="4611469" cy="461665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is the exponential growth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Mathematical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𝒉𝒂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400" b="1" dirty="0"/>
                  <a:t> – The pre-peak exponential growth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c 6">
            <a:extLst>
              <a:ext uri="{FF2B5EF4-FFF2-40B4-BE49-F238E27FC236}">
                <a16:creationId xmlns:a16="http://schemas.microsoft.com/office/drawing/2014/main" id="{9A21A9DA-D424-E698-7104-4A1A2277912F}"/>
              </a:ext>
            </a:extLst>
          </p:cNvPr>
          <p:cNvSpPr/>
          <p:nvPr/>
        </p:nvSpPr>
        <p:spPr>
          <a:xfrm flipH="1">
            <a:off x="2950462" y="1044666"/>
            <a:ext cx="3523485" cy="4168632"/>
          </a:xfrm>
          <a:prstGeom prst="arc">
            <a:avLst>
              <a:gd name="adj1" fmla="val 16200000"/>
              <a:gd name="adj2" fmla="val 2903237"/>
            </a:avLst>
          </a:prstGeom>
          <a:ln w="63500">
            <a:solidFill>
              <a:schemeClr val="accent1">
                <a:alpha val="43439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4E16B6-BE91-D3CF-BAEE-ED3BAE738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667" y="2463751"/>
            <a:ext cx="6118931" cy="11890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4CBDD8B-0A4F-FCF5-0C1E-ABF406ADBCA5}"/>
              </a:ext>
            </a:extLst>
          </p:cNvPr>
          <p:cNvSpPr/>
          <p:nvPr/>
        </p:nvSpPr>
        <p:spPr>
          <a:xfrm>
            <a:off x="7296909" y="2786082"/>
            <a:ext cx="512064" cy="685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69438A-9242-ED7C-5DB1-95057EE6FC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782" t="90756" r="38501"/>
          <a:stretch/>
        </p:blipFill>
        <p:spPr>
          <a:xfrm>
            <a:off x="5656882" y="4180884"/>
            <a:ext cx="5761087" cy="10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1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FECE5C-D75E-9FDD-9FCC-A7DE4FED098A}"/>
                  </a:ext>
                </a:extLst>
              </p:cNvPr>
              <p:cNvSpPr txBox="1"/>
              <p:nvPr/>
            </p:nvSpPr>
            <p:spPr>
              <a:xfrm>
                <a:off x="4899737" y="810330"/>
                <a:ext cx="6463207" cy="1029513"/>
              </a:xfrm>
              <a:prstGeom prst="rect">
                <a:avLst/>
              </a:prstGeom>
              <a:solidFill>
                <a:schemeClr val="accent1">
                  <a:alpha val="3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This is the “pegged” value</a:t>
                </a:r>
              </a:p>
              <a:p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=2000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=7.6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𝐺𝑡𝐶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𝑦𝑟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FECE5C-D75E-9FDD-9FCC-A7DE4FED0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737" y="810330"/>
                <a:ext cx="6463207" cy="1029513"/>
              </a:xfrm>
              <a:prstGeom prst="rect">
                <a:avLst/>
              </a:prstGeom>
              <a:blipFill>
                <a:blip r:embed="rId4"/>
                <a:stretch>
                  <a:fillRect l="-1373" t="-3659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Mathematical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𝒉𝒂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400" b="1" dirty="0"/>
                  <a:t> – Getting it right at one known time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5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9C56032-F115-35B7-EE3A-6DBFEC85388F}"/>
              </a:ext>
            </a:extLst>
          </p:cNvPr>
          <p:cNvSpPr/>
          <p:nvPr/>
        </p:nvSpPr>
        <p:spPr>
          <a:xfrm>
            <a:off x="3596640" y="4035552"/>
            <a:ext cx="182880" cy="17900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F016157-9B76-D079-A33E-40EC1B6FA0D2}"/>
              </a:ext>
            </a:extLst>
          </p:cNvPr>
          <p:cNvSpPr/>
          <p:nvPr/>
        </p:nvSpPr>
        <p:spPr>
          <a:xfrm flipH="1">
            <a:off x="2950461" y="1044666"/>
            <a:ext cx="3523485" cy="3393222"/>
          </a:xfrm>
          <a:prstGeom prst="arc">
            <a:avLst>
              <a:gd name="adj1" fmla="val 16200000"/>
              <a:gd name="adj2" fmla="val 2903237"/>
            </a:avLst>
          </a:prstGeom>
          <a:ln w="63500">
            <a:solidFill>
              <a:schemeClr val="accent1">
                <a:alpha val="43439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7E9DDB-F2C8-FDF4-29B3-0FE1203E9763}"/>
              </a:ext>
            </a:extLst>
          </p:cNvPr>
          <p:cNvGrpSpPr/>
          <p:nvPr/>
        </p:nvGrpSpPr>
        <p:grpSpPr>
          <a:xfrm>
            <a:off x="5656882" y="2463751"/>
            <a:ext cx="6340685" cy="2799359"/>
            <a:chOff x="5656882" y="2463751"/>
            <a:chExt cx="6340685" cy="279935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27C0662-31F6-A1AC-9640-EF50688DF8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3782" t="90756" r="38501"/>
            <a:stretch/>
          </p:blipFill>
          <p:spPr>
            <a:xfrm>
              <a:off x="5656882" y="4180884"/>
              <a:ext cx="5761087" cy="108222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C30113-3890-1F84-F49B-4C82E1B02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78636" y="2463751"/>
              <a:ext cx="6118931" cy="1189050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9AC1519-BCCF-E702-6C25-B78EC4B6825F}"/>
              </a:ext>
            </a:extLst>
          </p:cNvPr>
          <p:cNvSpPr/>
          <p:nvPr/>
        </p:nvSpPr>
        <p:spPr>
          <a:xfrm>
            <a:off x="7985411" y="2739440"/>
            <a:ext cx="1146048" cy="685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2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610725"/>
            <a:ext cx="6958535" cy="461665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term specifies the year of maximum emission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Mathematical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𝒉𝒂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400" b="1" dirty="0"/>
                  <a:t> – Specifying the year of maximum emission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9C56032-F115-35B7-EE3A-6DBFEC85388F}"/>
              </a:ext>
            </a:extLst>
          </p:cNvPr>
          <p:cNvSpPr/>
          <p:nvPr/>
        </p:nvSpPr>
        <p:spPr>
          <a:xfrm>
            <a:off x="4011168" y="2333952"/>
            <a:ext cx="182880" cy="179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A59B5E-19C9-78F1-BD33-CF16EFDC9DEA}"/>
              </a:ext>
            </a:extLst>
          </p:cNvPr>
          <p:cNvGrpSpPr/>
          <p:nvPr/>
        </p:nvGrpSpPr>
        <p:grpSpPr>
          <a:xfrm>
            <a:off x="5656882" y="2463751"/>
            <a:ext cx="6340685" cy="2799359"/>
            <a:chOff x="5656882" y="2463751"/>
            <a:chExt cx="6340685" cy="279935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489DE9A-9073-CB14-3567-B406138292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782" t="90756" r="38501"/>
            <a:stretch/>
          </p:blipFill>
          <p:spPr>
            <a:xfrm>
              <a:off x="5656882" y="4180884"/>
              <a:ext cx="5761087" cy="108222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7A088B-B8F4-5B01-834B-C8707ABF0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78636" y="2463751"/>
              <a:ext cx="6118931" cy="118905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B4DD674-70E2-EB98-8B71-09E6A0BC5CAE}"/>
              </a:ext>
            </a:extLst>
          </p:cNvPr>
          <p:cNvSpPr/>
          <p:nvPr/>
        </p:nvSpPr>
        <p:spPr>
          <a:xfrm>
            <a:off x="9361688" y="2478287"/>
            <a:ext cx="2596896" cy="133027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455926F-CC92-A29F-6873-817CAE328D19}"/>
              </a:ext>
            </a:extLst>
          </p:cNvPr>
          <p:cNvGrpSpPr/>
          <p:nvPr/>
        </p:nvGrpSpPr>
        <p:grpSpPr>
          <a:xfrm>
            <a:off x="6050344" y="5120510"/>
            <a:ext cx="2328660" cy="1029853"/>
            <a:chOff x="4986528" y="6098583"/>
            <a:chExt cx="2328660" cy="10298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804FA81-EE3C-81F1-A029-1D01E8FF5E5F}"/>
                    </a:ext>
                  </a:extLst>
                </p:cNvPr>
                <p:cNvSpPr txBox="1"/>
                <p:nvPr/>
              </p:nvSpPr>
              <p:spPr>
                <a:xfrm>
                  <a:off x="4986528" y="6638237"/>
                  <a:ext cx="2328660" cy="490199"/>
                </a:xfrm>
                <a:prstGeom prst="rect">
                  <a:avLst/>
                </a:prstGeom>
                <a:solidFill>
                  <a:schemeClr val="accent1">
                    <a:alpha val="37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𝑝𝑒𝑎𝑘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2040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804FA81-EE3C-81F1-A029-1D01E8FF5E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528" y="6638237"/>
                  <a:ext cx="2328660" cy="490199"/>
                </a:xfrm>
                <a:prstGeom prst="rect">
                  <a:avLst/>
                </a:prstGeom>
                <a:blipFill>
                  <a:blip r:embed="rId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0864A0A-A569-648B-FBA5-DA7ED69A24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098583"/>
              <a:ext cx="0" cy="43928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577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46E63-5AC6-B9CE-BE81-EE5D7FE4D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4702"/>
            <a:ext cx="6118932" cy="445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ECE5C-D75E-9FDD-9FCC-A7DE4FED098A}"/>
              </a:ext>
            </a:extLst>
          </p:cNvPr>
          <p:cNvSpPr txBox="1"/>
          <p:nvPr/>
        </p:nvSpPr>
        <p:spPr>
          <a:xfrm>
            <a:off x="4899737" y="610725"/>
            <a:ext cx="6958535" cy="830997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term specifies a decarbonization time according to the “80/20”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Mathematical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𝒉𝒂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400" b="1" dirty="0"/>
                  <a:t> – Specifying the year of maximum emission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F194A2-1FCF-DEF5-EB55-78A157614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2B5445-9201-17F4-6EFC-91D564F75EE5}"/>
              </a:ext>
            </a:extLst>
          </p:cNvPr>
          <p:cNvCxnSpPr/>
          <p:nvPr/>
        </p:nvCxnSpPr>
        <p:spPr>
          <a:xfrm>
            <a:off x="3340608" y="3061588"/>
            <a:ext cx="86563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A77B4B-A57C-2EF3-2585-DDE4E54A4918}"/>
              </a:ext>
            </a:extLst>
          </p:cNvPr>
          <p:cNvCxnSpPr>
            <a:cxnSpLocks/>
          </p:cNvCxnSpPr>
          <p:nvPr/>
        </p:nvCxnSpPr>
        <p:spPr>
          <a:xfrm flipH="1">
            <a:off x="4334256" y="4823332"/>
            <a:ext cx="6522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A59B5E-19C9-78F1-BD33-CF16EFDC9DEA}"/>
              </a:ext>
            </a:extLst>
          </p:cNvPr>
          <p:cNvGrpSpPr/>
          <p:nvPr/>
        </p:nvGrpSpPr>
        <p:grpSpPr>
          <a:xfrm>
            <a:off x="5656882" y="2463751"/>
            <a:ext cx="6340685" cy="2799359"/>
            <a:chOff x="5656882" y="2463751"/>
            <a:chExt cx="6340685" cy="279935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489DE9A-9073-CB14-3567-B406138292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782" t="90756" r="38501"/>
            <a:stretch/>
          </p:blipFill>
          <p:spPr>
            <a:xfrm>
              <a:off x="5656882" y="4180884"/>
              <a:ext cx="5761087" cy="108222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7A088B-B8F4-5B01-834B-C8707ABF0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78636" y="2463751"/>
              <a:ext cx="6118931" cy="118905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B4DD674-70E2-EB98-8B71-09E6A0BC5CAE}"/>
              </a:ext>
            </a:extLst>
          </p:cNvPr>
          <p:cNvSpPr/>
          <p:nvPr/>
        </p:nvSpPr>
        <p:spPr>
          <a:xfrm>
            <a:off x="9361688" y="2478287"/>
            <a:ext cx="2596896" cy="133027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3DF254D-AD66-F74E-9943-071A58CAA5F3}"/>
              </a:ext>
            </a:extLst>
          </p:cNvPr>
          <p:cNvGrpSpPr/>
          <p:nvPr/>
        </p:nvGrpSpPr>
        <p:grpSpPr>
          <a:xfrm>
            <a:off x="8890844" y="5183283"/>
            <a:ext cx="3067740" cy="933269"/>
            <a:chOff x="9501566" y="6230463"/>
            <a:chExt cx="3067740" cy="9332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90605AB-6276-F3D4-AF14-E3B184D8168E}"/>
                    </a:ext>
                  </a:extLst>
                </p:cNvPr>
                <p:cNvSpPr txBox="1"/>
                <p:nvPr/>
              </p:nvSpPr>
              <p:spPr>
                <a:xfrm>
                  <a:off x="9501566" y="6702067"/>
                  <a:ext cx="3067740" cy="461665"/>
                </a:xfrm>
                <a:prstGeom prst="rect">
                  <a:avLst/>
                </a:prstGeom>
                <a:solidFill>
                  <a:schemeClr val="accent1">
                    <a:alpha val="37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𝑑𝑒𝑐𝑎𝑟𝑏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=15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𝑦𝑒𝑎𝑟𝑠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90605AB-6276-F3D4-AF14-E3B184D816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1566" y="6702067"/>
                  <a:ext cx="306774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1012A0E-C757-959D-3E8F-AB794FA585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8545" y="6230463"/>
              <a:ext cx="0" cy="43928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541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1C23C7-FF91-034C-B9DA-3C6CE8110B85}"/>
                  </a:ext>
                </a:extLst>
              </p:cNvPr>
              <p:cNvSpPr txBox="1"/>
              <p:nvPr/>
            </p:nvSpPr>
            <p:spPr>
              <a:xfrm>
                <a:off x="1280" y="-1"/>
                <a:ext cx="1219072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Metadata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𝒉𝒂</m:t>
                        </m:r>
                      </m:sub>
                    </m:sSub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1C23C7-FF91-034C-B9DA-3C6CE8110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" y="-1"/>
                <a:ext cx="1219072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F96FB7B-2A60-6F25-A8B3-6EA06CC90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54" y="518943"/>
            <a:ext cx="6097346" cy="62780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E362AD-DB9D-C7ED-922D-F930AED38379}"/>
              </a:ext>
            </a:extLst>
          </p:cNvPr>
          <p:cNvSpPr txBox="1"/>
          <p:nvPr/>
        </p:nvSpPr>
        <p:spPr>
          <a:xfrm>
            <a:off x="331765" y="1532824"/>
            <a:ext cx="5331417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Part of good coding practice is finding ways to save data in a way that is "self-documenting." Like, including the units of your data, or other parameters.</a:t>
            </a:r>
          </a:p>
          <a:p>
            <a:endParaRPr lang="en-US" sz="2400" dirty="0"/>
          </a:p>
          <a:p>
            <a:r>
              <a:rPr lang="en-US" sz="2400" dirty="0"/>
              <a:t>Fortunately, with a combination of Python's </a:t>
            </a:r>
            <a:r>
              <a:rPr lang="en-US" sz="2400" i="1" dirty="0"/>
              <a:t>Pandas</a:t>
            </a:r>
            <a:r>
              <a:rPr lang="en-US" sz="2400" dirty="0"/>
              <a:t> package, and a built-in Python feature called </a:t>
            </a:r>
            <a:r>
              <a:rPr lang="en-US" sz="2400" i="1" dirty="0"/>
              <a:t>dictionaries</a:t>
            </a:r>
            <a:r>
              <a:rPr lang="en-US" sz="2400" dirty="0"/>
              <a:t>, we can do all that. </a:t>
            </a:r>
          </a:p>
        </p:txBody>
      </p:sp>
    </p:spTree>
    <p:extLst>
      <p:ext uri="{BB962C8B-B14F-4D97-AF65-F5344CB8AC3E}">
        <p14:creationId xmlns:p14="http://schemas.microsoft.com/office/powerpoint/2010/main" val="310224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C0439CE-E639-B542-A9B0-8B2F405C156B}"/>
              </a:ext>
            </a:extLst>
          </p:cNvPr>
          <p:cNvGrpSpPr/>
          <p:nvPr/>
        </p:nvGrpSpPr>
        <p:grpSpPr>
          <a:xfrm>
            <a:off x="6728420" y="627017"/>
            <a:ext cx="5463580" cy="5603966"/>
            <a:chOff x="2675466" y="219456"/>
            <a:chExt cx="6364225" cy="668731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CAE1A6B-B4F8-3F49-B5C6-3BF07983DA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3840480"/>
              <a:ext cx="6364225" cy="3066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79FC84D-8C01-1D45-96EB-ED58D7B39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219456"/>
              <a:ext cx="6364225" cy="3791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solidFill>
                <a:schemeClr val="accent2"/>
              </a:solidFill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+mn-lt"/>
                  </a:rPr>
                  <a:t>2. </a:t>
                </a:r>
                <a:r>
                  <a:rPr lang="en-US" sz="2400" b="1" dirty="0" err="1">
                    <a:latin typeface="+mn-lt"/>
                  </a:rPr>
                  <a:t>CumulativeAnalysis</a:t>
                </a:r>
                <a:r>
                  <a:rPr lang="en-US" sz="2400" b="1" dirty="0">
                    <a:latin typeface="+mn-lt"/>
                  </a:rPr>
                  <a:t> – The total carbon emissions accumulated over time,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blipFill>
                <a:blip r:embed="rId5"/>
                <a:stretch>
                  <a:fillRect l="-832" t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C84E54-C8B1-1FA7-B90C-06F30CFBB41C}"/>
                  </a:ext>
                </a:extLst>
              </p:cNvPr>
              <p:cNvSpPr txBox="1"/>
              <p:nvPr/>
            </p:nvSpPr>
            <p:spPr>
              <a:xfrm>
                <a:off x="226020" y="2773959"/>
                <a:ext cx="6502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Sometimes we want to know the total accumulated human emissions up to a certain time. We’ll call this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C84E54-C8B1-1FA7-B90C-06F30CFBB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20" y="2773959"/>
                <a:ext cx="6502400" cy="1200329"/>
              </a:xfrm>
              <a:prstGeom prst="rect">
                <a:avLst/>
              </a:prstGeom>
              <a:blipFill>
                <a:blip r:embed="rId6"/>
                <a:stretch>
                  <a:fillRect l="-1365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D0E3A-8B4D-6AD9-E13C-10E0D466A55D}"/>
                  </a:ext>
                </a:extLst>
              </p:cNvPr>
              <p:cNvSpPr txBox="1"/>
              <p:nvPr/>
            </p:nvSpPr>
            <p:spPr>
              <a:xfrm>
                <a:off x="7967133" y="4123266"/>
                <a:ext cx="855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D0E3A-8B4D-6AD9-E13C-10E0D466A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133" y="4123266"/>
                <a:ext cx="855133" cy="461665"/>
              </a:xfrm>
              <a:prstGeom prst="rect">
                <a:avLst/>
              </a:prstGeom>
              <a:blipFill>
                <a:blip r:embed="rId7"/>
                <a:stretch>
                  <a:fillRect l="-1471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EF8C84-438F-7AFF-518A-833487381641}"/>
                  </a:ext>
                </a:extLst>
              </p:cNvPr>
              <p:cNvSpPr txBox="1"/>
              <p:nvPr/>
            </p:nvSpPr>
            <p:spPr>
              <a:xfrm>
                <a:off x="7967132" y="1348855"/>
                <a:ext cx="855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EF8C84-438F-7AFF-518A-833487381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132" y="1348855"/>
                <a:ext cx="855133" cy="461665"/>
              </a:xfrm>
              <a:prstGeom prst="rect">
                <a:avLst/>
              </a:prstGeom>
              <a:blipFill>
                <a:blip r:embed="rId8"/>
                <a:stretch>
                  <a:fillRect l="-1471" r="-25000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02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C0439CE-E639-B542-A9B0-8B2F405C156B}"/>
              </a:ext>
            </a:extLst>
          </p:cNvPr>
          <p:cNvGrpSpPr/>
          <p:nvPr/>
        </p:nvGrpSpPr>
        <p:grpSpPr>
          <a:xfrm>
            <a:off x="6728420" y="627017"/>
            <a:ext cx="5463580" cy="5603966"/>
            <a:chOff x="2675466" y="219456"/>
            <a:chExt cx="6364225" cy="668731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CAE1A6B-B4F8-3F49-B5C6-3BF07983DA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3840480"/>
              <a:ext cx="6364225" cy="3066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79FC84D-8C01-1D45-96EB-ED58D7B39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219456"/>
              <a:ext cx="6364225" cy="3791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solidFill>
                <a:schemeClr val="accent2"/>
              </a:solidFill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+mn-lt"/>
                  </a:rPr>
                  <a:t>Getting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latin typeface="+mn-lt"/>
                  </a:rPr>
                  <a:t> using a Python loop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blipFill>
                <a:blip r:embed="rId5"/>
                <a:stretch>
                  <a:fillRect l="-832" t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324217B-3FD3-E1EE-EBE5-08317EB4F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20" y="1348855"/>
            <a:ext cx="6502400" cy="4127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D0E3A-8B4D-6AD9-E13C-10E0D466A55D}"/>
                  </a:ext>
                </a:extLst>
              </p:cNvPr>
              <p:cNvSpPr txBox="1"/>
              <p:nvPr/>
            </p:nvSpPr>
            <p:spPr>
              <a:xfrm>
                <a:off x="7967133" y="4123266"/>
                <a:ext cx="855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D0E3A-8B4D-6AD9-E13C-10E0D466A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133" y="4123266"/>
                <a:ext cx="855133" cy="461665"/>
              </a:xfrm>
              <a:prstGeom prst="rect">
                <a:avLst/>
              </a:prstGeom>
              <a:blipFill>
                <a:blip r:embed="rId7"/>
                <a:stretch>
                  <a:fillRect l="-1471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EF8C84-438F-7AFF-518A-833487381641}"/>
                  </a:ext>
                </a:extLst>
              </p:cNvPr>
              <p:cNvSpPr txBox="1"/>
              <p:nvPr/>
            </p:nvSpPr>
            <p:spPr>
              <a:xfrm>
                <a:off x="7967132" y="1348855"/>
                <a:ext cx="855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EF8C84-438F-7AFF-518A-833487381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132" y="1348855"/>
                <a:ext cx="855133" cy="461665"/>
              </a:xfrm>
              <a:prstGeom prst="rect">
                <a:avLst/>
              </a:prstGeom>
              <a:blipFill>
                <a:blip r:embed="rId8"/>
                <a:stretch>
                  <a:fillRect l="-1471" r="-25000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855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C0439CE-E639-B542-A9B0-8B2F405C156B}"/>
              </a:ext>
            </a:extLst>
          </p:cNvPr>
          <p:cNvGrpSpPr/>
          <p:nvPr/>
        </p:nvGrpSpPr>
        <p:grpSpPr>
          <a:xfrm>
            <a:off x="6728420" y="627017"/>
            <a:ext cx="5463580" cy="5603966"/>
            <a:chOff x="2675466" y="219456"/>
            <a:chExt cx="6364225" cy="668731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CAE1A6B-B4F8-3F49-B5C6-3BF07983DA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3840480"/>
              <a:ext cx="6364225" cy="3066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79FC84D-8C01-1D45-96EB-ED58D7B39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219456"/>
              <a:ext cx="6364225" cy="3791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solidFill>
                <a:schemeClr val="accent2"/>
              </a:solidFill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+mn-lt"/>
                  </a:rPr>
                  <a:t>Getting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latin typeface="+mn-lt"/>
                  </a:rPr>
                  <a:t> with calculus (DO NOT worry about this, it’s just for the Math 181 veterans)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blipFill>
                <a:blip r:embed="rId5"/>
                <a:stretch>
                  <a:fillRect l="-832" t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D0E3A-8B4D-6AD9-E13C-10E0D466A55D}"/>
                  </a:ext>
                </a:extLst>
              </p:cNvPr>
              <p:cNvSpPr txBox="1"/>
              <p:nvPr/>
            </p:nvSpPr>
            <p:spPr>
              <a:xfrm>
                <a:off x="7967133" y="4123266"/>
                <a:ext cx="855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D0E3A-8B4D-6AD9-E13C-10E0D466A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133" y="4123266"/>
                <a:ext cx="855133" cy="461665"/>
              </a:xfrm>
              <a:prstGeom prst="rect">
                <a:avLst/>
              </a:prstGeom>
              <a:blipFill>
                <a:blip r:embed="rId6"/>
                <a:stretch>
                  <a:fillRect l="-1471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EF8C84-438F-7AFF-518A-833487381641}"/>
                  </a:ext>
                </a:extLst>
              </p:cNvPr>
              <p:cNvSpPr txBox="1"/>
              <p:nvPr/>
            </p:nvSpPr>
            <p:spPr>
              <a:xfrm>
                <a:off x="7967132" y="1348855"/>
                <a:ext cx="8551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EF8C84-438F-7AFF-518A-833487381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132" y="1348855"/>
                <a:ext cx="855133" cy="461665"/>
              </a:xfrm>
              <a:prstGeom prst="rect">
                <a:avLst/>
              </a:prstGeom>
              <a:blipFill>
                <a:blip r:embed="rId7"/>
                <a:stretch>
                  <a:fillRect l="-1471" r="-25000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C44CE4E-9CE1-BF2C-8894-AA759343ED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867" y="2616431"/>
            <a:ext cx="5842000" cy="1968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9216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solidFill>
                <a:schemeClr val="accent2"/>
              </a:solidFill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+mn-lt"/>
                  </a:rPr>
                  <a:t>Difference between a climatologist’s perspective and a economist’s perspective 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" y="0"/>
                <a:ext cx="12192001" cy="457200"/>
              </a:xfrm>
              <a:blipFill>
                <a:blip r:embed="rId3"/>
                <a:stretch>
                  <a:fillRect l="-832" t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B24A37D-2AE3-45EF-C3A9-AAADFC42449A}"/>
              </a:ext>
            </a:extLst>
          </p:cNvPr>
          <p:cNvGrpSpPr/>
          <p:nvPr/>
        </p:nvGrpSpPr>
        <p:grpSpPr>
          <a:xfrm>
            <a:off x="32012" y="457200"/>
            <a:ext cx="5463580" cy="5603966"/>
            <a:chOff x="2675466" y="219456"/>
            <a:chExt cx="6364225" cy="6687311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09FC9BB3-A7DD-5F06-CAB3-11C9207312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3840480"/>
              <a:ext cx="6364225" cy="3066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861B61-B919-18AA-B0B8-C0CE87A332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5466" y="219456"/>
              <a:ext cx="6364225" cy="3791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C71D1E-E9FF-6B04-6E19-6E55945F02AF}"/>
                  </a:ext>
                </a:extLst>
              </p:cNvPr>
              <p:cNvSpPr txBox="1"/>
              <p:nvPr/>
            </p:nvSpPr>
            <p:spPr>
              <a:xfrm>
                <a:off x="5571067" y="944574"/>
                <a:ext cx="6400800" cy="19389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From a </a:t>
                </a:r>
                <a:r>
                  <a:rPr lang="en-US" sz="2400" b="1" dirty="0"/>
                  <a:t>climatologist’s</a:t>
                </a:r>
                <a:r>
                  <a:rPr lang="en-US" sz="2400" dirty="0"/>
                  <a:t> perspective, there’s a line of thinking that says what really counts is not exactly </a:t>
                </a:r>
                <a:r>
                  <a:rPr lang="en-US" sz="2400" i="1" dirty="0"/>
                  <a:t>when</a:t>
                </a:r>
                <a:r>
                  <a:rPr lang="en-US" sz="2400" dirty="0"/>
                  <a:t> the carbon is emitted, but rather the the </a:t>
                </a:r>
                <a:r>
                  <a:rPr lang="en-US" sz="2400" i="1" dirty="0"/>
                  <a:t>total amount </a:t>
                </a:r>
                <a:r>
                  <a:rPr lang="en-US" sz="2400" dirty="0"/>
                  <a:t>-- that is, the final value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In this scenario, you can see that’s </a:t>
                </a:r>
                <a:r>
                  <a:rPr lang="en-US" sz="2400" b="1" dirty="0"/>
                  <a:t>1000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𝑮𝒕𝑪</m:t>
                    </m:r>
                  </m:oMath>
                </a14:m>
                <a:r>
                  <a:rPr lang="en-US" sz="2400" dirty="0"/>
                  <a:t>.</a:t>
                </a:r>
                <a:r>
                  <a:rPr lang="en-US" sz="2400" b="1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C71D1E-E9FF-6B04-6E19-6E55945F0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067" y="944574"/>
                <a:ext cx="6400800" cy="1938992"/>
              </a:xfrm>
              <a:prstGeom prst="rect">
                <a:avLst/>
              </a:prstGeom>
              <a:blipFill>
                <a:blip r:embed="rId6"/>
                <a:stretch>
                  <a:fillRect l="-1383" t="-1935" r="-1976" b="-580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1500B5-3D25-D89E-457D-4E3869CAF43D}"/>
              </a:ext>
            </a:extLst>
          </p:cNvPr>
          <p:cNvCxnSpPr>
            <a:cxnSpLocks/>
          </p:cNvCxnSpPr>
          <p:nvPr/>
        </p:nvCxnSpPr>
        <p:spPr>
          <a:xfrm flipH="1">
            <a:off x="4821644" y="2769704"/>
            <a:ext cx="5117486" cy="11145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30E9E1-0F53-6ED8-1D81-349A11A4CF54}"/>
                  </a:ext>
                </a:extLst>
              </p:cNvPr>
              <p:cNvSpPr txBox="1"/>
              <p:nvPr/>
            </p:nvSpPr>
            <p:spPr>
              <a:xfrm>
                <a:off x="5571067" y="3991466"/>
                <a:ext cx="6400800" cy="230832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From an </a:t>
                </a:r>
                <a:r>
                  <a:rPr lang="en-US" sz="2400" b="1" dirty="0"/>
                  <a:t>economist’s</a:t>
                </a:r>
                <a:r>
                  <a:rPr lang="en-US" sz="2400" dirty="0"/>
                  <a:t> perspective, there’s the idea of </a:t>
                </a:r>
                <a:r>
                  <a:rPr lang="en-US" sz="2400" b="1" dirty="0"/>
                  <a:t>stranded assets</a:t>
                </a:r>
                <a:r>
                  <a:rPr lang="en-US" sz="2400" dirty="0"/>
                  <a:t>. Here’s how it goes: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It’s thought that </a:t>
                </a:r>
                <a:r>
                  <a:rPr lang="en-US" sz="2400" b="1" dirty="0"/>
                  <a:t>4000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𝑮𝒕𝑪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is the </a:t>
                </a:r>
                <a:r>
                  <a:rPr lang="en-US" sz="2400" b="1" dirty="0"/>
                  <a:t>total Earth reserve</a:t>
                </a:r>
                <a:r>
                  <a:rPr lang="en-US" sz="2400" dirty="0"/>
                  <a:t> of fossil carbon.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That means </a:t>
                </a:r>
                <a:r>
                  <a:rPr lang="en-US" sz="2400" b="1" dirty="0"/>
                  <a:t>3000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𝑮𝒕𝑪</m:t>
                    </m:r>
                  </m:oMath>
                </a14:m>
                <a:r>
                  <a:rPr lang="en-US" sz="2400" dirty="0"/>
                  <a:t> are left in the ground as “</a:t>
                </a:r>
                <a:r>
                  <a:rPr lang="en-US" sz="2400" b="1" dirty="0"/>
                  <a:t>stranded assets</a:t>
                </a:r>
                <a:r>
                  <a:rPr lang="en-US" sz="2400" dirty="0"/>
                  <a:t>”.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30E9E1-0F53-6ED8-1D81-349A11A4C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067" y="3991466"/>
                <a:ext cx="6400800" cy="2308324"/>
              </a:xfrm>
              <a:prstGeom prst="rect">
                <a:avLst/>
              </a:prstGeom>
              <a:blipFill>
                <a:blip r:embed="rId7"/>
                <a:stretch>
                  <a:fillRect l="-1383" t="-1630" r="-1581" b="-43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11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659-7373-8186-8633-EEAFB8369FB3}"/>
              </a:ext>
            </a:extLst>
          </p:cNvPr>
          <p:cNvSpPr txBox="1"/>
          <p:nvPr/>
        </p:nvSpPr>
        <p:spPr>
          <a:xfrm>
            <a:off x="0" y="2677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8FB305-22F4-CFC0-E4A0-4E18ACE35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49" y="1029107"/>
            <a:ext cx="8773118" cy="23998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0B0783-C82E-1DCB-F945-E01F25460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49" y="3993765"/>
            <a:ext cx="8440783" cy="24777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062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692</Words>
  <Application>Microsoft Macintosh PowerPoint</Application>
  <PresentationFormat>Widescreen</PresentationFormat>
  <Paragraphs>73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CumulativeAnalysis – The total carbon emissions accumulated over time, E(t)</vt:lpstr>
      <vt:lpstr>Getting E(t) using a Python loop</vt:lpstr>
      <vt:lpstr>Getting E(t) with calculus (DO NOT worry about this, it’s just for the Math 181 veterans)</vt:lpstr>
      <vt:lpstr>Difference between a climatologist’s perspective and a economist’s perspective on E(t)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20</cp:revision>
  <dcterms:created xsi:type="dcterms:W3CDTF">2026-02-07T19:01:39Z</dcterms:created>
  <dcterms:modified xsi:type="dcterms:W3CDTF">2026-02-09T20:38:47Z</dcterms:modified>
</cp:coreProperties>
</file>