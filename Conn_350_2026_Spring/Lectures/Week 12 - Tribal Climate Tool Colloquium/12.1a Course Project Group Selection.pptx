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d5672ce85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dd5672ce8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d5672ce8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dd5672ce85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d5672ce8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dd5672ce85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d5672ce8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dd5672ce85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d5672ce85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dd5672ce85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5672ce85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dd5672ce85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d5672ce85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dd5672ce85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d5672ce85_0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dd5672ce8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d4cb229b4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d4cb229b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d4cb229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dd4cb229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3.jp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2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jp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jpg"/><Relationship Id="rId5" Type="http://schemas.openxmlformats.org/officeDocument/2006/relationships/image" Target="../media/image16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0" y="0"/>
            <a:ext cx="9144000" cy="47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Group Project Details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33863" y="469894"/>
            <a:ext cx="91440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size: 3 (self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chosen TODAY!)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Presentation length: 10 minutes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When: Weeks 14 and 15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your three person groups and communicate those group members to Joel and Steven (1 point)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 your group project idea through an ~two paragraph project proposal via Canvas submission: what you would like to test/model with ideas for implementation and planned division of labor (4 points)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 up for and participate in a 20-minute group meeting with Joel and Steven to refine project ideas and process (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points)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presentation: group roles, methods, results, interpretation, and connection to KNOW content (40 points, 20 pts for presentation and 20 points for quality of project work)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rubric and full details will be posted later this week on Canvas (including dates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/>
        </p:nvSpPr>
        <p:spPr>
          <a:xfrm>
            <a:off x="0" y="0"/>
            <a:ext cx="91440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729" l="-830" r="0" t="-811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raft diagram of the carbon cycle." id="142" name="Google Shape;14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697" y="1207994"/>
            <a:ext cx="4091267" cy="2727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1" y="835308"/>
            <a:ext cx="4268303" cy="3202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482" y="4274947"/>
            <a:ext cx="7273581" cy="52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12694" y="14813"/>
            <a:ext cx="9144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/>
        </p:nvSpPr>
        <p:spPr>
          <a:xfrm>
            <a:off x="0" y="0"/>
            <a:ext cx="9144000" cy="34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ideas: What is the intergenerational debt associated with a longer delay?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raft diagram of the carbon cycle." id="151" name="Google Shape;1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697" y="1207994"/>
            <a:ext cx="4091267" cy="2727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697" y="4197380"/>
            <a:ext cx="8514836" cy="599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6465" y="753819"/>
            <a:ext cx="4091267" cy="3069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/>
        </p:nvSpPr>
        <p:spPr>
          <a:xfrm>
            <a:off x="0" y="0"/>
            <a:ext cx="91440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729" l="-830" r="0" t="-811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raft diagram of the carbon cycle." id="159" name="Google Shape;15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697" y="1207994"/>
            <a:ext cx="4091267" cy="2727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697" y="4256851"/>
            <a:ext cx="8028775" cy="5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49037" y="667594"/>
            <a:ext cx="4236482" cy="3178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/>
        </p:nvSpPr>
        <p:spPr>
          <a:xfrm>
            <a:off x="0" y="0"/>
            <a:ext cx="91440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729" l="-830" r="0" t="-811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raft diagram of the carbon cycle." id="167" name="Google Shape;16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697" y="1207994"/>
            <a:ext cx="4091267" cy="2727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7700" y="1339780"/>
            <a:ext cx="4566285" cy="244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3697" y="4107251"/>
            <a:ext cx="8498112" cy="52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/>
        </p:nvSpPr>
        <p:spPr>
          <a:xfrm>
            <a:off x="0" y="-1"/>
            <a:ext cx="5439900" cy="81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version of Cambio has a lot of uncertainty in its parameterization, that you could explore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103144" y="1063292"/>
            <a:ext cx="55767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van’t Hoff feedback strength 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(Cambio 2.0) … there’s no tipping point (it’s a linear feedback), but what if we have the feedback strength (“DC”) wrong? </a:t>
            </a:r>
            <a:endParaRPr sz="1100"/>
          </a:p>
        </p:txBody>
      </p:sp>
      <p:grpSp>
        <p:nvGrpSpPr>
          <p:cNvPr id="176" name="Google Shape;176;p31"/>
          <p:cNvGrpSpPr/>
          <p:nvPr/>
        </p:nvGrpSpPr>
        <p:grpSpPr>
          <a:xfrm>
            <a:off x="6063925" y="650491"/>
            <a:ext cx="1822948" cy="1319487"/>
            <a:chOff x="371474" y="1402078"/>
            <a:chExt cx="6400802" cy="4260533"/>
          </a:xfrm>
        </p:grpSpPr>
        <p:grpSp>
          <p:nvGrpSpPr>
            <p:cNvPr id="177" name="Google Shape;177;p31"/>
            <p:cNvGrpSpPr/>
            <p:nvPr/>
          </p:nvGrpSpPr>
          <p:grpSpPr>
            <a:xfrm>
              <a:off x="371474" y="1402078"/>
              <a:ext cx="6400802" cy="4260533"/>
              <a:chOff x="2771774" y="2230753"/>
              <a:chExt cx="6400802" cy="4260533"/>
            </a:xfrm>
          </p:grpSpPr>
          <p:pic>
            <p:nvPicPr>
              <p:cNvPr id="178" name="Google Shape;178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771774" y="2230753"/>
                <a:ext cx="6400802" cy="4260533"/>
              </a:xfrm>
              <a:prstGeom prst="rect">
                <a:avLst/>
              </a:prstGeom>
              <a:noFill/>
              <a:ln cap="flat" cmpd="sng" w="7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179" name="Google Shape;179;p31"/>
              <p:cNvSpPr/>
              <p:nvPr/>
            </p:nvSpPr>
            <p:spPr>
              <a:xfrm>
                <a:off x="6443663" y="2386013"/>
                <a:ext cx="528600" cy="2043000"/>
              </a:xfrm>
              <a:prstGeom prst="upArrow">
                <a:avLst>
                  <a:gd fmla="val 50000" name="adj1"/>
                  <a:gd fmla="val 50000" name="adj2"/>
                </a:avLst>
              </a:prstGeom>
              <a:solidFill>
                <a:schemeClr val="accent2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31"/>
              <p:cNvSpPr/>
              <p:nvPr/>
            </p:nvSpPr>
            <p:spPr>
              <a:xfrm>
                <a:off x="4343400" y="3095625"/>
                <a:ext cx="528600" cy="1081200"/>
              </a:xfrm>
              <a:prstGeom prst="upArrow">
                <a:avLst>
                  <a:gd fmla="val 50000" name="adj1"/>
                  <a:gd fmla="val 50000" name="adj2"/>
                </a:avLst>
              </a:prstGeom>
              <a:solidFill>
                <a:schemeClr val="accent2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1" name="Google Shape;181;p31"/>
            <p:cNvSpPr txBox="1"/>
            <p:nvPr/>
          </p:nvSpPr>
          <p:spPr>
            <a:xfrm>
              <a:off x="770374" y="3923270"/>
              <a:ext cx="2595600" cy="161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Cold ocean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1"/>
            <p:cNvSpPr txBox="1"/>
            <p:nvPr/>
          </p:nvSpPr>
          <p:spPr>
            <a:xfrm>
              <a:off x="3018545" y="3929063"/>
              <a:ext cx="2812200" cy="161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Warm ocean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3" name="Google Shape;18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8615" y="1983068"/>
            <a:ext cx="2214443" cy="166169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/>
        </p:nvSpPr>
        <p:spPr>
          <a:xfrm>
            <a:off x="72188" y="3501210"/>
            <a:ext cx="55767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</a:t>
            </a:r>
            <a:r>
              <a:rPr b="1" baseline="-25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fertilization feedback inhibition 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(Cambio 4.0) … big uncertainties in the tipping point temperature, etc., the reduction in the CO</a:t>
            </a:r>
            <a:r>
              <a:rPr b="0" baseline="-25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fertilization will be.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72188" y="2260126"/>
            <a:ext cx="55767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Ice-albedo feedback 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(Cambio 3.0) … there are big uncertainties in the tipping point temperature, abruptness, how extreme the reduction in albedo will be.</a:t>
            </a:r>
            <a:endParaRPr sz="1100"/>
          </a:p>
        </p:txBody>
      </p:sp>
      <p:sp>
        <p:nvSpPr>
          <p:cNvPr id="186" name="Google Shape;186;p31"/>
          <p:cNvSpPr txBox="1"/>
          <p:nvPr/>
        </p:nvSpPr>
        <p:spPr>
          <a:xfrm>
            <a:off x="1325621" y="4494222"/>
            <a:ext cx="3158400" cy="368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760" l="0" r="-900" t="0"/>
            </a:stretch>
          </a:blipFill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pic>
        <p:nvPicPr>
          <p:cNvPr id="187" name="Google Shape;18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9782" y="3702926"/>
            <a:ext cx="2138597" cy="1320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/>
        </p:nvSpPr>
        <p:spPr>
          <a:xfrm>
            <a:off x="6943572" y="2219613"/>
            <a:ext cx="2034600" cy="531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4029" l="-2339" r="0" t="-351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189" name="Google Shape;189;p31"/>
          <p:cNvSpPr txBox="1"/>
          <p:nvPr/>
        </p:nvSpPr>
        <p:spPr>
          <a:xfrm>
            <a:off x="6733637" y="4076033"/>
            <a:ext cx="2214600" cy="5310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6070" l="-2580" r="-2570" t="-536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/>
        </p:nvSpPr>
        <p:spPr>
          <a:xfrm>
            <a:off x="0" y="0"/>
            <a:ext cx="9144000" cy="46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some past project titles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64" y="581855"/>
            <a:ext cx="3085841" cy="1207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050" y="1810682"/>
            <a:ext cx="4008664" cy="112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57" y="2995102"/>
            <a:ext cx="5829300" cy="824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8857" y="622037"/>
            <a:ext cx="4514847" cy="1127449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5913" y="1813721"/>
            <a:ext cx="3986878" cy="1002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40239" y="3025517"/>
            <a:ext cx="2612552" cy="1913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06286" y="3877821"/>
            <a:ext cx="3265716" cy="1083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/>
        </p:nvSpPr>
        <p:spPr>
          <a:xfrm>
            <a:off x="0" y="0"/>
            <a:ext cx="9144000" cy="47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project ideas: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3"/>
          <p:cNvSpPr txBox="1"/>
          <p:nvPr/>
        </p:nvSpPr>
        <p:spPr>
          <a:xfrm>
            <a:off x="33863" y="469894"/>
            <a:ext cx="91440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 level rise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Ocean acidification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Carbon capture technologies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sink enhancement/degradation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Ice sheet melt event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changes in albedo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Needed changes to hit historic climate sensitivity (°C/2x CO</a:t>
            </a:r>
            <a:r>
              <a:rPr b="0" baseline="-2500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Massive tree planting effort effects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/>
        </p:nvSpPr>
        <p:spPr>
          <a:xfrm>
            <a:off x="0" y="0"/>
            <a:ext cx="9144000" cy="47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Group Project </a:t>
            </a: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Creation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116750" y="660000"/>
            <a:ext cx="8313000" cy="39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921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your top three project ideas/interests (5 minutes)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class share of top three project interests/ideas (5 minutes)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In-class time to create 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person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groups, claim your project idea, and sign up for a meeting with Joel and Steven (on Canvas) (10 minutes)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2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are having trouble finding a group, come to the front of the room to find others still looking!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(If finish early) Begin drafting your project pitch. Canvas submission will go live once project groups are established.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/>
        </p:nvSpPr>
        <p:spPr>
          <a:xfrm>
            <a:off x="0" y="0"/>
            <a:ext cx="9144000" cy="47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Group Project Details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5"/>
          <p:cNvSpPr txBox="1"/>
          <p:nvPr/>
        </p:nvSpPr>
        <p:spPr>
          <a:xfrm>
            <a:off x="33863" y="469894"/>
            <a:ext cx="91440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size: 3 (self chosen)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Presentation length: 10 minutes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When: Weeks 14 and 15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/>
            </a:pPr>
            <a:r>
              <a:rPr b="0" i="0" lang="en" sz="19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alibri"/>
                <a:ea typeface="Calibri"/>
                <a:cs typeface="Calibri"/>
                <a:sym typeface="Calibri"/>
              </a:rPr>
              <a:t>Choose your three person groups and communicate those group members to Joel and Steven via Google Spre</a:t>
            </a:r>
            <a:r>
              <a:rPr lang="en" sz="1900">
                <a:solidFill>
                  <a:schemeClr val="dk1"/>
                </a:solidFill>
                <a:highlight>
                  <a:schemeClr val="accent6"/>
                </a:highlight>
                <a:latin typeface="Calibri"/>
                <a:ea typeface="Calibri"/>
                <a:cs typeface="Calibri"/>
                <a:sym typeface="Calibri"/>
              </a:rPr>
              <a:t>adsheet on Canvas Homepage + sign up for a project meeting slot</a:t>
            </a:r>
            <a:r>
              <a:rPr b="0" i="0" lang="en" sz="19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alibri"/>
                <a:ea typeface="Calibri"/>
                <a:cs typeface="Calibri"/>
                <a:sym typeface="Calibri"/>
              </a:rPr>
              <a:t> (1 point)</a:t>
            </a:r>
            <a:endParaRPr b="0" i="0" sz="1900" u="none" cap="none" strike="noStrike">
              <a:solidFill>
                <a:schemeClr val="dk1"/>
              </a:solidFill>
              <a:highlight>
                <a:schemeClr val="accent6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/>
            </a:pPr>
            <a:r>
              <a:rPr b="0" i="0" lang="en" sz="19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Pitch your group project idea through an</a:t>
            </a:r>
            <a:r>
              <a:rPr b="0" i="0" lang="en" sz="19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~two paragraph project proposal via Canvas submission: what you would like to test/model with ideas for implementation and planned divi</a:t>
            </a:r>
            <a:r>
              <a:rPr b="0" i="0" lang="en" sz="19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sion of</a:t>
            </a:r>
            <a:r>
              <a:rPr b="0" i="0" lang="en" sz="19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labor (4 points)</a:t>
            </a:r>
            <a:endParaRPr b="0" i="0" sz="1900" u="none" cap="none" strike="noStrike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/>
            </a:pPr>
            <a:r>
              <a:rPr b="0" i="0" lang="en" sz="19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Sign up for and participate in a 20-minute group meeting with Joel and Steven to refine project ideas and process (</a:t>
            </a:r>
            <a:r>
              <a:rPr lang="en" sz="19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" sz="19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points)</a:t>
            </a:r>
            <a:endParaRPr b="0" i="0" sz="1900" u="none" cap="none" strike="noStrike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/>
            </a:pPr>
            <a:r>
              <a:rPr b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presentation: group roles, methods, results, interpretation, and connection to KNOW content (40 points, 20 pts for presentation and 20 points for quality of project work)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