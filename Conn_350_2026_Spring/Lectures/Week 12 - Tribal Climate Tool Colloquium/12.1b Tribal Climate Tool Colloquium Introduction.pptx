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6858000" cy="9144000"/>
  <p:embeddedFontLst>
    <p:embeddedFont>
      <p:font typeface="Montserrat" pitchFamily="2" charset="77"/>
      <p:regular r:id="rId10"/>
      <p:bold r:id="rId11"/>
      <p:italic r:id="rId12"/>
      <p:boldItalic r:id="rId1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B8F913-F934-4F04-A8D4-D3E08F2B5FB4}">
  <a:tblStyle styleId="{17B8F913-F934-4F04-A8D4-D3E08F2B5FB4}" styleName="Table_0">
    <a:wholeTbl>
      <a:tcTxStyle>
        <a:font>
          <a:latin typeface="Arial"/>
          <a:ea typeface="Arial"/>
          <a:cs typeface="Arial"/>
        </a:font>
        <a:srgbClr val="000000"/>
      </a:tcTxStyle>
      <a:tcStyle>
        <a:tcBdr>
          <a:left>
            <a:ln w="12700" cap="flat" cmpd="sng">
              <a:solidFill>
                <a:srgbClr val="000000"/>
              </a:solidFill>
              <a:prstDash val="solid"/>
              <a:round/>
              <a:headEnd type="none" w="sm" len="sm"/>
              <a:tailEnd type="none" w="sm" len="sm"/>
            </a:ln>
          </a:left>
          <a:right>
            <a:ln w="12700" cap="flat" cmpd="sng">
              <a:solidFill>
                <a:srgbClr val="000000"/>
              </a:solidFill>
              <a:prstDash val="solid"/>
              <a:round/>
              <a:headEnd type="none" w="sm" len="sm"/>
              <a:tailEnd type="none" w="sm" len="sm"/>
            </a:ln>
          </a:right>
          <a:top>
            <a:ln w="12700" cap="flat" cmpd="sng">
              <a:solidFill>
                <a:srgbClr val="000000"/>
              </a:solidFill>
              <a:prstDash val="solid"/>
              <a:round/>
              <a:headEnd type="none" w="sm" len="sm"/>
              <a:tailEnd type="none" w="sm" len="sm"/>
            </a:ln>
          </a:top>
          <a:bottom>
            <a:ln w="12700" cap="flat" cmpd="sng">
              <a:solidFill>
                <a:srgbClr val="000000"/>
              </a:solidFill>
              <a:prstDash val="solid"/>
              <a:round/>
              <a:headEnd type="none" w="sm" len="sm"/>
              <a:tailEnd type="none" w="sm" len="sm"/>
            </a:ln>
          </a:bottom>
          <a:insideH>
            <a:ln w="12700" cap="flat" cmpd="sng">
              <a:solidFill>
                <a:srgbClr val="000000"/>
              </a:solidFill>
              <a:prstDash val="solid"/>
              <a:round/>
              <a:headEnd type="none" w="sm" len="sm"/>
              <a:tailEnd type="none" w="sm" len="sm"/>
            </a:ln>
          </a:insideH>
          <a:insideV>
            <a:ln w="12700"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59"/>
  </p:normalViewPr>
  <p:slideViewPr>
    <p:cSldViewPr snapToGrid="0">
      <p:cViewPr varScale="1">
        <p:scale>
          <a:sx n="141" d="100"/>
          <a:sy n="141" d="100"/>
        </p:scale>
        <p:origin x="70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3d4c8100a4d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3d4c8100a4d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d4b437bb0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3d4b437bb0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g3d4b437bb09_0_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 name="Google Shape;66;g3d4b437bb09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g3d4b437bb09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 name="Google Shape;73;g3d4b437bb09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d4b437bb09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d4b437bb09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d4b437bb09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3d4b437bb09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3d4b437bb09_0_1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3d4b437bb09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hyperlink" Target="https://fwcs.oregonstate.edu/tek/about/tribes-pacific-northwest-region" TargetMode="External"/><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hyperlink" Target="https://cig.uw.edu/resources/tribal-vulnerability-assessment-resources/tribal-climate-tool/" TargetMode="External"/><Relationship Id="rId4" Type="http://schemas.openxmlformats.org/officeDocument/2006/relationships/hyperlink" Target="https://docs.google.com/spreadsheets/d/1WEg9K3q7_X2NRtU-ifTt4007zuHKC3-yPKxp6S4l5_w/edit?usp=sharing"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hyperlink" Target="https://fwcs.oregonstate.edu/tek/about/tribes-pacific-northwest-region" TargetMode="External"/><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hyperlink" Target="https://cig.uw.edu/resources/tribal-vulnerability-assessment-resources/tribal-climate-tool/"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pic>
        <p:nvPicPr>
          <p:cNvPr id="54" name="Google Shape;54;p13"/>
          <p:cNvPicPr preferRelativeResize="0"/>
          <p:nvPr/>
        </p:nvPicPr>
        <p:blipFill>
          <a:blip r:embed="rId3">
            <a:alphaModFix/>
          </a:blip>
          <a:stretch>
            <a:fillRect/>
          </a:stretch>
        </p:blipFill>
        <p:spPr>
          <a:xfrm>
            <a:off x="3610550" y="88250"/>
            <a:ext cx="5452305" cy="4838702"/>
          </a:xfrm>
          <a:prstGeom prst="rect">
            <a:avLst/>
          </a:prstGeom>
          <a:noFill/>
          <a:ln>
            <a:noFill/>
          </a:ln>
        </p:spPr>
      </p:pic>
      <p:pic>
        <p:nvPicPr>
          <p:cNvPr id="55" name="Google Shape;55;p13"/>
          <p:cNvPicPr preferRelativeResize="0"/>
          <p:nvPr/>
        </p:nvPicPr>
        <p:blipFill>
          <a:blip r:embed="rId4">
            <a:alphaModFix/>
          </a:blip>
          <a:stretch>
            <a:fillRect/>
          </a:stretch>
        </p:blipFill>
        <p:spPr>
          <a:xfrm>
            <a:off x="6707150" y="3324375"/>
            <a:ext cx="2291625" cy="1602575"/>
          </a:xfrm>
          <a:prstGeom prst="rect">
            <a:avLst/>
          </a:prstGeom>
          <a:noFill/>
          <a:ln w="19050" cap="flat" cmpd="sng">
            <a:solidFill>
              <a:srgbClr val="000000"/>
            </a:solidFill>
            <a:prstDash val="solid"/>
            <a:round/>
            <a:headEnd type="none" w="sm" len="sm"/>
            <a:tailEnd type="none" w="sm" len="sm"/>
          </a:ln>
        </p:spPr>
      </p:pic>
      <p:sp>
        <p:nvSpPr>
          <p:cNvPr id="56" name="Google Shape;56;p13"/>
          <p:cNvSpPr txBox="1"/>
          <p:nvPr/>
        </p:nvSpPr>
        <p:spPr>
          <a:xfrm>
            <a:off x="304025" y="699750"/>
            <a:ext cx="3137400" cy="1737900"/>
          </a:xfrm>
          <a:prstGeom prst="rect">
            <a:avLst/>
          </a:prstGeom>
          <a:no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2"/>
                </a:solidFill>
              </a:rPr>
              <a:t>KNOW Week Two:</a:t>
            </a:r>
            <a:endParaRPr sz="2400">
              <a:solidFill>
                <a:schemeClr val="dk2"/>
              </a:solidFill>
            </a:endParaRPr>
          </a:p>
          <a:p>
            <a:pPr marL="0" lvl="0" indent="0" algn="l" rtl="0">
              <a:spcBef>
                <a:spcPts val="0"/>
              </a:spcBef>
              <a:spcAft>
                <a:spcPts val="0"/>
              </a:spcAft>
              <a:buNone/>
            </a:pPr>
            <a:endParaRPr sz="2400">
              <a:solidFill>
                <a:schemeClr val="dk2"/>
              </a:solidFill>
            </a:endParaRPr>
          </a:p>
          <a:p>
            <a:pPr marL="0" lvl="0" indent="0" algn="l" rtl="0">
              <a:spcBef>
                <a:spcPts val="0"/>
              </a:spcBef>
              <a:spcAft>
                <a:spcPts val="0"/>
              </a:spcAft>
              <a:buNone/>
            </a:pPr>
            <a:r>
              <a:rPr lang="en" sz="2400">
                <a:solidFill>
                  <a:schemeClr val="dk2"/>
                </a:solidFill>
              </a:rPr>
              <a:t>Tribal Climate Tool Colloquium</a:t>
            </a:r>
            <a:endParaRPr sz="2400">
              <a:solidFill>
                <a:schemeClr val="dk2"/>
              </a:solidFill>
            </a:endParaRPr>
          </a:p>
        </p:txBody>
      </p:sp>
      <p:pic>
        <p:nvPicPr>
          <p:cNvPr id="57" name="Google Shape;57;p13"/>
          <p:cNvPicPr preferRelativeResize="0"/>
          <p:nvPr/>
        </p:nvPicPr>
        <p:blipFill>
          <a:blip r:embed="rId5">
            <a:alphaModFix/>
          </a:blip>
          <a:stretch>
            <a:fillRect/>
          </a:stretch>
        </p:blipFill>
        <p:spPr>
          <a:xfrm>
            <a:off x="158225" y="2993363"/>
            <a:ext cx="3429000" cy="1933575"/>
          </a:xfrm>
          <a:prstGeom prst="rect">
            <a:avLst/>
          </a:prstGeom>
          <a:noFill/>
          <a:ln>
            <a:noFill/>
          </a:ln>
        </p:spPr>
      </p:pic>
      <p:pic>
        <p:nvPicPr>
          <p:cNvPr id="58" name="Google Shape;58;p13"/>
          <p:cNvPicPr preferRelativeResize="0"/>
          <p:nvPr/>
        </p:nvPicPr>
        <p:blipFill>
          <a:blip r:embed="rId6">
            <a:alphaModFix/>
          </a:blip>
          <a:stretch>
            <a:fillRect/>
          </a:stretch>
        </p:blipFill>
        <p:spPr>
          <a:xfrm>
            <a:off x="7067026" y="920775"/>
            <a:ext cx="1846599" cy="1295850"/>
          </a:xfrm>
          <a:prstGeom prst="rect">
            <a:avLst/>
          </a:prstGeom>
          <a:noFill/>
          <a:ln w="19050" cap="flat" cmpd="sng">
            <a:solidFill>
              <a:schemeClr val="dk2"/>
            </a:solidFill>
            <a:prstDash val="solid"/>
            <a:round/>
            <a:headEnd type="none" w="sm" len="sm"/>
            <a:tailEnd type="none" w="sm" len="sm"/>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4"/>
          <p:cNvSpPr txBox="1">
            <a:spLocks noGrp="1"/>
          </p:cNvSpPr>
          <p:nvPr>
            <p:ph type="title"/>
          </p:nvPr>
        </p:nvSpPr>
        <p:spPr>
          <a:xfrm>
            <a:off x="311700" y="75600"/>
            <a:ext cx="8520600" cy="45399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2100">
                <a:latin typeface="Montserrat"/>
                <a:ea typeface="Montserrat"/>
                <a:cs typeface="Montserrat"/>
                <a:sym typeface="Montserrat"/>
              </a:rPr>
              <a:t>Instructions</a:t>
            </a:r>
            <a:endParaRPr sz="21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400" b="1">
                <a:latin typeface="Montserrat"/>
                <a:ea typeface="Montserrat"/>
                <a:cs typeface="Montserrat"/>
                <a:sym typeface="Montserrat"/>
              </a:rPr>
              <a:t>In class on today and Wednesday</a:t>
            </a:r>
            <a:endParaRPr sz="1400">
              <a:latin typeface="Montserrat"/>
              <a:ea typeface="Montserrat"/>
              <a:cs typeface="Montserrat"/>
              <a:sym typeface="Montserrat"/>
            </a:endParaRPr>
          </a:p>
          <a:p>
            <a:pPr marL="457200" lvl="0" indent="-317500" algn="l" rtl="0">
              <a:lnSpc>
                <a:spcPct val="115000"/>
              </a:lnSpc>
              <a:spcBef>
                <a:spcPts val="0"/>
              </a:spcBef>
              <a:spcAft>
                <a:spcPts val="0"/>
              </a:spcAft>
              <a:buSzPts val="1400"/>
              <a:buFont typeface="Montserrat"/>
              <a:buChar char="●"/>
            </a:pPr>
            <a:r>
              <a:rPr lang="en" sz="1400">
                <a:latin typeface="Montserrat"/>
                <a:ea typeface="Montserrat"/>
                <a:cs typeface="Montserrat"/>
                <a:sym typeface="Montserrat"/>
              </a:rPr>
              <a:t>Choose a Pacific Northwest Tribe from </a:t>
            </a:r>
            <a:r>
              <a:rPr lang="en" sz="1400" u="sng">
                <a:solidFill>
                  <a:srgbClr val="1155CC"/>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Oregon State University’s Tribes of the Pacific Northwest Region</a:t>
            </a:r>
            <a:r>
              <a:rPr lang="en" sz="1400">
                <a:latin typeface="Montserrat"/>
                <a:ea typeface="Montserrat"/>
                <a:cs typeface="Montserrat"/>
                <a:sym typeface="Montserrat"/>
              </a:rPr>
              <a:t>. Indicate your selection on </a:t>
            </a:r>
            <a:r>
              <a:rPr lang="en" sz="1400" u="sng">
                <a:solidFill>
                  <a:srgbClr val="1155CC"/>
                </a:solidFill>
                <a:latin typeface="Montserrat"/>
                <a:ea typeface="Montserrat"/>
                <a:cs typeface="Montserrat"/>
                <a:sym typeface="Montserrat"/>
                <a:hlinkClick r:id="rId4">
                  <a:extLst>
                    <a:ext uri="{A12FA001-AC4F-418D-AE19-62706E023703}">
                      <ahyp:hlinkClr xmlns:ahyp="http://schemas.microsoft.com/office/drawing/2018/hyperlinkcolor" val="tx"/>
                    </a:ext>
                  </a:extLst>
                </a:hlinkClick>
              </a:rPr>
              <a:t>this Google Sheet</a:t>
            </a:r>
            <a:r>
              <a:rPr lang="en" sz="1400">
                <a:latin typeface="Montserrat"/>
                <a:ea typeface="Montserrat"/>
                <a:cs typeface="Montserrat"/>
                <a:sym typeface="Montserrat"/>
              </a:rPr>
              <a:t>.</a:t>
            </a:r>
            <a:endParaRPr sz="1400">
              <a:latin typeface="Montserrat"/>
              <a:ea typeface="Montserrat"/>
              <a:cs typeface="Montserrat"/>
              <a:sym typeface="Montserrat"/>
            </a:endParaRPr>
          </a:p>
          <a:p>
            <a:pPr marL="457200" lvl="0" indent="-317500" algn="l" rtl="0">
              <a:lnSpc>
                <a:spcPct val="115000"/>
              </a:lnSpc>
              <a:spcBef>
                <a:spcPts val="0"/>
              </a:spcBef>
              <a:spcAft>
                <a:spcPts val="0"/>
              </a:spcAft>
              <a:buSzPts val="1400"/>
              <a:buFont typeface="Montserrat"/>
              <a:buChar char="●"/>
            </a:pPr>
            <a:r>
              <a:rPr lang="en" sz="1400">
                <a:latin typeface="Montserrat"/>
                <a:ea typeface="Montserrat"/>
                <a:cs typeface="Montserrat"/>
                <a:sym typeface="Montserrat"/>
              </a:rPr>
              <a:t>Use the tribes website (</a:t>
            </a:r>
            <a:r>
              <a:rPr lang="en" sz="1400" u="sng">
                <a:solidFill>
                  <a:srgbClr val="1155CC"/>
                </a:solidFill>
                <a:latin typeface="Montserrat"/>
                <a:ea typeface="Montserrat"/>
                <a:cs typeface="Montserrat"/>
                <a:sym typeface="Montserrat"/>
                <a:hlinkClick r:id="rId3">
                  <a:extLst>
                    <a:ext uri="{A12FA001-AC4F-418D-AE19-62706E023703}">
                      <ahyp:hlinkClr xmlns:ahyp="http://schemas.microsoft.com/office/drawing/2018/hyperlinkcolor" val="tx"/>
                    </a:ext>
                  </a:extLst>
                </a:hlinkClick>
              </a:rPr>
              <a:t>linked on OSU’s page</a:t>
            </a:r>
            <a:r>
              <a:rPr lang="en" sz="1400">
                <a:latin typeface="Montserrat"/>
                <a:ea typeface="Montserrat"/>
                <a:cs typeface="Montserrat"/>
                <a:sym typeface="Montserrat"/>
              </a:rPr>
              <a:t>) and additional online resources to explore the tribe’s history, culture, and connection to nature. Use the </a:t>
            </a:r>
            <a:r>
              <a:rPr lang="en" sz="1400" u="sng">
                <a:solidFill>
                  <a:srgbClr val="1155CC"/>
                </a:solidFill>
                <a:latin typeface="Montserrat"/>
                <a:ea typeface="Montserrat"/>
                <a:cs typeface="Montserrat"/>
                <a:sym typeface="Montserrat"/>
                <a:hlinkClick r:id="rId5">
                  <a:extLst>
                    <a:ext uri="{A12FA001-AC4F-418D-AE19-62706E023703}">
                      <ahyp:hlinkClr xmlns:ahyp="http://schemas.microsoft.com/office/drawing/2018/hyperlinkcolor" val="tx"/>
                    </a:ext>
                  </a:extLst>
                </a:hlinkClick>
              </a:rPr>
              <a:t>Tribal Climate Tool</a:t>
            </a:r>
            <a:r>
              <a:rPr lang="en" sz="1400">
                <a:latin typeface="Montserrat"/>
                <a:ea typeface="Montserrat"/>
                <a:cs typeface="Montserrat"/>
                <a:sym typeface="Montserrat"/>
              </a:rPr>
              <a:t> to see how climate variables are expected to change on the tribe’s land. This document provides space to record insights.</a:t>
            </a:r>
            <a:endParaRPr sz="1400">
              <a:latin typeface="Montserrat"/>
              <a:ea typeface="Montserrat"/>
              <a:cs typeface="Montserrat"/>
              <a:sym typeface="Montserrat"/>
            </a:endParaRPr>
          </a:p>
          <a:p>
            <a:pPr marL="457200" lvl="0" indent="-317500" algn="l" rtl="0">
              <a:lnSpc>
                <a:spcPct val="115000"/>
              </a:lnSpc>
              <a:spcBef>
                <a:spcPts val="0"/>
              </a:spcBef>
              <a:spcAft>
                <a:spcPts val="0"/>
              </a:spcAft>
              <a:buSzPts val="1400"/>
              <a:buFont typeface="Montserrat"/>
              <a:buChar char="●"/>
            </a:pPr>
            <a:r>
              <a:rPr lang="en" sz="1400">
                <a:latin typeface="Montserrat"/>
                <a:ea typeface="Montserrat"/>
                <a:cs typeface="Montserrat"/>
                <a:sym typeface="Montserrat"/>
              </a:rPr>
              <a:t>Create a 1-page handout with hand-drawn visuals that symbolize the most essential points of your findings and discussion. Take this in any direction your group wants. For example, the visual could use a metaphor or be created in the style of a community mural, a tattoo sleeve, a map, or a music album cover.</a:t>
            </a:r>
            <a:endParaRPr sz="14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400" b="1">
                <a:latin typeface="Montserrat"/>
                <a:ea typeface="Montserrat"/>
                <a:cs typeface="Montserrat"/>
                <a:sym typeface="Montserrat"/>
              </a:rPr>
              <a:t>In class on Friday</a:t>
            </a:r>
            <a:endParaRPr sz="1400" b="1">
              <a:latin typeface="Montserrat"/>
              <a:ea typeface="Montserrat"/>
              <a:cs typeface="Montserrat"/>
              <a:sym typeface="Montserrat"/>
            </a:endParaRPr>
          </a:p>
          <a:p>
            <a:pPr marL="457200" lvl="0" indent="-317500" algn="l" rtl="0">
              <a:lnSpc>
                <a:spcPct val="115000"/>
              </a:lnSpc>
              <a:spcBef>
                <a:spcPts val="0"/>
              </a:spcBef>
              <a:spcAft>
                <a:spcPts val="0"/>
              </a:spcAft>
              <a:buSzPts val="1400"/>
              <a:buFont typeface="Montserrat"/>
              <a:buChar char="●"/>
            </a:pPr>
            <a:r>
              <a:rPr lang="en" sz="1400">
                <a:latin typeface="Montserrat"/>
                <a:ea typeface="Montserrat"/>
                <a:cs typeface="Montserrat"/>
                <a:sym typeface="Montserrat"/>
              </a:rPr>
              <a:t>You will present your 1-pager and synopsis of your group research to other small groups of students. You will then facilitate a discussion.</a:t>
            </a:r>
            <a:endParaRPr sz="1400">
              <a:latin typeface="Montserrat"/>
              <a:ea typeface="Montserrat"/>
              <a:cs typeface="Montserrat"/>
              <a:sym typeface="Montserrat"/>
            </a:endParaRPr>
          </a:p>
          <a:p>
            <a:pPr marL="457200" lvl="0" indent="-317500" algn="l" rtl="0">
              <a:lnSpc>
                <a:spcPct val="115000"/>
              </a:lnSpc>
              <a:spcBef>
                <a:spcPts val="0"/>
              </a:spcBef>
              <a:spcAft>
                <a:spcPts val="0"/>
              </a:spcAft>
              <a:buSzPts val="1400"/>
              <a:buFont typeface="Montserrat"/>
              <a:buChar char="●"/>
            </a:pPr>
            <a:r>
              <a:rPr lang="en" sz="1400">
                <a:latin typeface="Montserrat"/>
                <a:ea typeface="Montserrat"/>
                <a:cs typeface="Montserrat"/>
                <a:sym typeface="Montserrat"/>
              </a:rPr>
              <a:t>Your team will record the evolution of the discussion on chart paper. </a:t>
            </a:r>
            <a:endParaRPr sz="1400">
              <a:latin typeface="Montserrat"/>
              <a:ea typeface="Montserrat"/>
              <a:cs typeface="Montserrat"/>
              <a:sym typeface="Montserrat"/>
            </a:endParaRPr>
          </a:p>
          <a:p>
            <a:pPr marL="457200" lvl="0" indent="-317500" algn="l" rtl="0">
              <a:lnSpc>
                <a:spcPct val="115000"/>
              </a:lnSpc>
              <a:spcBef>
                <a:spcPts val="0"/>
              </a:spcBef>
              <a:spcAft>
                <a:spcPts val="0"/>
              </a:spcAft>
              <a:buSzPts val="1400"/>
              <a:buFont typeface="Montserrat"/>
              <a:buChar char="●"/>
            </a:pPr>
            <a:r>
              <a:rPr lang="en" sz="1400">
                <a:latin typeface="Montserrat"/>
                <a:ea typeface="Montserrat"/>
                <a:cs typeface="Montserrat"/>
                <a:sym typeface="Montserrat"/>
              </a:rPr>
              <a:t>Each group will present twice and be presented to twice, we will then debrief as a whole group.</a:t>
            </a:r>
            <a:endParaRPr sz="3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sp>
        <p:nvSpPr>
          <p:cNvPr id="68" name="Google Shape;68;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69" name="Google Shape;69;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70" name="Google Shape;70;p15"/>
          <p:cNvPicPr preferRelativeResize="0"/>
          <p:nvPr/>
        </p:nvPicPr>
        <p:blipFill>
          <a:blip r:embed="rId3">
            <a:alphaModFix/>
          </a:blip>
          <a:stretch>
            <a:fillRect/>
          </a:stretch>
        </p:blipFill>
        <p:spPr>
          <a:xfrm>
            <a:off x="0" y="265155"/>
            <a:ext cx="9144001" cy="461319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pic>
        <p:nvPicPr>
          <p:cNvPr id="75" name="Google Shape;75;p16"/>
          <p:cNvPicPr preferRelativeResize="0"/>
          <p:nvPr/>
        </p:nvPicPr>
        <p:blipFill>
          <a:blip r:embed="rId3">
            <a:alphaModFix/>
          </a:blip>
          <a:stretch>
            <a:fillRect/>
          </a:stretch>
        </p:blipFill>
        <p:spPr>
          <a:xfrm>
            <a:off x="152400" y="152400"/>
            <a:ext cx="4284025" cy="2995900"/>
          </a:xfrm>
          <a:prstGeom prst="rect">
            <a:avLst/>
          </a:prstGeom>
          <a:noFill/>
          <a:ln>
            <a:noFill/>
          </a:ln>
        </p:spPr>
      </p:pic>
      <p:pic>
        <p:nvPicPr>
          <p:cNvPr id="76" name="Google Shape;76;p16"/>
          <p:cNvPicPr preferRelativeResize="0"/>
          <p:nvPr/>
        </p:nvPicPr>
        <p:blipFill rotWithShape="1">
          <a:blip r:embed="rId4">
            <a:alphaModFix/>
          </a:blip>
          <a:srcRect l="6731" r="3041" b="6059"/>
          <a:stretch/>
        </p:blipFill>
        <p:spPr>
          <a:xfrm rot="-5400000">
            <a:off x="4932725" y="942125"/>
            <a:ext cx="3249650" cy="45495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322484"/>
            <a:ext cx="8520600" cy="4437600"/>
          </a:xfrm>
          <a:prstGeom prst="rect">
            <a:avLst/>
          </a:prstGeom>
        </p:spPr>
        <p:txBody>
          <a:bodyPr spcFirstLastPara="1" wrap="square" lIns="91425" tIns="91425" rIns="91425" bIns="91425" anchor="t" anchorCtr="0">
            <a:normAutofit/>
          </a:bodyPr>
          <a:lstStyle/>
          <a:p>
            <a:pPr marL="0" lvl="0" indent="0" algn="l" rtl="0">
              <a:lnSpc>
                <a:spcPct val="115000"/>
              </a:lnSpc>
              <a:spcBef>
                <a:spcPts val="0"/>
              </a:spcBef>
              <a:spcAft>
                <a:spcPts val="0"/>
              </a:spcAft>
              <a:buClr>
                <a:schemeClr val="dk1"/>
              </a:buClr>
              <a:buSzPts val="1100"/>
              <a:buFont typeface="Arial"/>
              <a:buNone/>
            </a:pPr>
            <a:r>
              <a:rPr lang="en" sz="2400">
                <a:latin typeface="Montserrat"/>
                <a:ea typeface="Montserrat"/>
                <a:cs typeface="Montserrat"/>
                <a:sym typeface="Montserrat"/>
              </a:rPr>
              <a:t>Grading</a:t>
            </a:r>
            <a:endParaRPr sz="24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700" b="1" i="1">
                <a:latin typeface="Montserrat"/>
                <a:ea typeface="Montserrat"/>
                <a:cs typeface="Montserrat"/>
                <a:sym typeface="Montserrat"/>
              </a:rPr>
              <a:t>Group Presentation and discussion leadership - 15 Points</a:t>
            </a:r>
            <a:endParaRPr sz="1700" b="1" i="1">
              <a:latin typeface="Montserrat"/>
              <a:ea typeface="Montserrat"/>
              <a:cs typeface="Montserrat"/>
              <a:sym typeface="Montserrat"/>
            </a:endParaRPr>
          </a:p>
          <a:p>
            <a:pPr marL="457200" lvl="0" indent="-336550" algn="l" rtl="0">
              <a:lnSpc>
                <a:spcPct val="115000"/>
              </a:lnSpc>
              <a:spcBef>
                <a:spcPts val="0"/>
              </a:spcBef>
              <a:spcAft>
                <a:spcPts val="0"/>
              </a:spcAft>
              <a:buSzPts val="1700"/>
              <a:buFont typeface="Montserrat"/>
              <a:buChar char="●"/>
            </a:pPr>
            <a:r>
              <a:rPr lang="en" sz="1700">
                <a:latin typeface="Montserrat"/>
                <a:ea typeface="Montserrat"/>
                <a:cs typeface="Montserrat"/>
                <a:sym typeface="Montserrat"/>
              </a:rPr>
              <a:t>The visual one-pager is appealing and provides enough information to spark further conversation (5 points).</a:t>
            </a:r>
            <a:endParaRPr sz="1700">
              <a:latin typeface="Montserrat"/>
              <a:ea typeface="Montserrat"/>
              <a:cs typeface="Montserrat"/>
              <a:sym typeface="Montserrat"/>
            </a:endParaRPr>
          </a:p>
          <a:p>
            <a:pPr marL="457200" lvl="0" indent="-336550" algn="l" rtl="0">
              <a:lnSpc>
                <a:spcPct val="115000"/>
              </a:lnSpc>
              <a:spcBef>
                <a:spcPts val="0"/>
              </a:spcBef>
              <a:spcAft>
                <a:spcPts val="0"/>
              </a:spcAft>
              <a:buSzPts val="1700"/>
              <a:buFont typeface="Montserrat"/>
              <a:buChar char="●"/>
            </a:pPr>
            <a:r>
              <a:rPr lang="en" sz="1700">
                <a:latin typeface="Montserrat"/>
                <a:ea typeface="Montserrat"/>
                <a:cs typeface="Montserrat"/>
                <a:sym typeface="Montserrat"/>
              </a:rPr>
              <a:t>Questions and important points drawn from research using the Tribal Climate Tool and tribe websites are engaging, relevant, and interesting (5 pts)</a:t>
            </a:r>
            <a:endParaRPr sz="1700">
              <a:latin typeface="Montserrat"/>
              <a:ea typeface="Montserrat"/>
              <a:cs typeface="Montserrat"/>
              <a:sym typeface="Montserrat"/>
            </a:endParaRPr>
          </a:p>
          <a:p>
            <a:pPr marL="457200" lvl="0" indent="-336550" algn="l" rtl="0">
              <a:lnSpc>
                <a:spcPct val="115000"/>
              </a:lnSpc>
              <a:spcBef>
                <a:spcPts val="0"/>
              </a:spcBef>
              <a:spcAft>
                <a:spcPts val="0"/>
              </a:spcAft>
              <a:buSzPts val="1700"/>
              <a:buFont typeface="Montserrat"/>
              <a:buChar char="●"/>
            </a:pPr>
            <a:r>
              <a:rPr lang="en" sz="1700">
                <a:latin typeface="Montserrat"/>
                <a:ea typeface="Montserrat"/>
                <a:cs typeface="Montserrat"/>
                <a:sym typeface="Montserrat"/>
              </a:rPr>
              <a:t>Presentation is well conveyed and discussion is effectively facilitated during the colloquium (5 pts)</a:t>
            </a:r>
            <a:endParaRPr sz="1700">
              <a:latin typeface="Montserrat"/>
              <a:ea typeface="Montserrat"/>
              <a:cs typeface="Montserrat"/>
              <a:sym typeface="Montserrat"/>
            </a:endParaRPr>
          </a:p>
          <a:p>
            <a:pPr marL="457200" lvl="0" indent="0" algn="l" rtl="0">
              <a:lnSpc>
                <a:spcPct val="115000"/>
              </a:lnSpc>
              <a:spcBef>
                <a:spcPts val="0"/>
              </a:spcBef>
              <a:spcAft>
                <a:spcPts val="0"/>
              </a:spcAft>
              <a:buNone/>
            </a:pPr>
            <a:endParaRPr sz="1700">
              <a:latin typeface="Montserrat"/>
              <a:ea typeface="Montserrat"/>
              <a:cs typeface="Montserrat"/>
              <a:sym typeface="Montserrat"/>
            </a:endParaRPr>
          </a:p>
          <a:p>
            <a:pPr marL="0" lvl="0" indent="0" algn="l" rtl="0">
              <a:lnSpc>
                <a:spcPct val="115000"/>
              </a:lnSpc>
              <a:spcBef>
                <a:spcPts val="0"/>
              </a:spcBef>
              <a:spcAft>
                <a:spcPts val="0"/>
              </a:spcAft>
              <a:buClr>
                <a:schemeClr val="dk1"/>
              </a:buClr>
              <a:buSzPts val="1100"/>
              <a:buFont typeface="Arial"/>
              <a:buNone/>
            </a:pPr>
            <a:r>
              <a:rPr lang="en" sz="1700" b="1" i="1">
                <a:latin typeface="Montserrat"/>
                <a:ea typeface="Montserrat"/>
                <a:cs typeface="Montserrat"/>
                <a:sym typeface="Montserrat"/>
              </a:rPr>
              <a:t>Participant in discussion - 5 Points</a:t>
            </a:r>
            <a:endParaRPr sz="1700">
              <a:latin typeface="Montserrat"/>
              <a:ea typeface="Montserrat"/>
              <a:cs typeface="Montserrat"/>
              <a:sym typeface="Montserrat"/>
            </a:endParaRPr>
          </a:p>
          <a:p>
            <a:pPr marL="457200" lvl="0" indent="-336550" algn="l" rtl="0">
              <a:lnSpc>
                <a:spcPct val="115000"/>
              </a:lnSpc>
              <a:spcBef>
                <a:spcPts val="0"/>
              </a:spcBef>
              <a:spcAft>
                <a:spcPts val="0"/>
              </a:spcAft>
              <a:buSzPts val="1700"/>
              <a:buFont typeface="Montserrat"/>
              <a:buChar char="●"/>
            </a:pPr>
            <a:r>
              <a:rPr lang="en" sz="1700">
                <a:latin typeface="Montserrat"/>
                <a:ea typeface="Montserrat"/>
                <a:cs typeface="Montserrat"/>
                <a:sym typeface="Montserrat"/>
              </a:rPr>
              <a:t>The student was engaged and actively contributed to the discussion during both conversations (5 pts)</a:t>
            </a:r>
            <a:endParaRPr sz="3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Expected to use (at least) two primary data sources:</a:t>
            </a:r>
            <a:endParaRPr/>
          </a:p>
        </p:txBody>
      </p:sp>
      <p:sp>
        <p:nvSpPr>
          <p:cNvPr id="87" name="Google Shape;87;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457200" lvl="0" indent="-368300" algn="l" rtl="0">
              <a:spcBef>
                <a:spcPts val="0"/>
              </a:spcBef>
              <a:spcAft>
                <a:spcPts val="0"/>
              </a:spcAft>
              <a:buSzPts val="2200"/>
              <a:buAutoNum type="arabicPeriod"/>
            </a:pPr>
            <a:r>
              <a:rPr lang="en" sz="2200"/>
              <a:t>Information from the tribe’s website (linked on Oregon State University’s </a:t>
            </a:r>
            <a:r>
              <a:rPr lang="en" sz="2200" u="sng">
                <a:solidFill>
                  <a:schemeClr val="hlink"/>
                </a:solidFill>
                <a:hlinkClick r:id="rId3"/>
              </a:rPr>
              <a:t>page</a:t>
            </a:r>
            <a:r>
              <a:rPr lang="en" sz="2200"/>
              <a:t>)</a:t>
            </a:r>
            <a:endParaRPr sz="2200"/>
          </a:p>
          <a:p>
            <a:pPr marL="457200" lvl="0" indent="-368300" algn="l" rtl="0">
              <a:spcBef>
                <a:spcPts val="0"/>
              </a:spcBef>
              <a:spcAft>
                <a:spcPts val="0"/>
              </a:spcAft>
              <a:buSzPts val="2200"/>
              <a:buAutoNum type="arabicPeriod"/>
            </a:pPr>
            <a:r>
              <a:rPr lang="en" sz="2200"/>
              <a:t>Climate projections on the tribe’s lands from the University of Washington Climate Impact Group’s </a:t>
            </a:r>
            <a:r>
              <a:rPr lang="en" sz="2200" u="sng">
                <a:solidFill>
                  <a:schemeClr val="hlink"/>
                </a:solidFill>
                <a:hlinkClick r:id="rId4"/>
              </a:rPr>
              <a:t>Tribal Climate Tool</a:t>
            </a:r>
            <a:endParaRPr sz="2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9"/>
          <p:cNvSpPr/>
          <p:nvPr/>
        </p:nvSpPr>
        <p:spPr>
          <a:xfrm>
            <a:off x="1438125" y="477975"/>
            <a:ext cx="2898900" cy="1734900"/>
          </a:xfrm>
          <a:prstGeom prst="rect">
            <a:avLst/>
          </a:prstGeom>
          <a:solidFill>
            <a:srgbClr val="00FF00"/>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19"/>
          <p:cNvSpPr/>
          <p:nvPr/>
        </p:nvSpPr>
        <p:spPr>
          <a:xfrm>
            <a:off x="1438125" y="2621950"/>
            <a:ext cx="2898900" cy="1734900"/>
          </a:xfrm>
          <a:prstGeom prst="rect">
            <a:avLst/>
          </a:prstGeom>
          <a:solidFill>
            <a:srgbClr val="00FFFF"/>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19"/>
          <p:cNvSpPr/>
          <p:nvPr/>
        </p:nvSpPr>
        <p:spPr>
          <a:xfrm>
            <a:off x="4669300" y="477975"/>
            <a:ext cx="2898900" cy="1734900"/>
          </a:xfrm>
          <a:prstGeom prst="rect">
            <a:avLst/>
          </a:prstGeom>
          <a:solidFill>
            <a:srgbClr val="FFFF00"/>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5" name="Google Shape;95;p19"/>
          <p:cNvSpPr/>
          <p:nvPr/>
        </p:nvSpPr>
        <p:spPr>
          <a:xfrm>
            <a:off x="4669300" y="2621950"/>
            <a:ext cx="2898900" cy="1734900"/>
          </a:xfrm>
          <a:prstGeom prst="rect">
            <a:avLst/>
          </a:prstGeom>
          <a:solidFill>
            <a:srgbClr val="9900FF"/>
          </a:solid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6" name="Google Shape;96;p19"/>
          <p:cNvSpPr/>
          <p:nvPr/>
        </p:nvSpPr>
        <p:spPr>
          <a:xfrm>
            <a:off x="5894845" y="2879588"/>
            <a:ext cx="447817" cy="1219624"/>
          </a:xfrm>
          <a:prstGeom prst="rect">
            <a:avLst/>
          </a:prstGeom>
        </p:spPr>
        <p:txBody>
          <a:bodyPr>
            <a:prstTxWarp prst="textPlain">
              <a:avLst/>
            </a:prstTxWarp>
          </a:bodyPr>
          <a:lstStyle/>
          <a:p>
            <a:pPr lvl="0" algn="ctr"/>
            <a:r>
              <a:rPr b="0" i="0">
                <a:ln w="28575" cap="flat" cmpd="sng">
                  <a:solidFill>
                    <a:schemeClr val="dk1"/>
                  </a:solidFill>
                  <a:prstDash val="solid"/>
                  <a:round/>
                  <a:headEnd type="none" w="sm" len="sm"/>
                  <a:tailEnd type="none" w="sm" len="sm"/>
                </a:ln>
                <a:solidFill>
                  <a:schemeClr val="lt2"/>
                </a:solidFill>
                <a:latin typeface="Arial"/>
              </a:rPr>
              <a:t>1</a:t>
            </a:r>
          </a:p>
        </p:txBody>
      </p:sp>
      <p:sp>
        <p:nvSpPr>
          <p:cNvPr id="97" name="Google Shape;97;p19"/>
          <p:cNvSpPr/>
          <p:nvPr/>
        </p:nvSpPr>
        <p:spPr>
          <a:xfrm>
            <a:off x="5717582" y="735613"/>
            <a:ext cx="802339" cy="1219624"/>
          </a:xfrm>
          <a:prstGeom prst="rect">
            <a:avLst/>
          </a:prstGeom>
        </p:spPr>
        <p:txBody>
          <a:bodyPr>
            <a:prstTxWarp prst="textPlain">
              <a:avLst/>
            </a:prstTxWarp>
          </a:bodyPr>
          <a:lstStyle/>
          <a:p>
            <a:pPr lvl="0" algn="ctr"/>
            <a:r>
              <a:rPr b="0" i="0">
                <a:ln w="28575" cap="flat" cmpd="sng">
                  <a:solidFill>
                    <a:schemeClr val="dk1"/>
                  </a:solidFill>
                  <a:prstDash val="solid"/>
                  <a:round/>
                  <a:headEnd type="none" w="sm" len="sm"/>
                  <a:tailEnd type="none" w="sm" len="sm"/>
                </a:ln>
                <a:solidFill>
                  <a:schemeClr val="lt2"/>
                </a:solidFill>
                <a:latin typeface="Arial"/>
              </a:rPr>
              <a:t>2</a:t>
            </a:r>
          </a:p>
        </p:txBody>
      </p:sp>
      <p:sp>
        <p:nvSpPr>
          <p:cNvPr id="98" name="Google Shape;98;p19"/>
          <p:cNvSpPr/>
          <p:nvPr/>
        </p:nvSpPr>
        <p:spPr>
          <a:xfrm>
            <a:off x="2486407" y="735613"/>
            <a:ext cx="795554" cy="1239979"/>
          </a:xfrm>
          <a:prstGeom prst="rect">
            <a:avLst/>
          </a:prstGeom>
        </p:spPr>
        <p:txBody>
          <a:bodyPr>
            <a:prstTxWarp prst="textPlain">
              <a:avLst/>
            </a:prstTxWarp>
          </a:bodyPr>
          <a:lstStyle/>
          <a:p>
            <a:pPr lvl="0" algn="ctr"/>
            <a:r>
              <a:rPr b="0" i="0">
                <a:ln w="28575" cap="flat" cmpd="sng">
                  <a:solidFill>
                    <a:schemeClr val="dk1"/>
                  </a:solidFill>
                  <a:prstDash val="solid"/>
                  <a:round/>
                  <a:headEnd type="none" w="sm" len="sm"/>
                  <a:tailEnd type="none" w="sm" len="sm"/>
                </a:ln>
                <a:solidFill>
                  <a:schemeClr val="lt2"/>
                </a:solidFill>
                <a:latin typeface="Arial"/>
              </a:rPr>
              <a:t>3</a:t>
            </a:r>
          </a:p>
        </p:txBody>
      </p:sp>
      <p:sp>
        <p:nvSpPr>
          <p:cNvPr id="99" name="Google Shape;99;p19"/>
          <p:cNvSpPr/>
          <p:nvPr/>
        </p:nvSpPr>
        <p:spPr>
          <a:xfrm>
            <a:off x="2489807" y="2869400"/>
            <a:ext cx="839657" cy="1214535"/>
          </a:xfrm>
          <a:prstGeom prst="rect">
            <a:avLst/>
          </a:prstGeom>
        </p:spPr>
        <p:txBody>
          <a:bodyPr>
            <a:prstTxWarp prst="textPlain">
              <a:avLst/>
            </a:prstTxWarp>
          </a:bodyPr>
          <a:lstStyle/>
          <a:p>
            <a:pPr lvl="0" algn="ctr"/>
            <a:r>
              <a:rPr b="0" i="0">
                <a:ln w="28575" cap="flat" cmpd="sng">
                  <a:solidFill>
                    <a:schemeClr val="dk1"/>
                  </a:solidFill>
                  <a:prstDash val="solid"/>
                  <a:round/>
                  <a:headEnd type="none" w="sm" len="sm"/>
                  <a:tailEnd type="none" w="sm" len="sm"/>
                </a:ln>
                <a:solidFill>
                  <a:schemeClr val="lt2"/>
                </a:solidFill>
                <a:latin typeface="Arial"/>
              </a:rPr>
              <a:t>4</a:t>
            </a:r>
          </a:p>
        </p:txBody>
      </p:sp>
      <p:sp>
        <p:nvSpPr>
          <p:cNvPr id="100" name="Google Shape;100;p19"/>
          <p:cNvSpPr txBox="1"/>
          <p:nvPr/>
        </p:nvSpPr>
        <p:spPr>
          <a:xfrm>
            <a:off x="7071600" y="2621950"/>
            <a:ext cx="4965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solidFill>
                  <a:schemeClr val="dk1"/>
                </a:solidFill>
              </a:rPr>
              <a:t>5</a:t>
            </a:r>
            <a:endParaRPr sz="3200">
              <a:solidFill>
                <a:schemeClr val="dk1"/>
              </a:solidFill>
            </a:endParaRPr>
          </a:p>
        </p:txBody>
      </p:sp>
      <p:sp>
        <p:nvSpPr>
          <p:cNvPr id="101" name="Google Shape;101;p19"/>
          <p:cNvSpPr txBox="1"/>
          <p:nvPr/>
        </p:nvSpPr>
        <p:spPr>
          <a:xfrm>
            <a:off x="7071600" y="477975"/>
            <a:ext cx="4965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solidFill>
                  <a:schemeClr val="dk1"/>
                </a:solidFill>
              </a:rPr>
              <a:t>6</a:t>
            </a:r>
            <a:endParaRPr sz="3200">
              <a:solidFill>
                <a:schemeClr val="dk1"/>
              </a:solidFill>
            </a:endParaRPr>
          </a:p>
        </p:txBody>
      </p:sp>
      <p:sp>
        <p:nvSpPr>
          <p:cNvPr id="102" name="Google Shape;102;p19"/>
          <p:cNvSpPr txBox="1"/>
          <p:nvPr/>
        </p:nvSpPr>
        <p:spPr>
          <a:xfrm>
            <a:off x="3840525" y="477975"/>
            <a:ext cx="4965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solidFill>
                  <a:schemeClr val="dk1"/>
                </a:solidFill>
              </a:rPr>
              <a:t>7</a:t>
            </a:r>
            <a:endParaRPr sz="3200">
              <a:solidFill>
                <a:schemeClr val="dk1"/>
              </a:solidFill>
            </a:endParaRPr>
          </a:p>
        </p:txBody>
      </p:sp>
      <p:sp>
        <p:nvSpPr>
          <p:cNvPr id="103" name="Google Shape;103;p19"/>
          <p:cNvSpPr txBox="1"/>
          <p:nvPr/>
        </p:nvSpPr>
        <p:spPr>
          <a:xfrm>
            <a:off x="3840525" y="2621950"/>
            <a:ext cx="496500" cy="591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3200">
                <a:solidFill>
                  <a:schemeClr val="dk1"/>
                </a:solidFill>
              </a:rPr>
              <a:t>8</a:t>
            </a:r>
            <a:endParaRPr sz="3200">
              <a:solidFill>
                <a:schemeClr val="dk1"/>
              </a:solidFill>
            </a:endParaRPr>
          </a:p>
        </p:txBody>
      </p:sp>
      <p:sp>
        <p:nvSpPr>
          <p:cNvPr id="104" name="Google Shape;104;p19"/>
          <p:cNvSpPr/>
          <p:nvPr/>
        </p:nvSpPr>
        <p:spPr>
          <a:xfrm>
            <a:off x="7773950" y="1414325"/>
            <a:ext cx="570400" cy="2097425"/>
          </a:xfrm>
          <a:custGeom>
            <a:avLst/>
            <a:gdLst/>
            <a:ahLst/>
            <a:cxnLst/>
            <a:rect l="l" t="t" r="r" b="b"/>
            <a:pathLst>
              <a:path w="22816" h="83897" extrusionOk="0">
                <a:moveTo>
                  <a:pt x="0" y="83897"/>
                </a:moveTo>
                <a:cubicBezTo>
                  <a:pt x="7063" y="75657"/>
                  <a:pt x="14848" y="67043"/>
                  <a:pt x="17703" y="56572"/>
                </a:cubicBezTo>
                <a:cubicBezTo>
                  <a:pt x="20923" y="44762"/>
                  <a:pt x="25032" y="31627"/>
                  <a:pt x="21166" y="20012"/>
                </a:cubicBezTo>
                <a:cubicBezTo>
                  <a:pt x="18128" y="10887"/>
                  <a:pt x="10001" y="0"/>
                  <a:pt x="384" y="0"/>
                </a:cubicBezTo>
              </a:path>
            </a:pathLst>
          </a:custGeom>
          <a:noFill/>
          <a:ln w="38100" cap="flat" cmpd="sng">
            <a:solidFill>
              <a:schemeClr val="dk2"/>
            </a:solidFill>
            <a:prstDash val="solid"/>
            <a:round/>
            <a:headEnd type="none" w="med" len="med"/>
            <a:tailEnd type="triangle" w="med" len="med"/>
          </a:ln>
        </p:spPr>
      </p:sp>
      <p:sp>
        <p:nvSpPr>
          <p:cNvPr id="105" name="Google Shape;105;p19"/>
          <p:cNvSpPr/>
          <p:nvPr/>
        </p:nvSpPr>
        <p:spPr>
          <a:xfrm rot="10800000">
            <a:off x="656550" y="1414325"/>
            <a:ext cx="570400" cy="2097425"/>
          </a:xfrm>
          <a:custGeom>
            <a:avLst/>
            <a:gdLst/>
            <a:ahLst/>
            <a:cxnLst/>
            <a:rect l="l" t="t" r="r" b="b"/>
            <a:pathLst>
              <a:path w="22816" h="83897" extrusionOk="0">
                <a:moveTo>
                  <a:pt x="0" y="83897"/>
                </a:moveTo>
                <a:cubicBezTo>
                  <a:pt x="7063" y="75657"/>
                  <a:pt x="14848" y="67043"/>
                  <a:pt x="17703" y="56572"/>
                </a:cubicBezTo>
                <a:cubicBezTo>
                  <a:pt x="20923" y="44762"/>
                  <a:pt x="25032" y="31627"/>
                  <a:pt x="21166" y="20012"/>
                </a:cubicBezTo>
                <a:cubicBezTo>
                  <a:pt x="18128" y="10887"/>
                  <a:pt x="10001" y="0"/>
                  <a:pt x="384" y="0"/>
                </a:cubicBezTo>
              </a:path>
            </a:pathLst>
          </a:custGeom>
          <a:noFill/>
          <a:ln w="38100" cap="flat" cmpd="sng">
            <a:solidFill>
              <a:schemeClr val="dk2"/>
            </a:solidFill>
            <a:prstDash val="solid"/>
            <a:round/>
            <a:headEnd type="none" w="med" len="med"/>
            <a:tailEnd type="triangle" w="med" len="med"/>
          </a:ln>
        </p:spPr>
      </p:sp>
      <p:sp>
        <p:nvSpPr>
          <p:cNvPr id="106" name="Google Shape;106;p19"/>
          <p:cNvSpPr/>
          <p:nvPr/>
        </p:nvSpPr>
        <p:spPr>
          <a:xfrm>
            <a:off x="2944100" y="77705"/>
            <a:ext cx="3242350" cy="297500"/>
          </a:xfrm>
          <a:custGeom>
            <a:avLst/>
            <a:gdLst/>
            <a:ahLst/>
            <a:cxnLst/>
            <a:rect l="l" t="t" r="r" b="b"/>
            <a:pathLst>
              <a:path w="129694" h="11900" extrusionOk="0">
                <a:moveTo>
                  <a:pt x="129694" y="11131"/>
                </a:moveTo>
                <a:cubicBezTo>
                  <a:pt x="117067" y="5521"/>
                  <a:pt x="102962" y="3850"/>
                  <a:pt x="89284" y="1895"/>
                </a:cubicBezTo>
                <a:cubicBezTo>
                  <a:pt x="83314" y="1042"/>
                  <a:pt x="77047" y="2973"/>
                  <a:pt x="71197" y="1510"/>
                </a:cubicBezTo>
                <a:cubicBezTo>
                  <a:pt x="61611" y="-888"/>
                  <a:pt x="51149" y="-118"/>
                  <a:pt x="41563" y="2280"/>
                </a:cubicBezTo>
                <a:cubicBezTo>
                  <a:pt x="34717" y="3992"/>
                  <a:pt x="26950" y="46"/>
                  <a:pt x="20397" y="2665"/>
                </a:cubicBezTo>
                <a:cubicBezTo>
                  <a:pt x="13467" y="5435"/>
                  <a:pt x="6674" y="8560"/>
                  <a:pt x="0" y="11901"/>
                </a:cubicBezTo>
              </a:path>
            </a:pathLst>
          </a:custGeom>
          <a:noFill/>
          <a:ln w="38100" cap="flat" cmpd="sng">
            <a:solidFill>
              <a:schemeClr val="dk2"/>
            </a:solidFill>
            <a:prstDash val="solid"/>
            <a:round/>
            <a:headEnd type="none" w="med" len="med"/>
            <a:tailEnd type="triangle" w="med" len="med"/>
          </a:ln>
        </p:spPr>
      </p:sp>
      <p:sp>
        <p:nvSpPr>
          <p:cNvPr id="107" name="Google Shape;107;p19"/>
          <p:cNvSpPr/>
          <p:nvPr/>
        </p:nvSpPr>
        <p:spPr>
          <a:xfrm rot="10800000">
            <a:off x="2944100" y="4521180"/>
            <a:ext cx="3242350" cy="297500"/>
          </a:xfrm>
          <a:custGeom>
            <a:avLst/>
            <a:gdLst/>
            <a:ahLst/>
            <a:cxnLst/>
            <a:rect l="l" t="t" r="r" b="b"/>
            <a:pathLst>
              <a:path w="129694" h="11900" extrusionOk="0">
                <a:moveTo>
                  <a:pt x="129694" y="11131"/>
                </a:moveTo>
                <a:cubicBezTo>
                  <a:pt x="117067" y="5521"/>
                  <a:pt x="102962" y="3850"/>
                  <a:pt x="89284" y="1895"/>
                </a:cubicBezTo>
                <a:cubicBezTo>
                  <a:pt x="83314" y="1042"/>
                  <a:pt x="77047" y="2973"/>
                  <a:pt x="71197" y="1510"/>
                </a:cubicBezTo>
                <a:cubicBezTo>
                  <a:pt x="61611" y="-888"/>
                  <a:pt x="51149" y="-118"/>
                  <a:pt x="41563" y="2280"/>
                </a:cubicBezTo>
                <a:cubicBezTo>
                  <a:pt x="34717" y="3992"/>
                  <a:pt x="26950" y="46"/>
                  <a:pt x="20397" y="2665"/>
                </a:cubicBezTo>
                <a:cubicBezTo>
                  <a:pt x="13467" y="5435"/>
                  <a:pt x="6674" y="8560"/>
                  <a:pt x="0" y="11901"/>
                </a:cubicBezTo>
              </a:path>
            </a:pathLst>
          </a:custGeom>
          <a:noFill/>
          <a:ln w="38100" cap="flat" cmpd="sng">
            <a:solidFill>
              <a:schemeClr val="dk2"/>
            </a:solidFill>
            <a:prstDash val="solid"/>
            <a:round/>
            <a:headEnd type="none" w="med" len="med"/>
            <a:tailEnd type="triangle" w="med" len="med"/>
          </a:ln>
        </p:spPr>
      </p:sp>
      <p:cxnSp>
        <p:nvCxnSpPr>
          <p:cNvPr id="108" name="Google Shape;108;p19"/>
          <p:cNvCxnSpPr/>
          <p:nvPr/>
        </p:nvCxnSpPr>
        <p:spPr>
          <a:xfrm rot="10800000" flipH="1">
            <a:off x="6591300" y="3132250"/>
            <a:ext cx="488400" cy="487200"/>
          </a:xfrm>
          <a:prstGeom prst="straightConnector1">
            <a:avLst/>
          </a:prstGeom>
          <a:noFill/>
          <a:ln w="38100" cap="flat" cmpd="sng">
            <a:solidFill>
              <a:schemeClr val="dk1"/>
            </a:solidFill>
            <a:prstDash val="solid"/>
            <a:round/>
            <a:headEnd type="none" w="med" len="med"/>
            <a:tailEnd type="triangle" w="med" len="med"/>
          </a:ln>
        </p:spPr>
      </p:cxnSp>
      <p:cxnSp>
        <p:nvCxnSpPr>
          <p:cNvPr id="109" name="Google Shape;109;p19"/>
          <p:cNvCxnSpPr/>
          <p:nvPr/>
        </p:nvCxnSpPr>
        <p:spPr>
          <a:xfrm rot="10800000" flipH="1">
            <a:off x="6591300" y="1004150"/>
            <a:ext cx="488400" cy="487200"/>
          </a:xfrm>
          <a:prstGeom prst="straightConnector1">
            <a:avLst/>
          </a:prstGeom>
          <a:noFill/>
          <a:ln w="38100" cap="flat" cmpd="sng">
            <a:solidFill>
              <a:schemeClr val="dk1"/>
            </a:solidFill>
            <a:prstDash val="solid"/>
            <a:round/>
            <a:headEnd type="none" w="med" len="med"/>
            <a:tailEnd type="triangle" w="med" len="med"/>
          </a:ln>
        </p:spPr>
      </p:cxnSp>
      <p:cxnSp>
        <p:nvCxnSpPr>
          <p:cNvPr id="110" name="Google Shape;110;p19"/>
          <p:cNvCxnSpPr/>
          <p:nvPr/>
        </p:nvCxnSpPr>
        <p:spPr>
          <a:xfrm rot="10800000" flipH="1">
            <a:off x="3406650" y="863475"/>
            <a:ext cx="488400" cy="487200"/>
          </a:xfrm>
          <a:prstGeom prst="straightConnector1">
            <a:avLst/>
          </a:prstGeom>
          <a:noFill/>
          <a:ln w="38100" cap="flat" cmpd="sng">
            <a:solidFill>
              <a:schemeClr val="dk1"/>
            </a:solidFill>
            <a:prstDash val="solid"/>
            <a:round/>
            <a:headEnd type="none" w="med" len="med"/>
            <a:tailEnd type="triangle" w="med" len="med"/>
          </a:ln>
        </p:spPr>
      </p:cxnSp>
      <p:cxnSp>
        <p:nvCxnSpPr>
          <p:cNvPr id="111" name="Google Shape;111;p19"/>
          <p:cNvCxnSpPr/>
          <p:nvPr/>
        </p:nvCxnSpPr>
        <p:spPr>
          <a:xfrm rot="10800000" flipH="1">
            <a:off x="3406650" y="3123425"/>
            <a:ext cx="488400" cy="487200"/>
          </a:xfrm>
          <a:prstGeom prst="straightConnector1">
            <a:avLst/>
          </a:prstGeom>
          <a:noFill/>
          <a:ln w="38100" cap="flat" cmpd="sng">
            <a:solidFill>
              <a:schemeClr val="dk1"/>
            </a:solidFill>
            <a:prstDash val="solid"/>
            <a:round/>
            <a:headEnd type="none" w="med" len="med"/>
            <a:tailEnd type="triangle" w="med" len="med"/>
          </a:ln>
        </p:spPr>
      </p:cxnSp>
      <p:sp>
        <p:nvSpPr>
          <p:cNvPr id="112" name="Google Shape;112;p19"/>
          <p:cNvSpPr txBox="1"/>
          <p:nvPr/>
        </p:nvSpPr>
        <p:spPr>
          <a:xfrm>
            <a:off x="0" y="-45794"/>
            <a:ext cx="1850100" cy="487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400">
                <a:solidFill>
                  <a:schemeClr val="dk2"/>
                </a:solidFill>
              </a:rPr>
              <a:t>Round One</a:t>
            </a:r>
            <a:endParaRPr sz="2400">
              <a:solidFill>
                <a:schemeClr val="dk2"/>
              </a:solidFill>
            </a:endParaRPr>
          </a:p>
        </p:txBody>
      </p:sp>
      <p:sp>
        <p:nvSpPr>
          <p:cNvPr id="113" name="Google Shape;113;p19"/>
          <p:cNvSpPr txBox="1"/>
          <p:nvPr/>
        </p:nvSpPr>
        <p:spPr>
          <a:xfrm>
            <a:off x="1006800" y="1992925"/>
            <a:ext cx="7130400" cy="813000"/>
          </a:xfrm>
          <a:prstGeom prst="rect">
            <a:avLst/>
          </a:prstGeom>
          <a:solidFill>
            <a:schemeClr val="lt1"/>
          </a:solidFill>
          <a:ln w="38100" cap="flat" cmpd="sng">
            <a:solidFill>
              <a:srgbClr val="000000"/>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3600">
                <a:solidFill>
                  <a:schemeClr val="dk1"/>
                </a:solidFill>
              </a:rPr>
              <a:t>We will talk more about this later!</a:t>
            </a:r>
            <a:endParaRPr sz="3600">
              <a:solidFill>
                <a:schemeClr val="dk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367</Words>
  <Application>Microsoft Macintosh PowerPoint</Application>
  <PresentationFormat>On-screen Show (16:9)</PresentationFormat>
  <Paragraphs>33</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Montserrat</vt:lpstr>
      <vt:lpstr>Simple Light</vt:lpstr>
      <vt:lpstr>PowerPoint Presentation</vt:lpstr>
      <vt:lpstr>Instructions In class on today and Wednesday Choose a Pacific Northwest Tribe from Oregon State University’s Tribes of the Pacific Northwest Region. Indicate your selection on this Google Sheet. Use the tribes website (linked on OSU’s page) and additional online resources to explore the tribe’s history, culture, and connection to nature. Use the Tribal Climate Tool to see how climate variables are expected to change on the tribe’s land. This document provides space to record insights. Create a 1-page handout with hand-drawn visuals that symbolize the most essential points of your findings and discussion. Take this in any direction your group wants. For example, the visual could use a metaphor or be created in the style of a community mural, a tattoo sleeve, a map, or a music album cover. In class on Friday You will present your 1-pager and synopsis of your group research to other small groups of students. You will then facilitate a discussion. Your team will record the evolution of the discussion on chart paper.  Each group will present twice and be presented to twice, we will then debrief as a whole group.</vt:lpstr>
      <vt:lpstr>PowerPoint Presentation</vt:lpstr>
      <vt:lpstr>PowerPoint Presentation</vt:lpstr>
      <vt:lpstr>Grading Group Presentation and discussion leadership - 15 Points The visual one-pager is appealing and provides enough information to spark further conversation (5 points). Questions and important points drawn from research using the Tribal Climate Tool and tribe websites are engaging, relevant, and interesting (5 pts) Presentation is well conveyed and discussion is effectively facilitated during the colloquium (5 pts)  Participant in discussion - 5 Points The student was engaged and actively contributed to the discussion during both conversations (5 pts)</vt:lpstr>
      <vt:lpstr>Expected to use (at least) two primary data sources: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Steven</cp:lastModifiedBy>
  <cp:revision>1</cp:revision>
  <dcterms:modified xsi:type="dcterms:W3CDTF">2026-05-17T00:37:50Z</dcterms:modified>
</cp:coreProperties>
</file>