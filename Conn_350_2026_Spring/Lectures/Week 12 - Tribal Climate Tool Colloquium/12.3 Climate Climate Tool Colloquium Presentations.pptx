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9" r:id="rId4"/>
    <p:sldId id="260" r:id="rId5"/>
    <p:sldId id="261" r:id="rId6"/>
  </p:sldIdLst>
  <p:sldSz cx="9144000" cy="5143500" type="screen16x9"/>
  <p:notesSz cx="6858000" cy="9144000"/>
  <p:embeddedFontLst>
    <p:embeddedFont>
      <p:font typeface="Roboto" panose="02000000000000000000" pitchFamily="2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93C53BA-04C2-4C68-9E86-80DE64EDD1F0}">
  <a:tblStyle styleId="{193C53BA-04C2-4C68-9E86-80DE64EDD1F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59"/>
  </p:normalViewPr>
  <p:slideViewPr>
    <p:cSldViewPr snapToGrid="0">
      <p:cViewPr varScale="1">
        <p:scale>
          <a:sx n="141" d="100"/>
          <a:sy n="141" d="100"/>
        </p:scale>
        <p:origin x="704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d4b0da026_0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g3dd4b0da026_0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44600" marR="124460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In Every Chair, A Leader</a:t>
            </a:r>
            <a:br>
              <a:rPr lang="en" sz="135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lang="en" sz="135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Each person engaging in this conversation has a unique and valuable experience that is their truth.</a:t>
            </a:r>
            <a:endParaRPr sz="135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1244600" marR="124460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Speak with Care for Others</a:t>
            </a:r>
            <a:br>
              <a:rPr lang="en" sz="135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lang="en" sz="135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We each hold the responsibility to choose our words and questions carefully with the intent to learn.</a:t>
            </a:r>
            <a:endParaRPr sz="135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1244600" marR="124460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Value Each Others Time</a:t>
            </a:r>
            <a:br>
              <a:rPr lang="en" sz="135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lang="en" sz="135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We all share the responsibility to ensure that everyone has an opportunity to speak and engage.</a:t>
            </a:r>
            <a:endParaRPr sz="135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1244600" marR="124460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Listen Deeply</a:t>
            </a:r>
            <a:br>
              <a:rPr lang="en" sz="135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lang="en" sz="135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This is a rare and valuable opportunity to connect with others through the sharing of life experience.</a:t>
            </a:r>
            <a:endParaRPr sz="135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1244600" marR="124460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Safe Space for Meaningful Conversation</a:t>
            </a:r>
            <a:br>
              <a:rPr lang="en" sz="135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lang="en" sz="135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All notes taken are non-attribution to ensure anonymity of all dialogue participants.</a:t>
            </a:r>
            <a:endParaRPr sz="135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1244600" marR="124460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Our Value of Humor</a:t>
            </a:r>
            <a:br>
              <a:rPr lang="en" sz="135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lang="en" sz="135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Laughing is also an important way to relate with one another.</a:t>
            </a:r>
            <a:endParaRPr sz="135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1244600" marR="124460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Be Present and Engaged</a:t>
            </a:r>
            <a:br>
              <a:rPr lang="en" sz="135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lang="en" sz="135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Cell phone ringers off, be mindful of being fully present and listening.</a:t>
            </a:r>
            <a:endParaRPr sz="135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1244600" marR="1244600" lvl="0" indent="0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35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Take Care of Yourself, Take Care of Each Other</a:t>
            </a:r>
            <a:br>
              <a:rPr lang="en" sz="135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</a:br>
            <a:r>
              <a:rPr lang="en" sz="1350">
                <a:solidFill>
                  <a:srgbClr val="333333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Note restrooms, exits, other amenities. Ask that participants help one another when possible.</a:t>
            </a:r>
            <a:endParaRPr sz="1350">
              <a:solidFill>
                <a:srgbClr val="333333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d4b0da02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dd4b0da02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d4b0da026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d4b0da026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dd4b0da026_0_3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dd4b0da026_0_3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25075" y="9622"/>
            <a:ext cx="90093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</a:rPr>
              <a:t>Tribal Climate Tool Colloquium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134700" y="560483"/>
            <a:ext cx="9009300" cy="425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" sz="2200">
                <a:solidFill>
                  <a:schemeClr val="dk2"/>
                </a:solidFill>
              </a:rPr>
              <a:t>Two 20-minute rounds where each group will share their visual and insights, then facilitate a discussion with the remaining time</a:t>
            </a:r>
            <a:endParaRPr sz="2200">
              <a:solidFill>
                <a:schemeClr val="dk2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2"/>
              </a:solidFill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" sz="2200">
                <a:solidFill>
                  <a:schemeClr val="dk2"/>
                </a:solidFill>
              </a:rPr>
              <a:t>All voices must be heard during each round, and a recorder will document discussion so that the next round will build on (not repeat) shared ideas.</a:t>
            </a:r>
            <a:endParaRPr sz="2200">
              <a:solidFill>
                <a:schemeClr val="dk2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2"/>
              </a:solidFill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" sz="2200">
                <a:solidFill>
                  <a:schemeClr val="dk2"/>
                </a:solidFill>
              </a:rPr>
              <a:t>Each group will facilitate twice and be a participant twice</a:t>
            </a:r>
            <a:endParaRPr sz="2200">
              <a:solidFill>
                <a:schemeClr val="dk2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2"/>
              </a:solidFill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" sz="2200">
                <a:solidFill>
                  <a:schemeClr val="dk2"/>
                </a:solidFill>
              </a:rPr>
              <a:t>Turn in all visuals (with group member names) before leaving at the end of class</a:t>
            </a:r>
            <a:endParaRPr sz="2200">
              <a:solidFill>
                <a:schemeClr val="dk2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2"/>
              </a:solidFill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" sz="2200">
                <a:solidFill>
                  <a:schemeClr val="dk2"/>
                </a:solidFill>
              </a:rPr>
              <a:t>We will end with a brief large group discussion</a:t>
            </a:r>
            <a:endParaRPr sz="2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855300" y="306736"/>
            <a:ext cx="74334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n" sz="3200"/>
              <a:t>Dialogue Agreement</a:t>
            </a:r>
            <a:endParaRPr sz="320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855300" y="888183"/>
            <a:ext cx="7433400" cy="303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200"/>
              <a:t>In Every Chair, A Leader</a:t>
            </a: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200"/>
              <a:t>Speak with Care for Others</a:t>
            </a: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200"/>
              <a:t>Value Each Others Time </a:t>
            </a: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200"/>
              <a:t>Listen Deeply</a:t>
            </a: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200"/>
              <a:t>Safe Space for Meaningful Conversation</a:t>
            </a: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200"/>
              <a:t>Our Value of humor</a:t>
            </a: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200"/>
              <a:t>Be Present and Engaged</a:t>
            </a: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200"/>
              <a:t>Take Care of Yourself, Take Care of Others</a:t>
            </a: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200"/>
              <a:t>Allow Disagreements to Happen</a:t>
            </a: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2200"/>
              <a:t>Others?</a:t>
            </a:r>
            <a:endParaRPr sz="20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" sz="1600"/>
              <a:t>Credit: First Alaskans Institute</a:t>
            </a:r>
            <a:r>
              <a:rPr lang="en" sz="1200"/>
              <a:t>  </a:t>
            </a:r>
            <a:endParaRPr sz="120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/>
          <p:nvPr/>
        </p:nvSpPr>
        <p:spPr>
          <a:xfrm>
            <a:off x="1438125" y="477975"/>
            <a:ext cx="2898900" cy="1734900"/>
          </a:xfrm>
          <a:prstGeom prst="rect">
            <a:avLst/>
          </a:prstGeom>
          <a:solidFill>
            <a:srgbClr val="00FF00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6"/>
          <p:cNvSpPr/>
          <p:nvPr/>
        </p:nvSpPr>
        <p:spPr>
          <a:xfrm>
            <a:off x="1438125" y="2621950"/>
            <a:ext cx="2898900" cy="1734900"/>
          </a:xfrm>
          <a:prstGeom prst="rect">
            <a:avLst/>
          </a:prstGeom>
          <a:solidFill>
            <a:srgbClr val="00FFFF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6"/>
          <p:cNvSpPr/>
          <p:nvPr/>
        </p:nvSpPr>
        <p:spPr>
          <a:xfrm>
            <a:off x="4669300" y="477975"/>
            <a:ext cx="2898900" cy="1734900"/>
          </a:xfrm>
          <a:prstGeom prst="rect">
            <a:avLst/>
          </a:prstGeom>
          <a:solidFill>
            <a:srgbClr val="FFFF00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6"/>
          <p:cNvSpPr/>
          <p:nvPr/>
        </p:nvSpPr>
        <p:spPr>
          <a:xfrm>
            <a:off x="4669300" y="2621950"/>
            <a:ext cx="2898900" cy="1734900"/>
          </a:xfrm>
          <a:prstGeom prst="rect">
            <a:avLst/>
          </a:prstGeom>
          <a:solidFill>
            <a:srgbClr val="9900FF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6"/>
          <p:cNvSpPr/>
          <p:nvPr/>
        </p:nvSpPr>
        <p:spPr>
          <a:xfrm>
            <a:off x="5894845" y="2879588"/>
            <a:ext cx="447817" cy="1219624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2"/>
                </a:solidFill>
                <a:latin typeface="Arial"/>
              </a:rPr>
              <a:t>1</a:t>
            </a:r>
          </a:p>
        </p:txBody>
      </p:sp>
      <p:sp>
        <p:nvSpPr>
          <p:cNvPr id="76" name="Google Shape;76;p16"/>
          <p:cNvSpPr/>
          <p:nvPr/>
        </p:nvSpPr>
        <p:spPr>
          <a:xfrm>
            <a:off x="5717582" y="735613"/>
            <a:ext cx="802339" cy="1219624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2"/>
                </a:solidFill>
                <a:latin typeface="Arial"/>
              </a:rPr>
              <a:t>2</a:t>
            </a:r>
          </a:p>
        </p:txBody>
      </p:sp>
      <p:sp>
        <p:nvSpPr>
          <p:cNvPr id="77" name="Google Shape;77;p16"/>
          <p:cNvSpPr/>
          <p:nvPr/>
        </p:nvSpPr>
        <p:spPr>
          <a:xfrm>
            <a:off x="2486407" y="735613"/>
            <a:ext cx="795554" cy="123997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2"/>
                </a:solidFill>
                <a:latin typeface="Arial"/>
              </a:rPr>
              <a:t>3</a:t>
            </a:r>
          </a:p>
        </p:txBody>
      </p:sp>
      <p:sp>
        <p:nvSpPr>
          <p:cNvPr id="78" name="Google Shape;78;p16"/>
          <p:cNvSpPr/>
          <p:nvPr/>
        </p:nvSpPr>
        <p:spPr>
          <a:xfrm>
            <a:off x="2489807" y="2869400"/>
            <a:ext cx="839657" cy="121453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2"/>
                </a:solidFill>
                <a:latin typeface="Arial"/>
              </a:rPr>
              <a:t>4</a:t>
            </a:r>
          </a:p>
        </p:txBody>
      </p:sp>
      <p:sp>
        <p:nvSpPr>
          <p:cNvPr id="79" name="Google Shape;79;p16"/>
          <p:cNvSpPr txBox="1"/>
          <p:nvPr/>
        </p:nvSpPr>
        <p:spPr>
          <a:xfrm>
            <a:off x="7071600" y="2621950"/>
            <a:ext cx="496500" cy="5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</a:rPr>
              <a:t>5</a:t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80" name="Google Shape;80;p16"/>
          <p:cNvSpPr txBox="1"/>
          <p:nvPr/>
        </p:nvSpPr>
        <p:spPr>
          <a:xfrm>
            <a:off x="7071600" y="477975"/>
            <a:ext cx="496500" cy="5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</a:rPr>
              <a:t>6</a:t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3840525" y="477975"/>
            <a:ext cx="496500" cy="5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</a:rPr>
              <a:t>7</a:t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3840525" y="2621950"/>
            <a:ext cx="496500" cy="5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</a:rPr>
              <a:t>8</a:t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7773950" y="1414325"/>
            <a:ext cx="570400" cy="2097425"/>
          </a:xfrm>
          <a:custGeom>
            <a:avLst/>
            <a:gdLst/>
            <a:ahLst/>
            <a:cxnLst/>
            <a:rect l="l" t="t" r="r" b="b"/>
            <a:pathLst>
              <a:path w="22816" h="83897" extrusionOk="0">
                <a:moveTo>
                  <a:pt x="0" y="83897"/>
                </a:moveTo>
                <a:cubicBezTo>
                  <a:pt x="7063" y="75657"/>
                  <a:pt x="14848" y="67043"/>
                  <a:pt x="17703" y="56572"/>
                </a:cubicBezTo>
                <a:cubicBezTo>
                  <a:pt x="20923" y="44762"/>
                  <a:pt x="25032" y="31627"/>
                  <a:pt x="21166" y="20012"/>
                </a:cubicBezTo>
                <a:cubicBezTo>
                  <a:pt x="18128" y="10887"/>
                  <a:pt x="10001" y="0"/>
                  <a:pt x="384" y="0"/>
                </a:cubicBezTo>
              </a:path>
            </a:pathLst>
          </a:cu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84" name="Google Shape;84;p16"/>
          <p:cNvSpPr/>
          <p:nvPr/>
        </p:nvSpPr>
        <p:spPr>
          <a:xfrm rot="10800000">
            <a:off x="656550" y="1414325"/>
            <a:ext cx="570400" cy="2097425"/>
          </a:xfrm>
          <a:custGeom>
            <a:avLst/>
            <a:gdLst/>
            <a:ahLst/>
            <a:cxnLst/>
            <a:rect l="l" t="t" r="r" b="b"/>
            <a:pathLst>
              <a:path w="22816" h="83897" extrusionOk="0">
                <a:moveTo>
                  <a:pt x="0" y="83897"/>
                </a:moveTo>
                <a:cubicBezTo>
                  <a:pt x="7063" y="75657"/>
                  <a:pt x="14848" y="67043"/>
                  <a:pt x="17703" y="56572"/>
                </a:cubicBezTo>
                <a:cubicBezTo>
                  <a:pt x="20923" y="44762"/>
                  <a:pt x="25032" y="31627"/>
                  <a:pt x="21166" y="20012"/>
                </a:cubicBezTo>
                <a:cubicBezTo>
                  <a:pt x="18128" y="10887"/>
                  <a:pt x="10001" y="0"/>
                  <a:pt x="384" y="0"/>
                </a:cubicBezTo>
              </a:path>
            </a:pathLst>
          </a:cu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85" name="Google Shape;85;p16"/>
          <p:cNvSpPr/>
          <p:nvPr/>
        </p:nvSpPr>
        <p:spPr>
          <a:xfrm>
            <a:off x="2944100" y="77705"/>
            <a:ext cx="3242350" cy="297500"/>
          </a:xfrm>
          <a:custGeom>
            <a:avLst/>
            <a:gdLst/>
            <a:ahLst/>
            <a:cxnLst/>
            <a:rect l="l" t="t" r="r" b="b"/>
            <a:pathLst>
              <a:path w="129694" h="11900" extrusionOk="0">
                <a:moveTo>
                  <a:pt x="129694" y="11131"/>
                </a:moveTo>
                <a:cubicBezTo>
                  <a:pt x="117067" y="5521"/>
                  <a:pt x="102962" y="3850"/>
                  <a:pt x="89284" y="1895"/>
                </a:cubicBezTo>
                <a:cubicBezTo>
                  <a:pt x="83314" y="1042"/>
                  <a:pt x="77047" y="2973"/>
                  <a:pt x="71197" y="1510"/>
                </a:cubicBezTo>
                <a:cubicBezTo>
                  <a:pt x="61611" y="-888"/>
                  <a:pt x="51149" y="-118"/>
                  <a:pt x="41563" y="2280"/>
                </a:cubicBezTo>
                <a:cubicBezTo>
                  <a:pt x="34717" y="3992"/>
                  <a:pt x="26950" y="46"/>
                  <a:pt x="20397" y="2665"/>
                </a:cubicBezTo>
                <a:cubicBezTo>
                  <a:pt x="13467" y="5435"/>
                  <a:pt x="6674" y="8560"/>
                  <a:pt x="0" y="11901"/>
                </a:cubicBezTo>
              </a:path>
            </a:pathLst>
          </a:cu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86" name="Google Shape;86;p16"/>
          <p:cNvSpPr/>
          <p:nvPr/>
        </p:nvSpPr>
        <p:spPr>
          <a:xfrm rot="10800000">
            <a:off x="2944100" y="4521180"/>
            <a:ext cx="3242350" cy="297500"/>
          </a:xfrm>
          <a:custGeom>
            <a:avLst/>
            <a:gdLst/>
            <a:ahLst/>
            <a:cxnLst/>
            <a:rect l="l" t="t" r="r" b="b"/>
            <a:pathLst>
              <a:path w="129694" h="11900" extrusionOk="0">
                <a:moveTo>
                  <a:pt x="129694" y="11131"/>
                </a:moveTo>
                <a:cubicBezTo>
                  <a:pt x="117067" y="5521"/>
                  <a:pt x="102962" y="3850"/>
                  <a:pt x="89284" y="1895"/>
                </a:cubicBezTo>
                <a:cubicBezTo>
                  <a:pt x="83314" y="1042"/>
                  <a:pt x="77047" y="2973"/>
                  <a:pt x="71197" y="1510"/>
                </a:cubicBezTo>
                <a:cubicBezTo>
                  <a:pt x="61611" y="-888"/>
                  <a:pt x="51149" y="-118"/>
                  <a:pt x="41563" y="2280"/>
                </a:cubicBezTo>
                <a:cubicBezTo>
                  <a:pt x="34717" y="3992"/>
                  <a:pt x="26950" y="46"/>
                  <a:pt x="20397" y="2665"/>
                </a:cubicBezTo>
                <a:cubicBezTo>
                  <a:pt x="13467" y="5435"/>
                  <a:pt x="6674" y="8560"/>
                  <a:pt x="0" y="11901"/>
                </a:cubicBezTo>
              </a:path>
            </a:pathLst>
          </a:cu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cxnSp>
        <p:nvCxnSpPr>
          <p:cNvPr id="87" name="Google Shape;87;p16"/>
          <p:cNvCxnSpPr/>
          <p:nvPr/>
        </p:nvCxnSpPr>
        <p:spPr>
          <a:xfrm rot="10800000" flipH="1">
            <a:off x="6591300" y="3132250"/>
            <a:ext cx="488400" cy="487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8" name="Google Shape;88;p16"/>
          <p:cNvCxnSpPr/>
          <p:nvPr/>
        </p:nvCxnSpPr>
        <p:spPr>
          <a:xfrm rot="10800000" flipH="1">
            <a:off x="6591300" y="1004150"/>
            <a:ext cx="488400" cy="487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9" name="Google Shape;89;p16"/>
          <p:cNvCxnSpPr/>
          <p:nvPr/>
        </p:nvCxnSpPr>
        <p:spPr>
          <a:xfrm rot="10800000" flipH="1">
            <a:off x="3406650" y="863475"/>
            <a:ext cx="488400" cy="487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0" name="Google Shape;90;p16"/>
          <p:cNvCxnSpPr/>
          <p:nvPr/>
        </p:nvCxnSpPr>
        <p:spPr>
          <a:xfrm rot="10800000" flipH="1">
            <a:off x="3406650" y="3123425"/>
            <a:ext cx="488400" cy="487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1" name="Google Shape;91;p16"/>
          <p:cNvSpPr txBox="1"/>
          <p:nvPr/>
        </p:nvSpPr>
        <p:spPr>
          <a:xfrm>
            <a:off x="0" y="-45794"/>
            <a:ext cx="1850100" cy="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Round One</a:t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7"/>
          <p:cNvSpPr/>
          <p:nvPr/>
        </p:nvSpPr>
        <p:spPr>
          <a:xfrm>
            <a:off x="1438125" y="477975"/>
            <a:ext cx="2898900" cy="1734900"/>
          </a:xfrm>
          <a:prstGeom prst="rect">
            <a:avLst/>
          </a:prstGeom>
          <a:solidFill>
            <a:srgbClr val="00FF00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7"/>
          <p:cNvSpPr/>
          <p:nvPr/>
        </p:nvSpPr>
        <p:spPr>
          <a:xfrm>
            <a:off x="1438125" y="2621950"/>
            <a:ext cx="2898900" cy="1734900"/>
          </a:xfrm>
          <a:prstGeom prst="rect">
            <a:avLst/>
          </a:prstGeom>
          <a:solidFill>
            <a:srgbClr val="00FFFF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7"/>
          <p:cNvSpPr/>
          <p:nvPr/>
        </p:nvSpPr>
        <p:spPr>
          <a:xfrm>
            <a:off x="4669300" y="477975"/>
            <a:ext cx="2898900" cy="1734900"/>
          </a:xfrm>
          <a:prstGeom prst="rect">
            <a:avLst/>
          </a:prstGeom>
          <a:solidFill>
            <a:srgbClr val="FFFF00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7"/>
          <p:cNvSpPr/>
          <p:nvPr/>
        </p:nvSpPr>
        <p:spPr>
          <a:xfrm>
            <a:off x="4669300" y="2621950"/>
            <a:ext cx="2898900" cy="1734900"/>
          </a:xfrm>
          <a:prstGeom prst="rect">
            <a:avLst/>
          </a:prstGeom>
          <a:solidFill>
            <a:srgbClr val="9900FF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5894845" y="2879588"/>
            <a:ext cx="447817" cy="1219624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2"/>
                </a:solidFill>
                <a:latin typeface="Arial"/>
              </a:rPr>
              <a:t>1</a:t>
            </a:r>
          </a:p>
        </p:txBody>
      </p:sp>
      <p:sp>
        <p:nvSpPr>
          <p:cNvPr id="101" name="Google Shape;101;p17"/>
          <p:cNvSpPr/>
          <p:nvPr/>
        </p:nvSpPr>
        <p:spPr>
          <a:xfrm>
            <a:off x="5717582" y="735613"/>
            <a:ext cx="802339" cy="1219624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2"/>
                </a:solidFill>
                <a:latin typeface="Arial"/>
              </a:rPr>
              <a:t>2</a:t>
            </a:r>
          </a:p>
        </p:txBody>
      </p:sp>
      <p:sp>
        <p:nvSpPr>
          <p:cNvPr id="102" name="Google Shape;102;p17"/>
          <p:cNvSpPr/>
          <p:nvPr/>
        </p:nvSpPr>
        <p:spPr>
          <a:xfrm>
            <a:off x="2486407" y="735613"/>
            <a:ext cx="795554" cy="1239979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2"/>
                </a:solidFill>
                <a:latin typeface="Arial"/>
              </a:rPr>
              <a:t>3</a:t>
            </a:r>
          </a:p>
        </p:txBody>
      </p:sp>
      <p:sp>
        <p:nvSpPr>
          <p:cNvPr id="103" name="Google Shape;103;p17"/>
          <p:cNvSpPr/>
          <p:nvPr/>
        </p:nvSpPr>
        <p:spPr>
          <a:xfrm>
            <a:off x="2489807" y="2869400"/>
            <a:ext cx="839657" cy="1214535"/>
          </a:xfrm>
          <a:prstGeom prst="rect">
            <a:avLst/>
          </a:prstGeom>
        </p:spPr>
        <p:txBody>
          <a:bodyPr>
            <a:prstTxWarp prst="textPlain">
              <a:avLst/>
            </a:prstTxWarp>
          </a:bodyPr>
          <a:lstStyle/>
          <a:p>
            <a:pPr lvl="0" algn="ctr"/>
            <a:r>
              <a:rPr b="0" i="0"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  <a:solidFill>
                  <a:schemeClr val="lt2"/>
                </a:solidFill>
                <a:latin typeface="Arial"/>
              </a:rPr>
              <a:t>4</a:t>
            </a:r>
          </a:p>
        </p:txBody>
      </p:sp>
      <p:sp>
        <p:nvSpPr>
          <p:cNvPr id="104" name="Google Shape;104;p17"/>
          <p:cNvSpPr txBox="1"/>
          <p:nvPr/>
        </p:nvSpPr>
        <p:spPr>
          <a:xfrm>
            <a:off x="7071600" y="2621950"/>
            <a:ext cx="496500" cy="5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</a:rPr>
              <a:t>8</a:t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7071600" y="477975"/>
            <a:ext cx="496500" cy="5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</a:rPr>
              <a:t>5</a:t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3840525" y="477975"/>
            <a:ext cx="496500" cy="5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</a:rPr>
              <a:t>6</a:t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3840525" y="2621950"/>
            <a:ext cx="496500" cy="59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1"/>
                </a:solidFill>
              </a:rPr>
              <a:t>7</a:t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108" name="Google Shape;108;p17"/>
          <p:cNvSpPr/>
          <p:nvPr/>
        </p:nvSpPr>
        <p:spPr>
          <a:xfrm>
            <a:off x="7773950" y="1414325"/>
            <a:ext cx="570400" cy="2097425"/>
          </a:xfrm>
          <a:custGeom>
            <a:avLst/>
            <a:gdLst/>
            <a:ahLst/>
            <a:cxnLst/>
            <a:rect l="l" t="t" r="r" b="b"/>
            <a:pathLst>
              <a:path w="22816" h="83897" extrusionOk="0">
                <a:moveTo>
                  <a:pt x="0" y="83897"/>
                </a:moveTo>
                <a:cubicBezTo>
                  <a:pt x="7063" y="75657"/>
                  <a:pt x="14848" y="67043"/>
                  <a:pt x="17703" y="56572"/>
                </a:cubicBezTo>
                <a:cubicBezTo>
                  <a:pt x="20923" y="44762"/>
                  <a:pt x="25032" y="31627"/>
                  <a:pt x="21166" y="20012"/>
                </a:cubicBezTo>
                <a:cubicBezTo>
                  <a:pt x="18128" y="10887"/>
                  <a:pt x="10001" y="0"/>
                  <a:pt x="384" y="0"/>
                </a:cubicBezTo>
              </a:path>
            </a:pathLst>
          </a:cu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09" name="Google Shape;109;p17"/>
          <p:cNvSpPr/>
          <p:nvPr/>
        </p:nvSpPr>
        <p:spPr>
          <a:xfrm rot="10800000">
            <a:off x="656550" y="1414325"/>
            <a:ext cx="570400" cy="2097425"/>
          </a:xfrm>
          <a:custGeom>
            <a:avLst/>
            <a:gdLst/>
            <a:ahLst/>
            <a:cxnLst/>
            <a:rect l="l" t="t" r="r" b="b"/>
            <a:pathLst>
              <a:path w="22816" h="83897" extrusionOk="0">
                <a:moveTo>
                  <a:pt x="0" y="83897"/>
                </a:moveTo>
                <a:cubicBezTo>
                  <a:pt x="7063" y="75657"/>
                  <a:pt x="14848" y="67043"/>
                  <a:pt x="17703" y="56572"/>
                </a:cubicBezTo>
                <a:cubicBezTo>
                  <a:pt x="20923" y="44762"/>
                  <a:pt x="25032" y="31627"/>
                  <a:pt x="21166" y="20012"/>
                </a:cubicBezTo>
                <a:cubicBezTo>
                  <a:pt x="18128" y="10887"/>
                  <a:pt x="10001" y="0"/>
                  <a:pt x="384" y="0"/>
                </a:cubicBezTo>
              </a:path>
            </a:pathLst>
          </a:cu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10" name="Google Shape;110;p17"/>
          <p:cNvSpPr/>
          <p:nvPr/>
        </p:nvSpPr>
        <p:spPr>
          <a:xfrm>
            <a:off x="2944100" y="77705"/>
            <a:ext cx="3242350" cy="297500"/>
          </a:xfrm>
          <a:custGeom>
            <a:avLst/>
            <a:gdLst/>
            <a:ahLst/>
            <a:cxnLst/>
            <a:rect l="l" t="t" r="r" b="b"/>
            <a:pathLst>
              <a:path w="129694" h="11900" extrusionOk="0">
                <a:moveTo>
                  <a:pt x="129694" y="11131"/>
                </a:moveTo>
                <a:cubicBezTo>
                  <a:pt x="117067" y="5521"/>
                  <a:pt x="102962" y="3850"/>
                  <a:pt x="89284" y="1895"/>
                </a:cubicBezTo>
                <a:cubicBezTo>
                  <a:pt x="83314" y="1042"/>
                  <a:pt x="77047" y="2973"/>
                  <a:pt x="71197" y="1510"/>
                </a:cubicBezTo>
                <a:cubicBezTo>
                  <a:pt x="61611" y="-888"/>
                  <a:pt x="51149" y="-118"/>
                  <a:pt x="41563" y="2280"/>
                </a:cubicBezTo>
                <a:cubicBezTo>
                  <a:pt x="34717" y="3992"/>
                  <a:pt x="26950" y="46"/>
                  <a:pt x="20397" y="2665"/>
                </a:cubicBezTo>
                <a:cubicBezTo>
                  <a:pt x="13467" y="5435"/>
                  <a:pt x="6674" y="8560"/>
                  <a:pt x="0" y="11901"/>
                </a:cubicBezTo>
              </a:path>
            </a:pathLst>
          </a:cu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11" name="Google Shape;111;p17"/>
          <p:cNvSpPr/>
          <p:nvPr/>
        </p:nvSpPr>
        <p:spPr>
          <a:xfrm rot="10800000">
            <a:off x="2944100" y="4521180"/>
            <a:ext cx="3242350" cy="297500"/>
          </a:xfrm>
          <a:custGeom>
            <a:avLst/>
            <a:gdLst/>
            <a:ahLst/>
            <a:cxnLst/>
            <a:rect l="l" t="t" r="r" b="b"/>
            <a:pathLst>
              <a:path w="129694" h="11900" extrusionOk="0">
                <a:moveTo>
                  <a:pt x="129694" y="11131"/>
                </a:moveTo>
                <a:cubicBezTo>
                  <a:pt x="117067" y="5521"/>
                  <a:pt x="102962" y="3850"/>
                  <a:pt x="89284" y="1895"/>
                </a:cubicBezTo>
                <a:cubicBezTo>
                  <a:pt x="83314" y="1042"/>
                  <a:pt x="77047" y="2973"/>
                  <a:pt x="71197" y="1510"/>
                </a:cubicBezTo>
                <a:cubicBezTo>
                  <a:pt x="61611" y="-888"/>
                  <a:pt x="51149" y="-118"/>
                  <a:pt x="41563" y="2280"/>
                </a:cubicBezTo>
                <a:cubicBezTo>
                  <a:pt x="34717" y="3992"/>
                  <a:pt x="26950" y="46"/>
                  <a:pt x="20397" y="2665"/>
                </a:cubicBezTo>
                <a:cubicBezTo>
                  <a:pt x="13467" y="5435"/>
                  <a:pt x="6674" y="8560"/>
                  <a:pt x="0" y="11901"/>
                </a:cubicBezTo>
              </a:path>
            </a:pathLst>
          </a:cu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sp>
      <p:cxnSp>
        <p:nvCxnSpPr>
          <p:cNvPr id="112" name="Google Shape;112;p17"/>
          <p:cNvCxnSpPr/>
          <p:nvPr/>
        </p:nvCxnSpPr>
        <p:spPr>
          <a:xfrm rot="10800000" flipH="1">
            <a:off x="6591300" y="3132250"/>
            <a:ext cx="488400" cy="487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3" name="Google Shape;113;p17"/>
          <p:cNvCxnSpPr/>
          <p:nvPr/>
        </p:nvCxnSpPr>
        <p:spPr>
          <a:xfrm rot="10800000" flipH="1">
            <a:off x="6591300" y="1004150"/>
            <a:ext cx="488400" cy="487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4" name="Google Shape;114;p17"/>
          <p:cNvCxnSpPr/>
          <p:nvPr/>
        </p:nvCxnSpPr>
        <p:spPr>
          <a:xfrm rot="10800000" flipH="1">
            <a:off x="3406650" y="863475"/>
            <a:ext cx="488400" cy="487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15" name="Google Shape;115;p17"/>
          <p:cNvCxnSpPr/>
          <p:nvPr/>
        </p:nvCxnSpPr>
        <p:spPr>
          <a:xfrm rot="10800000" flipH="1">
            <a:off x="3406650" y="3123425"/>
            <a:ext cx="488400" cy="487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16" name="Google Shape;116;p17"/>
          <p:cNvSpPr txBox="1"/>
          <p:nvPr/>
        </p:nvSpPr>
        <p:spPr>
          <a:xfrm>
            <a:off x="0" y="-45794"/>
            <a:ext cx="1850100" cy="4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</a:rPr>
              <a:t>Round Two</a:t>
            </a:r>
            <a:endParaRPr sz="24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8"/>
          <p:cNvSpPr txBox="1"/>
          <p:nvPr/>
        </p:nvSpPr>
        <p:spPr>
          <a:xfrm>
            <a:off x="125075" y="9622"/>
            <a:ext cx="9009300" cy="76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</a:rPr>
              <a:t>Large Group Discussion</a:t>
            </a:r>
            <a:endParaRPr sz="2800">
              <a:solidFill>
                <a:schemeClr val="dk2"/>
              </a:solidFill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134700" y="889886"/>
            <a:ext cx="9009300" cy="431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" sz="2200">
                <a:solidFill>
                  <a:schemeClr val="dk2"/>
                </a:solidFill>
              </a:rPr>
              <a:t>How might projected climate changes reshape or alter relationships to land, water, or seasonal practices? Did you see patterns throughout the colloquia?</a:t>
            </a:r>
            <a:endParaRPr sz="22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2"/>
              </a:solidFill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" sz="2200">
                <a:solidFill>
                  <a:schemeClr val="dk2"/>
                </a:solidFill>
              </a:rPr>
              <a:t>How did your own identity or background shape what you noticed, emphasized, or questioned during the colloquia?</a:t>
            </a:r>
            <a:endParaRPr sz="2200">
              <a:solidFill>
                <a:schemeClr val="dk2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>
              <a:solidFill>
                <a:schemeClr val="dk2"/>
              </a:solidFill>
            </a:endParaRPr>
          </a:p>
          <a:p>
            <a:pPr marL="457200" lvl="0" indent="-3683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Char char="●"/>
            </a:pPr>
            <a:r>
              <a:rPr lang="en" sz="2200">
                <a:solidFill>
                  <a:schemeClr val="dk2"/>
                </a:solidFill>
              </a:rPr>
              <a:t>Question about power, who makes decisions, etc.</a:t>
            </a:r>
            <a:endParaRPr sz="22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396</Words>
  <Application>Microsoft Macintosh PowerPoint</Application>
  <PresentationFormat>On-screen Show (16:9)</PresentationFormat>
  <Paragraphs>55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Roboto</vt:lpstr>
      <vt:lpstr>Arial</vt:lpstr>
      <vt:lpstr>Simple Light</vt:lpstr>
      <vt:lpstr>PowerPoint Presentation</vt:lpstr>
      <vt:lpstr>Dialogue Agreement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Steven</cp:lastModifiedBy>
  <cp:revision>1</cp:revision>
  <dcterms:modified xsi:type="dcterms:W3CDTF">2026-05-17T00:38:33Z</dcterms:modified>
</cp:coreProperties>
</file>