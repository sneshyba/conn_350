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054" r:id="rId2"/>
    <p:sldId id="2068" r:id="rId3"/>
    <p:sldId id="2071" r:id="rId4"/>
    <p:sldId id="2072" r:id="rId5"/>
    <p:sldId id="2078" r:id="rId6"/>
    <p:sldId id="2073" r:id="rId7"/>
    <p:sldId id="2065" r:id="rId8"/>
    <p:sldId id="2062" r:id="rId9"/>
    <p:sldId id="2075" r:id="rId10"/>
    <p:sldId id="205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52"/>
    <p:restoredTop sz="95976"/>
  </p:normalViewPr>
  <p:slideViewPr>
    <p:cSldViewPr snapToGrid="0" snapToObjects="1">
      <p:cViewPr varScale="1">
        <p:scale>
          <a:sx n="112" d="100"/>
          <a:sy n="112" d="100"/>
        </p:scale>
        <p:origin x="3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072348-C9CA-5D41-B455-E567A04392B6}" type="datetimeFigureOut">
              <a:rPr lang="en-US" smtClean="0"/>
              <a:t>4/20/26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276FAE-13AA-C845-AA9B-713E07212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465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1AF17-CCFA-8043-9685-A186C1961C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29C870-5448-EA40-94F5-BE0F09FC8A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F6E82-4E17-8742-A8B3-8915B1113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5A620-EC45-294C-8B7D-C1E9D6865FC9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575618-7BAF-BE46-BD26-3F4EA831E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FB0FE2-BF20-D146-BCF3-65A32CA1C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2D576-34D0-9249-AAAD-443D4F329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270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1FF9F-C1A1-4944-A4BF-01D72575D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9B666-092B-E344-91CB-D050673A9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D0ECE-C4B6-324D-8BBD-D009AEB4D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5A620-EC45-294C-8B7D-C1E9D6865FC9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5E33CC-1B03-264B-9AF6-1CA6BF726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69D50A-95B9-D64D-B3EC-DE4871303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2D576-34D0-9249-AAAD-443D4F329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670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270CA-C7A6-D642-8269-2969AA2FB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8AF989-824F-E04A-977B-787A1B6B3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E0072D-2285-684B-B78D-49845AA0B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5A620-EC45-294C-8B7D-C1E9D6865FC9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80EDA-4D9D-2D49-A0BC-40E0A099C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398851-27F5-314A-A07D-E62F3C82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2D576-34D0-9249-AAAD-443D4F329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372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32624-A623-CA40-8321-BF223B6DF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58A76-47E9-8E4A-9D47-A031820C47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1F921A-574F-7944-B9C8-448A64E090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58AA85-E19C-AD41-AA98-C2B60D14E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5A620-EC45-294C-8B7D-C1E9D6865FC9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EFACE9-0989-1040-98D7-9D52AC154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62EF42-4E36-524A-8B0E-0AE1B768F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2D576-34D0-9249-AAAD-443D4F329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604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84F91-15CB-3B48-8CED-03A37325B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98D92B-2CCE-A349-A491-FE1342173A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87BCF3-2EF9-EE49-A14F-C106FCB34E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6387E8-4400-1C49-9803-B0A00CED5A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2676EF-B5FF-2C49-89F7-10DBC8D656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7C8C95-A4F2-B049-B476-657CDB5BA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5A620-EC45-294C-8B7D-C1E9D6865FC9}" type="datetimeFigureOut">
              <a:rPr lang="en-US" smtClean="0"/>
              <a:t>4/20/26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862D0D-6F70-6D40-90E6-15DA27D14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0F7AAF-A051-4A44-A8E4-F2E266C0F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2D576-34D0-9249-AAAD-443D4F329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917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8336D-01CC-B94D-8ACF-851170404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95BFA2-E3CC-CA46-B5B4-9547A13D4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5A620-EC45-294C-8B7D-C1E9D6865FC9}" type="datetimeFigureOut">
              <a:rPr lang="en-US" smtClean="0"/>
              <a:t>4/20/26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EE2FD0-5E88-1C42-BBD8-F2B8AFF36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BD6568-7E1E-EC4D-ADCC-046CB8BDC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2D576-34D0-9249-AAAD-443D4F329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644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EB3247-5D72-B843-AE1D-541B3D6B0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5A620-EC45-294C-8B7D-C1E9D6865FC9}" type="datetimeFigureOut">
              <a:rPr lang="en-US" smtClean="0"/>
              <a:t>4/20/26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69D2DF-FE25-D040-BAD9-3DF2E32ED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01E9AD-0523-C14D-8EE4-67BB7B98B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2D576-34D0-9249-AAAD-443D4F329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931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1BE96-BA3A-3042-B0EC-E9FD3FE92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2122A-2419-2B48-9E4B-7778B4EDA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EB8008-63B4-7048-B3EF-3BB6353886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613212-E55C-AC43-A87E-E174EF5D8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5A620-EC45-294C-8B7D-C1E9D6865FC9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3A6C7D-B27D-CF4D-A2C0-37633EEED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266DC1-04D2-FD4B-88B3-B8803F664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2D576-34D0-9249-AAAD-443D4F329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503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E3B8D-4360-BB4F-9A95-D013787DF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D04366-79CB-2F4B-979F-7B790C1D13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ED0917-C2BB-174D-8D92-171619F682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88E41C-4952-A446-8B14-E9828449A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5A620-EC45-294C-8B7D-C1E9D6865FC9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09043B-3902-7441-81F1-A3650908B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3AF136-B3BD-C449-BA2D-408A12DC3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2D576-34D0-9249-AAAD-443D4F329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026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850BD-B1AD-5E4B-BCBB-B12294A82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18B767-2347-174C-992F-BB1EB21A43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72104-EFBB-1541-B593-278E77372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5A620-EC45-294C-8B7D-C1E9D6865FC9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F434D6-A0DB-8148-ADDD-E1509F752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57032-560F-9B45-9831-588861300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2D576-34D0-9249-AAAD-443D4F329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102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A8CEA9-93D2-0C4A-A302-D34CF8E16F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F2846E-6E90-6E43-AC4A-CE300E6043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DE2287-FCD5-9E4C-ADCA-A8DA60E79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5A620-EC45-294C-8B7D-C1E9D6865FC9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93624-14BF-0D45-8900-272C1AF70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F8FBB7-CE5A-8949-9128-7D1659623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2D576-34D0-9249-AAAD-443D4F329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518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C3E110-E3EF-D142-AD4A-DF6D6A773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3CEFD2-DE38-1448-A2B2-015564B14C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8ED7C-EA84-1144-A9D4-24DCA73649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F5A620-EC45-294C-8B7D-C1E9D6865FC9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03AA1-4C64-FF46-B39F-494377F12C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EBC7C4-04D8-C14D-A622-4485B15C63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52D576-34D0-9249-AAAD-443D4F329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715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C17354-5AD5-ADE9-E069-8244DAFAC62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One more Python notebook to fetch this week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68EDA08-4C82-9151-AC88-0E0F9EFE88B6}"/>
              </a:ext>
            </a:extLst>
          </p:cNvPr>
          <p:cNvCxnSpPr>
            <a:cxnSpLocks/>
          </p:cNvCxnSpPr>
          <p:nvPr/>
        </p:nvCxnSpPr>
        <p:spPr>
          <a:xfrm flipH="1">
            <a:off x="4214463" y="3895747"/>
            <a:ext cx="2060462" cy="802935"/>
          </a:xfrm>
          <a:prstGeom prst="straightConnector1">
            <a:avLst/>
          </a:prstGeom>
          <a:ln>
            <a:noFil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676C20EB-1C24-B954-C685-E493C26E3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539" y="1563329"/>
            <a:ext cx="10741146" cy="80293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880392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CC17354-5AD5-ADE9-E069-8244DAFAC62E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err="1"/>
                  <a:t>Ke</a:t>
                </a:r>
                <a:r>
                  <a:rPr lang="en-US" sz="2400" b="1" dirty="0"/>
                  <a:t> et al are saying that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𝑪</m:t>
                    </m:r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𝑶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400" b="1" baseline="-25000" dirty="0"/>
                  <a:t> </a:t>
                </a:r>
                <a:r>
                  <a:rPr lang="en-US" sz="2400" b="1" dirty="0"/>
                  <a:t>fertilization is </a:t>
                </a:r>
                <a:r>
                  <a:rPr lang="en-US" sz="2400" b="1" i="1" dirty="0"/>
                  <a:t>impaired at higher temperatures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CC17354-5AD5-ADE9-E069-8244DAFAC6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blipFill>
                <a:blip r:embed="rId2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03435E97-38B2-2632-F2FE-9581739988B0}"/>
              </a:ext>
            </a:extLst>
          </p:cNvPr>
          <p:cNvGrpSpPr/>
          <p:nvPr/>
        </p:nvGrpSpPr>
        <p:grpSpPr>
          <a:xfrm>
            <a:off x="8390062" y="965548"/>
            <a:ext cx="3435357" cy="3334603"/>
            <a:chOff x="7747508" y="965548"/>
            <a:chExt cx="3926496" cy="373674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3EE2EA9-5C2B-967D-FECE-DD2AD49CFE8F}"/>
                </a:ext>
              </a:extLst>
            </p:cNvPr>
            <p:cNvSpPr txBox="1"/>
            <p:nvPr/>
          </p:nvSpPr>
          <p:spPr>
            <a:xfrm>
              <a:off x="8442402" y="965548"/>
              <a:ext cx="2889532" cy="6463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b="1" dirty="0" err="1">
                  <a:latin typeface="TimesNewRomanPS"/>
                </a:rPr>
                <a:t>Ke</a:t>
              </a:r>
              <a:r>
                <a:rPr lang="en-US" b="1" dirty="0">
                  <a:latin typeface="TimesNewRomanPS"/>
                </a:rPr>
                <a:t> et </a:t>
              </a:r>
              <a:r>
                <a:rPr lang="en-US" b="1" dirty="0" err="1">
                  <a:latin typeface="TimesNewRomanPS"/>
                </a:rPr>
                <a:t>al’s</a:t>
              </a:r>
              <a:r>
                <a:rPr lang="en-US" b="1" dirty="0">
                  <a:latin typeface="TimesNewRomanPS"/>
                </a:rPr>
                <a:t> C</a:t>
              </a:r>
              <a:r>
                <a:rPr lang="en-US" sz="1800" b="1" dirty="0">
                  <a:effectLst/>
                  <a:latin typeface="TimesNewRomanPS"/>
                </a:rPr>
                <a:t>arbon budget from 2010-2023. </a:t>
              </a:r>
              <a:endParaRPr lang="en-US" dirty="0">
                <a:effectLst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437A355-B2BD-4E70-645D-9686466656C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8090" t="45988" r="5903"/>
            <a:stretch/>
          </p:blipFill>
          <p:spPr>
            <a:xfrm>
              <a:off x="7747508" y="1611879"/>
              <a:ext cx="3926496" cy="3090409"/>
            </a:xfrm>
            <a:prstGeom prst="rect">
              <a:avLst/>
            </a:prstGeom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92F49217-D6A0-4D6A-9096-A8974ED6FF18}"/>
              </a:ext>
            </a:extLst>
          </p:cNvPr>
          <p:cNvGrpSpPr/>
          <p:nvPr/>
        </p:nvGrpSpPr>
        <p:grpSpPr>
          <a:xfrm>
            <a:off x="317482" y="1029692"/>
            <a:ext cx="6605800" cy="5223190"/>
            <a:chOff x="317482" y="1029692"/>
            <a:chExt cx="6605800" cy="5223190"/>
          </a:xfrm>
        </p:grpSpPr>
        <p:pic>
          <p:nvPicPr>
            <p:cNvPr id="2" name="Google Shape;166;p7">
              <a:extLst>
                <a:ext uri="{FF2B5EF4-FFF2-40B4-BE49-F238E27FC236}">
                  <a16:creationId xmlns:a16="http://schemas.microsoft.com/office/drawing/2014/main" id="{95218086-C2A1-CBB7-D877-61B47C254F3D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17482" y="1029692"/>
              <a:ext cx="6605800" cy="522319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</p:pic>
        <p:sp>
          <p:nvSpPr>
            <p:cNvPr id="3" name="Google Shape;167;p7">
              <a:extLst>
                <a:ext uri="{FF2B5EF4-FFF2-40B4-BE49-F238E27FC236}">
                  <a16:creationId xmlns:a16="http://schemas.microsoft.com/office/drawing/2014/main" id="{3EF20D58-95D7-8103-AD39-C9D40045511C}"/>
                </a:ext>
              </a:extLst>
            </p:cNvPr>
            <p:cNvSpPr/>
            <p:nvPr/>
          </p:nvSpPr>
          <p:spPr>
            <a:xfrm rot="999765">
              <a:off x="4648355" y="1993333"/>
              <a:ext cx="1792729" cy="3630532"/>
            </a:xfrm>
            <a:prstGeom prst="arc">
              <a:avLst>
                <a:gd name="adj1" fmla="val 18025146"/>
                <a:gd name="adj2" fmla="val 4787824"/>
              </a:avLst>
            </a:prstGeom>
            <a:noFill/>
            <a:ln w="101600" cap="flat" cmpd="sng">
              <a:solidFill>
                <a:srgbClr val="FF0000">
                  <a:alpha val="56000"/>
                </a:srgbClr>
              </a:solidFill>
              <a:prstDash val="solid"/>
              <a:miter lim="800000"/>
              <a:headEnd type="none" w="sm" len="sm"/>
              <a:tailEnd type="triangl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167;p7">
              <a:extLst>
                <a:ext uri="{FF2B5EF4-FFF2-40B4-BE49-F238E27FC236}">
                  <a16:creationId xmlns:a16="http://schemas.microsoft.com/office/drawing/2014/main" id="{3728C9A0-DA9F-1F6A-33B3-4BB8BF7B8EE6}"/>
                </a:ext>
              </a:extLst>
            </p:cNvPr>
            <p:cNvSpPr/>
            <p:nvPr/>
          </p:nvSpPr>
          <p:spPr>
            <a:xfrm rot="10346759">
              <a:off x="571137" y="1340872"/>
              <a:ext cx="5039235" cy="4618965"/>
            </a:xfrm>
            <a:prstGeom prst="arc">
              <a:avLst>
                <a:gd name="adj1" fmla="val 17890838"/>
                <a:gd name="adj2" fmla="val 4697380"/>
              </a:avLst>
            </a:prstGeom>
            <a:noFill/>
            <a:ln w="101600" cap="flat" cmpd="sng">
              <a:solidFill>
                <a:srgbClr val="FF0000">
                  <a:alpha val="56000"/>
                </a:srgbClr>
              </a:solidFill>
              <a:prstDash val="solid"/>
              <a:miter lim="800000"/>
              <a:headEnd type="none" w="sm" len="sm"/>
              <a:tailEnd type="triangl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06336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C17354-5AD5-ADE9-E069-8244DAFAC62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inadequacy of Cambio 3 to reproduce </a:t>
            </a:r>
            <a:r>
              <a:rPr lang="en-US" sz="2400" b="1" dirty="0" err="1"/>
              <a:t>Ke</a:t>
            </a:r>
            <a:r>
              <a:rPr lang="en-US" sz="2400" b="1" dirty="0"/>
              <a:t> et </a:t>
            </a:r>
            <a:r>
              <a:rPr lang="en-US" sz="2400" b="1" dirty="0" err="1"/>
              <a:t>al’s</a:t>
            </a:r>
            <a:r>
              <a:rPr lang="en-US" sz="2400" b="1" dirty="0"/>
              <a:t> results</a:t>
            </a:r>
            <a:endParaRPr lang="en-US" sz="2400" b="1" i="1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3435E97-38B2-2632-F2FE-9581739988B0}"/>
              </a:ext>
            </a:extLst>
          </p:cNvPr>
          <p:cNvGrpSpPr/>
          <p:nvPr/>
        </p:nvGrpSpPr>
        <p:grpSpPr>
          <a:xfrm>
            <a:off x="8390062" y="965548"/>
            <a:ext cx="3435357" cy="3334603"/>
            <a:chOff x="7747508" y="965548"/>
            <a:chExt cx="3926496" cy="373674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3EE2EA9-5C2B-967D-FECE-DD2AD49CFE8F}"/>
                </a:ext>
              </a:extLst>
            </p:cNvPr>
            <p:cNvSpPr txBox="1"/>
            <p:nvPr/>
          </p:nvSpPr>
          <p:spPr>
            <a:xfrm>
              <a:off x="8442402" y="965548"/>
              <a:ext cx="2889532" cy="6463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b="1" dirty="0" err="1">
                  <a:latin typeface="TimesNewRomanPS"/>
                </a:rPr>
                <a:t>Ke</a:t>
              </a:r>
              <a:r>
                <a:rPr lang="en-US" b="1" dirty="0">
                  <a:latin typeface="TimesNewRomanPS"/>
                </a:rPr>
                <a:t> et </a:t>
              </a:r>
              <a:r>
                <a:rPr lang="en-US" b="1" dirty="0" err="1">
                  <a:latin typeface="TimesNewRomanPS"/>
                </a:rPr>
                <a:t>al’s</a:t>
              </a:r>
              <a:r>
                <a:rPr lang="en-US" b="1" dirty="0">
                  <a:latin typeface="TimesNewRomanPS"/>
                </a:rPr>
                <a:t> C</a:t>
              </a:r>
              <a:r>
                <a:rPr lang="en-US" sz="1800" b="1" dirty="0">
                  <a:effectLst/>
                  <a:latin typeface="TimesNewRomanPS"/>
                </a:rPr>
                <a:t>arbon budget from 2010-2023. </a:t>
              </a:r>
              <a:endParaRPr lang="en-US" dirty="0">
                <a:effectLst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437A355-B2BD-4E70-645D-9686466656C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8090" t="45988" r="5903"/>
            <a:stretch/>
          </p:blipFill>
          <p:spPr>
            <a:xfrm>
              <a:off x="7747508" y="1611879"/>
              <a:ext cx="3926496" cy="3090409"/>
            </a:xfrm>
            <a:prstGeom prst="rect">
              <a:avLst/>
            </a:prstGeom>
          </p:spPr>
        </p:pic>
      </p:grpSp>
      <p:pic>
        <p:nvPicPr>
          <p:cNvPr id="1030" name="Picture 6">
            <a:extLst>
              <a:ext uri="{FF2B5EF4-FFF2-40B4-BE49-F238E27FC236}">
                <a16:creationId xmlns:a16="http://schemas.microsoft.com/office/drawing/2014/main" id="{DB687070-D0E2-1D4C-FDF8-32F529F12E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580" y="900812"/>
            <a:ext cx="6373300" cy="4783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393CFDF3-8DB5-4CE6-6F9B-458F49827E08}"/>
              </a:ext>
            </a:extLst>
          </p:cNvPr>
          <p:cNvSpPr/>
          <p:nvPr/>
        </p:nvSpPr>
        <p:spPr>
          <a:xfrm>
            <a:off x="4351282" y="3699641"/>
            <a:ext cx="283779" cy="283779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394B961-DCBC-8335-3468-C9C26B150E54}"/>
              </a:ext>
            </a:extLst>
          </p:cNvPr>
          <p:cNvCxnSpPr>
            <a:cxnSpLocks/>
          </p:cNvCxnSpPr>
          <p:nvPr/>
        </p:nvCxnSpPr>
        <p:spPr>
          <a:xfrm flipH="1" flipV="1">
            <a:off x="4635061" y="3890248"/>
            <a:ext cx="2291944" cy="919996"/>
          </a:xfrm>
          <a:prstGeom prst="straightConnector1">
            <a:avLst/>
          </a:prstGeom>
          <a:ln w="635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CC635C9-6564-18B4-2390-D88789B839B3}"/>
              </a:ext>
            </a:extLst>
          </p:cNvPr>
          <p:cNvSpPr txBox="1"/>
          <p:nvPr/>
        </p:nvSpPr>
        <p:spPr>
          <a:xfrm>
            <a:off x="6927005" y="4426275"/>
            <a:ext cx="3268717" cy="120032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Terrestrial carbon ecosystem service we </a:t>
            </a:r>
            <a:r>
              <a:rPr lang="en-US" sz="2400" b="1" dirty="0"/>
              <a:t>expected</a:t>
            </a:r>
          </a:p>
        </p:txBody>
      </p:sp>
    </p:spTree>
    <p:extLst>
      <p:ext uri="{BB962C8B-B14F-4D97-AF65-F5344CB8AC3E}">
        <p14:creationId xmlns:p14="http://schemas.microsoft.com/office/powerpoint/2010/main" val="916845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03435E97-38B2-2632-F2FE-9581739988B0}"/>
              </a:ext>
            </a:extLst>
          </p:cNvPr>
          <p:cNvGrpSpPr/>
          <p:nvPr/>
        </p:nvGrpSpPr>
        <p:grpSpPr>
          <a:xfrm>
            <a:off x="8390062" y="965548"/>
            <a:ext cx="3435357" cy="3334603"/>
            <a:chOff x="7747508" y="965548"/>
            <a:chExt cx="3926496" cy="373674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3EE2EA9-5C2B-967D-FECE-DD2AD49CFE8F}"/>
                </a:ext>
              </a:extLst>
            </p:cNvPr>
            <p:cNvSpPr txBox="1"/>
            <p:nvPr/>
          </p:nvSpPr>
          <p:spPr>
            <a:xfrm>
              <a:off x="8442402" y="965548"/>
              <a:ext cx="2889532" cy="6463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b="1" dirty="0" err="1">
                  <a:latin typeface="TimesNewRomanPS"/>
                </a:rPr>
                <a:t>Ke</a:t>
              </a:r>
              <a:r>
                <a:rPr lang="en-US" b="1" dirty="0">
                  <a:latin typeface="TimesNewRomanPS"/>
                </a:rPr>
                <a:t> et </a:t>
              </a:r>
              <a:r>
                <a:rPr lang="en-US" b="1" dirty="0" err="1">
                  <a:latin typeface="TimesNewRomanPS"/>
                </a:rPr>
                <a:t>al’s</a:t>
              </a:r>
              <a:r>
                <a:rPr lang="en-US" b="1" dirty="0">
                  <a:latin typeface="TimesNewRomanPS"/>
                </a:rPr>
                <a:t> C</a:t>
              </a:r>
              <a:r>
                <a:rPr lang="en-US" sz="1800" b="1" dirty="0">
                  <a:effectLst/>
                  <a:latin typeface="TimesNewRomanPS"/>
                </a:rPr>
                <a:t>arbon budget from 2010-2023. </a:t>
              </a:r>
              <a:endParaRPr lang="en-US" dirty="0">
                <a:effectLst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437A355-B2BD-4E70-645D-9686466656C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8090" t="45988" r="5903"/>
            <a:stretch/>
          </p:blipFill>
          <p:spPr>
            <a:xfrm>
              <a:off x="7747508" y="1611879"/>
              <a:ext cx="3926496" cy="3090409"/>
            </a:xfrm>
            <a:prstGeom prst="rect">
              <a:avLst/>
            </a:prstGeom>
          </p:spPr>
        </p:pic>
      </p:grpSp>
      <p:pic>
        <p:nvPicPr>
          <p:cNvPr id="1030" name="Picture 6">
            <a:extLst>
              <a:ext uri="{FF2B5EF4-FFF2-40B4-BE49-F238E27FC236}">
                <a16:creationId xmlns:a16="http://schemas.microsoft.com/office/drawing/2014/main" id="{DB687070-D0E2-1D4C-FDF8-32F529F12E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580" y="900812"/>
            <a:ext cx="6373300" cy="4783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393CFDF3-8DB5-4CE6-6F9B-458F49827E08}"/>
              </a:ext>
            </a:extLst>
          </p:cNvPr>
          <p:cNvSpPr/>
          <p:nvPr/>
        </p:nvSpPr>
        <p:spPr>
          <a:xfrm>
            <a:off x="4351282" y="3699641"/>
            <a:ext cx="283779" cy="283779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394B961-DCBC-8335-3468-C9C26B150E54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4537710" y="2343150"/>
            <a:ext cx="1024970" cy="7652"/>
          </a:xfrm>
          <a:prstGeom prst="straightConnector1">
            <a:avLst/>
          </a:prstGeom>
          <a:ln w="635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CC635C9-6564-18B4-2390-D88789B839B3}"/>
              </a:ext>
            </a:extLst>
          </p:cNvPr>
          <p:cNvSpPr txBox="1"/>
          <p:nvPr/>
        </p:nvSpPr>
        <p:spPr>
          <a:xfrm>
            <a:off x="5562680" y="1196640"/>
            <a:ext cx="2763174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Terrestrial carbon ecosystem service </a:t>
            </a:r>
            <a:r>
              <a:rPr lang="en-US" sz="2400" b="1" dirty="0"/>
              <a:t>reported by </a:t>
            </a:r>
            <a:r>
              <a:rPr lang="en-US" sz="2400" b="1" dirty="0" err="1"/>
              <a:t>Ke</a:t>
            </a:r>
            <a:r>
              <a:rPr lang="en-US" sz="2400" b="1" dirty="0"/>
              <a:t> et al</a:t>
            </a:r>
            <a:r>
              <a:rPr lang="en-US" sz="2400" dirty="0"/>
              <a:t> indicates significant CO</a:t>
            </a:r>
            <a:r>
              <a:rPr lang="en-US" sz="2400" baseline="-25000" dirty="0"/>
              <a:t>2</a:t>
            </a:r>
            <a:r>
              <a:rPr lang="en-US" sz="2400" dirty="0"/>
              <a:t> fertilization impairment.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51F135-4501-E88A-062B-D237DF2564D7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inadequacy of Cambio 3 to reproduce </a:t>
            </a:r>
            <a:r>
              <a:rPr lang="en-US" sz="2400" b="1" dirty="0" err="1"/>
              <a:t>Ke</a:t>
            </a:r>
            <a:r>
              <a:rPr lang="en-US" sz="2400" b="1" dirty="0"/>
              <a:t> et </a:t>
            </a:r>
            <a:r>
              <a:rPr lang="en-US" sz="2400" b="1" dirty="0" err="1"/>
              <a:t>al’s</a:t>
            </a:r>
            <a:r>
              <a:rPr lang="en-US" sz="2400" b="1" dirty="0"/>
              <a:t> results</a:t>
            </a:r>
            <a:endParaRPr lang="en-US" sz="2400" b="1" i="1" dirty="0"/>
          </a:p>
        </p:txBody>
      </p:sp>
    </p:spTree>
    <p:extLst>
      <p:ext uri="{BB962C8B-B14F-4D97-AF65-F5344CB8AC3E}">
        <p14:creationId xmlns:p14="http://schemas.microsoft.com/office/powerpoint/2010/main" val="4286829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03435E97-38B2-2632-F2FE-9581739988B0}"/>
              </a:ext>
            </a:extLst>
          </p:cNvPr>
          <p:cNvGrpSpPr/>
          <p:nvPr/>
        </p:nvGrpSpPr>
        <p:grpSpPr>
          <a:xfrm>
            <a:off x="8390062" y="965548"/>
            <a:ext cx="3435357" cy="3334603"/>
            <a:chOff x="7747508" y="965548"/>
            <a:chExt cx="3926496" cy="373674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3EE2EA9-5C2B-967D-FECE-DD2AD49CFE8F}"/>
                </a:ext>
              </a:extLst>
            </p:cNvPr>
            <p:cNvSpPr txBox="1"/>
            <p:nvPr/>
          </p:nvSpPr>
          <p:spPr>
            <a:xfrm>
              <a:off x="8442402" y="965548"/>
              <a:ext cx="2889532" cy="6463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b="1" dirty="0" err="1">
                  <a:latin typeface="TimesNewRomanPS"/>
                </a:rPr>
                <a:t>Ke</a:t>
              </a:r>
              <a:r>
                <a:rPr lang="en-US" b="1" dirty="0">
                  <a:latin typeface="TimesNewRomanPS"/>
                </a:rPr>
                <a:t> et </a:t>
              </a:r>
              <a:r>
                <a:rPr lang="en-US" b="1" dirty="0" err="1">
                  <a:latin typeface="TimesNewRomanPS"/>
                </a:rPr>
                <a:t>al’s</a:t>
              </a:r>
              <a:r>
                <a:rPr lang="en-US" b="1" dirty="0">
                  <a:latin typeface="TimesNewRomanPS"/>
                </a:rPr>
                <a:t> C</a:t>
              </a:r>
              <a:r>
                <a:rPr lang="en-US" sz="1800" b="1" dirty="0">
                  <a:effectLst/>
                  <a:latin typeface="TimesNewRomanPS"/>
                </a:rPr>
                <a:t>arbon budget from 2010-2023. </a:t>
              </a:r>
              <a:endParaRPr lang="en-US" dirty="0">
                <a:effectLst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437A355-B2BD-4E70-645D-9686466656C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8090" t="45988" r="5903"/>
            <a:stretch/>
          </p:blipFill>
          <p:spPr>
            <a:xfrm>
              <a:off x="7747508" y="1611879"/>
              <a:ext cx="3926496" cy="3090409"/>
            </a:xfrm>
            <a:prstGeom prst="rect">
              <a:avLst/>
            </a:prstGeom>
          </p:spPr>
        </p:pic>
      </p:grpSp>
      <p:pic>
        <p:nvPicPr>
          <p:cNvPr id="1030" name="Picture 6">
            <a:extLst>
              <a:ext uri="{FF2B5EF4-FFF2-40B4-BE49-F238E27FC236}">
                <a16:creationId xmlns:a16="http://schemas.microsoft.com/office/drawing/2014/main" id="{DB687070-D0E2-1D4C-FDF8-32F529F12E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580" y="900812"/>
            <a:ext cx="6373300" cy="4783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393CFDF3-8DB5-4CE6-6F9B-458F49827E08}"/>
              </a:ext>
            </a:extLst>
          </p:cNvPr>
          <p:cNvSpPr/>
          <p:nvPr/>
        </p:nvSpPr>
        <p:spPr>
          <a:xfrm>
            <a:off x="4351282" y="3699641"/>
            <a:ext cx="283779" cy="283779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394B961-DCBC-8335-3468-C9C26B150E54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4537710" y="2343150"/>
            <a:ext cx="1024970" cy="7652"/>
          </a:xfrm>
          <a:prstGeom prst="straightConnector1">
            <a:avLst/>
          </a:prstGeom>
          <a:ln w="635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CC635C9-6564-18B4-2390-D88789B839B3}"/>
              </a:ext>
            </a:extLst>
          </p:cNvPr>
          <p:cNvSpPr txBox="1"/>
          <p:nvPr/>
        </p:nvSpPr>
        <p:spPr>
          <a:xfrm>
            <a:off x="5562680" y="1196640"/>
            <a:ext cx="2763174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Terrestrial carbon ecosystem service </a:t>
            </a:r>
            <a:r>
              <a:rPr lang="en-US" sz="2400" b="1" dirty="0"/>
              <a:t>reported by </a:t>
            </a:r>
            <a:r>
              <a:rPr lang="en-US" sz="2400" b="1" dirty="0" err="1"/>
              <a:t>Ke</a:t>
            </a:r>
            <a:r>
              <a:rPr lang="en-US" sz="2400" b="1" dirty="0"/>
              <a:t> et al</a:t>
            </a:r>
            <a:r>
              <a:rPr lang="en-US" sz="2400" dirty="0"/>
              <a:t> indicates significant CO</a:t>
            </a:r>
            <a:r>
              <a:rPr lang="en-US" sz="2400" baseline="-25000" dirty="0"/>
              <a:t>2</a:t>
            </a:r>
            <a:r>
              <a:rPr lang="en-US" sz="2400" dirty="0"/>
              <a:t> fertilization impairment.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51F135-4501-E88A-062B-D237DF2564D7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inadequacy of Cambio 3 to reproduce </a:t>
            </a:r>
            <a:r>
              <a:rPr lang="en-US" sz="2400" b="1" dirty="0" err="1"/>
              <a:t>Ke</a:t>
            </a:r>
            <a:r>
              <a:rPr lang="en-US" sz="2400" b="1" dirty="0"/>
              <a:t> et </a:t>
            </a:r>
            <a:r>
              <a:rPr lang="en-US" sz="2400" b="1" dirty="0" err="1"/>
              <a:t>al’s</a:t>
            </a:r>
            <a:r>
              <a:rPr lang="en-US" sz="2400" b="1" dirty="0"/>
              <a:t> results</a:t>
            </a:r>
            <a:endParaRPr lang="en-US" sz="2400" b="1" i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DAFAE9-C3EA-CB1C-2F6D-1597D36FAF0B}"/>
              </a:ext>
            </a:extLst>
          </p:cNvPr>
          <p:cNvSpPr txBox="1"/>
          <p:nvPr/>
        </p:nvSpPr>
        <p:spPr>
          <a:xfrm>
            <a:off x="7086600" y="4903470"/>
            <a:ext cx="44395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Ke</a:t>
            </a:r>
            <a:r>
              <a:rPr lang="en-US" sz="2400" dirty="0"/>
              <a:t> et al trace the CO</a:t>
            </a:r>
            <a:r>
              <a:rPr lang="en-US" sz="2400" baseline="-25000" dirty="0"/>
              <a:t>2</a:t>
            </a:r>
            <a:r>
              <a:rPr lang="en-US" sz="2400" dirty="0"/>
              <a:t> fertilization impairment to the Amazon.</a:t>
            </a:r>
          </a:p>
        </p:txBody>
      </p:sp>
    </p:spTree>
    <p:extLst>
      <p:ext uri="{BB962C8B-B14F-4D97-AF65-F5344CB8AC3E}">
        <p14:creationId xmlns:p14="http://schemas.microsoft.com/office/powerpoint/2010/main" val="3436391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CC17354-5AD5-ADE9-E069-8244DAFAC62E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We can implement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𝑪</m:t>
                    </m:r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𝑶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400" b="1" baseline="-25000" dirty="0"/>
                  <a:t> </a:t>
                </a:r>
                <a:r>
                  <a:rPr lang="en-US" sz="2400" b="1" dirty="0"/>
                  <a:t>fertilization impairment using a sigmoid factor in Eq. 2</a:t>
                </a:r>
                <a:endParaRPr lang="en-US" sz="2400" b="1" i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CC17354-5AD5-ADE9-E069-8244DAFAC6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blipFill>
                <a:blip r:embed="rId2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68EDA08-4C82-9151-AC88-0E0F9EFE88B6}"/>
              </a:ext>
            </a:extLst>
          </p:cNvPr>
          <p:cNvCxnSpPr>
            <a:cxnSpLocks/>
          </p:cNvCxnSpPr>
          <p:nvPr/>
        </p:nvCxnSpPr>
        <p:spPr>
          <a:xfrm flipH="1">
            <a:off x="4214463" y="3895747"/>
            <a:ext cx="2060462" cy="802935"/>
          </a:xfrm>
          <a:prstGeom prst="straightConnector1">
            <a:avLst/>
          </a:prstGeom>
          <a:ln>
            <a:noFil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BCBBEDD-C4A5-EE53-373C-B6DF0E481E93}"/>
              </a:ext>
            </a:extLst>
          </p:cNvPr>
          <p:cNvSpPr txBox="1"/>
          <p:nvPr/>
        </p:nvSpPr>
        <p:spPr>
          <a:xfrm>
            <a:off x="4214463" y="748145"/>
            <a:ext cx="3017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Cambio 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FF5A0B-0BBD-8EC1-E772-B4482F05A65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1819"/>
          <a:stretch/>
        </p:blipFill>
        <p:spPr>
          <a:xfrm>
            <a:off x="347750" y="1579706"/>
            <a:ext cx="10913225" cy="3698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402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68EDA08-4C82-9151-AC88-0E0F9EFE88B6}"/>
              </a:ext>
            </a:extLst>
          </p:cNvPr>
          <p:cNvCxnSpPr>
            <a:cxnSpLocks/>
          </p:cNvCxnSpPr>
          <p:nvPr/>
        </p:nvCxnSpPr>
        <p:spPr>
          <a:xfrm flipH="1">
            <a:off x="4214463" y="3895747"/>
            <a:ext cx="2060462" cy="802935"/>
          </a:xfrm>
          <a:prstGeom prst="straightConnector1">
            <a:avLst/>
          </a:prstGeom>
          <a:ln>
            <a:noFil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4CC349B-9496-B970-395D-BFA3B6E853F9}"/>
              </a:ext>
            </a:extLst>
          </p:cNvPr>
          <p:cNvSpPr txBox="1"/>
          <p:nvPr/>
        </p:nvSpPr>
        <p:spPr>
          <a:xfrm>
            <a:off x="4214463" y="748145"/>
            <a:ext cx="3017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Cambio 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79E826-6DFB-A3B9-5F69-94A67314A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8635" y="1642947"/>
            <a:ext cx="7515233" cy="367544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F840B97-36D4-094C-CCBD-8345A5E9F7D4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We can implement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𝑪</m:t>
                    </m:r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𝑶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400" b="1" baseline="-25000" dirty="0"/>
                  <a:t> </a:t>
                </a:r>
                <a:r>
                  <a:rPr lang="en-US" sz="2400" b="1" dirty="0"/>
                  <a:t>fertilization impairment using a sigmoid factor in Eq. 2</a:t>
                </a:r>
                <a:endParaRPr lang="en-US" sz="2400" b="1" i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F840B97-36D4-094C-CCBD-8345A5E9F7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blipFill>
                <a:blip r:embed="rId3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5638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C17354-5AD5-ADE9-E069-8244DAFAC62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Parameters of the sigmoid function have been set to match </a:t>
            </a:r>
            <a:r>
              <a:rPr lang="en-US" sz="2400" b="1" dirty="0" err="1"/>
              <a:t>Ke</a:t>
            </a:r>
            <a:r>
              <a:rPr lang="en-US" sz="2400" b="1" dirty="0"/>
              <a:t> et </a:t>
            </a:r>
            <a:r>
              <a:rPr lang="en-US" sz="2400" b="1" dirty="0" err="1"/>
              <a:t>al’s</a:t>
            </a:r>
            <a:r>
              <a:rPr lang="en-US" sz="2400" b="1" dirty="0"/>
              <a:t> data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76CF3F2-9C17-3642-066E-D685C9555D35}"/>
              </a:ext>
            </a:extLst>
          </p:cNvPr>
          <p:cNvGrpSpPr/>
          <p:nvPr/>
        </p:nvGrpSpPr>
        <p:grpSpPr>
          <a:xfrm>
            <a:off x="111209" y="732655"/>
            <a:ext cx="7288427" cy="5807199"/>
            <a:chOff x="111209" y="732655"/>
            <a:chExt cx="7288427" cy="5807199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AC6206EA-576F-A679-3736-57624D9588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209" y="732655"/>
              <a:ext cx="7288427" cy="5807199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D246CF2-45A2-1422-354B-1D6238AEEE12}"/>
                </a:ext>
              </a:extLst>
            </p:cNvPr>
            <p:cNvSpPr/>
            <p:nvPr/>
          </p:nvSpPr>
          <p:spPr>
            <a:xfrm>
              <a:off x="370703" y="5090983"/>
              <a:ext cx="3384720" cy="679621"/>
            </a:xfrm>
            <a:prstGeom prst="rect">
              <a:avLst/>
            </a:prstGeom>
            <a:solidFill>
              <a:schemeClr val="accent1">
                <a:alpha val="39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2">
            <a:extLst>
              <a:ext uri="{FF2B5EF4-FFF2-40B4-BE49-F238E27FC236}">
                <a16:creationId xmlns:a16="http://schemas.microsoft.com/office/drawing/2014/main" id="{BB6EB145-016C-1EAB-F8A9-3A5D68F15C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4" r="8358" b="6010"/>
          <a:stretch/>
        </p:blipFill>
        <p:spPr bwMode="auto">
          <a:xfrm>
            <a:off x="6440270" y="1897322"/>
            <a:ext cx="5381027" cy="4367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3788683-03E0-E6D3-47F8-6DA82896E2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6848" y="1586172"/>
            <a:ext cx="6769100" cy="6223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FE10984-3EA6-0D35-6C88-4B08DC44F479}"/>
              </a:ext>
            </a:extLst>
          </p:cNvPr>
          <p:cNvSpPr/>
          <p:nvPr/>
        </p:nvSpPr>
        <p:spPr>
          <a:xfrm>
            <a:off x="9155497" y="1685028"/>
            <a:ext cx="2385714" cy="461665"/>
          </a:xfrm>
          <a:prstGeom prst="rect">
            <a:avLst/>
          </a:prstGeom>
          <a:solidFill>
            <a:schemeClr val="accent1">
              <a:alpha val="4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E826A9C-52A6-B0EE-0EB0-59CAEACDD832}"/>
              </a:ext>
            </a:extLst>
          </p:cNvPr>
          <p:cNvCxnSpPr/>
          <p:nvPr/>
        </p:nvCxnSpPr>
        <p:spPr>
          <a:xfrm flipH="1">
            <a:off x="8921578" y="2208472"/>
            <a:ext cx="1186249" cy="9795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9605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C17354-5AD5-ADE9-E069-8244DAFAC62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Cambio 3 vs Cambio 4 results</a:t>
            </a:r>
            <a:endParaRPr lang="en-US" sz="2400" b="1" i="1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3435E97-38B2-2632-F2FE-9581739988B0}"/>
              </a:ext>
            </a:extLst>
          </p:cNvPr>
          <p:cNvGrpSpPr/>
          <p:nvPr/>
        </p:nvGrpSpPr>
        <p:grpSpPr>
          <a:xfrm>
            <a:off x="8390062" y="965548"/>
            <a:ext cx="3435357" cy="3334603"/>
            <a:chOff x="7747508" y="965548"/>
            <a:chExt cx="3926496" cy="373674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3EE2EA9-5C2B-967D-FECE-DD2AD49CFE8F}"/>
                </a:ext>
              </a:extLst>
            </p:cNvPr>
            <p:cNvSpPr txBox="1"/>
            <p:nvPr/>
          </p:nvSpPr>
          <p:spPr>
            <a:xfrm>
              <a:off x="8442402" y="965548"/>
              <a:ext cx="2889532" cy="6463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b="1" dirty="0" err="1">
                  <a:latin typeface="TimesNewRomanPS"/>
                </a:rPr>
                <a:t>Ke</a:t>
              </a:r>
              <a:r>
                <a:rPr lang="en-US" b="1" dirty="0">
                  <a:latin typeface="TimesNewRomanPS"/>
                </a:rPr>
                <a:t> et </a:t>
              </a:r>
              <a:r>
                <a:rPr lang="en-US" b="1" dirty="0" err="1">
                  <a:latin typeface="TimesNewRomanPS"/>
                </a:rPr>
                <a:t>al’s</a:t>
              </a:r>
              <a:r>
                <a:rPr lang="en-US" b="1" dirty="0">
                  <a:latin typeface="TimesNewRomanPS"/>
                </a:rPr>
                <a:t> C</a:t>
              </a:r>
              <a:r>
                <a:rPr lang="en-US" sz="1800" b="1" dirty="0">
                  <a:effectLst/>
                  <a:latin typeface="TimesNewRomanPS"/>
                </a:rPr>
                <a:t>arbon budget from 2010-2023. </a:t>
              </a:r>
              <a:endParaRPr lang="en-US" dirty="0">
                <a:effectLst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437A355-B2BD-4E70-645D-9686466656C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8090" t="45988" r="5903"/>
            <a:stretch/>
          </p:blipFill>
          <p:spPr>
            <a:xfrm>
              <a:off x="7747508" y="1611879"/>
              <a:ext cx="3926496" cy="3090409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D770765D-2480-8C6B-438C-05A53F7B3D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275" y="896678"/>
            <a:ext cx="6366316" cy="4778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04856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C17354-5AD5-ADE9-E069-8244DAFAC62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OK, let’s get started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3ABBA11-8DA4-AED2-5CC6-9010CD0B0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8678" y="5058532"/>
            <a:ext cx="9194035" cy="165658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535999B-DB44-692B-0FF4-C899D7F1B6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899" y="587476"/>
            <a:ext cx="10282155" cy="434524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913711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2526</TotalTime>
  <Words>202</Words>
  <Application>Microsoft Macintosh PowerPoint</Application>
  <PresentationFormat>Widescreen</PresentationFormat>
  <Paragraphs>21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TimesNewRomanPS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149</cp:revision>
  <dcterms:created xsi:type="dcterms:W3CDTF">2021-11-01T11:23:25Z</dcterms:created>
  <dcterms:modified xsi:type="dcterms:W3CDTF">2026-04-20T17:13:15Z</dcterms:modified>
</cp:coreProperties>
</file>