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1997" r:id="rId2"/>
    <p:sldId id="2090" r:id="rId3"/>
    <p:sldId id="2091" r:id="rId4"/>
    <p:sldId id="2054" r:id="rId5"/>
    <p:sldId id="2064" r:id="rId6"/>
    <p:sldId id="2065" r:id="rId7"/>
    <p:sldId id="2069" r:id="rId8"/>
    <p:sldId id="2068" r:id="rId9"/>
    <p:sldId id="2071" r:id="rId10"/>
    <p:sldId id="2070" r:id="rId11"/>
    <p:sldId id="2085" r:id="rId12"/>
    <p:sldId id="2067" r:id="rId13"/>
    <p:sldId id="2086" r:id="rId14"/>
    <p:sldId id="2087" r:id="rId15"/>
    <p:sldId id="2073" r:id="rId16"/>
    <p:sldId id="2079" r:id="rId17"/>
    <p:sldId id="2089" r:id="rId18"/>
    <p:sldId id="2082" r:id="rId19"/>
    <p:sldId id="2088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52"/>
    <p:restoredTop sz="95976"/>
  </p:normalViewPr>
  <p:slideViewPr>
    <p:cSldViewPr snapToGrid="0" snapToObjects="1">
      <p:cViewPr varScale="1">
        <p:scale>
          <a:sx n="112" d="100"/>
          <a:sy n="112" d="100"/>
        </p:scale>
        <p:origin x="3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072348-C9CA-5D41-B455-E567A04392B6}" type="datetimeFigureOut">
              <a:rPr lang="en-US" smtClean="0"/>
              <a:t>4/12/26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276FAE-13AA-C845-AA9B-713E07212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4655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1AF17-CCFA-8043-9685-A186C1961C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29C870-5448-EA40-94F5-BE0F09FC8A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EF6E82-4E17-8742-A8B3-8915B1113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5A620-EC45-294C-8B7D-C1E9D6865FC9}" type="datetimeFigureOut">
              <a:rPr lang="en-US" smtClean="0"/>
              <a:t>4/12/26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575618-7BAF-BE46-BD26-3F4EA831E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FB0FE2-BF20-D146-BCF3-65A32CA1C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2D576-34D0-9249-AAAD-443D4F329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2700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1FF9F-C1A1-4944-A4BF-01D72575D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49B666-092B-E344-91CB-D050673A9B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3D0ECE-C4B6-324D-8BBD-D009AEB4D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5A620-EC45-294C-8B7D-C1E9D6865FC9}" type="datetimeFigureOut">
              <a:rPr lang="en-US" smtClean="0"/>
              <a:t>4/12/26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5E33CC-1B03-264B-9AF6-1CA6BF726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69D50A-95B9-D64D-B3EC-DE4871303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2D576-34D0-9249-AAAD-443D4F329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670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270CA-C7A6-D642-8269-2969AA2FB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8AF989-824F-E04A-977B-787A1B6B36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E0072D-2285-684B-B78D-49845AA0B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5A620-EC45-294C-8B7D-C1E9D6865FC9}" type="datetimeFigureOut">
              <a:rPr lang="en-US" smtClean="0"/>
              <a:t>4/12/26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F80EDA-4D9D-2D49-A0BC-40E0A099C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398851-27F5-314A-A07D-E62F3C824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2D576-34D0-9249-AAAD-443D4F329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372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32624-A623-CA40-8321-BF223B6DF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058A76-47E9-8E4A-9D47-A031820C47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1F921A-574F-7944-B9C8-448A64E090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58AA85-E19C-AD41-AA98-C2B60D14E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5A620-EC45-294C-8B7D-C1E9D6865FC9}" type="datetimeFigureOut">
              <a:rPr lang="en-US" smtClean="0"/>
              <a:t>4/12/26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EFACE9-0989-1040-98D7-9D52AC154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62EF42-4E36-524A-8B0E-0AE1B768F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2D576-34D0-9249-AAAD-443D4F329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604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84F91-15CB-3B48-8CED-03A37325B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98D92B-2CCE-A349-A491-FE1342173A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87BCF3-2EF9-EE49-A14F-C106FCB34E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6387E8-4400-1C49-9803-B0A00CED5A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2676EF-B5FF-2C49-89F7-10DBC8D656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7C8C95-A4F2-B049-B476-657CDB5BA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5A620-EC45-294C-8B7D-C1E9D6865FC9}" type="datetimeFigureOut">
              <a:rPr lang="en-US" smtClean="0"/>
              <a:t>4/12/26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862D0D-6F70-6D40-90E6-15DA27D14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0F7AAF-A051-4A44-A8E4-F2E266C0F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2D576-34D0-9249-AAAD-443D4F329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917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8336D-01CC-B94D-8ACF-851170404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95BFA2-E3CC-CA46-B5B4-9547A13D4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5A620-EC45-294C-8B7D-C1E9D6865FC9}" type="datetimeFigureOut">
              <a:rPr lang="en-US" smtClean="0"/>
              <a:t>4/12/26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EE2FD0-5E88-1C42-BBD8-F2B8AFF36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BD6568-7E1E-EC4D-ADCC-046CB8BDC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2D576-34D0-9249-AAAD-443D4F329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644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EB3247-5D72-B843-AE1D-541B3D6B0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5A620-EC45-294C-8B7D-C1E9D6865FC9}" type="datetimeFigureOut">
              <a:rPr lang="en-US" smtClean="0"/>
              <a:t>4/12/26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69D2DF-FE25-D040-BAD9-3DF2E32ED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01E9AD-0523-C14D-8EE4-67BB7B98B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2D576-34D0-9249-AAAD-443D4F329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931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1BE96-BA3A-3042-B0EC-E9FD3FE92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42122A-2419-2B48-9E4B-7778B4EDA1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EB8008-63B4-7048-B3EF-3BB6353886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613212-E55C-AC43-A87E-E174EF5D8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5A620-EC45-294C-8B7D-C1E9D6865FC9}" type="datetimeFigureOut">
              <a:rPr lang="en-US" smtClean="0"/>
              <a:t>4/12/26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3A6C7D-B27D-CF4D-A2C0-37633EEED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266DC1-04D2-FD4B-88B3-B8803F664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2D576-34D0-9249-AAAD-443D4F329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503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E3B8D-4360-BB4F-9A95-D013787DF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D04366-79CB-2F4B-979F-7B790C1D13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ED0917-C2BB-174D-8D92-171619F682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88E41C-4952-A446-8B14-E9828449A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5A620-EC45-294C-8B7D-C1E9D6865FC9}" type="datetimeFigureOut">
              <a:rPr lang="en-US" smtClean="0"/>
              <a:t>4/12/26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09043B-3902-7441-81F1-A3650908B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3AF136-B3BD-C449-BA2D-408A12DC3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2D576-34D0-9249-AAAD-443D4F329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0263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850BD-B1AD-5E4B-BCBB-B12294A82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18B767-2347-174C-992F-BB1EB21A43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972104-EFBB-1541-B593-278E77372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5A620-EC45-294C-8B7D-C1E9D6865FC9}" type="datetimeFigureOut">
              <a:rPr lang="en-US" smtClean="0"/>
              <a:t>4/12/26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F434D6-A0DB-8148-ADDD-E1509F752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E57032-560F-9B45-9831-588861300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2D576-34D0-9249-AAAD-443D4F329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1021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A8CEA9-93D2-0C4A-A302-D34CF8E16F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F2846E-6E90-6E43-AC4A-CE300E6043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DE2287-FCD5-9E4C-ADCA-A8DA60E79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5A620-EC45-294C-8B7D-C1E9D6865FC9}" type="datetimeFigureOut">
              <a:rPr lang="en-US" smtClean="0"/>
              <a:t>4/12/26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93624-14BF-0D45-8900-272C1AF70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F8FBB7-CE5A-8949-9128-7D1659623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2D576-34D0-9249-AAAD-443D4F329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5187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C3E110-E3EF-D142-AD4A-DF6D6A773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3CEFD2-DE38-1448-A2B2-015564B14C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18ED7C-EA84-1144-A9D4-24DCA73649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F5A620-EC45-294C-8B7D-C1E9D6865FC9}" type="datetimeFigureOut">
              <a:rPr lang="en-US" smtClean="0"/>
              <a:t>4/12/26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403AA1-4C64-FF46-B39F-494377F12C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EBC7C4-04D8-C14D-A622-4485B15C63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52D576-34D0-9249-AAAD-443D4F329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715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CC17354-5AD5-ADE9-E069-8244DAFAC62E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Recap: How Cambio 3.0 accounts for ice-albedo feedback</a:t>
            </a:r>
          </a:p>
        </p:txBody>
      </p:sp>
      <p:pic>
        <p:nvPicPr>
          <p:cNvPr id="26" name="Google Shape;166;p7">
            <a:extLst>
              <a:ext uri="{FF2B5EF4-FFF2-40B4-BE49-F238E27FC236}">
                <a16:creationId xmlns:a16="http://schemas.microsoft.com/office/drawing/2014/main" id="{27E1E6CF-3A83-8F62-A2D5-31E97339BF1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17482" y="1029692"/>
            <a:ext cx="6605800" cy="522319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0CA2F2E9-A3D0-E59A-64BA-259AC06844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0689" y="2317215"/>
            <a:ext cx="4911436" cy="2648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4114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CC17354-5AD5-ADE9-E069-8244DAFAC62E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Recap: How Cambio 3.0 accounts for ice-albedo feedback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687A4F1C-6685-EDB6-6A03-0D6FA017463D}"/>
              </a:ext>
            </a:extLst>
          </p:cNvPr>
          <p:cNvGrpSpPr>
            <a:grpSpLocks noChangeAspect="1"/>
          </p:cNvGrpSpPr>
          <p:nvPr/>
        </p:nvGrpSpPr>
        <p:grpSpPr>
          <a:xfrm>
            <a:off x="317482" y="1029692"/>
            <a:ext cx="6605800" cy="5223190"/>
            <a:chOff x="626765" y="760751"/>
            <a:chExt cx="3202285" cy="2532039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C54B25D2-564D-39E2-43DF-4109B0ADA63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26765" y="760751"/>
              <a:ext cx="3202285" cy="2532039"/>
              <a:chOff x="602181" y="1124056"/>
              <a:chExt cx="5493819" cy="4343949"/>
            </a:xfrm>
          </p:grpSpPr>
          <p:grpSp>
            <p:nvGrpSpPr>
              <p:cNvPr id="36" name="Google Shape;165;p7">
                <a:extLst>
                  <a:ext uri="{FF2B5EF4-FFF2-40B4-BE49-F238E27FC236}">
                    <a16:creationId xmlns:a16="http://schemas.microsoft.com/office/drawing/2014/main" id="{0B913961-14C1-2E0E-4202-FFE4C322D0AA}"/>
                  </a:ext>
                </a:extLst>
              </p:cNvPr>
              <p:cNvGrpSpPr/>
              <p:nvPr/>
            </p:nvGrpSpPr>
            <p:grpSpPr>
              <a:xfrm>
                <a:off x="602181" y="1124056"/>
                <a:ext cx="5493819" cy="4343949"/>
                <a:chOff x="602181" y="1124056"/>
                <a:chExt cx="5493819" cy="4343949"/>
              </a:xfrm>
            </p:grpSpPr>
            <p:pic>
              <p:nvPicPr>
                <p:cNvPr id="38" name="Google Shape;166;p7">
                  <a:extLst>
                    <a:ext uri="{FF2B5EF4-FFF2-40B4-BE49-F238E27FC236}">
                      <a16:creationId xmlns:a16="http://schemas.microsoft.com/office/drawing/2014/main" id="{55FC2770-DE45-D251-B4CD-F609F70F6C24}"/>
                    </a:ext>
                  </a:extLst>
                </p:cNvPr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/>
                <a:stretch/>
              </p:blipFill>
              <p:spPr>
                <a:xfrm>
                  <a:off x="602181" y="1124056"/>
                  <a:ext cx="5493819" cy="4343949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</p:pic>
            <p:sp>
              <p:nvSpPr>
                <p:cNvPr id="39" name="Google Shape;167;p7">
                  <a:extLst>
                    <a:ext uri="{FF2B5EF4-FFF2-40B4-BE49-F238E27FC236}">
                      <a16:creationId xmlns:a16="http://schemas.microsoft.com/office/drawing/2014/main" id="{DACBA0CD-FCBB-FCB6-CAD7-6671C63511FD}"/>
                    </a:ext>
                  </a:extLst>
                </p:cNvPr>
                <p:cNvSpPr/>
                <p:nvPr/>
              </p:nvSpPr>
              <p:spPr>
                <a:xfrm rot="1661086">
                  <a:off x="4433737" y="2346786"/>
                  <a:ext cx="756205" cy="2206866"/>
                </a:xfrm>
                <a:prstGeom prst="arc">
                  <a:avLst>
                    <a:gd name="adj1" fmla="val 16677855"/>
                    <a:gd name="adj2" fmla="val 4191882"/>
                  </a:avLst>
                </a:prstGeom>
                <a:noFill/>
                <a:ln w="63500" cap="flat" cmpd="sng">
                  <a:solidFill>
                    <a:srgbClr val="FF0000"/>
                  </a:solidFill>
                  <a:prstDash val="sysDash"/>
                  <a:miter lim="800000"/>
                  <a:headEnd type="none" w="sm" len="sm"/>
                  <a:tailEnd type="triangle" w="med" len="med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7" name="Google Shape;168;p7">
                <a:extLst>
                  <a:ext uri="{FF2B5EF4-FFF2-40B4-BE49-F238E27FC236}">
                    <a16:creationId xmlns:a16="http://schemas.microsoft.com/office/drawing/2014/main" id="{5D18F3D9-FE2D-2A90-10EE-35E371E1D580}"/>
                  </a:ext>
                </a:extLst>
              </p:cNvPr>
              <p:cNvSpPr/>
              <p:nvPr/>
            </p:nvSpPr>
            <p:spPr>
              <a:xfrm rot="8381796">
                <a:off x="1702178" y="2739358"/>
                <a:ext cx="756205" cy="1963741"/>
              </a:xfrm>
              <a:prstGeom prst="arc">
                <a:avLst>
                  <a:gd name="adj1" fmla="val 19169319"/>
                  <a:gd name="adj2" fmla="val 4343601"/>
                </a:avLst>
              </a:prstGeom>
              <a:noFill/>
              <a:ln w="63500" cap="flat" cmpd="sng">
                <a:solidFill>
                  <a:srgbClr val="FF0000"/>
                </a:solidFill>
                <a:prstDash val="solid"/>
                <a:miter lim="800000"/>
                <a:headEnd type="none" w="sm" len="sm"/>
                <a:tailEnd type="triangle" w="med" len="med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2" name="Google Shape;167;p7">
              <a:extLst>
                <a:ext uri="{FF2B5EF4-FFF2-40B4-BE49-F238E27FC236}">
                  <a16:creationId xmlns:a16="http://schemas.microsoft.com/office/drawing/2014/main" id="{DC38DE79-5030-3194-207A-890A091CF27B}"/>
                </a:ext>
              </a:extLst>
            </p:cNvPr>
            <p:cNvSpPr/>
            <p:nvPr/>
          </p:nvSpPr>
          <p:spPr>
            <a:xfrm rot="18384306">
              <a:off x="2255065" y="865973"/>
              <a:ext cx="1091526" cy="1410941"/>
            </a:xfrm>
            <a:prstGeom prst="arc">
              <a:avLst>
                <a:gd name="adj1" fmla="val 18542003"/>
                <a:gd name="adj2" fmla="val 2547941"/>
              </a:avLst>
            </a:prstGeom>
            <a:noFill/>
            <a:ln w="63500" cap="flat" cmpd="sng">
              <a:solidFill>
                <a:srgbClr val="FF0000"/>
              </a:solidFill>
              <a:prstDash val="sysDot"/>
              <a:miter lim="800000"/>
              <a:headEnd type="none" w="sm" len="sm"/>
              <a:tailEnd type="triangl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4D375B4-D954-CF4B-EF81-B4C08B68B7F6}"/>
                </a:ext>
              </a:extLst>
            </p:cNvPr>
            <p:cNvSpPr txBox="1"/>
            <p:nvPr/>
          </p:nvSpPr>
          <p:spPr>
            <a:xfrm>
              <a:off x="2974404" y="802473"/>
              <a:ext cx="5242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0661D09B-F839-811D-47A2-BB6B63C7CF6A}"/>
                </a:ext>
              </a:extLst>
            </p:cNvPr>
            <p:cNvSpPr txBox="1"/>
            <p:nvPr/>
          </p:nvSpPr>
          <p:spPr>
            <a:xfrm>
              <a:off x="3226294" y="1950030"/>
              <a:ext cx="5242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dirty="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6BEBA453-BEBF-28B5-060C-00E8AD628498}"/>
                </a:ext>
              </a:extLst>
            </p:cNvPr>
            <p:cNvSpPr txBox="1"/>
            <p:nvPr/>
          </p:nvSpPr>
          <p:spPr>
            <a:xfrm>
              <a:off x="824941" y="2288245"/>
              <a:ext cx="5242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dirty="0">
                  <a:solidFill>
                    <a:srgbClr val="FF0000"/>
                  </a:solidFill>
                </a:rPr>
                <a:t>3</a:t>
              </a:r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09CDF116-991F-3374-865F-5E8EC297DB17}"/>
              </a:ext>
            </a:extLst>
          </p:cNvPr>
          <p:cNvSpPr txBox="1"/>
          <p:nvPr/>
        </p:nvSpPr>
        <p:spPr>
          <a:xfrm>
            <a:off x="7490497" y="2956847"/>
            <a:ext cx="418155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This is done inside the Cambio3 propagator</a:t>
            </a:r>
          </a:p>
        </p:txBody>
      </p:sp>
    </p:spTree>
    <p:extLst>
      <p:ext uri="{BB962C8B-B14F-4D97-AF65-F5344CB8AC3E}">
        <p14:creationId xmlns:p14="http://schemas.microsoft.com/office/powerpoint/2010/main" val="33304479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CC17354-5AD5-ADE9-E069-8244DAFAC62E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Recap: How Cambio 3.0 accounts for ice-albedo feedback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760EFF3-4012-E68F-6E01-0AC78AA79A9C}"/>
              </a:ext>
            </a:extLst>
          </p:cNvPr>
          <p:cNvGrpSpPr/>
          <p:nvPr/>
        </p:nvGrpSpPr>
        <p:grpSpPr>
          <a:xfrm>
            <a:off x="990600" y="3362280"/>
            <a:ext cx="10699676" cy="3434180"/>
            <a:chOff x="990600" y="3362280"/>
            <a:chExt cx="10699676" cy="3434180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05C09343-BE38-F262-89CD-A943B86708AB}"/>
                </a:ext>
              </a:extLst>
            </p:cNvPr>
            <p:cNvGrpSpPr/>
            <p:nvPr/>
          </p:nvGrpSpPr>
          <p:grpSpPr>
            <a:xfrm>
              <a:off x="2240960" y="3362280"/>
              <a:ext cx="9449316" cy="3434180"/>
              <a:chOff x="2240960" y="3362280"/>
              <a:chExt cx="9449316" cy="3434180"/>
            </a:xfrm>
          </p:grpSpPr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DC2475E8-4F3E-E750-B0D5-D72FDA9C7106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2240960" y="3362280"/>
                <a:ext cx="9449316" cy="3434180"/>
                <a:chOff x="330960" y="1740196"/>
                <a:chExt cx="11362452" cy="4129475"/>
              </a:xfrm>
            </p:grpSpPr>
            <p:cxnSp>
              <p:nvCxnSpPr>
                <p:cNvPr id="26" name="Straight Arrow Connector 25">
                  <a:extLst>
                    <a:ext uri="{FF2B5EF4-FFF2-40B4-BE49-F238E27FC236}">
                      <a16:creationId xmlns:a16="http://schemas.microsoft.com/office/drawing/2014/main" id="{D68EDA08-4C82-9151-AC88-0E0F9EFE88B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214463" y="3895747"/>
                  <a:ext cx="2060462" cy="802935"/>
                </a:xfrm>
                <a:prstGeom prst="straightConnector1">
                  <a:avLst/>
                </a:prstGeom>
                <a:ln>
                  <a:noFill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27E9A1BA-2ADA-A10E-FFF4-C6942745C5A5}"/>
                    </a:ext>
                  </a:extLst>
                </p:cNvPr>
                <p:cNvSpPr/>
                <p:nvPr/>
              </p:nvSpPr>
              <p:spPr>
                <a:xfrm>
                  <a:off x="330960" y="1740196"/>
                  <a:ext cx="11362452" cy="4129475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7" name="Group 16">
                  <a:extLst>
                    <a:ext uri="{FF2B5EF4-FFF2-40B4-BE49-F238E27FC236}">
                      <a16:creationId xmlns:a16="http://schemas.microsoft.com/office/drawing/2014/main" id="{1EAE47F8-4630-F317-EC19-AEA911683D19}"/>
                    </a:ext>
                  </a:extLst>
                </p:cNvPr>
                <p:cNvGrpSpPr/>
                <p:nvPr/>
              </p:nvGrpSpPr>
              <p:grpSpPr>
                <a:xfrm>
                  <a:off x="330960" y="1740196"/>
                  <a:ext cx="11362452" cy="1451291"/>
                  <a:chOff x="330960" y="1740196"/>
                  <a:chExt cx="11362452" cy="1451291"/>
                </a:xfrm>
                <a:noFill/>
              </p:grpSpPr>
              <p:pic>
                <p:nvPicPr>
                  <p:cNvPr id="19" name="Picture 18">
                    <a:extLst>
                      <a:ext uri="{FF2B5EF4-FFF2-40B4-BE49-F238E27FC236}">
                        <a16:creationId xmlns:a16="http://schemas.microsoft.com/office/drawing/2014/main" id="{68422D4D-90B0-352D-8287-19D17BB4C82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330960" y="1740196"/>
                    <a:ext cx="11362452" cy="979170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</p:pic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B31C9743-CEE9-8105-BDB3-352531EDAEEE}"/>
                      </a:ext>
                    </a:extLst>
                  </p:cNvPr>
                  <p:cNvSpPr txBox="1"/>
                  <p:nvPr/>
                </p:nvSpPr>
                <p:spPr>
                  <a:xfrm>
                    <a:off x="845820" y="2729822"/>
                    <a:ext cx="2183130" cy="461665"/>
                  </a:xfrm>
                  <a:prstGeom prst="rect">
                    <a:avLst/>
                  </a:prstGeom>
                  <a:grp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400" dirty="0"/>
                      <a:t>…</a:t>
                    </a:r>
                  </a:p>
                </p:txBody>
              </p:sp>
            </p:grpSp>
          </p:grpSp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FE7BE2FA-6DBE-55C3-7CF6-F8D8FC3CAA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69131" y="4701363"/>
                <a:ext cx="6562240" cy="2004231"/>
              </a:xfrm>
              <a:prstGeom prst="rect">
                <a:avLst/>
              </a:prstGeom>
            </p:spPr>
          </p:pic>
        </p:grp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B14B3754-8FF5-540A-AD5C-2A168C4A0612}"/>
                </a:ext>
              </a:extLst>
            </p:cNvPr>
            <p:cNvCxnSpPr>
              <a:cxnSpLocks/>
            </p:cNvCxnSpPr>
            <p:nvPr/>
          </p:nvCxnSpPr>
          <p:spPr>
            <a:xfrm>
              <a:off x="990600" y="5786059"/>
              <a:ext cx="1595942" cy="0"/>
            </a:xfrm>
            <a:prstGeom prst="straightConnector1">
              <a:avLst/>
            </a:prstGeom>
            <a:ln w="63500">
              <a:solidFill>
                <a:srgbClr val="FF000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C8CABF35-0C14-A465-056B-C8AC5B6FA41C}"/>
                </a:ext>
              </a:extLst>
            </p:cNvPr>
            <p:cNvCxnSpPr>
              <a:cxnSpLocks/>
            </p:cNvCxnSpPr>
            <p:nvPr/>
          </p:nvCxnSpPr>
          <p:spPr>
            <a:xfrm>
              <a:off x="990600" y="6471699"/>
              <a:ext cx="1595942" cy="0"/>
            </a:xfrm>
            <a:prstGeom prst="straightConnector1">
              <a:avLst/>
            </a:prstGeom>
            <a:ln w="63500">
              <a:solidFill>
                <a:srgbClr val="FF0000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1251585-CD14-136F-417B-AF18AF7D5766}"/>
              </a:ext>
            </a:extLst>
          </p:cNvPr>
          <p:cNvCxnSpPr>
            <a:cxnSpLocks/>
          </p:cNvCxnSpPr>
          <p:nvPr/>
        </p:nvCxnSpPr>
        <p:spPr>
          <a:xfrm>
            <a:off x="990600" y="5060635"/>
            <a:ext cx="1595942" cy="0"/>
          </a:xfrm>
          <a:prstGeom prst="straightConnector1">
            <a:avLst/>
          </a:prstGeom>
          <a:ln w="635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Group 29">
            <a:extLst>
              <a:ext uri="{FF2B5EF4-FFF2-40B4-BE49-F238E27FC236}">
                <a16:creationId xmlns:a16="http://schemas.microsoft.com/office/drawing/2014/main" id="{687A4F1C-6685-EDB6-6A03-0D6FA017463D}"/>
              </a:ext>
            </a:extLst>
          </p:cNvPr>
          <p:cNvGrpSpPr/>
          <p:nvPr/>
        </p:nvGrpSpPr>
        <p:grpSpPr>
          <a:xfrm>
            <a:off x="626765" y="760751"/>
            <a:ext cx="3202285" cy="2532039"/>
            <a:chOff x="626765" y="760751"/>
            <a:chExt cx="3202285" cy="2532039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C54B25D2-564D-39E2-43DF-4109B0ADA63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26765" y="760751"/>
              <a:ext cx="3202285" cy="2532039"/>
              <a:chOff x="602181" y="1124056"/>
              <a:chExt cx="5493819" cy="4343949"/>
            </a:xfrm>
          </p:grpSpPr>
          <p:grpSp>
            <p:nvGrpSpPr>
              <p:cNvPr id="36" name="Google Shape;165;p7">
                <a:extLst>
                  <a:ext uri="{FF2B5EF4-FFF2-40B4-BE49-F238E27FC236}">
                    <a16:creationId xmlns:a16="http://schemas.microsoft.com/office/drawing/2014/main" id="{0B913961-14C1-2E0E-4202-FFE4C322D0AA}"/>
                  </a:ext>
                </a:extLst>
              </p:cNvPr>
              <p:cNvGrpSpPr/>
              <p:nvPr/>
            </p:nvGrpSpPr>
            <p:grpSpPr>
              <a:xfrm>
                <a:off x="602181" y="1124056"/>
                <a:ext cx="5493819" cy="4343949"/>
                <a:chOff x="602181" y="1124056"/>
                <a:chExt cx="5493819" cy="4343949"/>
              </a:xfrm>
            </p:grpSpPr>
            <p:pic>
              <p:nvPicPr>
                <p:cNvPr id="38" name="Google Shape;166;p7">
                  <a:extLst>
                    <a:ext uri="{FF2B5EF4-FFF2-40B4-BE49-F238E27FC236}">
                      <a16:creationId xmlns:a16="http://schemas.microsoft.com/office/drawing/2014/main" id="{55FC2770-DE45-D251-B4CD-F609F70F6C24}"/>
                    </a:ext>
                  </a:extLst>
                </p:cNvPr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/>
                <a:stretch/>
              </p:blipFill>
              <p:spPr>
                <a:xfrm>
                  <a:off x="602181" y="1124056"/>
                  <a:ext cx="5493819" cy="4343949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</p:pic>
            <p:sp>
              <p:nvSpPr>
                <p:cNvPr id="39" name="Google Shape;167;p7">
                  <a:extLst>
                    <a:ext uri="{FF2B5EF4-FFF2-40B4-BE49-F238E27FC236}">
                      <a16:creationId xmlns:a16="http://schemas.microsoft.com/office/drawing/2014/main" id="{DACBA0CD-FCBB-FCB6-CAD7-6671C63511FD}"/>
                    </a:ext>
                  </a:extLst>
                </p:cNvPr>
                <p:cNvSpPr/>
                <p:nvPr/>
              </p:nvSpPr>
              <p:spPr>
                <a:xfrm rot="1661086">
                  <a:off x="4433737" y="2346786"/>
                  <a:ext cx="756205" cy="2206866"/>
                </a:xfrm>
                <a:prstGeom prst="arc">
                  <a:avLst>
                    <a:gd name="adj1" fmla="val 16677855"/>
                    <a:gd name="adj2" fmla="val 4191882"/>
                  </a:avLst>
                </a:prstGeom>
                <a:noFill/>
                <a:ln w="63500" cap="flat" cmpd="sng">
                  <a:solidFill>
                    <a:srgbClr val="FF0000"/>
                  </a:solidFill>
                  <a:prstDash val="sysDash"/>
                  <a:miter lim="800000"/>
                  <a:headEnd type="none" w="sm" len="sm"/>
                  <a:tailEnd type="triangle" w="med" len="med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7" name="Google Shape;168;p7">
                <a:extLst>
                  <a:ext uri="{FF2B5EF4-FFF2-40B4-BE49-F238E27FC236}">
                    <a16:creationId xmlns:a16="http://schemas.microsoft.com/office/drawing/2014/main" id="{5D18F3D9-FE2D-2A90-10EE-35E371E1D580}"/>
                  </a:ext>
                </a:extLst>
              </p:cNvPr>
              <p:cNvSpPr/>
              <p:nvPr/>
            </p:nvSpPr>
            <p:spPr>
              <a:xfrm rot="8381796">
                <a:off x="1702178" y="2739358"/>
                <a:ext cx="756205" cy="1963741"/>
              </a:xfrm>
              <a:prstGeom prst="arc">
                <a:avLst>
                  <a:gd name="adj1" fmla="val 19169319"/>
                  <a:gd name="adj2" fmla="val 4343601"/>
                </a:avLst>
              </a:prstGeom>
              <a:noFill/>
              <a:ln w="63500" cap="flat" cmpd="sng">
                <a:solidFill>
                  <a:srgbClr val="FF0000"/>
                </a:solidFill>
                <a:prstDash val="solid"/>
                <a:miter lim="800000"/>
                <a:headEnd type="none" w="sm" len="sm"/>
                <a:tailEnd type="triangle" w="med" len="med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2" name="Google Shape;167;p7">
              <a:extLst>
                <a:ext uri="{FF2B5EF4-FFF2-40B4-BE49-F238E27FC236}">
                  <a16:creationId xmlns:a16="http://schemas.microsoft.com/office/drawing/2014/main" id="{DC38DE79-5030-3194-207A-890A091CF27B}"/>
                </a:ext>
              </a:extLst>
            </p:cNvPr>
            <p:cNvSpPr/>
            <p:nvPr/>
          </p:nvSpPr>
          <p:spPr>
            <a:xfrm rot="18384306">
              <a:off x="2255065" y="865973"/>
              <a:ext cx="1091526" cy="1410941"/>
            </a:xfrm>
            <a:prstGeom prst="arc">
              <a:avLst>
                <a:gd name="adj1" fmla="val 18542003"/>
                <a:gd name="adj2" fmla="val 2547941"/>
              </a:avLst>
            </a:prstGeom>
            <a:noFill/>
            <a:ln w="63500" cap="flat" cmpd="sng">
              <a:solidFill>
                <a:srgbClr val="FF0000"/>
              </a:solidFill>
              <a:prstDash val="sysDot"/>
              <a:miter lim="800000"/>
              <a:headEnd type="none" w="sm" len="sm"/>
              <a:tailEnd type="triangl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4D375B4-D954-CF4B-EF81-B4C08B68B7F6}"/>
                </a:ext>
              </a:extLst>
            </p:cNvPr>
            <p:cNvSpPr txBox="1"/>
            <p:nvPr/>
          </p:nvSpPr>
          <p:spPr>
            <a:xfrm>
              <a:off x="2974404" y="802473"/>
              <a:ext cx="5242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0661D09B-F839-811D-47A2-BB6B63C7CF6A}"/>
                </a:ext>
              </a:extLst>
            </p:cNvPr>
            <p:cNvSpPr txBox="1"/>
            <p:nvPr/>
          </p:nvSpPr>
          <p:spPr>
            <a:xfrm>
              <a:off x="3226294" y="1950030"/>
              <a:ext cx="5242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dirty="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6BEBA453-BEBF-28B5-060C-00E8AD628498}"/>
                </a:ext>
              </a:extLst>
            </p:cNvPr>
            <p:cNvSpPr txBox="1"/>
            <p:nvPr/>
          </p:nvSpPr>
          <p:spPr>
            <a:xfrm>
              <a:off x="824941" y="2288245"/>
              <a:ext cx="5242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dirty="0">
                  <a:solidFill>
                    <a:srgbClr val="FF0000"/>
                  </a:solidFill>
                </a:rPr>
                <a:t>3</a:t>
              </a:r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CC0777CF-5037-4CE4-5193-90832D444C6A}"/>
              </a:ext>
            </a:extLst>
          </p:cNvPr>
          <p:cNvSpPr txBox="1"/>
          <p:nvPr/>
        </p:nvSpPr>
        <p:spPr>
          <a:xfrm>
            <a:off x="459418" y="6201080"/>
            <a:ext cx="5242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1A357A5-CF9F-57C6-EBC4-F404104936CC}"/>
              </a:ext>
            </a:extLst>
          </p:cNvPr>
          <p:cNvSpPr txBox="1"/>
          <p:nvPr/>
        </p:nvSpPr>
        <p:spPr>
          <a:xfrm>
            <a:off x="427840" y="4848537"/>
            <a:ext cx="5242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7627BB5-7926-8CC6-A96F-E2801DE22346}"/>
              </a:ext>
            </a:extLst>
          </p:cNvPr>
          <p:cNvSpPr txBox="1"/>
          <p:nvPr/>
        </p:nvSpPr>
        <p:spPr>
          <a:xfrm>
            <a:off x="456773" y="5555226"/>
            <a:ext cx="5242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3020870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CC17354-5AD5-ADE9-E069-8244DAFAC62E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Two more Python notebooks to fetch this week -- today we’ll focus on </a:t>
            </a:r>
            <a:r>
              <a:rPr lang="en-US" sz="2400" b="1" dirty="0" err="1"/>
              <a:t>ProjectTemplate</a:t>
            </a:r>
            <a:endParaRPr lang="en-US" sz="2400" b="1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68EDA08-4C82-9151-AC88-0E0F9EFE88B6}"/>
              </a:ext>
            </a:extLst>
          </p:cNvPr>
          <p:cNvCxnSpPr>
            <a:cxnSpLocks/>
          </p:cNvCxnSpPr>
          <p:nvPr/>
        </p:nvCxnSpPr>
        <p:spPr>
          <a:xfrm flipH="1">
            <a:off x="4214463" y="3895747"/>
            <a:ext cx="2060462" cy="802935"/>
          </a:xfrm>
          <a:prstGeom prst="straightConnector1">
            <a:avLst/>
          </a:prstGeom>
          <a:ln>
            <a:noFill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676C20EB-1C24-B954-C685-E493C26E33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539" y="1563329"/>
            <a:ext cx="10741146" cy="802934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8803925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CC17354-5AD5-ADE9-E069-8244DAFAC62E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Your project template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68EDA08-4C82-9151-AC88-0E0F9EFE88B6}"/>
              </a:ext>
            </a:extLst>
          </p:cNvPr>
          <p:cNvCxnSpPr>
            <a:cxnSpLocks/>
          </p:cNvCxnSpPr>
          <p:nvPr/>
        </p:nvCxnSpPr>
        <p:spPr>
          <a:xfrm flipH="1">
            <a:off x="4214463" y="3895747"/>
            <a:ext cx="2060462" cy="802935"/>
          </a:xfrm>
          <a:prstGeom prst="straightConnector1">
            <a:avLst/>
          </a:prstGeom>
          <a:ln>
            <a:noFill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40F1A4AC-44A2-5010-F796-F6EC8D67A70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1021"/>
          <a:stretch/>
        </p:blipFill>
        <p:spPr>
          <a:xfrm>
            <a:off x="388732" y="1329970"/>
            <a:ext cx="10994695" cy="3047719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289682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CC17354-5AD5-ADE9-E069-8244DAFAC62E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You already know about </a:t>
            </a:r>
            <a:r>
              <a:rPr lang="en-US" sz="2400" b="1" dirty="0" err="1"/>
              <a:t>cl.LoadMyScenario</a:t>
            </a:r>
            <a:endParaRPr lang="en-US" sz="2400" b="1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68EDA08-4C82-9151-AC88-0E0F9EFE88B6}"/>
              </a:ext>
            </a:extLst>
          </p:cNvPr>
          <p:cNvCxnSpPr>
            <a:cxnSpLocks/>
          </p:cNvCxnSpPr>
          <p:nvPr/>
        </p:nvCxnSpPr>
        <p:spPr>
          <a:xfrm flipH="1">
            <a:off x="4214463" y="3895747"/>
            <a:ext cx="2060462" cy="802935"/>
          </a:xfrm>
          <a:prstGeom prst="straightConnector1">
            <a:avLst/>
          </a:prstGeom>
          <a:ln>
            <a:noFill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E91AD11F-E370-2594-E031-CCE654A52D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1427" y="1977368"/>
            <a:ext cx="10109138" cy="211457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15F2A86-4DEB-5FE3-08AA-782149FF8E02}"/>
              </a:ext>
            </a:extLst>
          </p:cNvPr>
          <p:cNvSpPr txBox="1"/>
          <p:nvPr/>
        </p:nvSpPr>
        <p:spPr>
          <a:xfrm>
            <a:off x="2171700" y="4606290"/>
            <a:ext cx="75780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Of course, you can upload your own pickle file to use instead of RCP4_5.pkl</a:t>
            </a:r>
          </a:p>
        </p:txBody>
      </p:sp>
    </p:spTree>
    <p:extLst>
      <p:ext uri="{BB962C8B-B14F-4D97-AF65-F5344CB8AC3E}">
        <p14:creationId xmlns:p14="http://schemas.microsoft.com/office/powerpoint/2010/main" val="15755169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CC17354-5AD5-ADE9-E069-8244DAFAC62E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Using </a:t>
            </a:r>
            <a:r>
              <a:rPr lang="en-US" sz="2400" b="1" dirty="0" err="1"/>
              <a:t>cl.CreateClimateParams</a:t>
            </a:r>
            <a:r>
              <a:rPr lang="en-US" sz="2400" b="1" dirty="0"/>
              <a:t> to create a </a:t>
            </a:r>
            <a:r>
              <a:rPr lang="en-US" sz="2400" b="1" dirty="0" err="1"/>
              <a:t>ClimateParams</a:t>
            </a:r>
            <a:r>
              <a:rPr lang="en-US" sz="2400" b="1" dirty="0"/>
              <a:t> dictionary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68EDA08-4C82-9151-AC88-0E0F9EFE88B6}"/>
              </a:ext>
            </a:extLst>
          </p:cNvPr>
          <p:cNvCxnSpPr>
            <a:cxnSpLocks/>
          </p:cNvCxnSpPr>
          <p:nvPr/>
        </p:nvCxnSpPr>
        <p:spPr>
          <a:xfrm flipH="1">
            <a:off x="4214463" y="3895747"/>
            <a:ext cx="2060462" cy="802935"/>
          </a:xfrm>
          <a:prstGeom prst="straightConnector1">
            <a:avLst/>
          </a:prstGeom>
          <a:ln>
            <a:noFill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46DDF644-A1AC-D583-D206-9183B3A3864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213" b="28850"/>
          <a:stretch/>
        </p:blipFill>
        <p:spPr>
          <a:xfrm>
            <a:off x="1061197" y="1108709"/>
            <a:ext cx="10069606" cy="2787037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7908855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CC17354-5AD5-ADE9-E069-8244DAFAC62E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Using </a:t>
            </a:r>
            <a:r>
              <a:rPr lang="en-US" sz="2400" b="1" dirty="0" err="1"/>
              <a:t>cl.CreateClimateParams</a:t>
            </a:r>
            <a:r>
              <a:rPr lang="en-US" sz="2400" b="1" dirty="0"/>
              <a:t> to create a </a:t>
            </a:r>
            <a:r>
              <a:rPr lang="en-US" sz="2400" b="1" dirty="0" err="1"/>
              <a:t>ClimateParams</a:t>
            </a:r>
            <a:r>
              <a:rPr lang="en-US" sz="2400" b="1" dirty="0"/>
              <a:t> dictionary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68EDA08-4C82-9151-AC88-0E0F9EFE88B6}"/>
              </a:ext>
            </a:extLst>
          </p:cNvPr>
          <p:cNvCxnSpPr>
            <a:cxnSpLocks/>
          </p:cNvCxnSpPr>
          <p:nvPr/>
        </p:nvCxnSpPr>
        <p:spPr>
          <a:xfrm flipH="1">
            <a:off x="4214463" y="3895747"/>
            <a:ext cx="2060462" cy="802935"/>
          </a:xfrm>
          <a:prstGeom prst="straightConnector1">
            <a:avLst/>
          </a:prstGeom>
          <a:ln>
            <a:noFill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573DE368-AADF-4E55-B220-126691FF797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213" b="28850"/>
          <a:stretch/>
        </p:blipFill>
        <p:spPr>
          <a:xfrm>
            <a:off x="1061197" y="1108709"/>
            <a:ext cx="10069606" cy="278703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B85E9A6-0DBD-0BF3-7854-66A6136D53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8300" y="1231514"/>
            <a:ext cx="5191760" cy="5073381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044557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CC17354-5AD5-ADE9-E069-8244DAFAC62E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Modifying a </a:t>
            </a:r>
            <a:r>
              <a:rPr lang="en-US" sz="2400" b="1" dirty="0" err="1"/>
              <a:t>ClimateParams</a:t>
            </a:r>
            <a:r>
              <a:rPr lang="en-US" sz="2400" b="1" dirty="0"/>
              <a:t> dictionary after it’s been created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68EDA08-4C82-9151-AC88-0E0F9EFE88B6}"/>
              </a:ext>
            </a:extLst>
          </p:cNvPr>
          <p:cNvCxnSpPr>
            <a:cxnSpLocks/>
          </p:cNvCxnSpPr>
          <p:nvPr/>
        </p:nvCxnSpPr>
        <p:spPr>
          <a:xfrm flipH="1">
            <a:off x="4214463" y="3895747"/>
            <a:ext cx="2060462" cy="802935"/>
          </a:xfrm>
          <a:prstGeom prst="straightConnector1">
            <a:avLst/>
          </a:prstGeom>
          <a:ln>
            <a:noFill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34D02C56-3C63-C281-4F1C-04FCE889455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213" b="28850"/>
          <a:stretch/>
        </p:blipFill>
        <p:spPr>
          <a:xfrm>
            <a:off x="1061197" y="1108709"/>
            <a:ext cx="10069606" cy="278703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A6133084-04A0-40C7-1FAB-D7D0FF7A901A}"/>
              </a:ext>
            </a:extLst>
          </p:cNvPr>
          <p:cNvGrpSpPr/>
          <p:nvPr/>
        </p:nvGrpSpPr>
        <p:grpSpPr>
          <a:xfrm>
            <a:off x="6718300" y="1231514"/>
            <a:ext cx="5191760" cy="5073381"/>
            <a:chOff x="4798060" y="1231514"/>
            <a:chExt cx="5191760" cy="5073381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1E2C5A35-6A5A-674B-8661-CCC60428928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98060" y="1231514"/>
              <a:ext cx="5191760" cy="5073381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30ACD49-1FA8-08B2-F87B-7E2592C14FEC}"/>
                </a:ext>
              </a:extLst>
            </p:cNvPr>
            <p:cNvSpPr/>
            <p:nvPr/>
          </p:nvSpPr>
          <p:spPr>
            <a:xfrm>
              <a:off x="4949190" y="5577840"/>
              <a:ext cx="1783080" cy="274320"/>
            </a:xfrm>
            <a:prstGeom prst="rect">
              <a:avLst/>
            </a:prstGeom>
            <a:solidFill>
              <a:schemeClr val="accent1">
                <a:alpha val="37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874442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CC17354-5AD5-ADE9-E069-8244DAFAC62E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Modifying a </a:t>
            </a:r>
            <a:r>
              <a:rPr lang="en-US" sz="2400" b="1" dirty="0" err="1"/>
              <a:t>ClimateParams</a:t>
            </a:r>
            <a:r>
              <a:rPr lang="en-US" sz="2400" b="1" dirty="0"/>
              <a:t> dictionary after it’s been created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68EDA08-4C82-9151-AC88-0E0F9EFE88B6}"/>
              </a:ext>
            </a:extLst>
          </p:cNvPr>
          <p:cNvCxnSpPr>
            <a:cxnSpLocks/>
          </p:cNvCxnSpPr>
          <p:nvPr/>
        </p:nvCxnSpPr>
        <p:spPr>
          <a:xfrm flipH="1">
            <a:off x="4214463" y="3895747"/>
            <a:ext cx="2060462" cy="802935"/>
          </a:xfrm>
          <a:prstGeom prst="straightConnector1">
            <a:avLst/>
          </a:prstGeom>
          <a:ln>
            <a:noFill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67814C6C-DE2B-33EF-84F6-1E958D1853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213" b="2947"/>
          <a:stretch/>
        </p:blipFill>
        <p:spPr>
          <a:xfrm>
            <a:off x="1061197" y="1108709"/>
            <a:ext cx="10069606" cy="4011931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9657730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CC17354-5AD5-ADE9-E069-8244DAFAC62E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Modifying a </a:t>
            </a:r>
            <a:r>
              <a:rPr lang="en-US" sz="2400" b="1" dirty="0" err="1"/>
              <a:t>ClimateParams</a:t>
            </a:r>
            <a:r>
              <a:rPr lang="en-US" sz="2400" b="1" dirty="0"/>
              <a:t> dictionary after it’s been created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68EDA08-4C82-9151-AC88-0E0F9EFE88B6}"/>
              </a:ext>
            </a:extLst>
          </p:cNvPr>
          <p:cNvCxnSpPr>
            <a:cxnSpLocks/>
          </p:cNvCxnSpPr>
          <p:nvPr/>
        </p:nvCxnSpPr>
        <p:spPr>
          <a:xfrm flipH="1">
            <a:off x="4214463" y="3895747"/>
            <a:ext cx="2060462" cy="802935"/>
          </a:xfrm>
          <a:prstGeom prst="straightConnector1">
            <a:avLst/>
          </a:prstGeom>
          <a:ln>
            <a:noFill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67814C6C-DE2B-33EF-84F6-1E958D1853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213" b="2947"/>
          <a:stretch/>
        </p:blipFill>
        <p:spPr>
          <a:xfrm>
            <a:off x="1061197" y="1108709"/>
            <a:ext cx="10069606" cy="401193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AFEBAF3D-867B-E07A-0007-AEC2738DD21E}"/>
              </a:ext>
            </a:extLst>
          </p:cNvPr>
          <p:cNvGrpSpPr/>
          <p:nvPr/>
        </p:nvGrpSpPr>
        <p:grpSpPr>
          <a:xfrm>
            <a:off x="6707154" y="1406547"/>
            <a:ext cx="5070380" cy="4978400"/>
            <a:chOff x="6707154" y="1406547"/>
            <a:chExt cx="5070380" cy="49784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68938194-DDF8-626D-48E8-E3D774B70B8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07154" y="1406547"/>
              <a:ext cx="5070380" cy="4978400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F2FD063-E63C-E1E9-0A1E-18471E019BD9}"/>
                </a:ext>
              </a:extLst>
            </p:cNvPr>
            <p:cNvSpPr/>
            <p:nvPr/>
          </p:nvSpPr>
          <p:spPr>
            <a:xfrm>
              <a:off x="6880860" y="5634990"/>
              <a:ext cx="1977390" cy="285750"/>
            </a:xfrm>
            <a:prstGeom prst="rect">
              <a:avLst/>
            </a:prstGeom>
            <a:solidFill>
              <a:schemeClr val="accent1">
                <a:alpha val="37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688780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CC17354-5AD5-ADE9-E069-8244DAFAC62E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Using </a:t>
            </a:r>
            <a:r>
              <a:rPr lang="en-US" sz="2400" b="1" dirty="0" err="1"/>
              <a:t>cl.run_Cambio</a:t>
            </a:r>
            <a:r>
              <a:rPr lang="en-US" sz="2400" b="1" dirty="0"/>
              <a:t> and </a:t>
            </a:r>
            <a:r>
              <a:rPr lang="en-US" sz="2400" b="1" dirty="0" err="1"/>
              <a:t>cl.CollectClimateTimeSeries</a:t>
            </a:r>
            <a:endParaRPr lang="en-US" sz="2400" b="1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68EDA08-4C82-9151-AC88-0E0F9EFE88B6}"/>
              </a:ext>
            </a:extLst>
          </p:cNvPr>
          <p:cNvCxnSpPr>
            <a:cxnSpLocks/>
          </p:cNvCxnSpPr>
          <p:nvPr/>
        </p:nvCxnSpPr>
        <p:spPr>
          <a:xfrm flipH="1">
            <a:off x="4214463" y="3895747"/>
            <a:ext cx="2060462" cy="802935"/>
          </a:xfrm>
          <a:prstGeom prst="straightConnector1">
            <a:avLst/>
          </a:prstGeom>
          <a:ln>
            <a:noFill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DCEF47A1-5EFB-82F3-F6F1-F06301C0CAC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1113" r="1254" b="36660"/>
          <a:stretch/>
        </p:blipFill>
        <p:spPr>
          <a:xfrm>
            <a:off x="706794" y="1062990"/>
            <a:ext cx="10643196" cy="2832757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7714193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CC17354-5AD5-ADE9-E069-8244DAFAC62E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Also using the label/legend method for plotting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68EDA08-4C82-9151-AC88-0E0F9EFE88B6}"/>
              </a:ext>
            </a:extLst>
          </p:cNvPr>
          <p:cNvCxnSpPr>
            <a:cxnSpLocks/>
          </p:cNvCxnSpPr>
          <p:nvPr/>
        </p:nvCxnSpPr>
        <p:spPr>
          <a:xfrm flipH="1">
            <a:off x="4214463" y="3895747"/>
            <a:ext cx="2060462" cy="802935"/>
          </a:xfrm>
          <a:prstGeom prst="straightConnector1">
            <a:avLst/>
          </a:prstGeom>
          <a:ln>
            <a:noFill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DCEF47A1-5EFB-82F3-F6F1-F06301C0CAC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1112" r="1254" b="511"/>
          <a:stretch/>
        </p:blipFill>
        <p:spPr>
          <a:xfrm>
            <a:off x="706794" y="1062990"/>
            <a:ext cx="10643196" cy="525780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2268241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CC17354-5AD5-ADE9-E069-8244DAFAC62E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Also using the label/legend method for plotting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68EDA08-4C82-9151-AC88-0E0F9EFE88B6}"/>
              </a:ext>
            </a:extLst>
          </p:cNvPr>
          <p:cNvCxnSpPr>
            <a:cxnSpLocks/>
          </p:cNvCxnSpPr>
          <p:nvPr/>
        </p:nvCxnSpPr>
        <p:spPr>
          <a:xfrm flipH="1">
            <a:off x="4214463" y="3895747"/>
            <a:ext cx="2060462" cy="802935"/>
          </a:xfrm>
          <a:prstGeom prst="straightConnector1">
            <a:avLst/>
          </a:prstGeom>
          <a:ln>
            <a:noFill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DCEF47A1-5EFB-82F3-F6F1-F06301C0CAC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1112" r="1254" b="511"/>
          <a:stretch/>
        </p:blipFill>
        <p:spPr>
          <a:xfrm>
            <a:off x="706794" y="1062990"/>
            <a:ext cx="10643196" cy="52578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6623AF5-AB13-B84E-CDC5-F9B5F05FBC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7400" y="537210"/>
            <a:ext cx="5827806" cy="3964743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3146519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CC17354-5AD5-ADE9-E069-8244DAFAC62E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A plotting alternative: </a:t>
            </a:r>
            <a:r>
              <a:rPr lang="en-US" sz="2400" b="1" dirty="0" err="1"/>
              <a:t>meclib’s</a:t>
            </a:r>
            <a:r>
              <a:rPr lang="en-US" sz="2400" b="1" dirty="0"/>
              <a:t> </a:t>
            </a:r>
            <a:r>
              <a:rPr lang="en-US" sz="2400" b="1" dirty="0" err="1"/>
              <a:t>cl.CS_list_plots</a:t>
            </a:r>
            <a:endParaRPr lang="en-US" sz="2400" b="1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68EDA08-4C82-9151-AC88-0E0F9EFE88B6}"/>
              </a:ext>
            </a:extLst>
          </p:cNvPr>
          <p:cNvCxnSpPr>
            <a:cxnSpLocks/>
          </p:cNvCxnSpPr>
          <p:nvPr/>
        </p:nvCxnSpPr>
        <p:spPr>
          <a:xfrm flipH="1">
            <a:off x="4214463" y="3895747"/>
            <a:ext cx="2060462" cy="802935"/>
          </a:xfrm>
          <a:prstGeom prst="straightConnector1">
            <a:avLst/>
          </a:prstGeom>
          <a:ln>
            <a:noFill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336A771B-B67B-FAB9-4B3D-994C1B70E47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34" t="65560"/>
          <a:stretch/>
        </p:blipFill>
        <p:spPr>
          <a:xfrm>
            <a:off x="514350" y="972481"/>
            <a:ext cx="10910533" cy="80293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4A3708E-28E1-BEE8-9EAC-7DFF3E10D7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211" y="2450594"/>
            <a:ext cx="4152900" cy="326535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C09A601-4789-F3DE-1D0D-B76C0CBAC6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4924" y="2450594"/>
            <a:ext cx="4287913" cy="3265358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9129793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CC17354-5AD5-ADE9-E069-8244DAFAC62E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Tailoring your propagator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68EDA08-4C82-9151-AC88-0E0F9EFE88B6}"/>
              </a:ext>
            </a:extLst>
          </p:cNvPr>
          <p:cNvCxnSpPr>
            <a:cxnSpLocks/>
          </p:cNvCxnSpPr>
          <p:nvPr/>
        </p:nvCxnSpPr>
        <p:spPr>
          <a:xfrm flipH="1">
            <a:off x="4214463" y="3895747"/>
            <a:ext cx="2060462" cy="802935"/>
          </a:xfrm>
          <a:prstGeom prst="straightConnector1">
            <a:avLst/>
          </a:prstGeom>
          <a:ln>
            <a:noFill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80123707-8860-8AA3-FD93-EF1F118C7F56}"/>
              </a:ext>
            </a:extLst>
          </p:cNvPr>
          <p:cNvGrpSpPr/>
          <p:nvPr/>
        </p:nvGrpSpPr>
        <p:grpSpPr>
          <a:xfrm>
            <a:off x="2407097" y="2154948"/>
            <a:ext cx="6804931" cy="4561798"/>
            <a:chOff x="2407097" y="2154948"/>
            <a:chExt cx="6804931" cy="4561798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0337AB9-CE6C-7C23-E3AE-8076CE39AA47}"/>
                </a:ext>
              </a:extLst>
            </p:cNvPr>
            <p:cNvGrpSpPr/>
            <p:nvPr/>
          </p:nvGrpSpPr>
          <p:grpSpPr>
            <a:xfrm>
              <a:off x="2407097" y="2154948"/>
              <a:ext cx="6804931" cy="4561798"/>
              <a:chOff x="182880" y="2217419"/>
              <a:chExt cx="6804931" cy="4561798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9334F84F-1358-BD1C-72C2-516384A1D3D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t="26999"/>
              <a:stretch/>
            </p:blipFill>
            <p:spPr>
              <a:xfrm>
                <a:off x="182880" y="2217419"/>
                <a:ext cx="6804931" cy="4561798"/>
              </a:xfrm>
              <a:prstGeom prst="rect">
                <a:avLst/>
              </a:prstGeom>
              <a:ln>
                <a:solidFill>
                  <a:schemeClr val="accent1"/>
                </a:solidFill>
              </a:ln>
            </p:spPr>
          </p:pic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1AA219BB-6114-FDF7-0FD1-B8BAFEC4D78E}"/>
                  </a:ext>
                </a:extLst>
              </p:cNvPr>
              <p:cNvSpPr/>
              <p:nvPr/>
            </p:nvSpPr>
            <p:spPr>
              <a:xfrm>
                <a:off x="6142382" y="2224045"/>
                <a:ext cx="311923" cy="154720"/>
              </a:xfrm>
              <a:prstGeom prst="rect">
                <a:avLst/>
              </a:prstGeom>
              <a:solidFill>
                <a:schemeClr val="accent1">
                  <a:alpha val="37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F94F150F-30CA-68C5-0E0E-6FC6B951FB4F}"/>
                </a:ext>
              </a:extLst>
            </p:cNvPr>
            <p:cNvSpPr/>
            <p:nvPr/>
          </p:nvSpPr>
          <p:spPr>
            <a:xfrm>
              <a:off x="2733041" y="2161573"/>
              <a:ext cx="2780269" cy="149827"/>
            </a:xfrm>
            <a:prstGeom prst="rect">
              <a:avLst/>
            </a:prstGeom>
            <a:solidFill>
              <a:schemeClr val="accent1">
                <a:alpha val="37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3196A29D-1B92-866A-62EF-6E50FBA76EC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4275"/>
          <a:stretch/>
        </p:blipFill>
        <p:spPr>
          <a:xfrm>
            <a:off x="182880" y="811530"/>
            <a:ext cx="11795760" cy="830292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8356046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CC17354-5AD5-ADE9-E069-8244DAFAC62E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Tailoring your propagator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68EDA08-4C82-9151-AC88-0E0F9EFE88B6}"/>
              </a:ext>
            </a:extLst>
          </p:cNvPr>
          <p:cNvCxnSpPr>
            <a:cxnSpLocks/>
          </p:cNvCxnSpPr>
          <p:nvPr/>
        </p:nvCxnSpPr>
        <p:spPr>
          <a:xfrm flipH="1">
            <a:off x="4214463" y="3895747"/>
            <a:ext cx="2060462" cy="802935"/>
          </a:xfrm>
          <a:prstGeom prst="straightConnector1">
            <a:avLst/>
          </a:prstGeom>
          <a:ln>
            <a:noFill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80123707-8860-8AA3-FD93-EF1F118C7F56}"/>
              </a:ext>
            </a:extLst>
          </p:cNvPr>
          <p:cNvGrpSpPr/>
          <p:nvPr/>
        </p:nvGrpSpPr>
        <p:grpSpPr>
          <a:xfrm>
            <a:off x="2407097" y="2154948"/>
            <a:ext cx="6804931" cy="4561798"/>
            <a:chOff x="2407097" y="2154948"/>
            <a:chExt cx="6804931" cy="4561798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0337AB9-CE6C-7C23-E3AE-8076CE39AA47}"/>
                </a:ext>
              </a:extLst>
            </p:cNvPr>
            <p:cNvGrpSpPr/>
            <p:nvPr/>
          </p:nvGrpSpPr>
          <p:grpSpPr>
            <a:xfrm>
              <a:off x="2407097" y="2154948"/>
              <a:ext cx="6804931" cy="4561798"/>
              <a:chOff x="182880" y="2217419"/>
              <a:chExt cx="6804931" cy="4561798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9334F84F-1358-BD1C-72C2-516384A1D3D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t="26999"/>
              <a:stretch/>
            </p:blipFill>
            <p:spPr>
              <a:xfrm>
                <a:off x="182880" y="2217419"/>
                <a:ext cx="6804931" cy="4561798"/>
              </a:xfrm>
              <a:prstGeom prst="rect">
                <a:avLst/>
              </a:prstGeom>
              <a:ln>
                <a:solidFill>
                  <a:schemeClr val="accent1"/>
                </a:solidFill>
              </a:ln>
            </p:spPr>
          </p:pic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1AA219BB-6114-FDF7-0FD1-B8BAFEC4D78E}"/>
                  </a:ext>
                </a:extLst>
              </p:cNvPr>
              <p:cNvSpPr/>
              <p:nvPr/>
            </p:nvSpPr>
            <p:spPr>
              <a:xfrm>
                <a:off x="6142382" y="2224045"/>
                <a:ext cx="311923" cy="154720"/>
              </a:xfrm>
              <a:prstGeom prst="rect">
                <a:avLst/>
              </a:prstGeom>
              <a:solidFill>
                <a:schemeClr val="accent1">
                  <a:alpha val="37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819EC48E-B154-D483-B521-6C1A03898EA9}"/>
                  </a:ext>
                </a:extLst>
              </p:cNvPr>
              <p:cNvSpPr/>
              <p:nvPr/>
            </p:nvSpPr>
            <p:spPr>
              <a:xfrm>
                <a:off x="516917" y="6378269"/>
                <a:ext cx="2304863" cy="315425"/>
              </a:xfrm>
              <a:prstGeom prst="rect">
                <a:avLst/>
              </a:prstGeom>
              <a:solidFill>
                <a:schemeClr val="accent1">
                  <a:alpha val="37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F94F150F-30CA-68C5-0E0E-6FC6B951FB4F}"/>
                </a:ext>
              </a:extLst>
            </p:cNvPr>
            <p:cNvSpPr/>
            <p:nvPr/>
          </p:nvSpPr>
          <p:spPr>
            <a:xfrm>
              <a:off x="2733041" y="2161573"/>
              <a:ext cx="2780269" cy="149827"/>
            </a:xfrm>
            <a:prstGeom prst="rect">
              <a:avLst/>
            </a:prstGeom>
            <a:solidFill>
              <a:schemeClr val="accent1">
                <a:alpha val="37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3196A29D-1B92-866A-62EF-6E50FBA76EC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4275"/>
          <a:stretch/>
        </p:blipFill>
        <p:spPr>
          <a:xfrm>
            <a:off x="182880" y="811530"/>
            <a:ext cx="11795760" cy="830292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5983234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CC17354-5AD5-ADE9-E069-8244DAFAC62E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Running and plotting the results of your tailored propagator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68EDA08-4C82-9151-AC88-0E0F9EFE88B6}"/>
              </a:ext>
            </a:extLst>
          </p:cNvPr>
          <p:cNvCxnSpPr>
            <a:cxnSpLocks/>
          </p:cNvCxnSpPr>
          <p:nvPr/>
        </p:nvCxnSpPr>
        <p:spPr>
          <a:xfrm flipH="1">
            <a:off x="4214463" y="3895747"/>
            <a:ext cx="2060462" cy="802935"/>
          </a:xfrm>
          <a:prstGeom prst="straightConnector1">
            <a:avLst/>
          </a:prstGeom>
          <a:ln>
            <a:noFill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EA35E596-5709-07B6-BBB4-62B1D7178A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560" y="662658"/>
            <a:ext cx="11886880" cy="229959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27B8100-9BA3-98CE-683A-8131FE8F15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952" y="3429000"/>
            <a:ext cx="4143879" cy="296968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1DBC6BB-84DD-410B-179D-B80ED94A05C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2771"/>
          <a:stretch/>
        </p:blipFill>
        <p:spPr>
          <a:xfrm>
            <a:off x="5965613" y="3429000"/>
            <a:ext cx="4198282" cy="293771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0026018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CC17354-5AD5-ADE9-E069-8244DAFAC62E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OK, let’s get started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68EDA08-4C82-9151-AC88-0E0F9EFE88B6}"/>
              </a:ext>
            </a:extLst>
          </p:cNvPr>
          <p:cNvCxnSpPr>
            <a:cxnSpLocks/>
          </p:cNvCxnSpPr>
          <p:nvPr/>
        </p:nvCxnSpPr>
        <p:spPr>
          <a:xfrm flipH="1">
            <a:off x="4214463" y="3895747"/>
            <a:ext cx="2060462" cy="802935"/>
          </a:xfrm>
          <a:prstGeom prst="straightConnector1">
            <a:avLst/>
          </a:prstGeom>
          <a:ln>
            <a:noFill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40F1A4AC-44A2-5010-F796-F6EC8D67A70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1021"/>
          <a:stretch/>
        </p:blipFill>
        <p:spPr>
          <a:xfrm>
            <a:off x="219399" y="654846"/>
            <a:ext cx="9229401" cy="255838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07FB819-DEDF-D527-B333-CE42D9AE03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7333" y="3406408"/>
            <a:ext cx="6507541" cy="3248392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7535882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2309</TotalTime>
  <Words>187</Words>
  <Application>Microsoft Macintosh PowerPoint</Application>
  <PresentationFormat>Widescreen</PresentationFormat>
  <Paragraphs>31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Steven</dc:creator>
  <cp:lastModifiedBy>Steven</cp:lastModifiedBy>
  <cp:revision>140</cp:revision>
  <dcterms:created xsi:type="dcterms:W3CDTF">2021-11-01T11:23:25Z</dcterms:created>
  <dcterms:modified xsi:type="dcterms:W3CDTF">2026-04-13T04:02:44Z</dcterms:modified>
</cp:coreProperties>
</file>