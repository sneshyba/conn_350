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994" r:id="rId2"/>
    <p:sldId id="2001" r:id="rId3"/>
    <p:sldId id="200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82"/>
  </p:normalViewPr>
  <p:slideViewPr>
    <p:cSldViewPr snapToGrid="0">
      <p:cViewPr>
        <p:scale>
          <a:sx n="92" d="100"/>
          <a:sy n="92" d="100"/>
        </p:scale>
        <p:origin x="122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8899-4C82-F6FC-86E5-B12F47C97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A590-48F7-B287-BECD-DECA8A7F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34D7-F7D2-DDC9-908C-49CE5F51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6996F-0A96-05FF-23DE-BECBC664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7C6B5-03AF-4F15-C986-F343356C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5CB-DD96-2C7B-76C8-B592CDA7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6EAA-DE69-8240-6212-36817E84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2FC0-AD23-1BD8-DBE4-91A59B0D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A460-8298-7385-13B6-82CF549D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A9D9-EDB0-B37B-57FB-6DF9F3EB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97B5-78A9-E886-264A-A0025B2D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76C97-4B44-5B90-D53D-B7EF633D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6A58-1D5A-FAA8-5918-BFE03256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71D9-A751-C825-0593-2A7343AB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40AE-3F34-E59B-95B1-4586371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ABAB-A161-03FA-D24C-FB3EF814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7B5E-FD6E-BCE4-A089-7B75579E0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FE598-65FF-0561-3661-FE8500A56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951D8-B2C2-8FE5-955B-7961DA9A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0FD8-EEEE-5164-B0D1-83EA8316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7FE15-596F-E5B4-DAE7-B4A0EACC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33AA-903C-0F2C-37EF-10D94C7E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40B4-5888-A4FF-CCDF-ADF13932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D8867-BCA3-9499-5B82-58685299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CA6EF-DB71-A396-2DC3-F3E942237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0C411-B822-3131-FFCA-5AFF432D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37C0C-94F9-AA37-D606-FAFD54E1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65624-5C57-6229-378C-1026BD3A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3BE40-DE04-9C70-A3C0-E85DA8C6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669A-A8FB-0528-40CE-85DA614C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FB7F3-B39B-EA87-2F11-F269773C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1F7DE-83F5-7989-6D25-3000BA28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51EC9-FFDA-05D4-9754-166A46ED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9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1E956-DD52-6E69-A41D-0F74F304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18A4F-6BE8-722E-BFC9-D121C8C6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4F51-1CB4-AD25-3DBF-F7E8EE28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DF4F-60A8-FD76-47B6-52241895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CFD2-D891-B665-67E8-9998631E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A8A6-582D-1629-D1CE-6C897CC3A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F3483-83B1-CECC-2FE2-2BA1FF01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2AA6-2091-F695-1495-132AA610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772C7-2B5C-95E5-C30D-0FC66234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6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7E8-60FB-3304-238B-57E1B432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8AB35-DE9C-CAE6-B254-BCFC9D21D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9D7D2-CA87-7AFE-A5D0-20B941457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49C9F-74D5-14A1-BDBF-6871F6C0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BDAA-81BB-60CB-FCB3-9936C9C2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37AD0-2009-5181-51A3-ACCE01CA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1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3F55-A3ED-BD63-39A2-61CB881B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5C8C4-0F1E-6F3F-1B77-5A19D5BA1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AC723-FAAD-CA0D-6888-56BF2926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65BDD-295E-B0B3-6DB2-CB5C97F2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2138-5AA7-B8AC-30A1-BD445693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5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BBB32-27A7-68B6-AE73-5026D0479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8E33-F73F-962E-469B-70F26D4E0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00D9D-D30D-EEF7-E520-C38BFFEA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79E0-37CC-2BB7-E9F8-A2327C13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AC2D-B7C8-E52A-3023-671B109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C61C7-19E0-89FF-BDDF-99C3650E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C34D-E749-18CC-E914-F9186D670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3C0C-C4E9-CFED-E5C3-2624C162E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ED255-55B2-6C4F-A5F5-8F6712D0A17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6934-C8CD-D81C-0C67-16BFB3C61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BDF8B-D405-441A-7CC3-24D491896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621954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 of climate capabilities in Cambio 1-4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1CA01AA3-A5E9-D70D-61BF-95B744E04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3" y="564266"/>
            <a:ext cx="3808769" cy="253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0B040A-1AB6-8340-C427-D5ED50CDDEAF}"/>
                  </a:ext>
                </a:extLst>
              </p:cNvPr>
              <p:cNvSpPr txBox="1"/>
              <p:nvPr/>
            </p:nvSpPr>
            <p:spPr>
              <a:xfrm>
                <a:off x="4498618" y="1066211"/>
                <a:ext cx="6219541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Cambio 1.0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Our five basic equations</a:t>
                </a:r>
              </a:p>
              <a:p>
                <a:endParaRPr lang="en-US" sz="2200" dirty="0"/>
              </a:p>
              <a:p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b="1" dirty="0"/>
                  <a:t>Cambio 2.0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Added </a:t>
                </a:r>
                <a:r>
                  <a:rPr lang="en-US" sz="2200" dirty="0" err="1"/>
                  <a:t>van’t</a:t>
                </a:r>
                <a:r>
                  <a:rPr lang="en-US" sz="2200" dirty="0"/>
                  <a:t> Hoff effect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b="1" dirty="0"/>
                  <a:t>Cambio 3.0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Included ice-albedo feedback</a:t>
                </a:r>
              </a:p>
              <a:p>
                <a:endParaRPr lang="en-US" sz="2200" dirty="0"/>
              </a:p>
              <a:p>
                <a:r>
                  <a:rPr lang="en-US" sz="2200" b="1" dirty="0"/>
                  <a:t>Cambio 4.0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Included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fertilization impairment</a:t>
                </a:r>
              </a:p>
              <a:p>
                <a:endParaRPr lang="en-US" sz="22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0B040A-1AB6-8340-C427-D5ED50CDD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618" y="1066211"/>
                <a:ext cx="6219541" cy="5170646"/>
              </a:xfrm>
              <a:prstGeom prst="rect">
                <a:avLst/>
              </a:prstGeom>
              <a:blipFill>
                <a:blip r:embed="rId3"/>
                <a:stretch>
                  <a:fillRect l="-1224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385D301-61F4-25D7-966A-EA4239C17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990" y="153218"/>
            <a:ext cx="3920490" cy="29554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9DA35-E69D-82AD-76C3-70DE4817B2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77" t="42916" b="42815"/>
          <a:stretch/>
        </p:blipFill>
        <p:spPr>
          <a:xfrm>
            <a:off x="4861016" y="3540722"/>
            <a:ext cx="6421720" cy="4566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F09B90-804E-21CB-8B02-71E157C4D4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907" b="63597"/>
          <a:stretch/>
        </p:blipFill>
        <p:spPr>
          <a:xfrm>
            <a:off x="4861197" y="5899561"/>
            <a:ext cx="6637384" cy="4294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Google Shape;166;p7">
            <a:extLst>
              <a:ext uri="{FF2B5EF4-FFF2-40B4-BE49-F238E27FC236}">
                <a16:creationId xmlns:a16="http://schemas.microsoft.com/office/drawing/2014/main" id="{F4098ABD-A512-FBC1-7D9B-15C48F8D937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273" y="3206046"/>
            <a:ext cx="4110512" cy="32501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127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EDCB136-F305-5BFE-116F-0564534A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7" y="2448565"/>
            <a:ext cx="5554853" cy="41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9E2F5-15E0-83C0-396F-BF92CC6E47A5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we learn from Cambio 4.0?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4AE9ED74-5B3B-215E-211F-335E821C2968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19FE26-DDBC-7FC2-6B07-5A1E94F1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7" y="560070"/>
            <a:ext cx="5554851" cy="416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2BDFAD-8418-52A2-9A9D-2E451AB3C854}"/>
                  </a:ext>
                </a:extLst>
              </p:cNvPr>
              <p:cNvSpPr txBox="1"/>
              <p:nvPr/>
            </p:nvSpPr>
            <p:spPr>
              <a:xfrm>
                <a:off x="5351607" y="509573"/>
                <a:ext cx="6771813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CO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fertilization impairment makes a qualitative difference: there’s no peak temperature in this century, instead the temperature is still rising in the year 2150.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A quantitative difference: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+3.0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(in 2150) is a lot higher than the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2.6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(in 2050).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2BDFAD-8418-52A2-9A9D-2E451AB3C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607" y="509573"/>
                <a:ext cx="6771813" cy="2123658"/>
              </a:xfrm>
              <a:prstGeom prst="rect">
                <a:avLst/>
              </a:prstGeom>
              <a:blipFill>
                <a:blip r:embed="rId4"/>
                <a:stretch>
                  <a:fillRect l="-1124" t="-2381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>
            <a:extLst>
              <a:ext uri="{FF2B5EF4-FFF2-40B4-BE49-F238E27FC236}">
                <a16:creationId xmlns:a16="http://schemas.microsoft.com/office/drawing/2014/main" id="{D2A16059-6B86-87A2-35F4-0D17664B2D1F}"/>
              </a:ext>
            </a:extLst>
          </p:cNvPr>
          <p:cNvSpPr/>
          <p:nvPr/>
        </p:nvSpPr>
        <p:spPr>
          <a:xfrm rot="19477137">
            <a:off x="10098648" y="3307980"/>
            <a:ext cx="667071" cy="352877"/>
          </a:xfrm>
          <a:prstGeom prst="rightArrow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9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EDCB136-F305-5BFE-116F-0564534A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7" y="2448565"/>
            <a:ext cx="5554853" cy="41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9E2F5-15E0-83C0-396F-BF92CC6E47A5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we learn from Cambio 4.0?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4AE9ED74-5B3B-215E-211F-335E821C2968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19FE26-DDBC-7FC2-6B07-5A1E94F1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7" y="560070"/>
            <a:ext cx="5554851" cy="416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2BDFAD-8418-52A2-9A9D-2E451AB3C854}"/>
                  </a:ext>
                </a:extLst>
              </p:cNvPr>
              <p:cNvSpPr txBox="1"/>
              <p:nvPr/>
            </p:nvSpPr>
            <p:spPr>
              <a:xfrm>
                <a:off x="5351607" y="509573"/>
                <a:ext cx="6771813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CO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fertilization impairment makes a qualitative difference: there’s no peak temperature in this century, instead the temperature is still rising in the year 2150.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A quantitative difference: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+3.0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(in 2150) is a lot higher than the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2.6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(in 2050).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2BDFAD-8418-52A2-9A9D-2E451AB3C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607" y="509573"/>
                <a:ext cx="6771813" cy="2123658"/>
              </a:xfrm>
              <a:prstGeom prst="rect">
                <a:avLst/>
              </a:prstGeom>
              <a:blipFill>
                <a:blip r:embed="rId4"/>
                <a:stretch>
                  <a:fillRect l="-1124" t="-2381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>
            <a:extLst>
              <a:ext uri="{FF2B5EF4-FFF2-40B4-BE49-F238E27FC236}">
                <a16:creationId xmlns:a16="http://schemas.microsoft.com/office/drawing/2014/main" id="{D2A16059-6B86-87A2-35F4-0D17664B2D1F}"/>
              </a:ext>
            </a:extLst>
          </p:cNvPr>
          <p:cNvSpPr/>
          <p:nvPr/>
        </p:nvSpPr>
        <p:spPr>
          <a:xfrm rot="19477137">
            <a:off x="10098648" y="3307980"/>
            <a:ext cx="667071" cy="352877"/>
          </a:xfrm>
          <a:prstGeom prst="rightArrow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AB304-FC6E-FCE8-F7CD-3597BD31D813}"/>
              </a:ext>
            </a:extLst>
          </p:cNvPr>
          <p:cNvSpPr txBox="1"/>
          <p:nvPr/>
        </p:nvSpPr>
        <p:spPr>
          <a:xfrm>
            <a:off x="395711" y="5246593"/>
            <a:ext cx="5554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Also, we can see that oceans are increasing their absorption of CO</a:t>
            </a:r>
            <a:r>
              <a:rPr lang="en-US" sz="2200" baseline="-25000" dirty="0"/>
              <a:t>2</a:t>
            </a:r>
            <a:r>
              <a:rPr lang="en-US" sz="2200" dirty="0"/>
              <a:t> in compensation for the impairment in terrestrial CO</a:t>
            </a:r>
            <a:r>
              <a:rPr lang="en-US" sz="2200" baseline="-25000" dirty="0"/>
              <a:t>2</a:t>
            </a:r>
            <a:r>
              <a:rPr lang="en-US" sz="2200" dirty="0"/>
              <a:t> fertilization.</a:t>
            </a:r>
          </a:p>
        </p:txBody>
      </p:sp>
    </p:spTree>
    <p:extLst>
      <p:ext uri="{BB962C8B-B14F-4D97-AF65-F5344CB8AC3E}">
        <p14:creationId xmlns:p14="http://schemas.microsoft.com/office/powerpoint/2010/main" val="421141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172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25</cp:revision>
  <dcterms:created xsi:type="dcterms:W3CDTF">2025-10-30T18:29:27Z</dcterms:created>
  <dcterms:modified xsi:type="dcterms:W3CDTF">2026-04-15T21:13:42Z</dcterms:modified>
</cp:coreProperties>
</file>